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8c363a26954de6" /><Relationship Type="http://schemas.openxmlformats.org/officeDocument/2006/relationships/extended-properties" Target="/docProps/app.xml" Id="Re79bea9e45314cca" /><Relationship Type="http://schemas.openxmlformats.org/officeDocument/2006/relationships/officeDocument" Target="/ppt/presentation.xml" Id="Reb79328414d04e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ab4ecd29b4eb7"/>
  </p:sldMasterIdLst>
  <p:notesMasterIdLst>
    <p:notesMasterId xmlns:r="http://schemas.openxmlformats.org/officeDocument/2006/relationships" r:id="Rdaf664a092a64aff"/>
  </p:notesMasterIdLst>
  <p:sldIdLst>
    <p:sldId xmlns:r="http://schemas.openxmlformats.org/officeDocument/2006/relationships" id="256" r:id="R0f834ceb995943e3"/>
    <p:sldId xmlns:r="http://schemas.openxmlformats.org/officeDocument/2006/relationships" id="257" r:id="R4d210b3381ab43ce"/>
    <p:sldId xmlns:r="http://schemas.openxmlformats.org/officeDocument/2006/relationships" id="258" r:id="R2c184b97e614480f"/>
    <p:sldId xmlns:r="http://schemas.openxmlformats.org/officeDocument/2006/relationships" id="259" r:id="R141ad7d7d88742f5"/>
    <p:sldId xmlns:r="http://schemas.openxmlformats.org/officeDocument/2006/relationships" id="260" r:id="Red6ef29fb7684c1a"/>
    <p:sldId xmlns:r="http://schemas.openxmlformats.org/officeDocument/2006/relationships" id="261" r:id="Ra9e660cf39414a66"/>
    <p:sldId xmlns:r="http://schemas.openxmlformats.org/officeDocument/2006/relationships" id="262" r:id="Rf78eb3801fd14aec"/>
    <p:sldId xmlns:r="http://schemas.openxmlformats.org/officeDocument/2006/relationships" id="263" r:id="R287fc42a58b1411c"/>
    <p:sldId xmlns:r="http://schemas.openxmlformats.org/officeDocument/2006/relationships" id="264" r:id="Rcd0c79c55f324af5"/>
    <p:sldId xmlns:r="http://schemas.openxmlformats.org/officeDocument/2006/relationships" id="265" r:id="R19976c258c2b4efd"/>
    <p:sldId xmlns:r="http://schemas.openxmlformats.org/officeDocument/2006/relationships" id="266" r:id="Re53783a294f54bfc"/>
    <p:sldId xmlns:r="http://schemas.openxmlformats.org/officeDocument/2006/relationships" id="267" r:id="R52a7992022cb4644"/>
    <p:sldId xmlns:r="http://schemas.openxmlformats.org/officeDocument/2006/relationships" id="268" r:id="Re50a73d6b8334b80"/>
    <p:sldId xmlns:r="http://schemas.openxmlformats.org/officeDocument/2006/relationships" id="269" r:id="Rd59462dcc68841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29a95d3f6480b" /><Relationship Type="http://schemas.openxmlformats.org/officeDocument/2006/relationships/slideMaster" Target="/ppt/slideMasters/slideMaster1.xml" Id="Rea4ab4ecd29b4eb7" /><Relationship Type="http://schemas.openxmlformats.org/officeDocument/2006/relationships/notesMaster" Target="/ppt/notesMasters/notesMaster1.xml" Id="Rdaf664a092a64aff" /><Relationship Type="http://schemas.openxmlformats.org/officeDocument/2006/relationships/presProps" Target="/ppt/presProps.xml" Id="R708c2502ef2d49a5" /><Relationship Type="http://schemas.openxmlformats.org/officeDocument/2006/relationships/tableStyles" Target="/ppt/tableStyles.xml" Id="R8a0fa248ab534296" /><Relationship Type="http://schemas.openxmlformats.org/officeDocument/2006/relationships/slide" Target="/ppt/slides/slide1.xml" Id="R0f834ceb995943e3" /><Relationship Type="http://schemas.openxmlformats.org/officeDocument/2006/relationships/slide" Target="/ppt/slides/slide2.xml" Id="R4d210b3381ab43ce" /><Relationship Type="http://schemas.openxmlformats.org/officeDocument/2006/relationships/slide" Target="/ppt/slides/slide3.xml" Id="R2c184b97e614480f" /><Relationship Type="http://schemas.openxmlformats.org/officeDocument/2006/relationships/slide" Target="/ppt/slides/slide4.xml" Id="R141ad7d7d88742f5" /><Relationship Type="http://schemas.openxmlformats.org/officeDocument/2006/relationships/slide" Target="/ppt/slides/slide5.xml" Id="Red6ef29fb7684c1a" /><Relationship Type="http://schemas.openxmlformats.org/officeDocument/2006/relationships/slide" Target="/ppt/slides/slide6.xml" Id="Ra9e660cf39414a66" /><Relationship Type="http://schemas.openxmlformats.org/officeDocument/2006/relationships/slide" Target="/ppt/slides/slide7.xml" Id="Rf78eb3801fd14aec" /><Relationship Type="http://schemas.openxmlformats.org/officeDocument/2006/relationships/slide" Target="/ppt/slides/slide8.xml" Id="R287fc42a58b1411c" /><Relationship Type="http://schemas.openxmlformats.org/officeDocument/2006/relationships/slide" Target="/ppt/slides/slide9.xml" Id="Rcd0c79c55f324af5" /><Relationship Type="http://schemas.openxmlformats.org/officeDocument/2006/relationships/slide" Target="/ppt/slides/slide10.xml" Id="R19976c258c2b4efd" /><Relationship Type="http://schemas.openxmlformats.org/officeDocument/2006/relationships/slide" Target="/ppt/slides/slide11.xml" Id="Re53783a294f54bfc" /><Relationship Type="http://schemas.openxmlformats.org/officeDocument/2006/relationships/slide" Target="/ppt/slides/slide12.xml" Id="R52a7992022cb4644" /><Relationship Type="http://schemas.openxmlformats.org/officeDocument/2006/relationships/slide" Target="/ppt/slides/slide13.xml" Id="Re50a73d6b8334b80" /><Relationship Type="http://schemas.openxmlformats.org/officeDocument/2006/relationships/slide" Target="/ppt/slides/slide14.xml" Id="Rd59462dcc688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299ca6a68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993753bc241df" /><Relationship Type="http://schemas.openxmlformats.org/officeDocument/2006/relationships/notesMaster" Target="/ppt/notesMasters/notesMaster1.xml" Id="R074e3d184aa5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8d3168bc0c41de" /><Relationship Type="http://schemas.openxmlformats.org/officeDocument/2006/relationships/notesMaster" Target="/ppt/notesMasters/notesMaster1.xml" Id="R9a11821ffada41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332d9e9774049" /><Relationship Type="http://schemas.openxmlformats.org/officeDocument/2006/relationships/notesMaster" Target="/ppt/notesMasters/notesMaster1.xml" Id="R5fa322a9046942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36cbc0fc4462b" /><Relationship Type="http://schemas.openxmlformats.org/officeDocument/2006/relationships/notesMaster" Target="/ppt/notesMasters/notesMaster1.xml" Id="R488752ca7f9d4c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a76f274304aee" /><Relationship Type="http://schemas.openxmlformats.org/officeDocument/2006/relationships/notesMaster" Target="/ppt/notesMasters/notesMaster1.xml" Id="R0e75fdb6d7ce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9ad60e6d741ad" /><Relationship Type="http://schemas.openxmlformats.org/officeDocument/2006/relationships/notesMaster" Target="/ppt/notesMasters/notesMaster1.xml" Id="Ra128d67abfce42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60b86492124de1" /><Relationship Type="http://schemas.openxmlformats.org/officeDocument/2006/relationships/notesMaster" Target="/ppt/notesMasters/notesMaster1.xml" Id="R03546eb996b54b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59c3a65d844ca" /><Relationship Type="http://schemas.openxmlformats.org/officeDocument/2006/relationships/notesMaster" Target="/ppt/notesMasters/notesMaster1.xml" Id="R6e193e786e35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fe7b39ffd14d4b" /><Relationship Type="http://schemas.openxmlformats.org/officeDocument/2006/relationships/notesMaster" Target="/ppt/notesMasters/notesMaster1.xml" Id="R51acc835e3574c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1664fd6c1e415a" /><Relationship Type="http://schemas.openxmlformats.org/officeDocument/2006/relationships/notesMaster" Target="/ppt/notesMasters/notesMaster1.xml" Id="Rc1a13e56658b4a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c4e2faf2eb495f" /><Relationship Type="http://schemas.openxmlformats.org/officeDocument/2006/relationships/notesMaster" Target="/ppt/notesMasters/notesMaster1.xml" Id="R2e522900301440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65ecca88d24b5d" /><Relationship Type="http://schemas.openxmlformats.org/officeDocument/2006/relationships/notesMaster" Target="/ppt/notesMasters/notesMaster1.xml" Id="Raa6badc8cb3143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57b0645ee74c6b" /><Relationship Type="http://schemas.openxmlformats.org/officeDocument/2006/relationships/notesMaster" Target="/ppt/notesMasters/notesMaster1.xml" Id="Raa32e776c8274d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ac204387f49a2" /><Relationship Type="http://schemas.openxmlformats.org/officeDocument/2006/relationships/notesMaster" Target="/ppt/notesMasters/notesMaster1.xml" Id="Reb37ade3e87d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42dbce427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e8c073faba4e4f" /><Relationship Type="http://schemas.openxmlformats.org/officeDocument/2006/relationships/slideLayout" Target="/ppt/slideLayouts/slideLayout1.xml" Id="R3bdc4b3b818c43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c4b3b818c43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4189179404e8d" /><Relationship Type="http://schemas.openxmlformats.org/officeDocument/2006/relationships/image" Target="/ppt/media/image.jpeg" Id="R0a5c8bfaef40473f" /><Relationship Type="http://schemas.openxmlformats.org/officeDocument/2006/relationships/notesSlide" Target="/ppt/notesSlides/notesSlide1.xml" Id="Rca808d6df5b4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5d0fa9b1b4493" /><Relationship Type="http://schemas.openxmlformats.org/officeDocument/2006/relationships/notesSlide" Target="/ppt/notesSlides/notesSlide2.xml" Id="R855c14983fab48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454b0b6934ff9" /><Relationship Type="http://schemas.openxmlformats.org/officeDocument/2006/relationships/notesSlide" Target="/ppt/notesSlides/notesSlide3.xml" Id="Rc3ee40279743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f1af84c234a84" /><Relationship Type="http://schemas.openxmlformats.org/officeDocument/2006/relationships/image" Target="/ppt/media/image.png" Id="R599b2a14f09242eb" /><Relationship Type="http://schemas.openxmlformats.org/officeDocument/2006/relationships/notesSlide" Target="/ppt/notesSlides/notesSlide4.xml" Id="R4c1ec2006d5f4f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e2d93995d41c3" /><Relationship Type="http://schemas.openxmlformats.org/officeDocument/2006/relationships/image" Target="/ppt/media/image2.png" Id="R6b7ef3e0662e43dc" /><Relationship Type="http://schemas.openxmlformats.org/officeDocument/2006/relationships/notesSlide" Target="/ppt/notesSlides/notesSlide5.xml" Id="R8b549c2775204f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6de6b36ed4b7e" /><Relationship Type="http://schemas.openxmlformats.org/officeDocument/2006/relationships/image" Target="/ppt/media/image3.png" Id="R84421ce9e81b4dc8" /><Relationship Type="http://schemas.openxmlformats.org/officeDocument/2006/relationships/notesSlide" Target="/ppt/notesSlides/notesSlide6.xml" Id="R9d76e7e3f9f0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26a00cba04dce" /><Relationship Type="http://schemas.openxmlformats.org/officeDocument/2006/relationships/image" Target="/ppt/media/image4.png" Id="R7a84fc3975d14f23" /><Relationship Type="http://schemas.openxmlformats.org/officeDocument/2006/relationships/notesSlide" Target="/ppt/notesSlides/notesSlide7.xml" Id="R69b32895a7f24a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a75f2a0214d84" /><Relationship Type="http://schemas.openxmlformats.org/officeDocument/2006/relationships/notesSlide" Target="/ppt/notesSlides/notesSlide8.xml" Id="Rd7ed024333204d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58490433f4eb3" /><Relationship Type="http://schemas.openxmlformats.org/officeDocument/2006/relationships/image" Target="/ppt/media/image5.png" Id="R697ea1e79c7341c2" /><Relationship Type="http://schemas.openxmlformats.org/officeDocument/2006/relationships/notesSlide" Target="/ppt/notesSlides/notesSlide9.xml" Id="R37da4606c3af46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30495797458c" /><Relationship Type="http://schemas.openxmlformats.org/officeDocument/2006/relationships/image" Target="/ppt/media/image6.png" Id="Ra1d3eec4dd6e4473" /><Relationship Type="http://schemas.openxmlformats.org/officeDocument/2006/relationships/notesSlide" Target="/ppt/notesSlides/notesSlide10.xml" Id="Rfe58c4087fbe4b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7a2e824f044b0" /><Relationship Type="http://schemas.openxmlformats.org/officeDocument/2006/relationships/image" Target="/ppt/media/image2.jpeg" Id="Rda3a94ffefc24dbf" /><Relationship Type="http://schemas.openxmlformats.org/officeDocument/2006/relationships/notesSlide" Target="/ppt/notesSlides/notesSlide11.xml" Id="R6f7f9d0c79c44e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a534f51343a5" /><Relationship Type="http://schemas.openxmlformats.org/officeDocument/2006/relationships/notesSlide" Target="/ppt/notesSlides/notesSlide12.xml" Id="R3b903f26623446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5d49d806d493c" /><Relationship Type="http://schemas.openxmlformats.org/officeDocument/2006/relationships/notesSlide" Target="/ppt/notesSlides/notesSlide13.xml" Id="R14b1216697e347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8387287984b09" /><Relationship Type="http://schemas.openxmlformats.org/officeDocument/2006/relationships/notesSlide" Target="/ppt/notesSlides/notesSlide14.xml" Id="R97696034165844a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2BE1B-9EA3-4BDD-85A9-764FBD0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711CB-FEDB-4A02-8C16-E920F30C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798C8-A009-4CD0-9070-2C5463A5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866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456"/>
          </a:solidFill>
          <a:ln xmlns:a="http://schemas.openxmlformats.org/drawingml/2006/main" w="9525">
            <a:solidFill>
              <a:srgbClr val="2034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864EE-61D7-489C-A88B-C0DC7AC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CUSTOMER RETENTION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BF865-1198-453D-9D54-CDD9B003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533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EA885-5A8F-4B9E-A036-0594B17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5286375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누구에게 어떤 유지 활동을
먼저 검토할 것인가?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8C0F2-2ACA-4B23-9EBD-8BC09B06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33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8E3"/>
                </a:solidFill>
                <a:latin typeface="Malgun Gothic"/>
                <a:ea typeface="Malgun Gothic"/>
                <a:cs typeface="Malgun Gothic"/>
              </a:defRPr>
            </a:pPr>
            <a:r>
              <a:t>EDA → 공정 비교 → CatBoost 위험 순위 → 운영 선택지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F5EC-EB43-4DAE-9634-986DC1F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A5C8"/>
                </a:solidFill>
                <a:latin typeface="Malgun Gothic"/>
                <a:ea typeface="Malgun Gothic"/>
                <a:cs typeface="Malgun Gothic"/>
              </a:defRPr>
            </a:pPr>
            <a:r>
              <a:t>최종 제출 패키지 · 2026.07.22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E22F6-EC5E-448E-8E20-5EC5E1E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"/>
            <a:ext cx="5381625" cy="5581650"/>
          </a:xfrm>
          <a:prstGeom xmlns:a="http://schemas.openxmlformats.org/drawingml/2006/main" prst="roundRect">
            <a:avLst>
              <a:gd name="adj" fmla="val 141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33486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c8bfaef40473f"/>
          <a:stretch xmlns:a="http://schemas.openxmlformats.org/drawingml/2006/main"/>
        </p:blipFill>
        <p:spPr>
          <a:xfrm xmlns:a="http://schemas.openxmlformats.org/drawingml/2006/main">
            <a:off x="6496050" y="1882676"/>
            <a:ext cx="5057775" cy="28449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540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722CA-1392-4565-BADC-C9BCB8E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E1EAA-975E-41AB-8F3D-D6936BB8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PROBLEM →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AE05F-65AB-433C-80A0-4CF7DDC0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예측 점수가 아니라 운영 의사결정까지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6AD35-797E-4092-9371-151BA04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ABBD0-E6C6-45D8-B6C4-20CC1F3C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9475D-701C-45ED-9EE5-67B250FE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42C60-2373-4AB2-8120-2A379D7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03E50-9E16-49F2-AF94-3079084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71625"/>
            <a:ext cx="9858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이탈 가능성이 높은 고객을 찾고, 제한된 접촉 자원을 우선순위에 맞춰 검토한다.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BF35E-C0EB-4895-B218-3A3E4D4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514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E90B9-FF1C-47B4-ACD4-8E99B5F4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BBF51-253D-4FF2-AA53-F12DB8D1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13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1. 신호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4E1A7-1EC2-4B0D-9B11-8F5F420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1336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사용량·요금제·문의·일시정지 등 관찰 신호를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A2B25-0433-4E0E-8488-FDAF8C9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2514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EA21B-05B0-479F-84CD-3AFDBB0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33625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D3021-8E9F-4E42-9335-E70A09E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213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2. 위험 순위화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570AE-3B22-4986-8EC2-87C3FDC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86125"/>
            <a:ext cx="21336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동일 조건 비교 후 CatBoost OOF 확률로 우선순위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06B40-A9B9-4FA8-8A00-5009294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514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DF829-B914-462F-B398-3877598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AE6E7-36AF-4D89-9108-4FF2B7E6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13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3. 운영안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DBF5D-C5C5-4E66-A220-311400FF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1336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Recall·Precision·접촉량·비용 가정을 함께 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8F01B-0DC6-4C01-BC4D-8D3205A6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5146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E43EC-C88B-4AE9-9704-CC72FAEF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FE329-E1C5-4C60-8E7F-619D5B5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213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4. 사후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E4583-BCAF-47DA-B3B1-0DEC026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1336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실제 캠페인 A/B 테스트와 미래 라벨로 효과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1D38B-9AEC-4B08-9916-789EAC20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0972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3D6A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A392B-521C-4D71-BDDD-39D8CC6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t>책임 경계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5B800-DC33-436C-B48D-8B3DD25C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24475"/>
            <a:ext cx="923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앱은 행동 후보와 가정 기반 계획을 제시한다. 실제 고객 접촉·할인 집행·법적 승인은 조직이 결정한다.</a:t>
            </a:r>
          </a:p>
        </p:txBody>
      </p:sp>
    </p:spTree>
    <p:extLst>
      <p:ext uri="{BB962C8B-B14F-4D97-AF65-F5344CB8AC3E}">
        <p14:creationId xmlns:p14="http://schemas.microsoft.com/office/powerpoint/2010/main" val="621502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6618D-69E5-4EAE-BD28-D99883D6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0DAA-4736-4CC3-9E37-56E721A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DATA &amp;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3BF74-2DA1-4741-A23F-3253A97E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규모는 충분하지만, 현실 일반화에는 명확한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8FE18-0B7C-4A5F-BE03-EA08B660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BBD23-14C3-481E-BB0E-6446A20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FBBCE-25AA-44B4-959B-09518DBA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8D646-496C-4C0F-9914-8C02A2A3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0F5B0-BE19-4213-95CD-3B86163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2167F-17CA-40D2-99F6-08D06626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125,000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0D007-5E34-490E-8923-2E35418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학습 고객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7389E-421D-4C67-A2B8-9B5EE47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51155-BF73-43D3-9016-548379D1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A6897-CD2A-492B-A724-9FCFB872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573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75,000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0658A-5DF4-4C84-B3CE-B8283A5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미라벨 고객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18E59-4BA8-4693-93A5-CB58D84C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5C08D-2008-42B1-9B45-894600E5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3EC0A-3111-4BD3-A954-416DCD6B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573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51.34%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13F49-C4F1-4704-972C-2C486F5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학습 데이터 이탈률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6EA50-3659-46EC-A8FA-17447E4E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9146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A9DCA-9B8D-4F8C-852A-FB339B45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AA038-91E6-4BC7-B232-90A593FD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57375"/>
            <a:ext cx="2533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20개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DEF57-29D5-4B2B-9211-7FDCB13B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5336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컬럼 (타깃 포함)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241D6-05B4-48F5-979D-F50B80F2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238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DC3CA-1DB0-4480-81E0-04DAABF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476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확인된 데이터 품질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50BE81-1348-4E45-8C80-F9086CB3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• 결측치 0
• 중복 고객 0
• Train/Test 키 중복 0
• 범주·수치 스키마 검증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D79E2-0D30-4BE9-AEDD-D14230B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5429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F2C7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173C75-CBE6-4295-8156-FDF59D8F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발표에서 반드시 밝힐 한계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D022E-6037-4220-8D26-3A1C5ABB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4762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• 규칙 기반 합성 데이터로 판단
• 예측 시점·이탈 horizon 미정의
• 외부 라벨 Holdout 없음
• 라이선스·Rules 최종 승인은 사람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284295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98D9E-F334-409D-96E7-ECCD6B9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B5734-BDB1-4DAB-A213-623A2F33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EDA →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A4090-2BA7-433E-BFED-DDCE21E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EDA에서 발견한 신호를 최소한의 전처리로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5D6CD-5181-4587-85D6-3222A43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443E6-743C-4796-AB9B-B33EB28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59564-BF28-48E5-AF95-2331959F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A54AE-7627-4341-9EC7-1A7D95A0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095750" cy="43434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4E6F9-271B-4608-887B-DC63A3AD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관찰된 핵심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763B2-C937-4C67-8012-4B9375C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333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01  weekly_hours 감소
02  Free 요금제
03  service inquiry 증가
04  subscription pauses
05  track skip 증가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D9387-2A47-40AC-9580-E5E9BB1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C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6E171-98B9-4BF8-A1A0-42BB28E1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66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채택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22774-3367-4BB1-A8F1-84ADE58A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85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log_numeric: Logistic PR-AUC +0.006798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DC724-3CA8-4275-89EC-36A7F53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65722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b2a14f09242eb"/>
          <a:stretch xmlns:a="http://schemas.openxmlformats.org/drawingml/2006/main"/>
        </p:blipFill>
        <p:spPr>
          <a:xfrm xmlns:a="http://schemas.openxmlformats.org/drawingml/2006/main">
            <a:off x="5445125" y="1781175"/>
            <a:ext cx="5397500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739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2C82E-7683-435D-A604-C2A1C4F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DCA63-1D4B-4A5E-957D-766AE0F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PERFORMANCE 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C84F9-B9AE-4BE1-B8C5-C09CA09A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Baseline부터 최종 후보까지 개선 경로를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1AE21-11A4-4CF7-A9A2-DAF42BF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70A0E-EEC6-4EB8-9208-2755ED3C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63861-C76C-4010-AD11-4DE44E69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55A1-1B81-4329-AEC3-B299BAC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39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E1B6A-19C7-4CC5-9CF3-2F116BE2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429000" cy="4476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ECD8-24F2-4ACB-A7D0-174415A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8800"/>
            <a:ext cx="285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실험 판단 원칙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E5D2-4224-457D-BB97-EFF52720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762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채택
• 로그 변환 수치 특징
• 동일 fold·동일 지표 비교
• Top 3 정밀 튜닝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308BA-95A4-4CD5-B573-80DF5AD2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52875"/>
            <a:ext cx="2762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제외
• +1 ratio 파생 특징
  ↳ 복잡도 대비 PR-AUC 저하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23DE8-E5B0-4358-B612-6F78DE69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38750"/>
            <a:ext cx="2705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EAFB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2509C-0983-4B2D-8D9E-AF461790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86375"/>
            <a:ext cx="2514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Malgun Gothic"/>
                <a:ea typeface="Malgun Gothic"/>
                <a:cs typeface="Malgun Gothic"/>
              </a:defRPr>
            </a:pPr>
            <a:r>
              <a:t>재학습 없이 기존 결과 재사용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ef3e0662e43dc"/>
          <a:stretch xmlns:a="http://schemas.openxmlformats.org/drawingml/2006/main"/>
        </p:blipFill>
        <p:spPr>
          <a:xfrm xmlns:a="http://schemas.openxmlformats.org/drawingml/2006/main">
            <a:off x="628650" y="1948972"/>
            <a:ext cx="6896100" cy="3626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45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45E3C-77AF-4632-8C88-305F053C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CA3D-182F-4447-9D06-80ED850E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FAIR 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2A3F2-ED49-486A-99B7-0A58DF1F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8개 모델을 같은 조건에서 공정하게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2AF3B-C21E-42B4-A06A-06122B2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49202-2370-4F49-97FF-78F3AD39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96A2F-9D17-4189-AE2F-612E963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F3EAE-A09E-4524-A385-5831420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524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7AFF4-32F4-4494-8F16-AC55440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028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DD1E4-EC7E-4934-9128-8CDE511E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FB4D6-BCC5-4C30-8D07-4AB3B4C3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1452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0.947622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3106E-B5A6-4E31-956A-BFE1E83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647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CatBoost baseline PR-AUC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792F3-A173-41F8-9B89-416B6FD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028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DE0B6-5221-4B4E-A952-286CBD5B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346D8-13BA-4885-BB27-4A21E47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0.947534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42316-008F-4C13-AD02-19C28829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647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LightGBM baseline PR-AUC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BC14B-A31E-48A6-AA2F-A2AE6947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028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A226D-BD00-4C42-A11B-9FB963D8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B3DA7-2309-4679-BC1B-7D3F71F5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3425"/>
            <a:ext cx="2647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0.947052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CF9B4-65AA-4EF9-A98A-74FA9233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2647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XGBoost baseline PR-AUC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21ce9e81b4dc8"/>
          <a:stretch xmlns:a="http://schemas.openxmlformats.org/drawingml/2006/main"/>
        </p:blipFill>
        <p:spPr>
          <a:xfrm xmlns:a="http://schemas.openxmlformats.org/drawingml/2006/main">
            <a:off x="718590" y="1771650"/>
            <a:ext cx="700197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367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B1FF2-8D8A-4CFC-9CCF-27190AC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3DC2F-7DF2-4ADA-948C-A156374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BOUNDED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5094A-A102-41AE-B100-84FB796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탐색 상한을 지키고 Top 3만 정밀 튜닝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D0161-B46E-4413-A79C-5FE5EAB4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C896B-7FAF-482B-AA73-D23364C9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49B4-C24E-48AB-B6B5-59E00CA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26574-AD65-4A21-B740-44FB7C7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334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31382-152D-4DC1-A342-4C05067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333750" cy="4476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3B12C-B81F-47F7-9788-2B65BB4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76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Fine CV PR-AUC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B8259-DA44-42A7-ACC1-20DC8207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CatBoost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9DB9F-6787-4EE4-9ECF-65ED9A4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0.947913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FAE2E-BE05-4299-8F05-1B0C8FED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LightGBM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0F7A3-B74A-4E72-BE26-995B09CF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22D3EE"/>
                </a:solidFill>
                <a:latin typeface="Malgun Gothic"/>
                <a:ea typeface="Malgun Gothic"/>
                <a:cs typeface="Malgun Gothic"/>
              </a:defRPr>
            </a:pPr>
            <a:r>
              <a:t>0.947806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030F6-5A13-497D-BA35-BFB7FE84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XGBoost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61D3C-9E8F-4A3D-AC98-8C37A92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1219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t>0.947793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E4FA9-C9EF-4871-9A87-6FE8A8F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465BD-32B3-42DA-894A-378076B6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차이는 작다. 따라서 단일 점수만으로 과장하지 않고 안정성·운영 해석을 함께 본다.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4fc3975d14f23"/>
          <a:stretch xmlns:a="http://schemas.openxmlformats.org/drawingml/2006/main"/>
        </p:blipFill>
        <p:spPr>
          <a:xfrm xmlns:a="http://schemas.openxmlformats.org/drawingml/2006/main">
            <a:off x="628650" y="1923925"/>
            <a:ext cx="6991350" cy="3676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6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57DEA-8B77-45BC-BAE1-161E538B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E7061-22E0-4EB6-AC09-3FF28BF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MODEL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A55A0-2D80-45C3-A46B-2F04043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CatBoost를 최종 위험 순위 모델로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B7883-369E-4A76-9D84-1907CB6F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3A033-35ED-4D21-BEAC-44CB1EB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DD8B-29E0-4A6A-AA95-1C91A65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6C28F-367A-4E17-A4EB-A75CE5E6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95EA9-8751-4A01-86E4-5F8E6FD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선정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68768-C3BA-41BF-9DFF-E2693748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5720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• Fine CV PR-AUC 1위: 0.947913
• OOF PR-AUC: 0.947897
• ROC-AUC: 0.941959
• 5-seed 평균: 0.947880
• 범주형·비선형 관계를 안정적으로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F393F-0510-4B3E-8AAE-29AB204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572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9DC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B55DC-EB31-4E99-8D7A-D3CE604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운영 기본안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D5B46-FCA9-4797-AF72-D79AAEB4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Balanced F1 threshold = 0.35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A7C7-CD4B-43D2-8201-003372B6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2D6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42CF6-5520-4B2F-8B3E-CFD9DF6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t>중요한 해석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D5E4-059D-436F-A262-2F25574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LightGBM은 기본 threshold에서 Recall·Calibration이 조금 더 나았다. Bootstrap 구간도 겹친다.
따라서 CatBoost를 ‘절대 우승 모델’이 아니라 현재 데이터에서 근소하게 앞선 위험 순위 후보로 표현한다.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61630-4633-4709-AD70-4DBB7119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FF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DD9BD-2ABE-4C01-83B2-72F0DE0A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모델 선택 ≠ 캠페인 효과 입증</a:t>
            </a:r>
          </a:p>
        </p:txBody>
      </p:sp>
    </p:spTree>
    <p:extLst>
      <p:ext uri="{BB962C8B-B14F-4D97-AF65-F5344CB8AC3E}">
        <p14:creationId xmlns:p14="http://schemas.microsoft.com/office/powerpoint/2010/main" val="1240091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3739F-E0E5-4D47-8FD3-520053FC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14CB9-A7DF-4C3F-8608-B582246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OPERATING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67A39-DAD3-48E5-B7CA-CA45B93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Threshold는 정답이 아니라 운영 선택지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2E37C-8E77-4BCE-A506-A70FD346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6FF20-0867-44D0-A161-5A74FBE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A1746-1096-45F6-8179-9BAF228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8579F-207B-42C5-82B4-4BC94F1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6667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D9493-8279-4189-BCF5-BCDC1BB3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4000500" cy="4476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08651-4C67-4152-9A5B-C5EF8E9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288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시나리오별 trade-off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45D53-AC5E-4B6E-908E-6DB71C8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219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Recall 우선 · 0.29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1EFB5-87EC-4CF1-84A2-0BC07C01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대상 77,700 · Recall .9518 · FN 3,091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CB2FD-D5C2-4F2F-ABBD-FF157B4C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219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9F6E"/>
                </a:solidFill>
                <a:latin typeface="Malgun Gothic"/>
                <a:ea typeface="Malgun Gothic"/>
                <a:cs typeface="Malgun Gothic"/>
              </a:defRPr>
            </a:pPr>
            <a:r>
              <a:t>Balanced F1 · 0.35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649A3-53BE-42DC-81EB-D71D1691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대상 76,143 · F1 .8638 · FN 3,569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A7A87-6180-48FA-9AEF-41FC984A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672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t>Precision 우선 · 0.74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CC9C9-D052-4987-BFB7-ABE3EDF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9105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대상 48,463 · Precision .9507 · FP 2,388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48DDB-58D8-42D1-BA3C-52E1428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959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0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예산·접촉비·허용 FN에 따라 담당자가 선택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ea1e79c7341c2"/>
          <a:stretch xmlns:a="http://schemas.openxmlformats.org/drawingml/2006/main"/>
        </p:blipFill>
        <p:spPr>
          <a:xfrm xmlns:a="http://schemas.openxmlformats.org/drawingml/2006/main">
            <a:off x="647700" y="2111236"/>
            <a:ext cx="6286500" cy="33022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08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8A54B-67B6-4D9F-BF3D-0F115AD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9ABD3-0A43-4266-9B31-9F5BE8A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TOP-K · LIFT · DECILE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74969-858B-47D9-AC93-C7E769D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Top-K로 제한된 접촉 자원의 기대 범위를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84E60-2032-41E9-854B-8B19602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4A6BA-6395-468F-8D78-C884EEC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BE8E3-F4B8-4356-9E40-89D8C4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EBB5E-B10A-4F5D-B34C-03FE8B05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0AD88-DBDF-4B01-97FA-D900A0B7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3657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2E8F2-A9F0-4157-940E-144F89C3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C89AB-BA27-4C89-9B66-3DE9EDF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76425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19.48%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4EA38-2B3E-4512-83B6-9E20158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3276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Top 10%의 이탈자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BA48E-F861-4D59-916E-2244292D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657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E1A15-9638-4721-9F1B-EDB1FC56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AE9B4-5A06-401A-A01C-A034DED9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2D2FF-6F7C-4A2E-8D4F-3DD537E7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3276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Top 10% Precision (OOF)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14A27-9BFB-4148-94D0-B4D878D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3657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C2AA3-0557-43E5-B50E-A315559A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89DFA-11FE-4E27-8E3A-6A99B0EC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327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1.948×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4EB06-B2E5-45B3-9D5C-F420794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32766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Top 10% Lift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F9626-CE6A-4D93-9205-7A1B8829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57850"/>
            <a:ext cx="3657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※ 합성 데이터의 OOF 결과이므로 실제 캠페인 성과로 해석하지 않는다.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3eec4dd6e4473"/>
          <a:stretch xmlns:a="http://schemas.openxmlformats.org/drawingml/2006/main"/>
        </p:blipFill>
        <p:spPr>
          <a:xfrm xmlns:a="http://schemas.openxmlformats.org/drawingml/2006/main">
            <a:off x="628650" y="2054064"/>
            <a:ext cx="6496050" cy="34166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79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A6450-643D-4D93-A0DF-CEB42DC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C168C-86FF-4719-8656-A5E3B91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DECISION SUPPORT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D7EBF-BAEA-4AE2-8AD0-0FA7C650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Streamlit에서 위험 고객을 행동 후보로 전환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F53B-5397-4CAC-BD06-FE4F09AC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F4D90-E42C-47EE-8A56-31C135DA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77105-1AB7-4524-B9C3-51175F1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77EB8-77AD-4E3B-96FE-8877ED99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009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A1389-DA2D-4F8C-8E93-6C809BD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3467100" cy="447675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0B88C-3DD6-437D-8929-97E77D53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사용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A46AF-5BD3-474C-A630-10267A0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7813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1  위험 고객 필터
2  운영 단계·1차 신호 확인
3  구독 유형별 비용·가치 가정
4  접촉량·예상 규모 비교
5  담당자 승인 후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57BC8-352E-4597-B532-6C15DFBC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2781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2D6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794E4-6710-4277-96B9-EADDFF41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48225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t>앱이 하지 않는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D5856-CA5B-4796-8277-735A1F1B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81600"/>
            <a:ext cx="2333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2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실제 CRM 발송·할인 집행·효과 확정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a94ffefc24dbf"/>
          <a:stretch xmlns:a="http://schemas.openxmlformats.org/drawingml/2006/main"/>
        </p:blipFill>
        <p:spPr>
          <a:xfrm xmlns:a="http://schemas.openxmlformats.org/drawingml/2006/main">
            <a:off x="628650" y="1824038"/>
            <a:ext cx="6858000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1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84C1-CBFC-41FE-8964-0153622E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1AEF-B78E-4EC7-8E10-260B5C24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D5212-E308-44BD-ABE5-DD12257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제출 패키지 자체로 재현·검토 가능하게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B2C5-86DD-40EC-9BB3-23BA6E2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14F89-8D96-40F7-8783-0231CB71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FBF85-6F73-4FD1-9783-65DAF0C2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13585-272A-4926-9631-C1E58706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FD789-9F4A-421B-8D90-50BF825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7C5AA-E992-4611-8AAB-73458E6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17/17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20D6D-370C-45B3-95BA-4250DC4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테스트 통과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FD637-1908-4FB1-89E9-CB685B83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4F251-23C0-484E-9A0B-4CBF83BE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9605B-FA87-4FE2-96D1-6D206DA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7642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6개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D8326-A979-4F6A-8EE2-2AD52BBC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Streamlit 화면 AppTest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F763F-5FE9-4050-895E-936DBA1B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1DF5D-9E0E-4AFA-AA83-1F429D3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8B70A-A3FF-4805-9685-D57D9CE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7642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3개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19BD1-8009-4403-BD91-51CFB35A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실행 완료 노트북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FFE7C-F6AF-40D5-8528-D2929548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9146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8D46C-E404-4CAA-A579-A36291E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AECFA-8EBF-441A-A41C-F913134D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76425"/>
            <a:ext cx="2533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SHA-256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2B8F7-0061-42B7-A220-1AB0EEAC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25336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모델 무결성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9CE09-C4A7-4A2F-B819-A7360F42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5257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EA977-E7C6-4D5F-85A7-FD5DEE29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667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패키지 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86A3C-905A-4FB3-B5B5-A556673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4572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README · 데이터 출처 · 전처리/학습 보고서
노트북 · 모델 · 메트릭 · 스키마
Streamlit 앱 · 발표자료 · 요구사항 추적표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C7023-5338-48E4-9142-74ED95F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54102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F7EA4-AEE9-4310-899F-115FA7EE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재현 원칙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F4F06A-5B25-4854-A454-5E96138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47625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• 기존 Run manifest와 checkpoint 재사용
• 전체 모델 재학습 없음
• 동일 산출물 재생성 스크립트 포함
• 원본 CSV ↔ 그래프 추적 가능</a:t>
            </a:r>
          </a:p>
        </p:txBody>
      </p:sp>
    </p:spTree>
    <p:extLst>
      <p:ext uri="{BB962C8B-B14F-4D97-AF65-F5344CB8AC3E}">
        <p14:creationId xmlns:p14="http://schemas.microsoft.com/office/powerpoint/2010/main" val="12361772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8D576-A4AD-46C0-9ED0-C1DCB47E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B9148-385D-4796-A896-862A3CD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LIMITATIONS &amp;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B88EC-C3F4-4ECF-AC25-22BE896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0953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현재 결과의 경계를 밝히고 다음 검증을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C3D4D-D0E9-4DEC-9628-EDCEFBB0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71DE3-5F94-4E91-AEA5-AFAA69F0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34BAE-6DB4-48AE-A6E7-0FFFE63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1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최종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943C6-D1B8-45E4-88BC-8722F27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2578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F2C7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E7683-BAD1-4342-895E-3139C627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지금 확정할 수 없는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5AA5F-FDF8-4F7A-B469-CFB14E5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572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• 실제 캠페인 실행 결과
• 이탈 방지 uplift·증분 ROI
• 미래 시점 일반화
• 데이터 라이선스 최종 법적 승인
• 비용·고객가치 가정의 조직 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8290F-8F55-49AD-BCE2-D29E360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54102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EAFBF5"/>
          </a:solidFill>
          <a:ln xmlns:a="http://schemas.openxmlformats.org/drawingml/2006/main" w="9525">
            <a:solidFill>
              <a:srgbClr val="BCE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C5AC1-8D33-4DAB-91F5-93A9F98D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F6E"/>
                </a:solidFill>
                <a:latin typeface="Malgun Gothic"/>
                <a:ea typeface="Malgun Gothic"/>
                <a:cs typeface="Malgun Gothic"/>
              </a:defRPr>
            </a:pPr>
            <a:r>
              <a:t>다음 검증 우선순위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87514-CA47-4C71-8E09-5C159F8C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Malgun Gothic"/>
                <a:ea typeface="Malgun Gothic"/>
                <a:cs typeface="Malgun Gothic"/>
              </a:defRPr>
            </a:pPr>
            <a:r>
              <a:t>1  시간 기반 외부 Holdout
2  세그먼트별 오류·Calibration 재검증
3  캠페인 A/B 테스트
4  Incremental uplift·ROI 측정
5  운영 비용·가치 가정 보정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DE371-337D-4FA2-A9B8-5B34A59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3143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9525">
            <a:solidFill>
              <a:srgbClr val="DFF7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52597-BD55-403F-9A4E-0846D588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00625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Malgun Gothic"/>
                <a:ea typeface="Malgun Gothic"/>
                <a:cs typeface="Malgun Gothic"/>
              </a:defRPr>
            </a:pPr>
            <a:r>
              <a:t>Holdout을 본 뒤 재선택하지 않기</a:t>
            </a:r>
          </a:p>
        </p:txBody>
      </p:sp>
    </p:spTree>
    <p:extLst>
      <p:ext uri="{BB962C8B-B14F-4D97-AF65-F5344CB8AC3E}">
        <p14:creationId xmlns:p14="http://schemas.microsoft.com/office/powerpoint/2010/main" val="19833936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2C586-7C1D-49E0-BAE8-04663BC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B05BF-93B5-4AF4-BB1F-1B0210CD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D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617C7-6C5B-4DC3-AAEE-7B1C4348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FINAL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2905D-8714-4493-83B1-DAC27EAE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723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발표에서 남길 5가지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0361-8BB8-48E1-92D0-7EA9F60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28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3456"/>
          </a:solidFill>
          <a:ln xmlns:a="http://schemas.openxmlformats.org/drawingml/2006/main" w="9525">
            <a:solidFill>
              <a:srgbClr val="2034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0A87D-1D58-4F52-8972-BA5DBCB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62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90C5D-4453-4649-AA1E-3D08E77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EDA 신호를 전처리·모델링 판단으로 연결했다.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98564-8F1C-4E8B-A4A6-8B3B62A0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28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3456"/>
          </a:solidFill>
          <a:ln xmlns:a="http://schemas.openxmlformats.org/drawingml/2006/main" w="9525">
            <a:solidFill>
              <a:srgbClr val="2034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5292D-AB34-40BB-9093-B647F5A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62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74543-1377-4688-B623-9AA0A64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8개 모델을 같은 조건에서 비교하고 탐색 범위를 통제했다.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A0A0E-B915-4DF2-8C19-33BCDE3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628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3456"/>
          </a:solidFill>
          <a:ln xmlns:a="http://schemas.openxmlformats.org/drawingml/2006/main" w="9525">
            <a:solidFill>
              <a:srgbClr val="2034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B2C38-C565-4BE9-9B4D-D30569F6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62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553C5-7170-46F9-BF19-463C944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CatBoost는 PR-AUC·안정성 기준의 근소한 최종 후보다.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AEFF-E938-4FEE-B58E-2645BB98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628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3456"/>
          </a:solidFill>
          <a:ln xmlns:a="http://schemas.openxmlformats.org/drawingml/2006/main" w="9525">
            <a:solidFill>
              <a:srgbClr val="2034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68150-5D95-466F-ADEC-28319366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62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EBFBB-CA1E-42EE-98C7-17D94F7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Threshold·Top-K·비용 가정을 운영 선택지로 제공한다.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5A497-3810-44B1-82F9-BAE48009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628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B2C35"/>
          </a:solidFill>
          <a:ln xmlns:a="http://schemas.openxmlformats.org/drawingml/2006/main" w="9525">
            <a:solidFill>
              <a:srgbClr val="4B2C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0B3E4-B3A7-4462-ACA4-1431D39B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628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CA5A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90058-0403-4A22-8914-A602560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실제 효과는 Holdout과 A/B 테스트로 검증해야 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7536F-0693-40E1-AE5D-D43B0760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5C8"/>
                </a:solidFill>
                <a:latin typeface="Malgun Gothic"/>
                <a:ea typeface="Malgun Gothic"/>
                <a:cs typeface="Malgun Gothic"/>
              </a:defRPr>
            </a:pPr>
            <a:r>
              <a:t>PlaylistPro · Decision-ready retention analytics</a:t>
            </a:r>
          </a:p>
        </p:txBody>
      </p:sp>
    </p:spTree>
    <p:extLst>
      <p:ext uri="{BB962C8B-B14F-4D97-AF65-F5344CB8AC3E}">
        <p14:creationId xmlns:p14="http://schemas.microsoft.com/office/powerpoint/2010/main" val="839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2026-07-21T20:32:28.0180000Z</dcterms:created>
  <dcterms:modified xsi:type="dcterms:W3CDTF">2026-07-21T20:32:28.0190000Z</dcterms:modified>
</coreProperties>
</file>