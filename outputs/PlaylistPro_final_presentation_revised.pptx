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9c9e7c7464ac4a2e" Type="http://schemas.openxmlformats.org/officeDocument/2006/relationships/extended-properties" Target="docProps/app.xml"/><Relationship Id="Rea42946a1d5146c1" Type="http://schemas.openxmlformats.org/package/2006/relationships/metadata/core-properties" Target="docProps/core.xml"/><Relationship Id="Rf634ddaef4a0400b"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168edc4ac0234c63"/>
  </p:sldMasterIdLst>
  <p:notesMasterIdLst>
    <p:notesMasterId xmlns:r="http://schemas.openxmlformats.org/officeDocument/2006/relationships" r:id="Rc8dded38c0724e6d"/>
  </p:notesMasterIdLst>
  <p:sldIdLst>
    <p:sldId xmlns:r="http://schemas.openxmlformats.org/officeDocument/2006/relationships" id="256" r:id="R5eac49f629284314"/>
    <p:sldId xmlns:r="http://schemas.openxmlformats.org/officeDocument/2006/relationships" id="257" r:id="R68e2e73295634c95"/>
    <p:sldId xmlns:r="http://schemas.openxmlformats.org/officeDocument/2006/relationships" id="258" r:id="Rbf9bdeba916249fa"/>
    <p:sldId xmlns:r="http://schemas.openxmlformats.org/officeDocument/2006/relationships" id="259" r:id="Rfdfd4180c0a54deb"/>
    <p:sldId xmlns:r="http://schemas.openxmlformats.org/officeDocument/2006/relationships" id="261" r:id="R1a1986aa91b241eb"/>
    <p:sldId xmlns:r="http://schemas.openxmlformats.org/officeDocument/2006/relationships" id="262" r:id="R0573664e27a141cd"/>
    <p:sldId xmlns:ns0="http://schemas.openxmlformats.org/officeDocument/2006/relationships" id="270" ns0:id="rId20"/>
    <p:sldId xmlns:r="http://schemas.openxmlformats.org/officeDocument/2006/relationships" id="263" r:id="R007f5f151b20431c"/>
    <p:sldId xmlns:ns0="http://schemas.openxmlformats.org/officeDocument/2006/relationships" id="271" ns0:id="rId21"/>
    <p:sldId xmlns:ns0="http://schemas.openxmlformats.org/officeDocument/2006/relationships" id="272" ns0:id="rId22"/>
    <p:sldId xmlns:ns0="http://schemas.openxmlformats.org/officeDocument/2006/relationships" id="273" ns0:id="rId23"/>
    <p:sldId xmlns:r="http://schemas.openxmlformats.org/officeDocument/2006/relationships" id="267" r:id="R7d6cbb6e2b334114"/>
    <p:sldId xmlns:r="http://schemas.openxmlformats.org/officeDocument/2006/relationships" id="260" r:id="Rfc2ade81999f40ca"/>
    <p:sldId xmlns:ns0="http://schemas.openxmlformats.org/officeDocument/2006/relationships" id="274" ns0:id="rId2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7f5f151b20431c" Type="http://schemas.openxmlformats.org/officeDocument/2006/relationships/slide" Target="slides/slide8.xml"/><Relationship Id="R0573664e27a141cd" Type="http://schemas.openxmlformats.org/officeDocument/2006/relationships/slide" Target="slides/slide7.xml"/><Relationship Id="R168edc4ac0234c63" Type="http://schemas.openxmlformats.org/officeDocument/2006/relationships/slideMaster" Target="slideMasters/slideMaster1.xml"/><Relationship Id="R1a1986aa91b241eb" Type="http://schemas.openxmlformats.org/officeDocument/2006/relationships/slide" Target="slides/slide6.xml"/><Relationship Id="R5eac49f629284314" Type="http://schemas.openxmlformats.org/officeDocument/2006/relationships/slide" Target="slides/slide1.xml"/><Relationship Id="R68e2e73295634c95" Type="http://schemas.openxmlformats.org/officeDocument/2006/relationships/slide" Target="slides/slide2.xml"/><Relationship Id="R6e5a2564b662455c" Type="http://schemas.openxmlformats.org/officeDocument/2006/relationships/theme" Target="theme/theme1.xml"/><Relationship Id="R7d6cbb6e2b334114" Type="http://schemas.openxmlformats.org/officeDocument/2006/relationships/slide" Target="slides/slide12.xml"/><Relationship Id="R98e26cb0c73a4f0d" Type="http://schemas.openxmlformats.org/officeDocument/2006/relationships/presProps" Target="presProps.xml"/><Relationship Id="Rb2ad85f326d54d0a" Type="http://schemas.openxmlformats.org/officeDocument/2006/relationships/tableStyles" Target="tableStyles.xml"/><Relationship Id="Rbf9bdeba916249fa" Type="http://schemas.openxmlformats.org/officeDocument/2006/relationships/slide" Target="slides/slide3.xml"/><Relationship Id="Rc8dded38c0724e6d" Type="http://schemas.openxmlformats.org/officeDocument/2006/relationships/notesMaster" Target="notesMasters/notesMaster1.xml"/><Relationship Id="Rfc2ade81999f40ca" Type="http://schemas.openxmlformats.org/officeDocument/2006/relationships/slide" Target="slides/slide5.xml"/><Relationship Id="Rfdfd4180c0a54deb" Type="http://schemas.openxmlformats.org/officeDocument/2006/relationships/slide" Target="slides/slide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30c7e8c7592440a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b36b3693bdca4cac" Type="http://schemas.openxmlformats.org/officeDocument/2006/relationships/slide" Target="../slides/slide1.xml"/><Relationship Id="Recb3cb9aec9b495c"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7e46a70ed2c44285" Type="http://schemas.openxmlformats.org/officeDocument/2006/relationships/slide" Target="../slides/slide2.xml"/><Relationship Id="Ra2204e8767f640b7"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1934dfdec520493c" Type="http://schemas.openxmlformats.org/officeDocument/2006/relationships/notesMaster" Target="../notesMasters/notesMaster1.xml"/><Relationship Id="Re8e54bf6db19484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1237892092f4d07" Type="http://schemas.openxmlformats.org/officeDocument/2006/relationships/notesMaster" Target="../notesMasters/notesMaster1.xml"/><Relationship Id="R7573acdc11a846da"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8e38ddf646644d6" Type="http://schemas.openxmlformats.org/officeDocument/2006/relationships/notesMaster" Target="../notesMasters/notesMaster1.xml"/><Relationship Id="R72badc0ebbbb4d7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9e0a791e16c9480a" Type="http://schemas.openxmlformats.org/officeDocument/2006/relationships/notesMaster" Target="../notesMasters/notesMaster1.xml"/><Relationship Id="Ra320bbd1e0ad4f3b"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4417bde2c3a14405" Type="http://schemas.openxmlformats.org/officeDocument/2006/relationships/notesMaster" Target="../notesMasters/notesMaster1.xml"/><Relationship Id="R9fbee2331bc7456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62913f38463d458b" Type="http://schemas.openxmlformats.org/officeDocument/2006/relationships/slide" Target="../slides/slide8.xml"/><Relationship Id="R68d5e45ff2e94f7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d24d8398cd684235" Type="http://schemas.openxmlformats.org/officeDocument/2006/relationships/slide" Target="../slides/slide12.xml"/><Relationship Id="Re715d0acda7d47a7"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PlaylistPro의 출발점은 단순한 이탈 예측이 아닙니다. 모든 고객에게 같은 시간과 비용을 쓸 수 없기 때문에 누구를 먼저 검토하고 어떤 유지 행동을 제안할지 결정해야 합니다. 저희는 고객 위험 순위와 검토 가능한 행동 가설을 Streamlit 의사결정 흐름으로 연결했습니다.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Recall을 높이면 놓치는 이탈 고객은 줄지만 검토 대상과 FP가 늘어납니다. Precision을 높이면 접촉 효율은 좋아지지만 FN이 늘 수 있습니다. 따라서 모델 점수 하나가 아니라 운영 역량에 맞는 Threshold와 Top-K를 선택해야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 데이터는 12만 5천 명이고 Test는 7만 5천 명입니다. Test에는 라벨이 없으며 예측 기간도 정의되지 않았습니다. 따라서 발표 성능은 고정 5-Fold OOF 내부 검증이고 외부 Holdout 성능으로 표현하지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강한 연속형 신호는 주간 청취 시간이었고 상관은 -0.302였습니다. Free 이탈률은 79.41%, Premium은 33.91%, 문의 High는 74.33%, Low는 28.92%였습니다. 이 수치는 원인이 아니라 행동을 검토하는 연관 신호입니다.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높은 문의는 미해결 문의 확인, 낮은 청취는 재활성화, Skip과 Pause는 콘텐츠 만족도와 복귀 장벽, Free는 혜택 인지 검토로 연결했습니다. 모델이 최적 처방을 학습한 것이 아니며 담당자가 채택·보류·직접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Logistic PR-AUC는 0.899495였고 로그 변환 후 0.906293으로 0.006798 개선돼 채택했습니다. 반면 상호작용과 여러 비율 실험은 거의 개선되지 않아 제외했습니다. CatBoost에서 로그 효과는 약 0.000089이므로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후보는 같은 log_numeric 피처와 고정 5-Fold OOF를 사용했고 전처리는 Fold 안에서만 적합했습니다. PR-AUC는 클래스 불균형 때문이 아니라 제한된 고객 검토에서 위험 순위 품질을 보기 위한 주 지표입니다.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Logistic 0.899495에서 최종 CatBoost OOF 0.947897까지 누적 0.048402 개선됐습니다. Random Forest 탐색은 자체 개선됐지만 상위 3개에는 못 들었고 Gradient Boosting 탐색은 하락했습니다. 실패 실험도 선택 근거로 남겼습니다.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앱은 인사이트 이해, 실험 근거, 모델 선정, 운영 기준, 고객 우선순위를 여섯 화면으로 연결합니다. 고객 우선순위에서는 위험 신호와 행동 후보를 보고, 가정 기반 계획에서는 구독별 비용과 가치를 편집합니다. 실제 CRM 발송은 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결론은 8개 모델을 완전히 같은 조건에서 한 번에 비교했다는 것입니다. 모두 동일한 log_numeric 피처와 고정 5-Fold, 같은 OOF 예측으로 평가했기 때문에 점수 차이는 데이터나 폴드가 아니라 모델의 차이입니다. Dummy는 0.5134로 하한선이고, Logistic 0.9063, 트리·부스팅 계열이 0.936에서 0.948 사이입니다. 상위 세 개인 CatBoost, LightGBM, XGBoost는 소수점 넷째 자리에서 갈릴 만큼 근소합니다. 주의할 점은 이 표가 최종 선택이 아니라 후보 선별이라는 것입니다. 다음 장에서 이 상승이 어떤 단계에서 만들어졌는지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말하면 CatBoost는 조건부 기술 후보이지 압도적 승자가 아닙니다. 최종 OOF PR-AUC는 CatBoost 0.947897, LightGBM 0.947790, XGBoost 0.947765로 CatBoost가 근소하게 앞섭니다. 5개 Seed 평균도 CatBoost가 가장 높고 표준편차 0.000061로 변동이 작습니다. 다만 Bootstrap 신뢰구간이 서로 겹치고, 0.5 임계값 기준 Recall과 Brier는 LightGBM이 더 좋습니다. 그래서 순위 품질과 반복 안정성을 우선해 CatBoost를 골랐지만, 놓침을 최소화하려면 LightGBM도 합리적이라고 정직하게 설명합니다. 모델 선택과 임계값 선택은 별개라는 점이 다음 장으로 이어집니다. 먼저 이 모델을 어떻게 저장했는지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결론은 모델을 파일로 저장한 데서 끝내지 않고 재현 가능하게 고정했다는 것입니다. 저장 산출물은 artifacts/model 폴더의 music_churn_pipeline.joblib 하나이며, 전처리와 CatBoost가 결합된 단일 Pipeline입니다. 메타데이터에는 최종 모델 CatBoost, OOF PR-AUC 0.947897, Run ID 20260721_full_fair_v1가 기록돼 있습니다. 무결성은 SHA-256 fc35ca91e9242dbc0e914db9f0dfc9e994024a5d4cc8d0d770d12321989a7d0e로 검증했고, 저장 후 같은 프로세스뿐 아니라 새 프로세스에서도 재로딩을 확인했습니다(reload_verified·fresh_process_reload_verified 모두 true). 핵심 의미는 Streamlit이 학습을 다시 하지 않고 검증된 이 저장 모델만 로드한다는 것입니다. 다음 장에서 그 앱을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결론은 하나의 정답 임계값이 없다는 것입니다. Streamlit에서 운영자가 직접 손잡이를 돌립니다. 임계값 0.29는 7만 7,700명을 검토해 Recall 95.18%를 얻지만 FP가 1만 6,617명입니다. 0.35는 비슷하게 넓은 균형안이고, 0.74는 대상이 4만 8,463명으로 줄고 정밀도 95.07% 대신 FN이 1만 8,099명으로 늘어납니다. 인원이 먼저 정해져 있으면 Top-K가 더 직관적입니다. 상위 10% 1만 2,500명은 이탈자의 19.48%를 포착하고 Lift는 1.95입니다. 여기서 반드시 강조할 한계는 Lift 1.95가 캠페인으로 이탈이 1.95배 준다는 뜻이 아니라, 위험 고객이 무작위 대비 얼마나 농축됐는지라는 것입니다. 이렇게 고른 고객을 다음 화면에서 신호와 함께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슬라이드의 결론은, 이 프로젝트가 이탈 여부를 맞히는 데서 멈추지 않고 누구부터 왜 볼지를 정하는 구조를 만들었다는 것입니다. 고객 이해에서 위험 신호를 찾고, 고정 5-Fold OOF로 8개 모델을 공정하게 비교했으며, Threshold와 Top-K로 검토 범위를 정하고, 투명한 규칙으로 행동을 담당자가 선택하게 했습니다. 핵심 수치는 CatBoost OOF PR-AUC 0.947897이지만, 그 숫자 하나가 성과가 아닙니다. 과장하면 안 되는 한계도 분명합니다. 실제 미래 라벨 Holdout이 없고, 예측 기간이 정의되지 않았으며, 합성 데이터로 판단했고, 실제 이탈 감소와 ROI는 검증되지 않았습니다. 그래서 마지막 문장은 이것입니다. 성과는 점수가 아니라 인사이트·검증·운영·행동을 하나의 의사결정 흐름으로 연결한 것입니다. 여기서 발표를 마치고 Q&amp;A로 넘어갑니다.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cd40177cdb947f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235c602dfa04110" Type="http://schemas.openxmlformats.org/officeDocument/2006/relationships/theme" Target="theme/theme2.xml"/><Relationship Id="R3936928ec0cd4b31"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36928ec0cd4b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72f5094999e4fc2" Type="http://schemas.openxmlformats.org/officeDocument/2006/relationships/notesSlide" Target="../notesSlides/notesSlide1.xml"/><Relationship Id="R38340d5082e345ec"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d5d4989a46944f42" Type="http://schemas.openxmlformats.org/officeDocument/2006/relationships/slideLayout" Target="../slideLayouts/slideLayout1.xml"/><Relationship Id="Rda7f009e62b940c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d02adcda4244a63" Type="http://schemas.openxmlformats.org/officeDocument/2006/relationships/slideLayout" Target="../slideLayouts/slideLayout1.xml"/><Relationship Id="R91591f7f9ff545a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48aaf3db57f54eed" Type="http://schemas.openxmlformats.org/officeDocument/2006/relationships/image" Target="../media/image.png"/><Relationship Id="R7e4788c3830541fc" Type="http://schemas.openxmlformats.org/officeDocument/2006/relationships/image" Target="../media/image2.png"/><Relationship Id="Ra77a927b171b4e20" Type="http://schemas.openxmlformats.org/officeDocument/2006/relationships/notesSlide" Target="../notesSlides/notesSlide4.xml"/><Relationship Id="Rf0c73899c56f414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4ffb594cabb848c6" Type="http://schemas.openxmlformats.org/officeDocument/2006/relationships/slideLayout" Target="../slideLayouts/slideLayout1.xml"/><Relationship Id="Rac8772e7287e4b0a"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0cd0bd737d94c33" Type="http://schemas.openxmlformats.org/officeDocument/2006/relationships/image" Target="../media/image3.png"/><Relationship Id="Rcd12f100f4c14f42" Type="http://schemas.openxmlformats.org/officeDocument/2006/relationships/slideLayout" Target="../slideLayouts/slideLayout1.xml"/><Relationship Id="Reaacc17dcf19482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ae2bd19c14c484d" Type="http://schemas.openxmlformats.org/officeDocument/2006/relationships/image" Target="../media/image4.png"/><Relationship Id="R273adb7bff924ed7" Type="http://schemas.openxmlformats.org/officeDocument/2006/relationships/slideLayout" Target="../slideLayouts/slideLayout1.xml"/><Relationship Id="Rd150f312b3e3450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6b3af0df16048e6" Type="http://schemas.openxmlformats.org/officeDocument/2006/relationships/slideLayout" Target="../slideLayouts/slideLayout1.xml"/><Relationship Id="Rc05e53ae511f4ab5" Type="http://schemas.openxmlformats.org/officeDocument/2006/relationships/image" Target="../media/image5.png"/><Relationship Id="Rf08c04a44f72403f"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04255d1745674c34" Type="http://schemas.openxmlformats.org/officeDocument/2006/relationships/image" Target="../media/image2.jpeg"/><Relationship Id="R083c32170e4948a8" Type="http://schemas.openxmlformats.org/officeDocument/2006/relationships/slideLayout" Target="../slideLayouts/slideLayout1.xml"/><Relationship Id="R56450228f2c4470d" Type="http://schemas.openxmlformats.org/officeDocument/2006/relationships/notesSlide" Target="../notesSlides/notesSlide12.xml"/><Relationship Id="Ra4aa52248f194ec0" Type="http://schemas.openxmlformats.org/officeDocument/2006/relationships/image" Target="../media/image.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75E68E2-39BF-4ADC-9ADB-F8D694ECDD86}"/>
              </a:ext>
            </a:extLst>
          </p:cNvPr>
          <p:cNvSpPr>
            <a:spLocks xmlns:a="http://schemas.openxmlformats.org/drawingml/2006/main" noGrp="1"/>
          </p:cNvSpPr>
          <p:nvPr/>
        </p:nvSpPr>
        <p:spPr>
          <a:xfrm xmlns:a="http://schemas.openxmlformats.org/drawingml/2006/main">
            <a:off x="53340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PLAYLISTPRO · FINAL PRESENTATION</a:t>
            </a:r>
          </a:p>
        </p:txBody>
      </p:sp>
      <p:sp>
        <p:nvSpPr>
          <p:cNvPr id="2" name="">
            <a:extLst xmlns:a="http://schemas.openxmlformats.org/drawingml/2006/main">
              <a:ext uri="{FF2B5EF4-FFF2-40B4-BE49-F238E27FC236}">
                <a16:creationId xmlns:a16="http://schemas.microsoft.com/office/drawing/2014/main" id="{423689D4-2360-4EB8-A6E7-075C24F5DA6A}"/>
              </a:ext>
            </a:extLst>
          </p:cNvPr>
          <p:cNvSpPr>
            <a:spLocks xmlns:a="http://schemas.openxmlformats.org/drawingml/2006/main" noGrp="1"/>
          </p:cNvSpPr>
          <p:nvPr/>
        </p:nvSpPr>
        <p:spPr>
          <a:xfrm xmlns:a="http://schemas.openxmlformats.org/drawingml/2006/main">
            <a:off x="533400" y="1352550"/>
            <a:ext cx="6572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7212B"/>
                </a:solidFill>
                <a:latin typeface="Malgun Gothic"/>
                <a:ea typeface="Malgun Gothic"/>
                <a:cs typeface="Malgun Gothic"/>
              </a:defRPr>
            </a:pPr>
            <a:r>
              <a:rPr sz="3900" b="1">
                <a:solidFill>
                  <a:srgbClr val="17212B"/>
                </a:solidFill>
                <a:latin typeface="Malgun Gothic"/>
                <a:ea typeface="Malgun Gothic"/>
                <a:cs typeface="Malgun Gothic"/>
              </a:rPr>
              <a:t>모든 고객을 볼 수 없다면,</a:t>
            </a:r>
          </a:p>
          <a:p xmlns:a="http://schemas.openxmlformats.org/drawingml/2006/main">
            <a:pPr algn="l">
              <a:buNone/>
              <a:defRPr sz="3900" b="1">
                <a:solidFill>
                  <a:srgbClr val="17212B"/>
                </a:solidFill>
                <a:latin typeface="Malgun Gothic"/>
                <a:ea typeface="Malgun Gothic"/>
                <a:cs typeface="Malgun Gothic"/>
              </a:defRPr>
            </a:pPr>
            <a:r>
              <a:rPr sz="3900" b="1">
                <a:solidFill>
                  <a:srgbClr val="17212B"/>
                </a:solidFill>
                <a:latin typeface="Malgun Gothic"/>
                <a:ea typeface="Malgun Gothic"/>
                <a:cs typeface="Malgun Gothic"/>
              </a:rPr>
              <a:t>누구부터 볼지 정해야 합니다</a:t>
            </a:r>
          </a:p>
        </p:txBody>
      </p:sp>
      <p:sp>
        <p:nvSpPr>
          <p:cNvPr id="3" name="">
            <a:extLst xmlns:a="http://schemas.openxmlformats.org/drawingml/2006/main">
              <a:ext uri="{FF2B5EF4-FFF2-40B4-BE49-F238E27FC236}">
                <a16:creationId xmlns:a16="http://schemas.microsoft.com/office/drawing/2014/main" id="{F7654D56-0C5F-4414-A441-246AB305CE3E}"/>
              </a:ext>
            </a:extLst>
          </p:cNvPr>
          <p:cNvSpPr>
            <a:spLocks xmlns:a="http://schemas.openxmlformats.org/drawingml/2006/main" noGrp="1"/>
          </p:cNvSpPr>
          <p:nvPr/>
        </p:nvSpPr>
        <p:spPr>
          <a:xfrm xmlns:a="http://schemas.openxmlformats.org/drawingml/2006/main">
            <a:off x="533400" y="35623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0707E"/>
                </a:solidFill>
                <a:latin typeface="Malgun Gothic"/>
                <a:ea typeface="Malgun Gothic"/>
                <a:cs typeface="Malgun Gothic"/>
              </a:defRPr>
            </a:pPr>
            <a:r>
              <a:rPr sz="1575" b="0">
                <a:solidFill>
                  <a:srgbClr val="60707E"/>
                </a:solidFill>
                <a:latin typeface="Malgun Gothic"/>
                <a:ea typeface="Malgun Gothic"/>
                <a:cs typeface="Malgun Gothic"/>
              </a:rPr>
              <a:t>고객 행동 인사이트 → 위험 우선순위 → 검토 가능한 유지 행동</a:t>
            </a:r>
          </a:p>
        </p:txBody>
      </p:sp>
      <p:sp>
        <p:nvSpPr>
          <p:cNvPr id="4" name="">
            <a:extLst xmlns:a="http://schemas.openxmlformats.org/drawingml/2006/main">
              <a:ext uri="{FF2B5EF4-FFF2-40B4-BE49-F238E27FC236}">
                <a16:creationId xmlns:a16="http://schemas.microsoft.com/office/drawing/2014/main" id="{907EE807-0E5E-437D-AD4E-EE4810117E49}"/>
              </a:ext>
            </a:extLst>
          </p:cNvPr>
          <p:cNvSpPr>
            <a:spLocks xmlns:a="http://schemas.openxmlformats.org/drawingml/2006/main" noGrp="1"/>
          </p:cNvSpPr>
          <p:nvPr/>
        </p:nvSpPr>
        <p:spPr>
          <a:xfrm xmlns:a="http://schemas.openxmlformats.org/drawingml/2006/main">
            <a:off x="533400" y="50482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학습 고객 12.5만명 · 점수 산출 고객 7.5만명 · 최종 기술 후보 CatBoost</a:t>
            </a:r>
          </a:p>
        </p:txBody>
      </p:sp>
      <p:sp>
        <p:nvSpPr>
          <p:cNvPr id="5" name="">
            <a:extLst xmlns:a="http://schemas.openxmlformats.org/drawingml/2006/main">
              <a:ext uri="{FF2B5EF4-FFF2-40B4-BE49-F238E27FC236}">
                <a16:creationId xmlns:a16="http://schemas.microsoft.com/office/drawing/2014/main" id="{D129C5EF-C5B0-4DF9-BF4A-0F0E55056B2B}"/>
              </a:ext>
            </a:extLst>
          </p:cNvPr>
          <p:cNvSpPr>
            <a:spLocks xmlns:a="http://schemas.openxmlformats.org/drawingml/2006/main" noGrp="1"/>
          </p:cNvSpPr>
          <p:nvPr/>
        </p:nvSpPr>
        <p:spPr>
          <a:xfrm xmlns:a="http://schemas.openxmlformats.org/drawingml/2006/main">
            <a:off x="7810500" y="514350"/>
            <a:ext cx="3848100" cy="5715000"/>
          </a:xfrm>
          <a:prstGeom xmlns:a="http://schemas.openxmlformats.org/drawingml/2006/main" prst="roundRect">
            <a:avLst>
              <a:gd name="adj" fmla="val 1980"/>
            </a:avLst>
          </a:prstGeom>
          <a:solidFill xmlns:a="http://schemas.openxmlformats.org/drawingml/2006/main">
            <a:srgbClr val="17354B"/>
          </a:solidFill>
          <a:ln xmlns:a="http://schemas.openxmlformats.org/drawingml/2006/main" w="9525">
            <a:solidFill>
              <a:srgbClr val="17354B"/>
            </a:solidFill>
            <a:prstDash val="solid"/>
          </a:ln>
        </p:spPr>
      </p:sp>
      <p:sp>
        <p:nvSpPr>
          <p:cNvPr id="6" name="">
            <a:extLst xmlns:a="http://schemas.openxmlformats.org/drawingml/2006/main">
              <a:ext uri="{FF2B5EF4-FFF2-40B4-BE49-F238E27FC236}">
                <a16:creationId xmlns:a16="http://schemas.microsoft.com/office/drawing/2014/main" id="{131E311D-5E6F-4605-A26B-7BB243638A66}"/>
              </a:ext>
            </a:extLst>
          </p:cNvPr>
          <p:cNvSpPr>
            <a:spLocks xmlns:a="http://schemas.openxmlformats.org/drawingml/2006/main" noGrp="1"/>
          </p:cNvSpPr>
          <p:nvPr/>
        </p:nvSpPr>
        <p:spPr>
          <a:xfrm xmlns:a="http://schemas.openxmlformats.org/drawingml/2006/main">
            <a:off x="8153400" y="8763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F6A28F"/>
                </a:solidFill>
                <a:latin typeface="Malgun Gothic"/>
                <a:ea typeface="Malgun Gothic"/>
                <a:cs typeface="Malgun Gothic"/>
              </a:defRPr>
            </a:pPr>
            <a:r>
              <a:rPr sz="1725" b="1">
                <a:solidFill>
                  <a:srgbClr val="F6A28F"/>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05D52D6E-7B30-49BC-9EE5-80ED1B435194}"/>
              </a:ext>
            </a:extLst>
          </p:cNvPr>
          <p:cNvSpPr>
            <a:spLocks xmlns:a="http://schemas.openxmlformats.org/drawingml/2006/main" noGrp="1"/>
          </p:cNvSpPr>
          <p:nvPr/>
        </p:nvSpPr>
        <p:spPr>
          <a:xfrm xmlns:a="http://schemas.openxmlformats.org/drawingml/2006/main">
            <a:off x="8153400" y="16954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Customer signal</a:t>
            </a:r>
          </a:p>
        </p:txBody>
      </p:sp>
      <p:sp>
        <p:nvSpPr>
          <p:cNvPr id="8" name="">
            <a:extLst xmlns:a="http://schemas.openxmlformats.org/drawingml/2006/main">
              <a:ext uri="{FF2B5EF4-FFF2-40B4-BE49-F238E27FC236}">
                <a16:creationId xmlns:a16="http://schemas.microsoft.com/office/drawing/2014/main" id="{80E59728-6F1B-44AA-A78E-9D8249C3BCBC}"/>
              </a:ext>
            </a:extLst>
          </p:cNvPr>
          <p:cNvSpPr>
            <a:spLocks xmlns:a="http://schemas.openxmlformats.org/drawingml/2006/main" noGrp="1"/>
          </p:cNvSpPr>
          <p:nvPr/>
        </p:nvSpPr>
        <p:spPr>
          <a:xfrm xmlns:a="http://schemas.openxmlformats.org/drawingml/2006/main">
            <a:off x="8153400" y="22098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F6A28F"/>
                </a:solidFill>
                <a:latin typeface="Malgun Gothic"/>
                <a:ea typeface="Malgun Gothic"/>
                <a:cs typeface="Malgun Gothic"/>
              </a:defRPr>
            </a:pPr>
            <a:r>
              <a:rPr sz="2100" b="1">
                <a:solidFill>
                  <a:srgbClr val="F6A28F"/>
                </a:solidFill>
                <a:latin typeface="Malgun Gothic"/>
                <a:ea typeface="Malgun Gothic"/>
                <a:cs typeface="Malgun Gothic"/>
              </a:rPr>
              <a:t>↓</a:t>
            </a:r>
          </a:p>
        </p:txBody>
      </p:sp>
      <p:sp>
        <p:nvSpPr>
          <p:cNvPr id="9" name="">
            <a:extLst xmlns:a="http://schemas.openxmlformats.org/drawingml/2006/main">
              <a:ext uri="{FF2B5EF4-FFF2-40B4-BE49-F238E27FC236}">
                <a16:creationId xmlns:a16="http://schemas.microsoft.com/office/drawing/2014/main" id="{A4FB4DF1-3E48-4F7F-826B-15801A380B7A}"/>
              </a:ext>
            </a:extLst>
          </p:cNvPr>
          <p:cNvSpPr>
            <a:spLocks xmlns:a="http://schemas.openxmlformats.org/drawingml/2006/main" noGrp="1"/>
          </p:cNvSpPr>
          <p:nvPr/>
        </p:nvSpPr>
        <p:spPr>
          <a:xfrm xmlns:a="http://schemas.openxmlformats.org/drawingml/2006/main">
            <a:off x="8153400" y="2686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Risk priority</a:t>
            </a:r>
          </a:p>
        </p:txBody>
      </p:sp>
      <p:sp>
        <p:nvSpPr>
          <p:cNvPr id="10" name="">
            <a:extLst xmlns:a="http://schemas.openxmlformats.org/drawingml/2006/main">
              <a:ext uri="{FF2B5EF4-FFF2-40B4-BE49-F238E27FC236}">
                <a16:creationId xmlns:a16="http://schemas.microsoft.com/office/drawing/2014/main" id="{08CA4DFD-2B16-46E5-82F5-1CC8DDD5FB4A}"/>
              </a:ext>
            </a:extLst>
          </p:cNvPr>
          <p:cNvSpPr>
            <a:spLocks xmlns:a="http://schemas.openxmlformats.org/drawingml/2006/main" noGrp="1"/>
          </p:cNvSpPr>
          <p:nvPr/>
        </p:nvSpPr>
        <p:spPr>
          <a:xfrm xmlns:a="http://schemas.openxmlformats.org/drawingml/2006/main">
            <a:off x="8153400" y="32004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F6A28F"/>
                </a:solidFill>
                <a:latin typeface="Malgun Gothic"/>
                <a:ea typeface="Malgun Gothic"/>
                <a:cs typeface="Malgun Gothic"/>
              </a:defRPr>
            </a:pPr>
            <a:r>
              <a:rPr sz="2100" b="1">
                <a:solidFill>
                  <a:srgbClr val="F6A28F"/>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FDEFA894-6CAA-4A30-B1A4-37BC1801A180}"/>
              </a:ext>
            </a:extLst>
          </p:cNvPr>
          <p:cNvSpPr>
            <a:spLocks xmlns:a="http://schemas.openxmlformats.org/drawingml/2006/main" noGrp="1"/>
          </p:cNvSpPr>
          <p:nvPr/>
        </p:nvSpPr>
        <p:spPr>
          <a:xfrm xmlns:a="http://schemas.openxmlformats.org/drawingml/2006/main">
            <a:off x="8153400" y="36766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Action review</a:t>
            </a:r>
          </a:p>
        </p:txBody>
      </p:sp>
      <p:sp>
        <p:nvSpPr>
          <p:cNvPr id="12" name="">
            <a:extLst xmlns:a="http://schemas.openxmlformats.org/drawingml/2006/main">
              <a:ext uri="{FF2B5EF4-FFF2-40B4-BE49-F238E27FC236}">
                <a16:creationId xmlns:a16="http://schemas.microsoft.com/office/drawing/2014/main" id="{677A4ECF-77EA-4166-8776-CB3F51E8AC14}"/>
              </a:ext>
            </a:extLst>
          </p:cNvPr>
          <p:cNvSpPr>
            <a:spLocks xmlns:a="http://schemas.openxmlformats.org/drawingml/2006/main" noGrp="1"/>
          </p:cNvSpPr>
          <p:nvPr/>
        </p:nvSpPr>
        <p:spPr>
          <a:xfrm xmlns:a="http://schemas.openxmlformats.org/drawingml/2006/main">
            <a:off x="8153400" y="4762500"/>
            <a:ext cx="2952750" cy="9525"/>
          </a:xfrm>
          <a:prstGeom xmlns:a="http://schemas.openxmlformats.org/drawingml/2006/main" prst="rect">
            <a:avLst/>
          </a:prstGeom>
          <a:solidFill xmlns:a="http://schemas.openxmlformats.org/drawingml/2006/main">
            <a:srgbClr val="6D8494"/>
          </a:solidFill>
          <a:ln xmlns:a="http://schemas.openxmlformats.org/drawingml/2006/main" w="0">
            <a:solidFill>
              <a:srgbClr val="6D8494"/>
            </a:solidFill>
            <a:prstDash val="solid"/>
          </a:ln>
        </p:spPr>
      </p:sp>
      <p:sp>
        <p:nvSpPr>
          <p:cNvPr id="13" name="">
            <a:extLst xmlns:a="http://schemas.openxmlformats.org/drawingml/2006/main">
              <a:ext uri="{FF2B5EF4-FFF2-40B4-BE49-F238E27FC236}">
                <a16:creationId xmlns:a16="http://schemas.microsoft.com/office/drawing/2014/main" id="{C6FF1B60-2F0F-43F2-A561-D05AC0F6DD1A}"/>
              </a:ext>
            </a:extLst>
          </p:cNvPr>
          <p:cNvSpPr>
            <a:spLocks xmlns:a="http://schemas.openxmlformats.org/drawingml/2006/main" noGrp="1"/>
          </p:cNvSpPr>
          <p:nvPr/>
        </p:nvSpPr>
        <p:spPr>
          <a:xfrm xmlns:a="http://schemas.openxmlformats.org/drawingml/2006/main">
            <a:off x="8153400" y="5000625"/>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9E5EC"/>
                </a:solidFill>
                <a:latin typeface="Malgun Gothic"/>
                <a:ea typeface="Malgun Gothic"/>
                <a:cs typeface="Malgun Gothic"/>
              </a:defRPr>
            </a:pPr>
            <a:r>
              <a:rPr sz="1350" b="0">
                <a:solidFill>
                  <a:srgbClr val="D9E5EC"/>
                </a:solidFill>
                <a:latin typeface="Malgun Gothic"/>
                <a:ea typeface="Malgun Gothic"/>
                <a:cs typeface="Malgun Gothic"/>
              </a:rPr>
              <a:t>예측은 모델의 출력이고,</a:t>
            </a:r>
          </a:p>
          <a:p xmlns:a="http://schemas.openxmlformats.org/drawingml/2006/main">
            <a:pPr algn="l">
              <a:buNone/>
              <a:defRPr sz="1350" b="0">
                <a:solidFill>
                  <a:srgbClr val="D9E5EC"/>
                </a:solidFill>
                <a:latin typeface="Malgun Gothic"/>
                <a:ea typeface="Malgun Gothic"/>
                <a:cs typeface="Malgun Gothic"/>
              </a:defRPr>
            </a:pPr>
            <a:r>
              <a:rPr sz="1350" b="0">
                <a:solidFill>
                  <a:srgbClr val="D9E5EC"/>
                </a:solidFill>
                <a:latin typeface="Malgun Gothic"/>
                <a:ea typeface="Malgun Gothic"/>
                <a:cs typeface="Malgun Gothic"/>
              </a:rPr>
              <a:t>유지 활동은 사람이 근거를 보고 선택합니다.</a:t>
            </a:r>
          </a:p>
        </p:txBody>
      </p:sp>
      <p:sp>
        <p:nvSpPr>
          <p:cNvPr id="14" name="">
            <a:extLst xmlns:a="http://schemas.openxmlformats.org/drawingml/2006/main">
              <a:ext uri="{FF2B5EF4-FFF2-40B4-BE49-F238E27FC236}">
                <a16:creationId xmlns:a16="http://schemas.microsoft.com/office/drawing/2014/main" id="{60623D03-1A2E-4FA1-8030-DE188832499B}"/>
              </a:ext>
            </a:extLst>
          </p:cNvPr>
          <p:cNvSpPr>
            <a:spLocks xmlns:a="http://schemas.openxmlformats.org/drawingml/2006/main" noGrp="1"/>
          </p:cNvSpPr>
          <p:nvPr/>
        </p:nvSpPr>
        <p:spPr>
          <a:xfrm xmlns:a="http://schemas.openxmlformats.org/drawingml/2006/main">
            <a:off x="533400" y="6076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0707E"/>
                </a:solidFill>
                <a:latin typeface="Malgun Gothic"/>
                <a:ea typeface="Malgun Gothic"/>
                <a:cs typeface="Malgun Gothic"/>
              </a:defRPr>
            </a:pPr>
            <a:r>
              <a:rPr sz="825" b="0">
                <a:solidFill>
                  <a:srgbClr val="60707E"/>
                </a:solidFill>
                <a:latin typeface="Malgun Gothic"/>
                <a:ea typeface="Malgun Gothic"/>
                <a:cs typeface="Malgun Gothic"/>
              </a:rPr>
              <a:t>2026.07.22</a:t>
            </a:r>
          </a:p>
        </p:txBody>
      </p:sp>
      <p:sp xmlns:a="http://schemas.openxmlformats.org/drawingml/2006/main">
        <p:nvSpPr>
          <p:cNvPr id="16" name="TextBox 15"/>
          <p:cNvSpPr txBox="1"/>
          <p:nvPr/>
        </p:nvSpPr>
        <p:spPr>
          <a:xfrm>
            <a:off x="11064240" y="6510528"/>
            <a:ext cx="594360" cy="173736"/>
          </a:xfrm>
          <a:prstGeom prst="rect">
            <a:avLst/>
          </a:prstGeom>
          <a:noFill/>
        </p:spPr>
        <p:txBody>
          <a:bodyPr wrap="square" anchor="t" lIns="0" rIns="0" tIns="0" bIns="0">
            <a:spAutoFit/>
          </a:bodyPr>
          <a:lstStyle/>
          <a:p>
            <a:pPr algn="r"/>
            <a:r>
              <a:rPr sz="825" b="1">
                <a:solidFill>
                  <a:srgbClr val="60707E"/>
                </a:solidFill>
                <a:latin typeface="Malgun Gothic"/>
              </a:rPr>
              <a:t>01</a:t>
            </a:r>
          </a:p>
        </p:txBody>
      </p:sp>
    </p:spTree>
    <p:extLst>
      <p:ext uri="{BB962C8B-B14F-4D97-AF65-F5344CB8AC3E}">
        <p14:creationId xmlns:p14="http://schemas.microsoft.com/office/powerpoint/2010/main" val="348049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EF6BB0F-A6FF-4369-A78B-1470C11803A7}"/>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BUSINESS FRAMING</a:t>
            </a:r>
          </a:p>
        </p:txBody>
      </p:sp>
      <p:sp>
        <p:nvSpPr>
          <p:cNvPr id="2" name="">
            <a:extLst xmlns:a="http://schemas.openxmlformats.org/drawingml/2006/main">
              <a:ext uri="{FF2B5EF4-FFF2-40B4-BE49-F238E27FC236}">
                <a16:creationId xmlns:a16="http://schemas.microsoft.com/office/drawing/2014/main" id="{84F87453-D68B-4E03-B6D3-6771DFA9AC33}"/>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정답 하나가 아니라 운영 자원에 맞는 선택이 필요합니다</a:t>
            </a:r>
          </a:p>
        </p:txBody>
      </p:sp>
      <p:sp>
        <p:nvSpPr>
          <p:cNvPr id="3" name="">
            <a:extLst xmlns:a="http://schemas.openxmlformats.org/drawingml/2006/main">
              <a:ext uri="{FF2B5EF4-FFF2-40B4-BE49-F238E27FC236}">
                <a16:creationId xmlns:a16="http://schemas.microsoft.com/office/drawing/2014/main" id="{FE4E82A5-2CA0-443B-A53F-09365F5D9B6D}"/>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Recall·Precision·검토 인원·행동 후보는 서로 다른 운영 부담을 만든다</a:t>
            </a:r>
          </a:p>
        </p:txBody>
      </p:sp>
      <p:sp>
        <p:nvSpPr>
          <p:cNvPr id="4" name="">
            <a:extLst xmlns:a="http://schemas.openxmlformats.org/drawingml/2006/main">
              <a:ext uri="{FF2B5EF4-FFF2-40B4-BE49-F238E27FC236}">
                <a16:creationId xmlns:a16="http://schemas.microsoft.com/office/drawing/2014/main" id="{F6CD7E5E-B551-4F2A-908B-17BEED2D0693}"/>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90991849-6AE4-46BB-AFC8-99ED55DA5E35}"/>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1297ED5D-4689-45D7-840B-B9D3F4C0C20F}"/>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02</a:t>
            </a:r>
          </a:p>
        </p:txBody>
      </p:sp>
      <p:sp>
        <p:nvSpPr>
          <p:cNvPr id="7" name="">
            <a:extLst xmlns:a="http://schemas.openxmlformats.org/drawingml/2006/main">
              <a:ext uri="{FF2B5EF4-FFF2-40B4-BE49-F238E27FC236}">
                <a16:creationId xmlns:a16="http://schemas.microsoft.com/office/drawing/2014/main" id="{B3230580-D4C4-428F-BC16-9C3A3DFC9B4A}"/>
              </a:ext>
            </a:extLst>
          </p:cNvPr>
          <p:cNvSpPr>
            <a:spLocks xmlns:a="http://schemas.openxmlformats.org/drawingml/2006/main" noGrp="1"/>
          </p:cNvSpPr>
          <p:nvPr/>
        </p:nvSpPr>
        <p:spPr>
          <a:xfrm xmlns:a="http://schemas.openxmlformats.org/drawingml/2006/main">
            <a:off x="533400" y="1952625"/>
            <a:ext cx="3371850" cy="2952750"/>
          </a:xfrm>
          <a:prstGeom xmlns:a="http://schemas.openxmlformats.org/drawingml/2006/main" prst="roundRect">
            <a:avLst>
              <a:gd name="adj" fmla="val 2581"/>
            </a:avLst>
          </a:prstGeom>
          <a:solidFill xmlns:a="http://schemas.openxmlformats.org/drawingml/2006/main">
            <a:srgbClr val="EDF7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29C839-A513-49BE-9C28-718C7968E2DF}"/>
              </a:ext>
            </a:extLst>
          </p:cNvPr>
          <p:cNvSpPr>
            <a:spLocks xmlns:a="http://schemas.openxmlformats.org/drawingml/2006/main" noGrp="1"/>
          </p:cNvSpPr>
          <p:nvPr/>
        </p:nvSpPr>
        <p:spPr>
          <a:xfrm xmlns:a="http://schemas.openxmlformats.org/drawingml/2006/main">
            <a:off x="800100" y="2209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8847A"/>
                </a:solidFill>
                <a:latin typeface="Malgun Gothic"/>
                <a:ea typeface="Malgun Gothic"/>
                <a:cs typeface="Malgun Gothic"/>
              </a:defRPr>
            </a:pPr>
            <a:r>
              <a:rPr sz="1650" b="1">
                <a:solidFill>
                  <a:srgbClr val="18847A"/>
                </a:solidFill>
                <a:latin typeface="Malgun Gothic"/>
                <a:ea typeface="Malgun Gothic"/>
                <a:cs typeface="Malgun Gothic"/>
              </a:rPr>
              <a:t>놓침을 줄이는 선택</a:t>
            </a:r>
          </a:p>
        </p:txBody>
      </p:sp>
      <p:sp>
        <p:nvSpPr>
          <p:cNvPr id="9" name="">
            <a:extLst xmlns:a="http://schemas.openxmlformats.org/drawingml/2006/main">
              <a:ext uri="{FF2B5EF4-FFF2-40B4-BE49-F238E27FC236}">
                <a16:creationId xmlns:a16="http://schemas.microsoft.com/office/drawing/2014/main" id="{A00CEDEC-A7E4-46B6-98AA-4330F96424C4}"/>
              </a:ext>
            </a:extLst>
          </p:cNvPr>
          <p:cNvSpPr>
            <a:spLocks xmlns:a="http://schemas.openxmlformats.org/drawingml/2006/main" noGrp="1"/>
          </p:cNvSpPr>
          <p:nvPr/>
        </p:nvSpPr>
        <p:spPr>
          <a:xfrm xmlns:a="http://schemas.openxmlformats.org/drawingml/2006/main">
            <a:off x="800100" y="2714625"/>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8847A"/>
                </a:solidFill>
                <a:latin typeface="Malgun Gothic"/>
                <a:ea typeface="Malgun Gothic"/>
                <a:cs typeface="Malgun Gothic"/>
              </a:defRPr>
            </a:pPr>
            <a:r>
              <a:rPr sz="2850" b="1">
                <a:solidFill>
                  <a:srgbClr val="18847A"/>
                </a:solidFill>
                <a:latin typeface="Malgun Gothic"/>
                <a:ea typeface="Malgun Gothic"/>
                <a:cs typeface="Malgun Gothic"/>
              </a:rPr>
              <a:t>FN ↓</a:t>
            </a:r>
          </a:p>
        </p:txBody>
      </p:sp>
      <p:sp>
        <p:nvSpPr>
          <p:cNvPr id="10" name="">
            <a:extLst xmlns:a="http://schemas.openxmlformats.org/drawingml/2006/main">
              <a:ext uri="{FF2B5EF4-FFF2-40B4-BE49-F238E27FC236}">
                <a16:creationId xmlns:a16="http://schemas.microsoft.com/office/drawing/2014/main" id="{8C8B296C-4543-4557-8E81-198D52F4979A}"/>
              </a:ext>
            </a:extLst>
          </p:cNvPr>
          <p:cNvSpPr>
            <a:spLocks xmlns:a="http://schemas.openxmlformats.org/drawingml/2006/main" noGrp="1"/>
          </p:cNvSpPr>
          <p:nvPr/>
        </p:nvSpPr>
        <p:spPr>
          <a:xfrm xmlns:a="http://schemas.openxmlformats.org/drawingml/2006/main">
            <a:off x="800100" y="33909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이탈 고객을 더 많이 찾지만</a:t>
            </a:r>
          </a:p>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검토 대상과 접촉 비용이 늘어납니다.</a:t>
            </a:r>
          </a:p>
        </p:txBody>
      </p:sp>
      <p:sp>
        <p:nvSpPr>
          <p:cNvPr id="11" name="">
            <a:extLst xmlns:a="http://schemas.openxmlformats.org/drawingml/2006/main">
              <a:ext uri="{FF2B5EF4-FFF2-40B4-BE49-F238E27FC236}">
                <a16:creationId xmlns:a16="http://schemas.microsoft.com/office/drawing/2014/main" id="{77B3947A-F4B7-4A8F-9F60-8B314A37F574}"/>
              </a:ext>
            </a:extLst>
          </p:cNvPr>
          <p:cNvSpPr>
            <a:spLocks xmlns:a="http://schemas.openxmlformats.org/drawingml/2006/main" noGrp="1"/>
          </p:cNvSpPr>
          <p:nvPr/>
        </p:nvSpPr>
        <p:spPr>
          <a:xfrm xmlns:a="http://schemas.openxmlformats.org/drawingml/2006/main">
            <a:off x="4410075" y="1952625"/>
            <a:ext cx="3371850" cy="2952750"/>
          </a:xfrm>
          <a:prstGeom xmlns:a="http://schemas.openxmlformats.org/drawingml/2006/main" prst="roundRect">
            <a:avLst>
              <a:gd name="adj" fmla="val 2581"/>
            </a:avLst>
          </a:prstGeom>
          <a:solidFill xmlns:a="http://schemas.openxmlformats.org/drawingml/2006/main">
            <a:srgbClr val="FFF3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CAE240-3983-4FBA-B5FD-D3692AC17446}"/>
              </a:ext>
            </a:extLst>
          </p:cNvPr>
          <p:cNvSpPr>
            <a:spLocks xmlns:a="http://schemas.openxmlformats.org/drawingml/2006/main" noGrp="1"/>
          </p:cNvSpPr>
          <p:nvPr/>
        </p:nvSpPr>
        <p:spPr>
          <a:xfrm xmlns:a="http://schemas.openxmlformats.org/drawingml/2006/main">
            <a:off x="4676775" y="2209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E85E43"/>
                </a:solidFill>
                <a:latin typeface="Malgun Gothic"/>
                <a:ea typeface="Malgun Gothic"/>
                <a:cs typeface="Malgun Gothic"/>
              </a:defRPr>
            </a:pPr>
            <a:r>
              <a:rPr sz="1650" b="1">
                <a:solidFill>
                  <a:srgbClr val="E85E43"/>
                </a:solidFill>
                <a:latin typeface="Malgun Gothic"/>
                <a:ea typeface="Malgun Gothic"/>
                <a:cs typeface="Malgun Gothic"/>
              </a:rPr>
              <a:t>불필요한 접촉을 줄이는 선택</a:t>
            </a:r>
          </a:p>
        </p:txBody>
      </p:sp>
      <p:sp>
        <p:nvSpPr>
          <p:cNvPr id="13" name="">
            <a:extLst xmlns:a="http://schemas.openxmlformats.org/drawingml/2006/main">
              <a:ext uri="{FF2B5EF4-FFF2-40B4-BE49-F238E27FC236}">
                <a16:creationId xmlns:a16="http://schemas.microsoft.com/office/drawing/2014/main" id="{0D5BF2A0-8E36-496D-B628-2B476AE71B3D}"/>
              </a:ext>
            </a:extLst>
          </p:cNvPr>
          <p:cNvSpPr>
            <a:spLocks xmlns:a="http://schemas.openxmlformats.org/drawingml/2006/main" noGrp="1"/>
          </p:cNvSpPr>
          <p:nvPr/>
        </p:nvSpPr>
        <p:spPr>
          <a:xfrm xmlns:a="http://schemas.openxmlformats.org/drawingml/2006/main">
            <a:off x="4676775" y="2714625"/>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E85E43"/>
                </a:solidFill>
                <a:latin typeface="Malgun Gothic"/>
                <a:ea typeface="Malgun Gothic"/>
                <a:cs typeface="Malgun Gothic"/>
              </a:defRPr>
            </a:pPr>
            <a:r>
              <a:rPr sz="2850" b="1">
                <a:solidFill>
                  <a:srgbClr val="E85E43"/>
                </a:solidFill>
                <a:latin typeface="Malgun Gothic"/>
                <a:ea typeface="Malgun Gothic"/>
                <a:cs typeface="Malgun Gothic"/>
              </a:rPr>
              <a:t>FP ↓</a:t>
            </a:r>
          </a:p>
        </p:txBody>
      </p:sp>
      <p:sp>
        <p:nvSpPr>
          <p:cNvPr id="14" name="">
            <a:extLst xmlns:a="http://schemas.openxmlformats.org/drawingml/2006/main">
              <a:ext uri="{FF2B5EF4-FFF2-40B4-BE49-F238E27FC236}">
                <a16:creationId xmlns:a16="http://schemas.microsoft.com/office/drawing/2014/main" id="{8FFCE808-1D0E-4826-ACD3-6AEB5384CDAD}"/>
              </a:ext>
            </a:extLst>
          </p:cNvPr>
          <p:cNvSpPr>
            <a:spLocks xmlns:a="http://schemas.openxmlformats.org/drawingml/2006/main" noGrp="1"/>
          </p:cNvSpPr>
          <p:nvPr/>
        </p:nvSpPr>
        <p:spPr>
          <a:xfrm xmlns:a="http://schemas.openxmlformats.org/drawingml/2006/main">
            <a:off x="4676775" y="33909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선별 정확도는 높아지지만</a:t>
            </a:r>
          </a:p>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놓치는 이탈 고객이 늘어납니다.</a:t>
            </a:r>
          </a:p>
        </p:txBody>
      </p:sp>
      <p:sp>
        <p:nvSpPr>
          <p:cNvPr id="15" name="">
            <a:extLst xmlns:a="http://schemas.openxmlformats.org/drawingml/2006/main">
              <a:ext uri="{FF2B5EF4-FFF2-40B4-BE49-F238E27FC236}">
                <a16:creationId xmlns:a16="http://schemas.microsoft.com/office/drawing/2014/main" id="{0A85127E-CFF9-4CCA-B987-83B35CE0A850}"/>
              </a:ext>
            </a:extLst>
          </p:cNvPr>
          <p:cNvSpPr>
            <a:spLocks xmlns:a="http://schemas.openxmlformats.org/drawingml/2006/main" noGrp="1"/>
          </p:cNvSpPr>
          <p:nvPr/>
        </p:nvSpPr>
        <p:spPr>
          <a:xfrm xmlns:a="http://schemas.openxmlformats.org/drawingml/2006/main">
            <a:off x="8286750" y="1952625"/>
            <a:ext cx="3371850" cy="2952750"/>
          </a:xfrm>
          <a:prstGeom xmlns:a="http://schemas.openxmlformats.org/drawingml/2006/main" prst="roundRect">
            <a:avLst>
              <a:gd name="adj" fmla="val 2581"/>
            </a:avLst>
          </a:prstGeom>
          <a:solidFill xmlns:a="http://schemas.openxmlformats.org/drawingml/2006/main">
            <a:srgbClr val="F3F6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ACF4A1F-F029-4D66-8F6E-99BDCA7F4C37}"/>
              </a:ext>
            </a:extLst>
          </p:cNvPr>
          <p:cNvSpPr>
            <a:spLocks xmlns:a="http://schemas.openxmlformats.org/drawingml/2006/main" noGrp="1"/>
          </p:cNvSpPr>
          <p:nvPr/>
        </p:nvSpPr>
        <p:spPr>
          <a:xfrm xmlns:a="http://schemas.openxmlformats.org/drawingml/2006/main">
            <a:off x="8553450" y="2209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54B"/>
                </a:solidFill>
                <a:latin typeface="Malgun Gothic"/>
                <a:ea typeface="Malgun Gothic"/>
                <a:cs typeface="Malgun Gothic"/>
              </a:defRPr>
            </a:pPr>
            <a:r>
              <a:rPr sz="1650" b="1">
                <a:solidFill>
                  <a:srgbClr val="17354B"/>
                </a:solidFill>
                <a:latin typeface="Malgun Gothic"/>
                <a:ea typeface="Malgun Gothic"/>
                <a:cs typeface="Malgun Gothic"/>
              </a:rPr>
              <a:t>운영 가능한 선택</a:t>
            </a:r>
          </a:p>
        </p:txBody>
      </p:sp>
      <p:sp>
        <p:nvSpPr>
          <p:cNvPr id="17" name="">
            <a:extLst xmlns:a="http://schemas.openxmlformats.org/drawingml/2006/main">
              <a:ext uri="{FF2B5EF4-FFF2-40B4-BE49-F238E27FC236}">
                <a16:creationId xmlns:a16="http://schemas.microsoft.com/office/drawing/2014/main" id="{C7A186B2-A612-456B-901D-C4E4D9ABA34E}"/>
              </a:ext>
            </a:extLst>
          </p:cNvPr>
          <p:cNvSpPr>
            <a:spLocks xmlns:a="http://schemas.openxmlformats.org/drawingml/2006/main" noGrp="1"/>
          </p:cNvSpPr>
          <p:nvPr/>
        </p:nvSpPr>
        <p:spPr>
          <a:xfrm xmlns:a="http://schemas.openxmlformats.org/drawingml/2006/main">
            <a:off x="8553450" y="27527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54B"/>
                </a:solidFill>
                <a:latin typeface="Malgun Gothic"/>
                <a:ea typeface="Malgun Gothic"/>
                <a:cs typeface="Malgun Gothic"/>
              </a:defRPr>
            </a:pPr>
            <a:r>
              <a:rPr sz="2100" b="1">
                <a:solidFill>
                  <a:srgbClr val="17354B"/>
                </a:solidFill>
                <a:latin typeface="Malgun Gothic"/>
                <a:ea typeface="Malgun Gothic"/>
                <a:cs typeface="Malgun Gothic"/>
              </a:rPr>
              <a:t>CAPACITY</a:t>
            </a:r>
          </a:p>
        </p:txBody>
      </p:sp>
      <p:sp>
        <p:nvSpPr>
          <p:cNvPr id="18" name="">
            <a:extLst xmlns:a="http://schemas.openxmlformats.org/drawingml/2006/main">
              <a:ext uri="{FF2B5EF4-FFF2-40B4-BE49-F238E27FC236}">
                <a16:creationId xmlns:a16="http://schemas.microsoft.com/office/drawing/2014/main" id="{2A053DDF-4D23-4DC6-9645-519B58D31397}"/>
              </a:ext>
            </a:extLst>
          </p:cNvPr>
          <p:cNvSpPr>
            <a:spLocks xmlns:a="http://schemas.openxmlformats.org/drawingml/2006/main" noGrp="1"/>
          </p:cNvSpPr>
          <p:nvPr/>
        </p:nvSpPr>
        <p:spPr>
          <a:xfrm xmlns:a="http://schemas.openxmlformats.org/drawingml/2006/main">
            <a:off x="8553450" y="33909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최종 Threshold는 모델이 아니라</a:t>
            </a:r>
          </a:p>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인력·예산·고객 경험이 결정합니다.</a:t>
            </a:r>
          </a:p>
        </p:txBody>
      </p:sp>
      <p:sp>
        <p:nvSpPr>
          <p:cNvPr id="19" name="">
            <a:extLst xmlns:a="http://schemas.openxmlformats.org/drawingml/2006/main">
              <a:ext uri="{FF2B5EF4-FFF2-40B4-BE49-F238E27FC236}">
                <a16:creationId xmlns:a16="http://schemas.microsoft.com/office/drawing/2014/main" id="{25ABE4E6-7FA7-451A-947F-C8F906BF2A01}"/>
              </a:ext>
            </a:extLst>
          </p:cNvPr>
          <p:cNvSpPr>
            <a:spLocks xmlns:a="http://schemas.openxmlformats.org/drawingml/2006/main" noGrp="1"/>
          </p:cNvSpPr>
          <p:nvPr/>
        </p:nvSpPr>
        <p:spPr>
          <a:xfrm xmlns:a="http://schemas.openxmlformats.org/drawingml/2006/main">
            <a:off x="533400" y="5276850"/>
            <a:ext cx="11125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212B"/>
                </a:solidFill>
                <a:latin typeface="Malgun Gothic"/>
                <a:ea typeface="Malgun Gothic"/>
                <a:cs typeface="Malgun Gothic"/>
              </a:defRPr>
            </a:pPr>
            <a:r>
              <a:rPr sz="1500" b="1">
                <a:solidFill>
                  <a:srgbClr val="17212B"/>
                </a:solidFill>
                <a:latin typeface="Malgun Gothic"/>
                <a:ea typeface="Malgun Gothic"/>
                <a:cs typeface="Malgun Gothic"/>
              </a:rPr>
              <a:t>따라서 하나의 임계값을 강요하지 않고 보수적·균형·정밀 시나리오를 함께 제시합니다.</a:t>
            </a:r>
          </a:p>
        </p:txBody>
      </p:sp>
      <p:sp>
        <p:nvSpPr>
          <p:cNvPr id="20" name="">
            <a:extLst xmlns:a="http://schemas.openxmlformats.org/drawingml/2006/main">
              <a:ext uri="{FF2B5EF4-FFF2-40B4-BE49-F238E27FC236}">
                <a16:creationId xmlns:a16="http://schemas.microsoft.com/office/drawing/2014/main" id="{69472300-A61F-4F39-ADF4-17816DBA6AF0}"/>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docs/requirements.md · docs/validation_plan.md</a:t>
            </a:r>
          </a:p>
        </p:txBody>
      </p:sp>
    </p:spTree>
    <p:extLst>
      <p:ext uri="{BB962C8B-B14F-4D97-AF65-F5344CB8AC3E}">
        <p14:creationId xmlns:p14="http://schemas.microsoft.com/office/powerpoint/2010/main" val="324993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ABB666B-DED7-47B8-9A83-AF77BA0DEF80}"/>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DATA READINESS</a:t>
            </a:r>
          </a:p>
        </p:txBody>
      </p:sp>
      <p:sp>
        <p:nvSpPr>
          <p:cNvPr id="2" name="">
            <a:extLst xmlns:a="http://schemas.openxmlformats.org/drawingml/2006/main">
              <a:ext uri="{FF2B5EF4-FFF2-40B4-BE49-F238E27FC236}">
                <a16:creationId xmlns:a16="http://schemas.microsoft.com/office/drawing/2014/main" id="{FB4D61AB-0495-4E79-BD0F-E9B56345F4B6}"/>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데이터는 크지만 현실 일반화에는 분명한 경계가 있습니다</a:t>
            </a:r>
          </a:p>
        </p:txBody>
      </p:sp>
      <p:sp>
        <p:nvSpPr>
          <p:cNvPr id="3" name="">
            <a:extLst xmlns:a="http://schemas.openxmlformats.org/drawingml/2006/main">
              <a:ext uri="{FF2B5EF4-FFF2-40B4-BE49-F238E27FC236}">
                <a16:creationId xmlns:a16="http://schemas.microsoft.com/office/drawing/2014/main" id="{E0E5C2E5-D2FA-4A18-8928-BB128C210CB6}"/>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현재 성능은 고정 5-Fold OOF 내부 검증이며 무라벨 Test는 점수 산출 대상이다</a:t>
            </a:r>
          </a:p>
        </p:txBody>
      </p:sp>
      <p:sp>
        <p:nvSpPr>
          <p:cNvPr id="4" name="">
            <a:extLst xmlns:a="http://schemas.openxmlformats.org/drawingml/2006/main">
              <a:ext uri="{FF2B5EF4-FFF2-40B4-BE49-F238E27FC236}">
                <a16:creationId xmlns:a16="http://schemas.microsoft.com/office/drawing/2014/main" id="{02FF22C4-4258-4EF5-90C4-30594D16BD8E}"/>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C15FC9BB-CC1F-4679-933F-0BD1F4943098}"/>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D39D8964-E34B-4E11-8CFA-2FFF1A0A4A4E}"/>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03</a:t>
            </a:r>
          </a:p>
        </p:txBody>
      </p:sp>
      <p:sp>
        <p:nvSpPr>
          <p:cNvPr id="7" name="">
            <a:extLst xmlns:a="http://schemas.openxmlformats.org/drawingml/2006/main">
              <a:ext uri="{FF2B5EF4-FFF2-40B4-BE49-F238E27FC236}">
                <a16:creationId xmlns:a16="http://schemas.microsoft.com/office/drawing/2014/main" id="{941E7CB3-4A04-41F9-8D2B-F7CA2F379659}"/>
              </a:ext>
            </a:extLst>
          </p:cNvPr>
          <p:cNvSpPr>
            <a:spLocks xmlns:a="http://schemas.openxmlformats.org/drawingml/2006/main" noGrp="1"/>
          </p:cNvSpPr>
          <p:nvPr/>
        </p:nvSpPr>
        <p:spPr>
          <a:xfrm xmlns:a="http://schemas.openxmlformats.org/drawingml/2006/main">
            <a:off x="533400" y="1981200"/>
            <a:ext cx="3333750" cy="1257300"/>
          </a:xfrm>
          <a:prstGeom xmlns:a="http://schemas.openxmlformats.org/drawingml/2006/main" prst="roundRect">
            <a:avLst>
              <a:gd name="adj" fmla="val 6061"/>
            </a:avLst>
          </a:prstGeom>
          <a:solidFill xmlns:a="http://schemas.openxmlformats.org/drawingml/2006/main">
            <a:srgbClr val="F3F6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DA3123B-1BB5-4DC2-B356-D944FCBA3277}"/>
              </a:ext>
            </a:extLst>
          </p:cNvPr>
          <p:cNvSpPr>
            <a:spLocks xmlns:a="http://schemas.openxmlformats.org/drawingml/2006/main" noGrp="1"/>
          </p:cNvSpPr>
          <p:nvPr/>
        </p:nvSpPr>
        <p:spPr>
          <a:xfrm xmlns:a="http://schemas.openxmlformats.org/drawingml/2006/main">
            <a:off x="533400" y="1981200"/>
            <a:ext cx="57150" cy="1257300"/>
          </a:xfrm>
          <a:prstGeom xmlns:a="http://schemas.openxmlformats.org/drawingml/2006/main" prst="rect">
            <a:avLst/>
          </a:prstGeom>
          <a:solidFill xmlns:a="http://schemas.openxmlformats.org/drawingml/2006/main">
            <a:srgbClr val="18847A"/>
          </a:solidFill>
          <a:ln xmlns:a="http://schemas.openxmlformats.org/drawingml/2006/main" w="0">
            <a:solidFill>
              <a:srgbClr val="18847A"/>
            </a:solidFill>
            <a:prstDash val="solid"/>
          </a:ln>
        </p:spPr>
      </p:sp>
      <p:sp>
        <p:nvSpPr>
          <p:cNvPr id="9" name="">
            <a:extLst xmlns:a="http://schemas.openxmlformats.org/drawingml/2006/main">
              <a:ext uri="{FF2B5EF4-FFF2-40B4-BE49-F238E27FC236}">
                <a16:creationId xmlns:a16="http://schemas.microsoft.com/office/drawing/2014/main" id="{BD1F46B0-E724-40A9-AD46-3EA53EE8F15B}"/>
              </a:ext>
            </a:extLst>
          </p:cNvPr>
          <p:cNvSpPr>
            <a:spLocks xmlns:a="http://schemas.openxmlformats.org/drawingml/2006/main" noGrp="1"/>
          </p:cNvSpPr>
          <p:nvPr/>
        </p:nvSpPr>
        <p:spPr>
          <a:xfrm xmlns:a="http://schemas.openxmlformats.org/drawingml/2006/main">
            <a:off x="762000" y="2152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0707E"/>
                </a:solidFill>
                <a:latin typeface="Malgun Gothic"/>
                <a:ea typeface="Malgun Gothic"/>
                <a:cs typeface="Malgun Gothic"/>
              </a:defRPr>
            </a:pPr>
            <a:r>
              <a:rPr sz="975" b="1">
                <a:solidFill>
                  <a:srgbClr val="60707E"/>
                </a:solidFill>
                <a:latin typeface="Malgun Gothic"/>
                <a:ea typeface="Malgun Gothic"/>
                <a:cs typeface="Malgun Gothic"/>
              </a:rPr>
              <a:t>학습 고객</a:t>
            </a:r>
          </a:p>
        </p:txBody>
      </p:sp>
      <p:sp>
        <p:nvSpPr>
          <p:cNvPr id="10" name="">
            <a:extLst xmlns:a="http://schemas.openxmlformats.org/drawingml/2006/main">
              <a:ext uri="{FF2B5EF4-FFF2-40B4-BE49-F238E27FC236}">
                <a16:creationId xmlns:a16="http://schemas.microsoft.com/office/drawing/2014/main" id="{81316313-FA52-44A0-9794-C7F3066C5577}"/>
              </a:ext>
            </a:extLst>
          </p:cNvPr>
          <p:cNvSpPr>
            <a:spLocks xmlns:a="http://schemas.openxmlformats.org/drawingml/2006/main" noGrp="1"/>
          </p:cNvSpPr>
          <p:nvPr/>
        </p:nvSpPr>
        <p:spPr>
          <a:xfrm xmlns:a="http://schemas.openxmlformats.org/drawingml/2006/main">
            <a:off x="762000" y="242887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125,000명</a:t>
            </a:r>
          </a:p>
        </p:txBody>
      </p:sp>
      <p:sp>
        <p:nvSpPr>
          <p:cNvPr id="11" name="">
            <a:extLst xmlns:a="http://schemas.openxmlformats.org/drawingml/2006/main">
              <a:ext uri="{FF2B5EF4-FFF2-40B4-BE49-F238E27FC236}">
                <a16:creationId xmlns:a16="http://schemas.microsoft.com/office/drawing/2014/main" id="{06C4D931-DA1B-4CDF-A70F-79C66D4E5F73}"/>
              </a:ext>
            </a:extLst>
          </p:cNvPr>
          <p:cNvSpPr>
            <a:spLocks xmlns:a="http://schemas.openxmlformats.org/drawingml/2006/main" noGrp="1"/>
          </p:cNvSpPr>
          <p:nvPr/>
        </p:nvSpPr>
        <p:spPr>
          <a:xfrm xmlns:a="http://schemas.openxmlformats.org/drawingml/2006/main">
            <a:off x="762000" y="28765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0707E"/>
                </a:solidFill>
                <a:latin typeface="Malgun Gothic"/>
                <a:ea typeface="Malgun Gothic"/>
                <a:cs typeface="Malgun Gothic"/>
              </a:defRPr>
            </a:pPr>
            <a:r>
              <a:rPr sz="900" b="0">
                <a:solidFill>
                  <a:srgbClr val="60707E"/>
                </a:solidFill>
                <a:latin typeface="Malgun Gothic"/>
                <a:ea typeface="Malgun Gothic"/>
                <a:cs typeface="Malgun Gothic"/>
              </a:rPr>
              <a:t>20개 변수 · churned 포함</a:t>
            </a:r>
          </a:p>
        </p:txBody>
      </p:sp>
      <p:sp>
        <p:nvSpPr>
          <p:cNvPr id="12" name="">
            <a:extLst xmlns:a="http://schemas.openxmlformats.org/drawingml/2006/main">
              <a:ext uri="{FF2B5EF4-FFF2-40B4-BE49-F238E27FC236}">
                <a16:creationId xmlns:a16="http://schemas.microsoft.com/office/drawing/2014/main" id="{C49F01B8-3D79-43AC-9D9A-F37F5253BFB5}"/>
              </a:ext>
            </a:extLst>
          </p:cNvPr>
          <p:cNvSpPr>
            <a:spLocks xmlns:a="http://schemas.openxmlformats.org/drawingml/2006/main" noGrp="1"/>
          </p:cNvSpPr>
          <p:nvPr/>
        </p:nvSpPr>
        <p:spPr>
          <a:xfrm xmlns:a="http://schemas.openxmlformats.org/drawingml/2006/main">
            <a:off x="4429125" y="1981200"/>
            <a:ext cx="3333750" cy="1257300"/>
          </a:xfrm>
          <a:prstGeom xmlns:a="http://schemas.openxmlformats.org/drawingml/2006/main" prst="roundRect">
            <a:avLst>
              <a:gd name="adj" fmla="val 6061"/>
            </a:avLst>
          </a:prstGeom>
          <a:solidFill xmlns:a="http://schemas.openxmlformats.org/drawingml/2006/main">
            <a:srgbClr val="F3F6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4F888C-D150-4E7F-811F-EEE8BE0F8CA0}"/>
              </a:ext>
            </a:extLst>
          </p:cNvPr>
          <p:cNvSpPr>
            <a:spLocks xmlns:a="http://schemas.openxmlformats.org/drawingml/2006/main" noGrp="1"/>
          </p:cNvSpPr>
          <p:nvPr/>
        </p:nvSpPr>
        <p:spPr>
          <a:xfrm xmlns:a="http://schemas.openxmlformats.org/drawingml/2006/main">
            <a:off x="4429125" y="1981200"/>
            <a:ext cx="57150" cy="1257300"/>
          </a:xfrm>
          <a:prstGeom xmlns:a="http://schemas.openxmlformats.org/drawingml/2006/main" prst="rect">
            <a:avLst/>
          </a:prstGeom>
          <a:solidFill xmlns:a="http://schemas.openxmlformats.org/drawingml/2006/main">
            <a:srgbClr val="D99224"/>
          </a:solidFill>
          <a:ln xmlns:a="http://schemas.openxmlformats.org/drawingml/2006/main" w="0">
            <a:solidFill>
              <a:srgbClr val="D99224"/>
            </a:solidFill>
            <a:prstDash val="solid"/>
          </a:ln>
        </p:spPr>
      </p:sp>
      <p:sp>
        <p:nvSpPr>
          <p:cNvPr id="14" name="">
            <a:extLst xmlns:a="http://schemas.openxmlformats.org/drawingml/2006/main">
              <a:ext uri="{FF2B5EF4-FFF2-40B4-BE49-F238E27FC236}">
                <a16:creationId xmlns:a16="http://schemas.microsoft.com/office/drawing/2014/main" id="{EC09DDAB-101E-4E71-91D3-3359FE2FD5BB}"/>
              </a:ext>
            </a:extLst>
          </p:cNvPr>
          <p:cNvSpPr>
            <a:spLocks xmlns:a="http://schemas.openxmlformats.org/drawingml/2006/main" noGrp="1"/>
          </p:cNvSpPr>
          <p:nvPr/>
        </p:nvSpPr>
        <p:spPr>
          <a:xfrm xmlns:a="http://schemas.openxmlformats.org/drawingml/2006/main">
            <a:off x="4657725" y="2152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0707E"/>
                </a:solidFill>
                <a:latin typeface="Malgun Gothic"/>
                <a:ea typeface="Malgun Gothic"/>
                <a:cs typeface="Malgun Gothic"/>
              </a:defRPr>
            </a:pPr>
            <a:r>
              <a:rPr sz="975" b="1">
                <a:solidFill>
                  <a:srgbClr val="60707E"/>
                </a:solidFill>
                <a:latin typeface="Malgun Gothic"/>
                <a:ea typeface="Malgun Gothic"/>
                <a:cs typeface="Malgun Gothic"/>
              </a:rPr>
              <a:t>점수 산출 고객</a:t>
            </a:r>
          </a:p>
        </p:txBody>
      </p:sp>
      <p:sp>
        <p:nvSpPr>
          <p:cNvPr id="15" name="">
            <a:extLst xmlns:a="http://schemas.openxmlformats.org/drawingml/2006/main">
              <a:ext uri="{FF2B5EF4-FFF2-40B4-BE49-F238E27FC236}">
                <a16:creationId xmlns:a16="http://schemas.microsoft.com/office/drawing/2014/main" id="{36B07ADF-407D-4674-926F-97B27065104B}"/>
              </a:ext>
            </a:extLst>
          </p:cNvPr>
          <p:cNvSpPr>
            <a:spLocks xmlns:a="http://schemas.openxmlformats.org/drawingml/2006/main" noGrp="1"/>
          </p:cNvSpPr>
          <p:nvPr/>
        </p:nvSpPr>
        <p:spPr>
          <a:xfrm xmlns:a="http://schemas.openxmlformats.org/drawingml/2006/main">
            <a:off x="4657725" y="242887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75,000명</a:t>
            </a:r>
          </a:p>
        </p:txBody>
      </p:sp>
      <p:sp>
        <p:nvSpPr>
          <p:cNvPr id="16" name="">
            <a:extLst xmlns:a="http://schemas.openxmlformats.org/drawingml/2006/main">
              <a:ext uri="{FF2B5EF4-FFF2-40B4-BE49-F238E27FC236}">
                <a16:creationId xmlns:a16="http://schemas.microsoft.com/office/drawing/2014/main" id="{5DF96FCD-9BEC-4358-9FD5-3D9C94A8EA42}"/>
              </a:ext>
            </a:extLst>
          </p:cNvPr>
          <p:cNvSpPr>
            <a:spLocks xmlns:a="http://schemas.openxmlformats.org/drawingml/2006/main" noGrp="1"/>
          </p:cNvSpPr>
          <p:nvPr/>
        </p:nvSpPr>
        <p:spPr>
          <a:xfrm xmlns:a="http://schemas.openxmlformats.org/drawingml/2006/main">
            <a:off x="4657725" y="28765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0707E"/>
                </a:solidFill>
                <a:latin typeface="Malgun Gothic"/>
                <a:ea typeface="Malgun Gothic"/>
                <a:cs typeface="Malgun Gothic"/>
              </a:defRPr>
            </a:pPr>
            <a:r>
              <a:rPr sz="900" b="0">
                <a:solidFill>
                  <a:srgbClr val="60707E"/>
                </a:solidFill>
                <a:latin typeface="Malgun Gothic"/>
                <a:ea typeface="Malgun Gothic"/>
                <a:cs typeface="Malgun Gothic"/>
              </a:rPr>
              <a:t>19개 변수 · 정답 라벨 없음</a:t>
            </a:r>
          </a:p>
        </p:txBody>
      </p:sp>
      <p:sp>
        <p:nvSpPr>
          <p:cNvPr id="17" name="">
            <a:extLst xmlns:a="http://schemas.openxmlformats.org/drawingml/2006/main">
              <a:ext uri="{FF2B5EF4-FFF2-40B4-BE49-F238E27FC236}">
                <a16:creationId xmlns:a16="http://schemas.microsoft.com/office/drawing/2014/main" id="{28434CDA-2C2C-4CFC-B0A9-04332D8D1970}"/>
              </a:ext>
            </a:extLst>
          </p:cNvPr>
          <p:cNvSpPr>
            <a:spLocks xmlns:a="http://schemas.openxmlformats.org/drawingml/2006/main" noGrp="1"/>
          </p:cNvSpPr>
          <p:nvPr/>
        </p:nvSpPr>
        <p:spPr>
          <a:xfrm xmlns:a="http://schemas.openxmlformats.org/drawingml/2006/main">
            <a:off x="8324850" y="1981200"/>
            <a:ext cx="3333750" cy="1257300"/>
          </a:xfrm>
          <a:prstGeom xmlns:a="http://schemas.openxmlformats.org/drawingml/2006/main" prst="roundRect">
            <a:avLst>
              <a:gd name="adj" fmla="val 6061"/>
            </a:avLst>
          </a:prstGeom>
          <a:solidFill xmlns:a="http://schemas.openxmlformats.org/drawingml/2006/main">
            <a:srgbClr val="F3F6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AB7EEF0-B30C-4844-B904-86BCBAABBF00}"/>
              </a:ext>
            </a:extLst>
          </p:cNvPr>
          <p:cNvSpPr>
            <a:spLocks xmlns:a="http://schemas.openxmlformats.org/drawingml/2006/main" noGrp="1"/>
          </p:cNvSpPr>
          <p:nvPr/>
        </p:nvSpPr>
        <p:spPr>
          <a:xfrm xmlns:a="http://schemas.openxmlformats.org/drawingml/2006/main">
            <a:off x="8324850" y="1981200"/>
            <a:ext cx="57150" cy="1257300"/>
          </a:xfrm>
          <a:prstGeom xmlns:a="http://schemas.openxmlformats.org/drawingml/2006/main" prst="rect">
            <a:avLst/>
          </a:prstGeom>
          <a:solidFill xmlns:a="http://schemas.openxmlformats.org/drawingml/2006/main">
            <a:srgbClr val="E85E43"/>
          </a:solidFill>
          <a:ln xmlns:a="http://schemas.openxmlformats.org/drawingml/2006/main" w="0">
            <a:solidFill>
              <a:srgbClr val="E85E43"/>
            </a:solidFill>
            <a:prstDash val="solid"/>
          </a:ln>
        </p:spPr>
      </p:sp>
      <p:sp>
        <p:nvSpPr>
          <p:cNvPr id="19" name="">
            <a:extLst xmlns:a="http://schemas.openxmlformats.org/drawingml/2006/main">
              <a:ext uri="{FF2B5EF4-FFF2-40B4-BE49-F238E27FC236}">
                <a16:creationId xmlns:a16="http://schemas.microsoft.com/office/drawing/2014/main" id="{6B6753CB-6B6B-4F5C-9E6E-4488F65D2619}"/>
              </a:ext>
            </a:extLst>
          </p:cNvPr>
          <p:cNvSpPr>
            <a:spLocks xmlns:a="http://schemas.openxmlformats.org/drawingml/2006/main" noGrp="1"/>
          </p:cNvSpPr>
          <p:nvPr/>
        </p:nvSpPr>
        <p:spPr>
          <a:xfrm xmlns:a="http://schemas.openxmlformats.org/drawingml/2006/main">
            <a:off x="8553450" y="2152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0707E"/>
                </a:solidFill>
                <a:latin typeface="Malgun Gothic"/>
                <a:ea typeface="Malgun Gothic"/>
                <a:cs typeface="Malgun Gothic"/>
              </a:defRPr>
            </a:pPr>
            <a:r>
              <a:rPr sz="975" b="1">
                <a:solidFill>
                  <a:srgbClr val="60707E"/>
                </a:solidFill>
                <a:latin typeface="Malgun Gothic"/>
                <a:ea typeface="Malgun Gothic"/>
                <a:cs typeface="Malgun Gothic"/>
              </a:rPr>
              <a:t>관찰 이탈 비율</a:t>
            </a:r>
          </a:p>
        </p:txBody>
      </p:sp>
      <p:sp>
        <p:nvSpPr>
          <p:cNvPr id="20" name="">
            <a:extLst xmlns:a="http://schemas.openxmlformats.org/drawingml/2006/main">
              <a:ext uri="{FF2B5EF4-FFF2-40B4-BE49-F238E27FC236}">
                <a16:creationId xmlns:a16="http://schemas.microsoft.com/office/drawing/2014/main" id="{A1CFC64F-0E06-493F-88A2-DF374CEF3FB4}"/>
              </a:ext>
            </a:extLst>
          </p:cNvPr>
          <p:cNvSpPr>
            <a:spLocks xmlns:a="http://schemas.openxmlformats.org/drawingml/2006/main" noGrp="1"/>
          </p:cNvSpPr>
          <p:nvPr/>
        </p:nvSpPr>
        <p:spPr>
          <a:xfrm xmlns:a="http://schemas.openxmlformats.org/drawingml/2006/main">
            <a:off x="8553450" y="242887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51.34%</a:t>
            </a:r>
          </a:p>
        </p:txBody>
      </p:sp>
      <p:sp>
        <p:nvSpPr>
          <p:cNvPr id="21" name="">
            <a:extLst xmlns:a="http://schemas.openxmlformats.org/drawingml/2006/main">
              <a:ext uri="{FF2B5EF4-FFF2-40B4-BE49-F238E27FC236}">
                <a16:creationId xmlns:a16="http://schemas.microsoft.com/office/drawing/2014/main" id="{10C27A2D-A77C-472D-AE2A-8591755927EA}"/>
              </a:ext>
            </a:extLst>
          </p:cNvPr>
          <p:cNvSpPr>
            <a:spLocks xmlns:a="http://schemas.openxmlformats.org/drawingml/2006/main" noGrp="1"/>
          </p:cNvSpPr>
          <p:nvPr/>
        </p:nvSpPr>
        <p:spPr>
          <a:xfrm xmlns:a="http://schemas.openxmlformats.org/drawingml/2006/main">
            <a:off x="8553450" y="28765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0707E"/>
                </a:solidFill>
                <a:latin typeface="Malgun Gothic"/>
                <a:ea typeface="Malgun Gothic"/>
                <a:cs typeface="Malgun Gothic"/>
              </a:defRPr>
            </a:pPr>
            <a:r>
              <a:rPr sz="900" b="0">
                <a:solidFill>
                  <a:srgbClr val="60707E"/>
                </a:solidFill>
                <a:latin typeface="Malgun Gothic"/>
                <a:ea typeface="Malgun Gothic"/>
                <a:cs typeface="Malgun Gothic"/>
              </a:rPr>
              <a:t>클래스 불균형 데이터 아님</a:t>
            </a:r>
          </a:p>
        </p:txBody>
      </p:sp>
      <p:sp>
        <p:nvSpPr>
          <p:cNvPr id="22" name="">
            <a:extLst xmlns:a="http://schemas.openxmlformats.org/drawingml/2006/main">
              <a:ext uri="{FF2B5EF4-FFF2-40B4-BE49-F238E27FC236}">
                <a16:creationId xmlns:a16="http://schemas.microsoft.com/office/drawing/2014/main" id="{E83FE49F-1DC7-447F-B870-AF494B42FF45}"/>
              </a:ext>
            </a:extLst>
          </p:cNvPr>
          <p:cNvSpPr>
            <a:spLocks xmlns:a="http://schemas.openxmlformats.org/drawingml/2006/main" noGrp="1"/>
          </p:cNvSpPr>
          <p:nvPr/>
        </p:nvSpPr>
        <p:spPr>
          <a:xfrm xmlns:a="http://schemas.openxmlformats.org/drawingml/2006/main">
            <a:off x="533400" y="37338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18847A"/>
                </a:solidFill>
                <a:latin typeface="Malgun Gothic"/>
                <a:ea typeface="Malgun Gothic"/>
                <a:cs typeface="Malgun Gothic"/>
              </a:defRPr>
            </a:pPr>
            <a:r>
              <a:rPr sz="1125" b="1">
                <a:solidFill>
                  <a:srgbClr val="18847A"/>
                </a:solidFill>
                <a:latin typeface="Malgun Gothic"/>
                <a:ea typeface="Malgun Gothic"/>
                <a:cs typeface="Malgun Gothic"/>
              </a:rPr>
              <a:t>검증 완료</a:t>
            </a:r>
          </a:p>
        </p:txBody>
      </p:sp>
      <p:sp>
        <p:nvSpPr>
          <p:cNvPr id="23" name="">
            <a:extLst xmlns:a="http://schemas.openxmlformats.org/drawingml/2006/main">
              <a:ext uri="{FF2B5EF4-FFF2-40B4-BE49-F238E27FC236}">
                <a16:creationId xmlns:a16="http://schemas.microsoft.com/office/drawing/2014/main" id="{6B2FF315-0E1F-496B-ADC9-D83203092783}"/>
              </a:ext>
            </a:extLst>
          </p:cNvPr>
          <p:cNvSpPr>
            <a:spLocks xmlns:a="http://schemas.openxmlformats.org/drawingml/2006/main" noGrp="1"/>
          </p:cNvSpPr>
          <p:nvPr/>
        </p:nvSpPr>
        <p:spPr>
          <a:xfrm xmlns:a="http://schemas.openxmlformats.org/drawingml/2006/main">
            <a:off x="533400" y="4057650"/>
            <a:ext cx="571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7212B"/>
                </a:solidFill>
                <a:latin typeface="Malgun Gothic"/>
                <a:ea typeface="Malgun Gothic"/>
                <a:cs typeface="Malgun Gothic"/>
              </a:defRPr>
            </a:pPr>
            <a:r>
              <a:rPr sz="1350" b="0">
                <a:solidFill>
                  <a:srgbClr val="17212B"/>
                </a:solidFill>
                <a:latin typeface="Malgun Gothic"/>
                <a:ea typeface="Malgun Gothic"/>
                <a:cs typeface="Malgun Gothic"/>
              </a:rPr>
              <a:t>고객 1명 = 1행 · 결측/중복 0건 · Train/Test 고객 ID 교집합 0건</a:t>
            </a:r>
          </a:p>
        </p:txBody>
      </p:sp>
      <p:sp>
        <p:nvSpPr>
          <p:cNvPr id="24" name="">
            <a:extLst xmlns:a="http://schemas.openxmlformats.org/drawingml/2006/main">
              <a:ext uri="{FF2B5EF4-FFF2-40B4-BE49-F238E27FC236}">
                <a16:creationId xmlns:a16="http://schemas.microsoft.com/office/drawing/2014/main" id="{247C4321-5403-41B4-AFB0-A4AD753F9116}"/>
              </a:ext>
            </a:extLst>
          </p:cNvPr>
          <p:cNvSpPr>
            <a:spLocks xmlns:a="http://schemas.openxmlformats.org/drawingml/2006/main" noGrp="1"/>
          </p:cNvSpPr>
          <p:nvPr/>
        </p:nvSpPr>
        <p:spPr>
          <a:xfrm xmlns:a="http://schemas.openxmlformats.org/drawingml/2006/main">
            <a:off x="6572250" y="3733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E85E43"/>
                </a:solidFill>
                <a:latin typeface="Malgun Gothic"/>
                <a:ea typeface="Malgun Gothic"/>
                <a:cs typeface="Malgun Gothic"/>
              </a:defRPr>
            </a:pPr>
            <a:r>
              <a:rPr sz="1125" b="1">
                <a:solidFill>
                  <a:srgbClr val="E85E43"/>
                </a:solidFill>
                <a:latin typeface="Malgun Gothic"/>
                <a:ea typeface="Malgun Gothic"/>
                <a:cs typeface="Malgun Gothic"/>
              </a:rPr>
              <a:t>발표 해석의 경계</a:t>
            </a:r>
          </a:p>
        </p:txBody>
      </p:sp>
      <p:sp>
        <p:nvSpPr>
          <p:cNvPr id="25" name="">
            <a:extLst xmlns:a="http://schemas.openxmlformats.org/drawingml/2006/main">
              <a:ext uri="{FF2B5EF4-FFF2-40B4-BE49-F238E27FC236}">
                <a16:creationId xmlns:a16="http://schemas.microsoft.com/office/drawing/2014/main" id="{4AA27B99-5C8A-4C16-8767-5E1E03A27702}"/>
              </a:ext>
            </a:extLst>
          </p:cNvPr>
          <p:cNvSpPr>
            <a:spLocks xmlns:a="http://schemas.openxmlformats.org/drawingml/2006/main" noGrp="1"/>
          </p:cNvSpPr>
          <p:nvPr/>
        </p:nvSpPr>
        <p:spPr>
          <a:xfrm xmlns:a="http://schemas.openxmlformats.org/drawingml/2006/main">
            <a:off x="6572250" y="40576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7212B"/>
                </a:solidFill>
                <a:latin typeface="Malgun Gothic"/>
                <a:ea typeface="Malgun Gothic"/>
                <a:cs typeface="Malgun Gothic"/>
              </a:defRPr>
            </a:pPr>
            <a:r>
              <a:rPr sz="1350" b="0">
                <a:solidFill>
                  <a:srgbClr val="17212B"/>
                </a:solidFill>
                <a:latin typeface="Malgun Gothic"/>
                <a:ea typeface="Malgun Gothic"/>
                <a:cs typeface="Malgun Gothic"/>
              </a:rPr>
              <a:t>규칙 기반 합성 데이터 · 예측 기간 미정 · 외부 라벨 Holdout 없음</a:t>
            </a:r>
          </a:p>
        </p:txBody>
      </p:sp>
      <p:sp>
        <p:nvSpPr>
          <p:cNvPr id="26" name="">
            <a:extLst xmlns:a="http://schemas.openxmlformats.org/drawingml/2006/main">
              <a:ext uri="{FF2B5EF4-FFF2-40B4-BE49-F238E27FC236}">
                <a16:creationId xmlns:a16="http://schemas.microsoft.com/office/drawing/2014/main" id="{A6254010-5A00-4822-83A4-D3A840F788E9}"/>
              </a:ext>
            </a:extLst>
          </p:cNvPr>
          <p:cNvSpPr>
            <a:spLocks xmlns:a="http://schemas.openxmlformats.org/drawingml/2006/main" noGrp="1"/>
          </p:cNvSpPr>
          <p:nvPr/>
        </p:nvSpPr>
        <p:spPr>
          <a:xfrm xmlns:a="http://schemas.openxmlformats.org/drawingml/2006/main">
            <a:off x="533400" y="4972050"/>
            <a:ext cx="11125200" cy="781050"/>
          </a:xfrm>
          <a:prstGeom xmlns:a="http://schemas.openxmlformats.org/drawingml/2006/main" prst="roundRect">
            <a:avLst>
              <a:gd name="adj" fmla="val 9756"/>
            </a:avLst>
          </a:prstGeom>
          <a:solidFill xmlns:a="http://schemas.openxmlformats.org/drawingml/2006/main">
            <a:srgbClr val="FFF7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1481C5-052C-4CB6-98B5-9EB3124DA5B2}"/>
              </a:ext>
            </a:extLst>
          </p:cNvPr>
          <p:cNvSpPr>
            <a:spLocks xmlns:a="http://schemas.openxmlformats.org/drawingml/2006/main" noGrp="1"/>
          </p:cNvSpPr>
          <p:nvPr/>
        </p:nvSpPr>
        <p:spPr>
          <a:xfrm xmlns:a="http://schemas.openxmlformats.org/drawingml/2006/main">
            <a:off x="800100" y="5191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212B"/>
                </a:solidFill>
                <a:latin typeface="Malgun Gothic"/>
                <a:ea typeface="Malgun Gothic"/>
                <a:cs typeface="Malgun Gothic"/>
              </a:defRPr>
            </a:pPr>
            <a:r>
              <a:rPr sz="1500" b="1">
                <a:solidFill>
                  <a:srgbClr val="17212B"/>
                </a:solidFill>
                <a:latin typeface="Malgun Gothic"/>
                <a:ea typeface="Malgun Gothic"/>
                <a:cs typeface="Malgun Gothic"/>
              </a:rPr>
              <a:t>현재 성능은 5-Fold OOF 기반 기술 검증입니다. 실제 서비스 이탈 감소 효과로 확대 해석하지 않습니다.</a:t>
            </a:r>
          </a:p>
        </p:txBody>
      </p:sp>
      <p:sp>
        <p:nvSpPr>
          <p:cNvPr id="28" name="">
            <a:extLst xmlns:a="http://schemas.openxmlformats.org/drawingml/2006/main">
              <a:ext uri="{FF2B5EF4-FFF2-40B4-BE49-F238E27FC236}">
                <a16:creationId xmlns:a16="http://schemas.microsoft.com/office/drawing/2014/main" id="{6669B99C-2542-49CB-AC4C-F1EA71832913}"/>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docs/data_card.md · docs/validation_plan.md · 20260721_full_fair_v1/run_manifest.json</a:t>
            </a:r>
          </a:p>
        </p:txBody>
      </p:sp>
    </p:spTree>
    <p:extLst>
      <p:ext uri="{BB962C8B-B14F-4D97-AF65-F5344CB8AC3E}">
        <p14:creationId xmlns:p14="http://schemas.microsoft.com/office/powerpoint/2010/main" val="308593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492D7BA-7989-4055-A7E4-9A8BF3929EAF}"/>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CUSTOMER INSIGHT</a:t>
            </a:r>
          </a:p>
        </p:txBody>
      </p:sp>
      <p:sp>
        <p:nvSpPr>
          <p:cNvPr id="2" name="">
            <a:extLst xmlns:a="http://schemas.openxmlformats.org/drawingml/2006/main">
              <a:ext uri="{FF2B5EF4-FFF2-40B4-BE49-F238E27FC236}">
                <a16:creationId xmlns:a16="http://schemas.microsoft.com/office/drawing/2014/main" id="{AB4319A2-AF33-43B1-8A85-B1C4637A4170}"/>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낮은 청취·Free·높은 문의가 서로 다른 이탈 위험 맥락을 보여줍니다</a:t>
            </a:r>
          </a:p>
        </p:txBody>
      </p:sp>
      <p:sp>
        <p:nvSpPr>
          <p:cNvPr id="3" name="">
            <a:extLst xmlns:a="http://schemas.openxmlformats.org/drawingml/2006/main">
              <a:ext uri="{FF2B5EF4-FFF2-40B4-BE49-F238E27FC236}">
                <a16:creationId xmlns:a16="http://schemas.microsoft.com/office/drawing/2014/main" id="{B2D3AF8C-C7D7-406D-A10F-A23DB7A784F8}"/>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원인이 아니라 사용 저하·상품 맥락·서비스 마찰을 검토하는 관찰 신호다</a:t>
            </a:r>
          </a:p>
        </p:txBody>
      </p:sp>
      <p:sp>
        <p:nvSpPr>
          <p:cNvPr id="4" name="">
            <a:extLst xmlns:a="http://schemas.openxmlformats.org/drawingml/2006/main">
              <a:ext uri="{FF2B5EF4-FFF2-40B4-BE49-F238E27FC236}">
                <a16:creationId xmlns:a16="http://schemas.microsoft.com/office/drawing/2014/main" id="{2E1AFE57-F955-41A1-B0C6-8E5D43FA0956}"/>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56DD4085-F622-4BAF-AAFA-5F65CFD09FCF}"/>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352A2548-F91E-42FB-BD82-7E3A6C2CDA7C}"/>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04</a:t>
            </a:r>
          </a:p>
        </p:txBody>
      </p:sp>
      <p:sp>
        <p:nvSpPr>
          <p:cNvPr id="7" name="">
            <a:extLst xmlns:a="http://schemas.openxmlformats.org/drawingml/2006/main">
              <a:ext uri="{FF2B5EF4-FFF2-40B4-BE49-F238E27FC236}">
                <a16:creationId xmlns:a16="http://schemas.microsoft.com/office/drawing/2014/main" id="{D6F65C47-6797-4697-A3E9-FE5A5A45DDDC}"/>
              </a:ext>
            </a:extLst>
          </p:cNvPr>
          <p:cNvSpPr>
            <a:spLocks xmlns:a="http://schemas.openxmlformats.org/drawingml/2006/main" noGrp="1"/>
          </p:cNvSpPr>
          <p:nvPr/>
        </p:nvSpPr>
        <p:spPr>
          <a:xfrm xmlns:a="http://schemas.openxmlformats.org/drawingml/2006/main">
            <a:off x="533400" y="1809750"/>
            <a:ext cx="5334000" cy="3381375"/>
          </a:xfrm>
          <a:prstGeom xmlns:a="http://schemas.openxmlformats.org/drawingml/2006/main" prst="roundRect">
            <a:avLst>
              <a:gd name="adj" fmla="val 2254"/>
            </a:avLst>
          </a:prstGeom>
          <a:solidFill xmlns:a="http://schemas.openxmlformats.org/drawingml/2006/main">
            <a:srgbClr val="FBFCFD"/>
          </a:solidFill>
          <a:ln xmlns:a="http://schemas.openxmlformats.org/drawingml/2006/main" w="9525">
            <a:solidFill>
              <a:srgbClr val="D9E1E6"/>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8aaf3db57f54eed"/>
          <a:stretch xmlns:a="http://schemas.openxmlformats.org/drawingml/2006/main"/>
        </p:blipFill>
        <p:spPr>
          <a:xfrm xmlns:a="http://schemas.openxmlformats.org/drawingml/2006/main">
            <a:off x="609600" y="2176251"/>
            <a:ext cx="5181600" cy="264837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A886E2A-E940-4AD6-B81F-DA7FDAF10A65}"/>
              </a:ext>
            </a:extLst>
          </p:cNvPr>
          <p:cNvSpPr>
            <a:spLocks xmlns:a="http://schemas.openxmlformats.org/drawingml/2006/main" noGrp="1"/>
          </p:cNvSpPr>
          <p:nvPr/>
        </p:nvSpPr>
        <p:spPr>
          <a:xfrm xmlns:a="http://schemas.openxmlformats.org/drawingml/2006/main">
            <a:off x="6191250" y="1809750"/>
            <a:ext cx="5467350" cy="3381375"/>
          </a:xfrm>
          <a:prstGeom xmlns:a="http://schemas.openxmlformats.org/drawingml/2006/main" prst="roundRect">
            <a:avLst>
              <a:gd name="adj" fmla="val 2254"/>
            </a:avLst>
          </a:prstGeom>
          <a:solidFill xmlns:a="http://schemas.openxmlformats.org/drawingml/2006/main">
            <a:srgbClr val="FBFCFD"/>
          </a:solidFill>
          <a:ln xmlns:a="http://schemas.openxmlformats.org/drawingml/2006/main" w="9525">
            <a:solidFill>
              <a:srgbClr val="D9E1E6"/>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e4788c3830541fc"/>
          <a:stretch xmlns:a="http://schemas.openxmlformats.org/drawingml/2006/main"/>
        </p:blipFill>
        <p:spPr>
          <a:xfrm xmlns:a="http://schemas.openxmlformats.org/drawingml/2006/main">
            <a:off x="6267450" y="2255212"/>
            <a:ext cx="5314950" cy="2490451"/>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DA9FEA7-9D15-476C-9254-735AB277FA6D}"/>
              </a:ext>
            </a:extLst>
          </p:cNvPr>
          <p:cNvSpPr>
            <a:spLocks xmlns:a="http://schemas.openxmlformats.org/drawingml/2006/main" noGrp="1"/>
          </p:cNvSpPr>
          <p:nvPr/>
        </p:nvSpPr>
        <p:spPr>
          <a:xfrm xmlns:a="http://schemas.openxmlformats.org/drawingml/2006/main">
            <a:off x="685800" y="532447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8847A"/>
                </a:solidFill>
                <a:latin typeface="Malgun Gothic"/>
                <a:ea typeface="Malgun Gothic"/>
                <a:cs typeface="Malgun Gothic"/>
              </a:defRPr>
            </a:pPr>
            <a:r>
              <a:rPr sz="1350" b="1">
                <a:solidFill>
                  <a:srgbClr val="18847A"/>
                </a:solidFill>
                <a:latin typeface="Malgun Gothic"/>
                <a:ea typeface="Malgun Gothic"/>
                <a:cs typeface="Malgun Gothic"/>
              </a:rPr>
              <a:t>weekly_hours 상관 -0.302</a:t>
            </a:r>
          </a:p>
        </p:txBody>
      </p:sp>
      <p:sp>
        <p:nvSpPr>
          <p:cNvPr id="12" name="">
            <a:extLst xmlns:a="http://schemas.openxmlformats.org/drawingml/2006/main">
              <a:ext uri="{FF2B5EF4-FFF2-40B4-BE49-F238E27FC236}">
                <a16:creationId xmlns:a16="http://schemas.microsoft.com/office/drawing/2014/main" id="{15CA7120-4258-4422-877F-FAAD1082A807}"/>
              </a:ext>
            </a:extLst>
          </p:cNvPr>
          <p:cNvSpPr>
            <a:spLocks xmlns:a="http://schemas.openxmlformats.org/drawingml/2006/main" noGrp="1"/>
          </p:cNvSpPr>
          <p:nvPr/>
        </p:nvSpPr>
        <p:spPr>
          <a:xfrm xmlns:a="http://schemas.openxmlformats.org/drawingml/2006/main">
            <a:off x="3905250" y="5324475"/>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17354B"/>
                </a:solidFill>
                <a:latin typeface="Malgun Gothic"/>
                <a:ea typeface="Malgun Gothic"/>
                <a:cs typeface="Malgun Gothic"/>
              </a:defRPr>
            </a:pPr>
            <a:r>
              <a:rPr sz="1350" b="1">
                <a:solidFill>
                  <a:srgbClr val="17354B"/>
                </a:solidFill>
                <a:latin typeface="Malgun Gothic"/>
                <a:ea typeface="Malgun Gothic"/>
                <a:cs typeface="Malgun Gothic"/>
              </a:rPr>
              <a:t>Free 79.41%  ·  Premium 33.91%</a:t>
            </a:r>
          </a:p>
        </p:txBody>
      </p:sp>
      <p:sp>
        <p:nvSpPr>
          <p:cNvPr id="13" name="">
            <a:extLst xmlns:a="http://schemas.openxmlformats.org/drawingml/2006/main">
              <a:ext uri="{FF2B5EF4-FFF2-40B4-BE49-F238E27FC236}">
                <a16:creationId xmlns:a16="http://schemas.microsoft.com/office/drawing/2014/main" id="{4E64C10D-CC31-4BE6-9319-AE1F969E6D47}"/>
              </a:ext>
            </a:extLst>
          </p:cNvPr>
          <p:cNvSpPr>
            <a:spLocks xmlns:a="http://schemas.openxmlformats.org/drawingml/2006/main" noGrp="1"/>
          </p:cNvSpPr>
          <p:nvPr/>
        </p:nvSpPr>
        <p:spPr>
          <a:xfrm xmlns:a="http://schemas.openxmlformats.org/drawingml/2006/main">
            <a:off x="7715250" y="5324475"/>
            <a:ext cx="3790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E85E43"/>
                </a:solidFill>
                <a:latin typeface="Malgun Gothic"/>
                <a:ea typeface="Malgun Gothic"/>
                <a:cs typeface="Malgun Gothic"/>
              </a:defRPr>
            </a:pPr>
            <a:r>
              <a:rPr sz="1350" b="1">
                <a:solidFill>
                  <a:srgbClr val="E85E43"/>
                </a:solidFill>
                <a:latin typeface="Malgun Gothic"/>
                <a:ea typeface="Malgun Gothic"/>
                <a:cs typeface="Malgun Gothic"/>
              </a:rPr>
              <a:t>문의 High 74.33%  ·  Low 28.92%</a:t>
            </a:r>
          </a:p>
        </p:txBody>
      </p:sp>
      <p:sp>
        <p:nvSpPr>
          <p:cNvPr id="14" name="">
            <a:extLst xmlns:a="http://schemas.openxmlformats.org/drawingml/2006/main">
              <a:ext uri="{FF2B5EF4-FFF2-40B4-BE49-F238E27FC236}">
                <a16:creationId xmlns:a16="http://schemas.microsoft.com/office/drawing/2014/main" id="{B2CFEF0F-2DC5-4441-9965-1CD57869A46F}"/>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19_numeric_target_correlations.csv · 20_categorical_churn_associations.csv · EDA insight</a:t>
            </a:r>
          </a:p>
        </p:txBody>
      </p:sp>
    </p:spTree>
    <p:extLst>
      <p:ext uri="{BB962C8B-B14F-4D97-AF65-F5344CB8AC3E}">
        <p14:creationId xmlns:p14="http://schemas.microsoft.com/office/powerpoint/2010/main" val="11009376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3F18E38-E665-48A8-B16E-C72321A3CEEE}"/>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DECISION WORKFLOW</a:t>
            </a:r>
          </a:p>
        </p:txBody>
      </p:sp>
      <p:sp>
        <p:nvSpPr>
          <p:cNvPr id="2" name="">
            <a:extLst xmlns:a="http://schemas.openxmlformats.org/drawingml/2006/main">
              <a:ext uri="{FF2B5EF4-FFF2-40B4-BE49-F238E27FC236}">
                <a16:creationId xmlns:a16="http://schemas.microsoft.com/office/drawing/2014/main" id="{7EE9E29A-F10D-4604-8046-E5F588912FD3}"/>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위험 신호는 사람이 검토할 유지 행동 가설로 바꿨습니다</a:t>
            </a:r>
          </a:p>
        </p:txBody>
      </p:sp>
      <p:sp>
        <p:nvSpPr>
          <p:cNvPr id="3" name="">
            <a:extLst xmlns:a="http://schemas.openxmlformats.org/drawingml/2006/main">
              <a:ext uri="{FF2B5EF4-FFF2-40B4-BE49-F238E27FC236}">
                <a16:creationId xmlns:a16="http://schemas.microsoft.com/office/drawing/2014/main" id="{2F16944C-0521-4D83-B743-BEAACF5D8D6F}"/>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모델이 처방하지 않는다 · 투명한 규칙이 후보를 제안하고 담당자가 채택·보류한다</a:t>
            </a:r>
          </a:p>
        </p:txBody>
      </p:sp>
      <p:sp>
        <p:nvSpPr>
          <p:cNvPr id="4" name="">
            <a:extLst xmlns:a="http://schemas.openxmlformats.org/drawingml/2006/main">
              <a:ext uri="{FF2B5EF4-FFF2-40B4-BE49-F238E27FC236}">
                <a16:creationId xmlns:a16="http://schemas.microsoft.com/office/drawing/2014/main" id="{925864F4-BDE7-41ED-8B79-27A2072C773E}"/>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7C5A9B98-D091-4673-B706-206841BC0F36}"/>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282A943B-9517-4DEF-8811-CBF52C2D6BCF}"/>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13</a:t>
            </a:r>
          </a:p>
        </p:txBody>
      </p:sp>
      <p:sp>
        <p:nvSpPr>
          <p:cNvPr id="7" name="">
            <a:extLst xmlns:a="http://schemas.openxmlformats.org/drawingml/2006/main">
              <a:ext uri="{FF2B5EF4-FFF2-40B4-BE49-F238E27FC236}">
                <a16:creationId xmlns:a16="http://schemas.microsoft.com/office/drawing/2014/main" id="{A19EE359-0D31-4F6B-BFA0-5D6D142867AD}"/>
              </a:ext>
            </a:extLst>
          </p:cNvPr>
          <p:cNvSpPr>
            <a:spLocks xmlns:a="http://schemas.openxmlformats.org/drawingml/2006/main" noGrp="1"/>
          </p:cNvSpPr>
          <p:nvPr/>
        </p:nvSpPr>
        <p:spPr>
          <a:xfrm xmlns:a="http://schemas.openxmlformats.org/drawingml/2006/main">
            <a:off x="53340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9D954E-4A95-4255-9378-B9A1994C5C0E}"/>
              </a:ext>
            </a:extLst>
          </p:cNvPr>
          <p:cNvSpPr>
            <a:spLocks xmlns:a="http://schemas.openxmlformats.org/drawingml/2006/main" noGrp="1"/>
          </p:cNvSpPr>
          <p:nvPr/>
        </p:nvSpPr>
        <p:spPr>
          <a:xfrm xmlns:a="http://schemas.openxmlformats.org/drawingml/2006/main">
            <a:off x="74295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8847A"/>
                </a:solidFill>
                <a:latin typeface="Malgun Gothic"/>
                <a:ea typeface="Malgun Gothic"/>
                <a:cs typeface="Malgun Gothic"/>
              </a:defRPr>
            </a:pPr>
            <a:r>
              <a:rPr sz="1350" b="1">
                <a:solidFill>
                  <a:srgbClr val="18847A"/>
                </a:solidFill>
                <a:latin typeface="Malgun Gothic"/>
                <a:ea typeface="Malgun Gothic"/>
                <a:cs typeface="Malgun Gothic"/>
              </a:rPr>
              <a:t>01</a:t>
            </a:r>
          </a:p>
        </p:txBody>
      </p:sp>
      <p:sp>
        <p:nvSpPr>
          <p:cNvPr id="9" name="">
            <a:extLst xmlns:a="http://schemas.openxmlformats.org/drawingml/2006/main">
              <a:ext uri="{FF2B5EF4-FFF2-40B4-BE49-F238E27FC236}">
                <a16:creationId xmlns:a16="http://schemas.microsoft.com/office/drawing/2014/main" id="{B51B710E-76B7-4126-84A8-ABF563BEBC17}"/>
              </a:ext>
            </a:extLst>
          </p:cNvPr>
          <p:cNvSpPr>
            <a:spLocks xmlns:a="http://schemas.openxmlformats.org/drawingml/2006/main" noGrp="1"/>
          </p:cNvSpPr>
          <p:nvPr/>
        </p:nvSpPr>
        <p:spPr>
          <a:xfrm xmlns:a="http://schemas.openxmlformats.org/drawingml/2006/main">
            <a:off x="74295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높은 문의</a:t>
            </a:r>
          </a:p>
        </p:txBody>
      </p:sp>
      <p:sp>
        <p:nvSpPr>
          <p:cNvPr id="10" name="">
            <a:extLst xmlns:a="http://schemas.openxmlformats.org/drawingml/2006/main">
              <a:ext uri="{FF2B5EF4-FFF2-40B4-BE49-F238E27FC236}">
                <a16:creationId xmlns:a16="http://schemas.microsoft.com/office/drawing/2014/main" id="{08833969-8671-4DD1-B544-B19B229600EB}"/>
              </a:ext>
            </a:extLst>
          </p:cNvPr>
          <p:cNvSpPr>
            <a:spLocks xmlns:a="http://schemas.openxmlformats.org/drawingml/2006/main" noGrp="1"/>
          </p:cNvSpPr>
          <p:nvPr/>
        </p:nvSpPr>
        <p:spPr>
          <a:xfrm xmlns:a="http://schemas.openxmlformats.org/drawingml/2006/main">
            <a:off x="74295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미해결 문의 확인</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상담 우선순위 검토</a:t>
            </a:r>
          </a:p>
        </p:txBody>
      </p:sp>
      <p:sp>
        <p:nvSpPr>
          <p:cNvPr id="11" name="">
            <a:extLst xmlns:a="http://schemas.openxmlformats.org/drawingml/2006/main">
              <a:ext uri="{FF2B5EF4-FFF2-40B4-BE49-F238E27FC236}">
                <a16:creationId xmlns:a16="http://schemas.microsoft.com/office/drawing/2014/main" id="{93E68EB1-A937-4E5E-A6F5-275CDA69E781}"/>
              </a:ext>
            </a:extLst>
          </p:cNvPr>
          <p:cNvSpPr>
            <a:spLocks xmlns:a="http://schemas.openxmlformats.org/drawingml/2006/main" noGrp="1"/>
          </p:cNvSpPr>
          <p:nvPr/>
        </p:nvSpPr>
        <p:spPr>
          <a:xfrm xmlns:a="http://schemas.openxmlformats.org/drawingml/2006/main">
            <a:off x="3048000" y="28765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E85E43"/>
                </a:solidFill>
                <a:latin typeface="Malgun Gothic"/>
                <a:ea typeface="Malgun Gothic"/>
                <a:cs typeface="Malgun Gothic"/>
              </a:defRPr>
            </a:pPr>
            <a:r>
              <a:rPr sz="1950" b="1">
                <a:solidFill>
                  <a:srgbClr val="E85E43"/>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2E2E1492-3485-4268-AA3A-D3FC110D78DE}"/>
              </a:ext>
            </a:extLst>
          </p:cNvPr>
          <p:cNvSpPr>
            <a:spLocks xmlns:a="http://schemas.openxmlformats.org/drawingml/2006/main" noGrp="1"/>
          </p:cNvSpPr>
          <p:nvPr/>
        </p:nvSpPr>
        <p:spPr>
          <a:xfrm xmlns:a="http://schemas.openxmlformats.org/drawingml/2006/main">
            <a:off x="333375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08F091-C062-425A-AF98-002E102ACC56}"/>
              </a:ext>
            </a:extLst>
          </p:cNvPr>
          <p:cNvSpPr>
            <a:spLocks xmlns:a="http://schemas.openxmlformats.org/drawingml/2006/main" noGrp="1"/>
          </p:cNvSpPr>
          <p:nvPr/>
        </p:nvSpPr>
        <p:spPr>
          <a:xfrm xmlns:a="http://schemas.openxmlformats.org/drawingml/2006/main">
            <a:off x="354330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354B"/>
                </a:solidFill>
                <a:latin typeface="Malgun Gothic"/>
                <a:ea typeface="Malgun Gothic"/>
                <a:cs typeface="Malgun Gothic"/>
              </a:defRPr>
            </a:pPr>
            <a:r>
              <a:rPr sz="1350" b="1">
                <a:solidFill>
                  <a:srgbClr val="17354B"/>
                </a:solidFill>
                <a:latin typeface="Malgun Gothic"/>
                <a:ea typeface="Malgun Gothic"/>
                <a:cs typeface="Malgun Gothic"/>
              </a:rPr>
              <a:t>02</a:t>
            </a:r>
          </a:p>
        </p:txBody>
      </p:sp>
      <p:sp>
        <p:nvSpPr>
          <p:cNvPr id="14" name="">
            <a:extLst xmlns:a="http://schemas.openxmlformats.org/drawingml/2006/main">
              <a:ext uri="{FF2B5EF4-FFF2-40B4-BE49-F238E27FC236}">
                <a16:creationId xmlns:a16="http://schemas.microsoft.com/office/drawing/2014/main" id="{94CE0D66-3245-40B4-B98F-9B46A043B061}"/>
              </a:ext>
            </a:extLst>
          </p:cNvPr>
          <p:cNvSpPr>
            <a:spLocks xmlns:a="http://schemas.openxmlformats.org/drawingml/2006/main" noGrp="1"/>
          </p:cNvSpPr>
          <p:nvPr/>
        </p:nvSpPr>
        <p:spPr>
          <a:xfrm xmlns:a="http://schemas.openxmlformats.org/drawingml/2006/main">
            <a:off x="354330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낮은 청취</a:t>
            </a:r>
          </a:p>
        </p:txBody>
      </p:sp>
      <p:sp>
        <p:nvSpPr>
          <p:cNvPr id="15" name="">
            <a:extLst xmlns:a="http://schemas.openxmlformats.org/drawingml/2006/main">
              <a:ext uri="{FF2B5EF4-FFF2-40B4-BE49-F238E27FC236}">
                <a16:creationId xmlns:a16="http://schemas.microsoft.com/office/drawing/2014/main" id="{3CE46052-C094-41AF-97F6-20B1246A4C5C}"/>
              </a:ext>
            </a:extLst>
          </p:cNvPr>
          <p:cNvSpPr>
            <a:spLocks xmlns:a="http://schemas.openxmlformats.org/drawingml/2006/main" noGrp="1"/>
          </p:cNvSpPr>
          <p:nvPr/>
        </p:nvSpPr>
        <p:spPr>
          <a:xfrm xmlns:a="http://schemas.openxmlformats.org/drawingml/2006/main">
            <a:off x="354330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개인화 재활성화</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플레이리스트 제안</a:t>
            </a:r>
          </a:p>
        </p:txBody>
      </p:sp>
      <p:sp>
        <p:nvSpPr>
          <p:cNvPr id="16" name="">
            <a:extLst xmlns:a="http://schemas.openxmlformats.org/drawingml/2006/main">
              <a:ext uri="{FF2B5EF4-FFF2-40B4-BE49-F238E27FC236}">
                <a16:creationId xmlns:a16="http://schemas.microsoft.com/office/drawing/2014/main" id="{98FE81CD-585F-4594-B7B9-84D4C35423CC}"/>
              </a:ext>
            </a:extLst>
          </p:cNvPr>
          <p:cNvSpPr>
            <a:spLocks xmlns:a="http://schemas.openxmlformats.org/drawingml/2006/main" noGrp="1"/>
          </p:cNvSpPr>
          <p:nvPr/>
        </p:nvSpPr>
        <p:spPr>
          <a:xfrm xmlns:a="http://schemas.openxmlformats.org/drawingml/2006/main">
            <a:off x="5848350" y="28765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E85E43"/>
                </a:solidFill>
                <a:latin typeface="Malgun Gothic"/>
                <a:ea typeface="Malgun Gothic"/>
                <a:cs typeface="Malgun Gothic"/>
              </a:defRPr>
            </a:pPr>
            <a:r>
              <a:rPr sz="1950" b="1">
                <a:solidFill>
                  <a:srgbClr val="E85E43"/>
                </a:solidFill>
                <a:latin typeface="Malgun Gothic"/>
                <a:ea typeface="Malgun Gothic"/>
                <a:cs typeface="Malgun Gothic"/>
              </a:rPr>
              <a:t>→</a:t>
            </a:r>
          </a:p>
        </p:txBody>
      </p:sp>
      <p:sp>
        <p:nvSpPr>
          <p:cNvPr id="17" name="">
            <a:extLst xmlns:a="http://schemas.openxmlformats.org/drawingml/2006/main">
              <a:ext uri="{FF2B5EF4-FFF2-40B4-BE49-F238E27FC236}">
                <a16:creationId xmlns:a16="http://schemas.microsoft.com/office/drawing/2014/main" id="{8F10B303-382B-4CBD-BF5F-181FB8BCBED3}"/>
              </a:ext>
            </a:extLst>
          </p:cNvPr>
          <p:cNvSpPr>
            <a:spLocks xmlns:a="http://schemas.openxmlformats.org/drawingml/2006/main" noGrp="1"/>
          </p:cNvSpPr>
          <p:nvPr/>
        </p:nvSpPr>
        <p:spPr>
          <a:xfrm xmlns:a="http://schemas.openxmlformats.org/drawingml/2006/main">
            <a:off x="613410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41EE885-EB69-4A1C-A3E5-3F0674F79FF7}"/>
              </a:ext>
            </a:extLst>
          </p:cNvPr>
          <p:cNvSpPr>
            <a:spLocks xmlns:a="http://schemas.openxmlformats.org/drawingml/2006/main" noGrp="1"/>
          </p:cNvSpPr>
          <p:nvPr/>
        </p:nvSpPr>
        <p:spPr>
          <a:xfrm xmlns:a="http://schemas.openxmlformats.org/drawingml/2006/main">
            <a:off x="634365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D99224"/>
                </a:solidFill>
                <a:latin typeface="Malgun Gothic"/>
                <a:ea typeface="Malgun Gothic"/>
                <a:cs typeface="Malgun Gothic"/>
              </a:defRPr>
            </a:pPr>
            <a:r>
              <a:rPr sz="1350" b="1">
                <a:solidFill>
                  <a:srgbClr val="D99224"/>
                </a:solidFill>
                <a:latin typeface="Malgun Gothic"/>
                <a:ea typeface="Malgun Gothic"/>
                <a:cs typeface="Malgun Gothic"/>
              </a:rPr>
              <a:t>03</a:t>
            </a:r>
          </a:p>
        </p:txBody>
      </p:sp>
      <p:sp>
        <p:nvSpPr>
          <p:cNvPr id="19" name="">
            <a:extLst xmlns:a="http://schemas.openxmlformats.org/drawingml/2006/main">
              <a:ext uri="{FF2B5EF4-FFF2-40B4-BE49-F238E27FC236}">
                <a16:creationId xmlns:a16="http://schemas.microsoft.com/office/drawing/2014/main" id="{D28546D0-FF48-44A4-A8A9-FB1CB5372BEA}"/>
              </a:ext>
            </a:extLst>
          </p:cNvPr>
          <p:cNvSpPr>
            <a:spLocks xmlns:a="http://schemas.openxmlformats.org/drawingml/2006/main" noGrp="1"/>
          </p:cNvSpPr>
          <p:nvPr/>
        </p:nvSpPr>
        <p:spPr>
          <a:xfrm xmlns:a="http://schemas.openxmlformats.org/drawingml/2006/main">
            <a:off x="634365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Skip·Pause</a:t>
            </a:r>
          </a:p>
        </p:txBody>
      </p:sp>
      <p:sp>
        <p:nvSpPr>
          <p:cNvPr id="20" name="">
            <a:extLst xmlns:a="http://schemas.openxmlformats.org/drawingml/2006/main">
              <a:ext uri="{FF2B5EF4-FFF2-40B4-BE49-F238E27FC236}">
                <a16:creationId xmlns:a16="http://schemas.microsoft.com/office/drawing/2014/main" id="{B162F396-66B4-47A5-B578-6A9B55D1588A}"/>
              </a:ext>
            </a:extLst>
          </p:cNvPr>
          <p:cNvSpPr>
            <a:spLocks xmlns:a="http://schemas.openxmlformats.org/drawingml/2006/main" noGrp="1"/>
          </p:cNvSpPr>
          <p:nvPr/>
        </p:nvSpPr>
        <p:spPr>
          <a:xfrm xmlns:a="http://schemas.openxmlformats.org/drawingml/2006/main">
            <a:off x="634365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만족도·콘텐츠 다양성</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복귀 장벽 확인</a:t>
            </a:r>
          </a:p>
        </p:txBody>
      </p:sp>
      <p:sp>
        <p:nvSpPr>
          <p:cNvPr id="21" name="">
            <a:extLst xmlns:a="http://schemas.openxmlformats.org/drawingml/2006/main">
              <a:ext uri="{FF2B5EF4-FFF2-40B4-BE49-F238E27FC236}">
                <a16:creationId xmlns:a16="http://schemas.microsoft.com/office/drawing/2014/main" id="{4257F64F-3C40-4DD8-8E5F-CF19070DF593}"/>
              </a:ext>
            </a:extLst>
          </p:cNvPr>
          <p:cNvSpPr>
            <a:spLocks xmlns:a="http://schemas.openxmlformats.org/drawingml/2006/main" noGrp="1"/>
          </p:cNvSpPr>
          <p:nvPr/>
        </p:nvSpPr>
        <p:spPr>
          <a:xfrm xmlns:a="http://schemas.openxmlformats.org/drawingml/2006/main">
            <a:off x="8648700" y="28765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E85E43"/>
                </a:solidFill>
                <a:latin typeface="Malgun Gothic"/>
                <a:ea typeface="Malgun Gothic"/>
                <a:cs typeface="Malgun Gothic"/>
              </a:defRPr>
            </a:pPr>
            <a:r>
              <a:rPr sz="1950" b="1">
                <a:solidFill>
                  <a:srgbClr val="E85E43"/>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F678228A-6603-4AF6-9F6E-4E6DDD23517B}"/>
              </a:ext>
            </a:extLst>
          </p:cNvPr>
          <p:cNvSpPr>
            <a:spLocks xmlns:a="http://schemas.openxmlformats.org/drawingml/2006/main" noGrp="1"/>
          </p:cNvSpPr>
          <p:nvPr/>
        </p:nvSpPr>
        <p:spPr>
          <a:xfrm xmlns:a="http://schemas.openxmlformats.org/drawingml/2006/main">
            <a:off x="893445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E309EA7-4927-4FA0-9BA1-4CEC52BD7C3F}"/>
              </a:ext>
            </a:extLst>
          </p:cNvPr>
          <p:cNvSpPr>
            <a:spLocks xmlns:a="http://schemas.openxmlformats.org/drawingml/2006/main" noGrp="1"/>
          </p:cNvSpPr>
          <p:nvPr/>
        </p:nvSpPr>
        <p:spPr>
          <a:xfrm xmlns:a="http://schemas.openxmlformats.org/drawingml/2006/main">
            <a:off x="914400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85E43"/>
                </a:solidFill>
                <a:latin typeface="Malgun Gothic"/>
                <a:ea typeface="Malgun Gothic"/>
                <a:cs typeface="Malgun Gothic"/>
              </a:defRPr>
            </a:pPr>
            <a:r>
              <a:rPr sz="1350" b="1">
                <a:solidFill>
                  <a:srgbClr val="E85E43"/>
                </a:solidFill>
                <a:latin typeface="Malgun Gothic"/>
                <a:ea typeface="Malgun Gothic"/>
                <a:cs typeface="Malgun Gothic"/>
              </a:rPr>
              <a:t>04</a:t>
            </a:r>
          </a:p>
        </p:txBody>
      </p:sp>
      <p:sp>
        <p:nvSpPr>
          <p:cNvPr id="24" name="">
            <a:extLst xmlns:a="http://schemas.openxmlformats.org/drawingml/2006/main">
              <a:ext uri="{FF2B5EF4-FFF2-40B4-BE49-F238E27FC236}">
                <a16:creationId xmlns:a16="http://schemas.microsoft.com/office/drawing/2014/main" id="{485D26DE-236A-478C-9A43-413E3B4C72E3}"/>
              </a:ext>
            </a:extLst>
          </p:cNvPr>
          <p:cNvSpPr>
            <a:spLocks xmlns:a="http://schemas.openxmlformats.org/drawingml/2006/main" noGrp="1"/>
          </p:cNvSpPr>
          <p:nvPr/>
        </p:nvSpPr>
        <p:spPr>
          <a:xfrm xmlns:a="http://schemas.openxmlformats.org/drawingml/2006/main">
            <a:off x="914400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Free 구독</a:t>
            </a:r>
          </a:p>
        </p:txBody>
      </p:sp>
      <p:sp>
        <p:nvSpPr>
          <p:cNvPr id="25" name="">
            <a:extLst xmlns:a="http://schemas.openxmlformats.org/drawingml/2006/main">
              <a:ext uri="{FF2B5EF4-FFF2-40B4-BE49-F238E27FC236}">
                <a16:creationId xmlns:a16="http://schemas.microsoft.com/office/drawing/2014/main" id="{71FA2CA5-C8C9-4878-B487-1C97CEF06F2D}"/>
              </a:ext>
            </a:extLst>
          </p:cNvPr>
          <p:cNvSpPr>
            <a:spLocks xmlns:a="http://schemas.openxmlformats.org/drawingml/2006/main" noGrp="1"/>
          </p:cNvSpPr>
          <p:nvPr/>
        </p:nvSpPr>
        <p:spPr>
          <a:xfrm xmlns:a="http://schemas.openxmlformats.org/drawingml/2006/main">
            <a:off x="914400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혜택 인지 확인</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체험 제안 검토</a:t>
            </a:r>
          </a:p>
        </p:txBody>
      </p:sp>
      <p:sp>
        <p:nvSpPr>
          <p:cNvPr id="26" name="">
            <a:extLst xmlns:a="http://schemas.openxmlformats.org/drawingml/2006/main">
              <a:ext uri="{FF2B5EF4-FFF2-40B4-BE49-F238E27FC236}">
                <a16:creationId xmlns:a16="http://schemas.microsoft.com/office/drawing/2014/main" id="{AD924A02-1DEE-479B-A73C-FBEF64B65922}"/>
              </a:ext>
            </a:extLst>
          </p:cNvPr>
          <p:cNvSpPr>
            <a:spLocks xmlns:a="http://schemas.openxmlformats.org/drawingml/2006/main" noGrp="1"/>
          </p:cNvSpPr>
          <p:nvPr/>
        </p:nvSpPr>
        <p:spPr>
          <a:xfrm xmlns:a="http://schemas.openxmlformats.org/drawingml/2006/main">
            <a:off x="533400" y="4695825"/>
            <a:ext cx="11125200" cy="1028700"/>
          </a:xfrm>
          <a:prstGeom xmlns:a="http://schemas.openxmlformats.org/drawingml/2006/main" prst="roundRect">
            <a:avLst>
              <a:gd name="adj" fmla="val 7407"/>
            </a:avLst>
          </a:prstGeom>
          <a:solidFill xmlns:a="http://schemas.openxmlformats.org/drawingml/2006/main">
            <a:srgbClr val="17354B"/>
          </a:solidFill>
          <a:ln xmlns:a="http://schemas.openxmlformats.org/drawingml/2006/main" w="9525">
            <a:solidFill>
              <a:srgbClr val="17354B"/>
            </a:solidFill>
            <a:prstDash val="solid"/>
          </a:ln>
        </p:spPr>
      </p:sp>
      <p:sp>
        <p:nvSpPr>
          <p:cNvPr id="27" name="">
            <a:extLst xmlns:a="http://schemas.openxmlformats.org/drawingml/2006/main">
              <a:ext uri="{FF2B5EF4-FFF2-40B4-BE49-F238E27FC236}">
                <a16:creationId xmlns:a16="http://schemas.microsoft.com/office/drawing/2014/main" id="{879BD4EA-6527-4811-8072-C8E3AE2325FB}"/>
              </a:ext>
            </a:extLst>
          </p:cNvPr>
          <p:cNvSpPr>
            <a:spLocks xmlns:a="http://schemas.openxmlformats.org/drawingml/2006/main" noGrp="1"/>
          </p:cNvSpPr>
          <p:nvPr/>
        </p:nvSpPr>
        <p:spPr>
          <a:xfrm xmlns:a="http://schemas.openxmlformats.org/drawingml/2006/main">
            <a:off x="781050" y="4895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행동 배정 원칙</a:t>
            </a:r>
          </a:p>
        </p:txBody>
      </p:sp>
      <p:sp>
        <p:nvSpPr>
          <p:cNvPr id="28" name="">
            <a:extLst xmlns:a="http://schemas.openxmlformats.org/drawingml/2006/main">
              <a:ext uri="{FF2B5EF4-FFF2-40B4-BE49-F238E27FC236}">
                <a16:creationId xmlns:a16="http://schemas.microsoft.com/office/drawing/2014/main" id="{7A72618C-8F1F-4C1D-AD47-8A2EF2574D1C}"/>
              </a:ext>
            </a:extLst>
          </p:cNvPr>
          <p:cNvSpPr>
            <a:spLocks xmlns:a="http://schemas.openxmlformats.org/drawingml/2006/main" noGrp="1"/>
          </p:cNvSpPr>
          <p:nvPr/>
        </p:nvSpPr>
        <p:spPr>
          <a:xfrm xmlns:a="http://schemas.openxmlformats.org/drawingml/2006/main">
            <a:off x="781050" y="52482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사용·문의·구독 신호만 사용 · Age·Location·Customer ID 제외</a:t>
            </a:r>
          </a:p>
        </p:txBody>
      </p:sp>
      <p:sp>
        <p:nvSpPr>
          <p:cNvPr id="29" name="">
            <a:extLst xmlns:a="http://schemas.openxmlformats.org/drawingml/2006/main">
              <a:ext uri="{FF2B5EF4-FFF2-40B4-BE49-F238E27FC236}">
                <a16:creationId xmlns:a16="http://schemas.microsoft.com/office/drawing/2014/main" id="{5512005D-E7A1-49F2-A1D9-231F878B0F7F}"/>
              </a:ext>
            </a:extLst>
          </p:cNvPr>
          <p:cNvSpPr>
            <a:spLocks xmlns:a="http://schemas.openxmlformats.org/drawingml/2006/main" noGrp="1"/>
          </p:cNvSpPr>
          <p:nvPr/>
        </p:nvSpPr>
        <p:spPr>
          <a:xfrm xmlns:a="http://schemas.openxmlformats.org/drawingml/2006/main">
            <a:off x="7839075" y="509587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자동 처방 아님 · 담당자 채택·보류·직접 검토</a:t>
            </a:r>
          </a:p>
        </p:txBody>
      </p:sp>
      <p:sp>
        <p:nvSpPr>
          <p:cNvPr id="30" name="">
            <a:extLst xmlns:a="http://schemas.openxmlformats.org/drawingml/2006/main">
              <a:ext uri="{FF2B5EF4-FFF2-40B4-BE49-F238E27FC236}">
                <a16:creationId xmlns:a16="http://schemas.microsoft.com/office/drawing/2014/main" id="{2357715D-A7AC-4268-AB95-5EF1BED53CFD}"/>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src/retention_strategy.py · docs/streamlit_insight_redesign_prompt.md</a:t>
            </a:r>
          </a:p>
        </p:txBody>
      </p:sp>
    </p:spTree>
    <p:extLst>
      <p:ext uri="{BB962C8B-B14F-4D97-AF65-F5344CB8AC3E}">
        <p14:creationId xmlns:p14="http://schemas.microsoft.com/office/powerpoint/2010/main" val="6393977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E4CB304-EBF5-4A0B-B7CB-DE6A99558B7A}"/>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FEATURE EXPERIMENTS</a:t>
            </a:r>
          </a:p>
        </p:txBody>
      </p:sp>
      <p:sp>
        <p:nvSpPr>
          <p:cNvPr id="2" name="">
            <a:extLst xmlns:a="http://schemas.openxmlformats.org/drawingml/2006/main">
              <a:ext uri="{FF2B5EF4-FFF2-40B4-BE49-F238E27FC236}">
                <a16:creationId xmlns:a16="http://schemas.microsoft.com/office/drawing/2014/main" id="{12ECDD18-1695-4595-A900-200283B39687}"/>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인사이트 기반 전처리는 채택과 제외를 함께 기록했습니다</a:t>
            </a:r>
          </a:p>
        </p:txBody>
      </p:sp>
      <p:sp>
        <p:nvSpPr>
          <p:cNvPr id="3" name="">
            <a:extLst xmlns:a="http://schemas.openxmlformats.org/drawingml/2006/main">
              <a:ext uri="{FF2B5EF4-FFF2-40B4-BE49-F238E27FC236}">
                <a16:creationId xmlns:a16="http://schemas.microsoft.com/office/drawing/2014/main" id="{0252670B-8724-494E-B6FC-FFFF92BF151D}"/>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같은 OOF 조건에서 개선된 로그 변환만 채택하고 미개선 가설은 제외했다</a:t>
            </a:r>
          </a:p>
        </p:txBody>
      </p:sp>
      <p:sp>
        <p:nvSpPr>
          <p:cNvPr id="4" name="">
            <a:extLst xmlns:a="http://schemas.openxmlformats.org/drawingml/2006/main">
              <a:ext uri="{FF2B5EF4-FFF2-40B4-BE49-F238E27FC236}">
                <a16:creationId xmlns:a16="http://schemas.microsoft.com/office/drawing/2014/main" id="{68FF0D9A-23FA-4016-9310-938AF433AB94}"/>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43FDA47A-43E7-43A7-B1E3-4203EA0EBE9E}"/>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6F409956-6FC7-422F-B01D-04A94641A32A}"/>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05</a:t>
            </a:r>
          </a:p>
        </p:txBody>
      </p:sp>
      <p:sp>
        <p:nvSpPr>
          <p:cNvPr id="7" name="">
            <a:extLst xmlns:a="http://schemas.openxmlformats.org/drawingml/2006/main">
              <a:ext uri="{FF2B5EF4-FFF2-40B4-BE49-F238E27FC236}">
                <a16:creationId xmlns:a16="http://schemas.microsoft.com/office/drawing/2014/main" id="{45162910-0F6E-4E7B-8767-BE7FAD103B1E}"/>
              </a:ext>
            </a:extLst>
          </p:cNvPr>
          <p:cNvSpPr>
            <a:spLocks xmlns:a="http://schemas.openxmlformats.org/drawingml/2006/main" noGrp="1"/>
          </p:cNvSpPr>
          <p:nvPr/>
        </p:nvSpPr>
        <p:spPr>
          <a:xfrm xmlns:a="http://schemas.openxmlformats.org/drawingml/2006/main">
            <a:off x="533400" y="1790700"/>
            <a:ext cx="7239000" cy="3810000"/>
          </a:xfrm>
          <a:prstGeom xmlns:a="http://schemas.openxmlformats.org/drawingml/2006/main" prst="roundRect">
            <a:avLst>
              <a:gd name="adj" fmla="val 2000"/>
            </a:avLst>
          </a:prstGeom>
          <a:solidFill xmlns:a="http://schemas.openxmlformats.org/drawingml/2006/main">
            <a:srgbClr val="FBFCFD"/>
          </a:solidFill>
          <a:ln xmlns:a="http://schemas.openxmlformats.org/drawingml/2006/main" w="9525">
            <a:solidFill>
              <a:srgbClr val="D9E1E6"/>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0cd0bd737d94c33"/>
          <a:stretch xmlns:a="http://schemas.openxmlformats.org/drawingml/2006/main"/>
        </p:blipFill>
        <p:spPr>
          <a:xfrm xmlns:a="http://schemas.openxmlformats.org/drawingml/2006/main">
            <a:off x="671439" y="1866900"/>
            <a:ext cx="6962922" cy="3657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D2C8BF6-793D-40D7-8DEC-CBDB2C85CB58}"/>
              </a:ext>
            </a:extLst>
          </p:cNvPr>
          <p:cNvSpPr>
            <a:spLocks xmlns:a="http://schemas.openxmlformats.org/drawingml/2006/main" noGrp="1"/>
          </p:cNvSpPr>
          <p:nvPr/>
        </p:nvSpPr>
        <p:spPr>
          <a:xfrm xmlns:a="http://schemas.openxmlformats.org/drawingml/2006/main">
            <a:off x="8096250" y="1952625"/>
            <a:ext cx="3562350" cy="1428750"/>
          </a:xfrm>
          <a:prstGeom xmlns:a="http://schemas.openxmlformats.org/drawingml/2006/main" prst="roundRect">
            <a:avLst>
              <a:gd name="adj" fmla="val 5333"/>
            </a:avLst>
          </a:prstGeom>
          <a:solidFill xmlns:a="http://schemas.openxmlformats.org/drawingml/2006/main">
            <a:srgbClr val="EDF7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E35C4B-3FD3-45E7-8329-D78B33F754BA}"/>
              </a:ext>
            </a:extLst>
          </p:cNvPr>
          <p:cNvSpPr>
            <a:spLocks xmlns:a="http://schemas.openxmlformats.org/drawingml/2006/main" noGrp="1"/>
          </p:cNvSpPr>
          <p:nvPr/>
        </p:nvSpPr>
        <p:spPr>
          <a:xfrm xmlns:a="http://schemas.openxmlformats.org/drawingml/2006/main">
            <a:off x="8362950" y="21526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8847A"/>
                </a:solidFill>
                <a:latin typeface="Malgun Gothic"/>
                <a:ea typeface="Malgun Gothic"/>
                <a:cs typeface="Malgun Gothic"/>
              </a:defRPr>
            </a:pPr>
            <a:r>
              <a:rPr sz="1200" b="1">
                <a:solidFill>
                  <a:srgbClr val="18847A"/>
                </a:solidFill>
                <a:latin typeface="Malgun Gothic"/>
                <a:ea typeface="Malgun Gothic"/>
                <a:cs typeface="Malgun Gothic"/>
              </a:rPr>
              <a:t>채택</a:t>
            </a:r>
          </a:p>
        </p:txBody>
      </p:sp>
      <p:sp>
        <p:nvSpPr>
          <p:cNvPr id="11" name="">
            <a:extLst xmlns:a="http://schemas.openxmlformats.org/drawingml/2006/main">
              <a:ext uri="{FF2B5EF4-FFF2-40B4-BE49-F238E27FC236}">
                <a16:creationId xmlns:a16="http://schemas.microsoft.com/office/drawing/2014/main" id="{D0FC1E13-D9AC-449A-935A-74C0319E6F0E}"/>
              </a:ext>
            </a:extLst>
          </p:cNvPr>
          <p:cNvSpPr>
            <a:spLocks xmlns:a="http://schemas.openxmlformats.org/drawingml/2006/main" noGrp="1"/>
          </p:cNvSpPr>
          <p:nvPr/>
        </p:nvSpPr>
        <p:spPr>
          <a:xfrm xmlns:a="http://schemas.openxmlformats.org/drawingml/2006/main">
            <a:off x="8362950" y="252412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log_numeric</a:t>
            </a:r>
          </a:p>
        </p:txBody>
      </p:sp>
      <p:sp>
        <p:nvSpPr>
          <p:cNvPr id="12" name="">
            <a:extLst xmlns:a="http://schemas.openxmlformats.org/drawingml/2006/main">
              <a:ext uri="{FF2B5EF4-FFF2-40B4-BE49-F238E27FC236}">
                <a16:creationId xmlns:a16="http://schemas.microsoft.com/office/drawing/2014/main" id="{82F1EDB7-0A5D-4AF2-97AD-095490EB0939}"/>
              </a:ext>
            </a:extLst>
          </p:cNvPr>
          <p:cNvSpPr>
            <a:spLocks xmlns:a="http://schemas.openxmlformats.org/drawingml/2006/main" noGrp="1"/>
          </p:cNvSpPr>
          <p:nvPr/>
        </p:nvSpPr>
        <p:spPr>
          <a:xfrm xmlns:a="http://schemas.openxmlformats.org/drawingml/2006/main">
            <a:off x="8362950" y="29241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Logistic PR-AUC</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0.899495 → 0.906293</a:t>
            </a:r>
          </a:p>
        </p:txBody>
      </p:sp>
      <p:sp>
        <p:nvSpPr>
          <p:cNvPr id="13" name="">
            <a:extLst xmlns:a="http://schemas.openxmlformats.org/drawingml/2006/main">
              <a:ext uri="{FF2B5EF4-FFF2-40B4-BE49-F238E27FC236}">
                <a16:creationId xmlns:a16="http://schemas.microsoft.com/office/drawing/2014/main" id="{5BB4D25D-B7F0-47D2-9B3A-A048F87572B2}"/>
              </a:ext>
            </a:extLst>
          </p:cNvPr>
          <p:cNvSpPr>
            <a:spLocks xmlns:a="http://schemas.openxmlformats.org/drawingml/2006/main" noGrp="1"/>
          </p:cNvSpPr>
          <p:nvPr/>
        </p:nvSpPr>
        <p:spPr>
          <a:xfrm xmlns:a="http://schemas.openxmlformats.org/drawingml/2006/main">
            <a:off x="8096250" y="3571875"/>
            <a:ext cx="3562350" cy="2028825"/>
          </a:xfrm>
          <a:prstGeom xmlns:a="http://schemas.openxmlformats.org/drawingml/2006/main" prst="roundRect">
            <a:avLst>
              <a:gd name="adj" fmla="val 3756"/>
            </a:avLst>
          </a:prstGeom>
          <a:solidFill xmlns:a="http://schemas.openxmlformats.org/drawingml/2006/main">
            <a:srgbClr val="FFF3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A4AA2B-1510-448C-95E3-8AC9F5E1F89C}"/>
              </a:ext>
            </a:extLst>
          </p:cNvPr>
          <p:cNvSpPr>
            <a:spLocks xmlns:a="http://schemas.openxmlformats.org/drawingml/2006/main" noGrp="1"/>
          </p:cNvSpPr>
          <p:nvPr/>
        </p:nvSpPr>
        <p:spPr>
          <a:xfrm xmlns:a="http://schemas.openxmlformats.org/drawingml/2006/main">
            <a:off x="8362950" y="3781425"/>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E85E43"/>
                </a:solidFill>
                <a:latin typeface="Malgun Gothic"/>
                <a:ea typeface="Malgun Gothic"/>
                <a:cs typeface="Malgun Gothic"/>
              </a:defRPr>
            </a:pPr>
            <a:r>
              <a:rPr sz="1200" b="1">
                <a:solidFill>
                  <a:srgbClr val="E85E43"/>
                </a:solidFill>
                <a:latin typeface="Malgun Gothic"/>
                <a:ea typeface="Malgun Gothic"/>
                <a:cs typeface="Malgun Gothic"/>
              </a:rPr>
              <a:t>제외</a:t>
            </a:r>
          </a:p>
        </p:txBody>
      </p:sp>
      <p:sp>
        <p:nvSpPr>
          <p:cNvPr id="15" name="">
            <a:extLst xmlns:a="http://schemas.openxmlformats.org/drawingml/2006/main">
              <a:ext uri="{FF2B5EF4-FFF2-40B4-BE49-F238E27FC236}">
                <a16:creationId xmlns:a16="http://schemas.microsoft.com/office/drawing/2014/main" id="{34A9DD89-8C5E-4EDA-BF3B-8CCC4BF455DC}"/>
              </a:ext>
            </a:extLst>
          </p:cNvPr>
          <p:cNvSpPr>
            <a:spLocks xmlns:a="http://schemas.openxmlformats.org/drawingml/2006/main" noGrp="1"/>
          </p:cNvSpPr>
          <p:nvPr/>
        </p:nvSpPr>
        <p:spPr>
          <a:xfrm xmlns:a="http://schemas.openxmlformats.org/drawingml/2006/main">
            <a:off x="8362950" y="4152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212B"/>
                </a:solidFill>
                <a:latin typeface="Malgun Gothic"/>
                <a:ea typeface="Malgun Gothic"/>
                <a:cs typeface="Malgun Gothic"/>
              </a:defRPr>
            </a:pPr>
            <a:r>
              <a:rPr sz="1500" b="1">
                <a:solidFill>
                  <a:srgbClr val="17212B"/>
                </a:solidFill>
                <a:latin typeface="Malgun Gothic"/>
                <a:ea typeface="Malgun Gothic"/>
                <a:cs typeface="Malgun Gothic"/>
              </a:rPr>
              <a:t>비율 · 상호작용 · 신호 축소</a:t>
            </a:r>
          </a:p>
        </p:txBody>
      </p:sp>
      <p:sp>
        <p:nvSpPr>
          <p:cNvPr id="16" name="">
            <a:extLst xmlns:a="http://schemas.openxmlformats.org/drawingml/2006/main">
              <a:ext uri="{FF2B5EF4-FFF2-40B4-BE49-F238E27FC236}">
                <a16:creationId xmlns:a16="http://schemas.microsoft.com/office/drawing/2014/main" id="{67E600EB-DA00-42FF-8948-E222A1FD3DFB}"/>
              </a:ext>
            </a:extLst>
          </p:cNvPr>
          <p:cNvSpPr>
            <a:spLocks xmlns:a="http://schemas.openxmlformats.org/drawingml/2006/main" noGrp="1"/>
          </p:cNvSpPr>
          <p:nvPr/>
        </p:nvSpPr>
        <p:spPr>
          <a:xfrm xmlns:a="http://schemas.openxmlformats.org/drawingml/2006/main">
            <a:off x="8362950" y="46291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60707E"/>
                </a:solidFill>
                <a:latin typeface="Malgun Gothic"/>
                <a:ea typeface="Malgun Gothic"/>
                <a:cs typeface="Malgun Gothic"/>
              </a:defRPr>
            </a:pPr>
            <a:r>
              <a:rPr sz="1125" b="0">
                <a:solidFill>
                  <a:srgbClr val="60707E"/>
                </a:solidFill>
                <a:latin typeface="Malgun Gothic"/>
                <a:ea typeface="Malgun Gothic"/>
                <a:cs typeface="Malgun Gothic"/>
              </a:rPr>
              <a:t>개선이 없거나 미미함</a:t>
            </a:r>
          </a:p>
          <a:p xmlns:a="http://schemas.openxmlformats.org/drawingml/2006/main">
            <a:pPr algn="l">
              <a:buNone/>
              <a:defRPr sz="1125" b="0">
                <a:solidFill>
                  <a:srgbClr val="60707E"/>
                </a:solidFill>
                <a:latin typeface="Malgun Gothic"/>
                <a:ea typeface="Malgun Gothic"/>
                <a:cs typeface="Malgun Gothic"/>
              </a:defRPr>
            </a:pPr>
            <a:r>
              <a:rPr sz="1125" b="0">
                <a:solidFill>
                  <a:srgbClr val="60707E"/>
                </a:solidFill>
                <a:latin typeface="Malgun Gothic"/>
                <a:ea typeface="Malgun Gothic"/>
                <a:cs typeface="Malgun Gothic"/>
              </a:rPr>
              <a:t>CatBoost raw 대비 log 효과도 +0.000089</a:t>
            </a:r>
          </a:p>
        </p:txBody>
      </p:sp>
      <p:sp>
        <p:nvSpPr>
          <p:cNvPr id="17" name="">
            <a:extLst xmlns:a="http://schemas.openxmlformats.org/drawingml/2006/main">
              <a:ext uri="{FF2B5EF4-FFF2-40B4-BE49-F238E27FC236}">
                <a16:creationId xmlns:a16="http://schemas.microsoft.com/office/drawing/2014/main" id="{4C335AE3-51CA-4984-B626-BD380EE4C569}"/>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preprocessing_experiment_results.csv · tree_feature_validation.csv</a:t>
            </a:r>
          </a:p>
        </p:txBody>
      </p:sp>
    </p:spTree>
    <p:extLst>
      <p:ext uri="{BB962C8B-B14F-4D97-AF65-F5344CB8AC3E}">
        <p14:creationId xmlns:p14="http://schemas.microsoft.com/office/powerpoint/2010/main" val="9287717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5FFE7D4-0EE8-48A5-85AC-9D42C2C0FEBF}"/>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VALIDATION DESIGN</a:t>
            </a:r>
          </a:p>
        </p:txBody>
      </p:sp>
      <p:sp>
        <p:nvSpPr>
          <p:cNvPr id="2" name="">
            <a:extLst xmlns:a="http://schemas.openxmlformats.org/drawingml/2006/main">
              <a:ext uri="{FF2B5EF4-FFF2-40B4-BE49-F238E27FC236}">
                <a16:creationId xmlns:a16="http://schemas.microsoft.com/office/drawing/2014/main" id="{CBFCB8B4-398E-4158-8CB2-B38850B6EF1B}"/>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비교보다 먼저 누수를 막는 검증 규칙을 고정했습니다</a:t>
            </a:r>
          </a:p>
        </p:txBody>
      </p:sp>
      <p:sp>
        <p:nvSpPr>
          <p:cNvPr id="3" name="">
            <a:extLst xmlns:a="http://schemas.openxmlformats.org/drawingml/2006/main">
              <a:ext uri="{FF2B5EF4-FFF2-40B4-BE49-F238E27FC236}">
                <a16:creationId xmlns:a16="http://schemas.microsoft.com/office/drawing/2014/main" id="{0972F025-3118-46DF-9553-1FCF499AA83E}"/>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같은 피처 · 고정 5-Fold · Fold 내부 Pipeline · OOF 다중 지표</a:t>
            </a:r>
          </a:p>
        </p:txBody>
      </p:sp>
      <p:sp>
        <p:nvSpPr>
          <p:cNvPr id="4" name="">
            <a:extLst xmlns:a="http://schemas.openxmlformats.org/drawingml/2006/main">
              <a:ext uri="{FF2B5EF4-FFF2-40B4-BE49-F238E27FC236}">
                <a16:creationId xmlns:a16="http://schemas.microsoft.com/office/drawing/2014/main" id="{E5CF74B8-9D19-49D0-85D8-97FD16718D68}"/>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DB29AC3C-4A7E-44E2-9CA9-FECDC2D938F1}"/>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AC6940F9-7C73-4795-A51C-976ADC0464EE}"/>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06</a:t>
            </a:r>
          </a:p>
        </p:txBody>
      </p:sp>
      <p:sp>
        <p:nvSpPr>
          <p:cNvPr id="7" name="">
            <a:extLst xmlns:a="http://schemas.openxmlformats.org/drawingml/2006/main">
              <a:ext uri="{FF2B5EF4-FFF2-40B4-BE49-F238E27FC236}">
                <a16:creationId xmlns:a16="http://schemas.microsoft.com/office/drawing/2014/main" id="{63CC4698-674D-4EBA-A801-0FF5C716D541}"/>
              </a:ext>
            </a:extLst>
          </p:cNvPr>
          <p:cNvSpPr>
            <a:spLocks xmlns:a="http://schemas.openxmlformats.org/drawingml/2006/main" noGrp="1"/>
          </p:cNvSpPr>
          <p:nvPr/>
        </p:nvSpPr>
        <p:spPr>
          <a:xfrm xmlns:a="http://schemas.openxmlformats.org/drawingml/2006/main">
            <a:off x="533400" y="1771650"/>
            <a:ext cx="7620000" cy="4019550"/>
          </a:xfrm>
          <a:prstGeom xmlns:a="http://schemas.openxmlformats.org/drawingml/2006/main" prst="roundRect">
            <a:avLst>
              <a:gd name="adj" fmla="val 1896"/>
            </a:avLst>
          </a:prstGeom>
          <a:solidFill xmlns:a="http://schemas.openxmlformats.org/drawingml/2006/main">
            <a:srgbClr val="FBFCFD"/>
          </a:solidFill>
          <a:ln xmlns:a="http://schemas.openxmlformats.org/drawingml/2006/main" w="9525">
            <a:solidFill>
              <a:srgbClr val="D9E1E6"/>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ae2bd19c14c484d"/>
          <a:stretch xmlns:a="http://schemas.openxmlformats.org/drawingml/2006/main"/>
        </p:blipFill>
        <p:spPr>
          <a:xfrm xmlns:a="http://schemas.openxmlformats.org/drawingml/2006/main">
            <a:off x="666852" y="1847850"/>
            <a:ext cx="7353096" cy="3867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26F7C06-3C73-42DC-BCD2-627186222162}"/>
              </a:ext>
            </a:extLst>
          </p:cNvPr>
          <p:cNvSpPr>
            <a:spLocks xmlns:a="http://schemas.openxmlformats.org/drawingml/2006/main" noGrp="1"/>
          </p:cNvSpPr>
          <p:nvPr/>
        </p:nvSpPr>
        <p:spPr>
          <a:xfrm xmlns:a="http://schemas.openxmlformats.org/drawingml/2006/main">
            <a:off x="8477250" y="1933575"/>
            <a:ext cx="3181350" cy="971550"/>
          </a:xfrm>
          <a:prstGeom xmlns:a="http://schemas.openxmlformats.org/drawingml/2006/main" prst="roundRect">
            <a:avLst>
              <a:gd name="adj" fmla="val 7843"/>
            </a:avLst>
          </a:prstGeom>
          <a:solidFill xmlns:a="http://schemas.openxmlformats.org/drawingml/2006/main">
            <a:srgbClr val="F3F6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EE6ECB-9356-4068-A4DB-7F46FFB1C4F2}"/>
              </a:ext>
            </a:extLst>
          </p:cNvPr>
          <p:cNvSpPr>
            <a:spLocks xmlns:a="http://schemas.openxmlformats.org/drawingml/2006/main" noGrp="1"/>
          </p:cNvSpPr>
          <p:nvPr/>
        </p:nvSpPr>
        <p:spPr>
          <a:xfrm xmlns:a="http://schemas.openxmlformats.org/drawingml/2006/main">
            <a:off x="8705850" y="2114550"/>
            <a:ext cx="43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85E43"/>
                </a:solidFill>
                <a:latin typeface="Malgun Gothic"/>
                <a:ea typeface="Malgun Gothic"/>
                <a:cs typeface="Malgun Gothic"/>
              </a:defRPr>
            </a:pPr>
            <a:r>
              <a:rPr sz="1500" b="1">
                <a:solidFill>
                  <a:srgbClr val="E85E43"/>
                </a:solidFill>
                <a:latin typeface="Malgun Gothic"/>
                <a:ea typeface="Malgun Gothic"/>
                <a:cs typeface="Malgun Gothic"/>
              </a:rPr>
              <a:t>01</a:t>
            </a:r>
          </a:p>
        </p:txBody>
      </p:sp>
      <p:sp>
        <p:nvSpPr>
          <p:cNvPr id="11" name="">
            <a:extLst xmlns:a="http://schemas.openxmlformats.org/drawingml/2006/main">
              <a:ext uri="{FF2B5EF4-FFF2-40B4-BE49-F238E27FC236}">
                <a16:creationId xmlns:a16="http://schemas.microsoft.com/office/drawing/2014/main" id="{09C31118-5FE5-402C-B4F9-CD85C0D91990}"/>
              </a:ext>
            </a:extLst>
          </p:cNvPr>
          <p:cNvSpPr>
            <a:spLocks xmlns:a="http://schemas.openxmlformats.org/drawingml/2006/main" noGrp="1"/>
          </p:cNvSpPr>
          <p:nvPr/>
        </p:nvSpPr>
        <p:spPr>
          <a:xfrm xmlns:a="http://schemas.openxmlformats.org/drawingml/2006/main">
            <a:off x="9277350" y="2114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동일 log_numeric</a:t>
            </a:r>
          </a:p>
        </p:txBody>
      </p:sp>
      <p:sp>
        <p:nvSpPr>
          <p:cNvPr id="12" name="">
            <a:extLst xmlns:a="http://schemas.openxmlformats.org/drawingml/2006/main">
              <a:ext uri="{FF2B5EF4-FFF2-40B4-BE49-F238E27FC236}">
                <a16:creationId xmlns:a16="http://schemas.microsoft.com/office/drawing/2014/main" id="{7165A9AA-6CFC-4CDA-A4EB-06FC7AB9C401}"/>
              </a:ext>
            </a:extLst>
          </p:cNvPr>
          <p:cNvSpPr>
            <a:spLocks xmlns:a="http://schemas.openxmlformats.org/drawingml/2006/main" noGrp="1"/>
          </p:cNvSpPr>
          <p:nvPr/>
        </p:nvSpPr>
        <p:spPr>
          <a:xfrm xmlns:a="http://schemas.openxmlformats.org/drawingml/2006/main">
            <a:off x="9277350" y="2438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모델만 바꿔 비교</a:t>
            </a:r>
          </a:p>
        </p:txBody>
      </p:sp>
      <p:sp>
        <p:nvSpPr>
          <p:cNvPr id="13" name="">
            <a:extLst xmlns:a="http://schemas.openxmlformats.org/drawingml/2006/main">
              <a:ext uri="{FF2B5EF4-FFF2-40B4-BE49-F238E27FC236}">
                <a16:creationId xmlns:a16="http://schemas.microsoft.com/office/drawing/2014/main" id="{B6C493DD-E3BA-4A80-8AE8-1A285DE54DD6}"/>
              </a:ext>
            </a:extLst>
          </p:cNvPr>
          <p:cNvSpPr>
            <a:spLocks xmlns:a="http://schemas.openxmlformats.org/drawingml/2006/main" noGrp="1"/>
          </p:cNvSpPr>
          <p:nvPr/>
        </p:nvSpPr>
        <p:spPr>
          <a:xfrm xmlns:a="http://schemas.openxmlformats.org/drawingml/2006/main">
            <a:off x="8477250" y="3076575"/>
            <a:ext cx="3181350" cy="971550"/>
          </a:xfrm>
          <a:prstGeom xmlns:a="http://schemas.openxmlformats.org/drawingml/2006/main" prst="roundRect">
            <a:avLst>
              <a:gd name="adj" fmla="val 7843"/>
            </a:avLst>
          </a:prstGeom>
          <a:solidFill xmlns:a="http://schemas.openxmlformats.org/drawingml/2006/main">
            <a:srgbClr val="F3F6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677BED0-8664-4B1F-A546-BF9DFAA0E5E8}"/>
              </a:ext>
            </a:extLst>
          </p:cNvPr>
          <p:cNvSpPr>
            <a:spLocks xmlns:a="http://schemas.openxmlformats.org/drawingml/2006/main" noGrp="1"/>
          </p:cNvSpPr>
          <p:nvPr/>
        </p:nvSpPr>
        <p:spPr>
          <a:xfrm xmlns:a="http://schemas.openxmlformats.org/drawingml/2006/main">
            <a:off x="8705850" y="3257550"/>
            <a:ext cx="43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85E43"/>
                </a:solidFill>
                <a:latin typeface="Malgun Gothic"/>
                <a:ea typeface="Malgun Gothic"/>
                <a:cs typeface="Malgun Gothic"/>
              </a:defRPr>
            </a:pPr>
            <a:r>
              <a:rPr sz="1500" b="1">
                <a:solidFill>
                  <a:srgbClr val="E85E43"/>
                </a:solidFill>
                <a:latin typeface="Malgun Gothic"/>
                <a:ea typeface="Malgun Gothic"/>
                <a:cs typeface="Malgun Gothic"/>
              </a:rPr>
              <a:t>02</a:t>
            </a:r>
          </a:p>
        </p:txBody>
      </p:sp>
      <p:sp>
        <p:nvSpPr>
          <p:cNvPr id="15" name="">
            <a:extLst xmlns:a="http://schemas.openxmlformats.org/drawingml/2006/main">
              <a:ext uri="{FF2B5EF4-FFF2-40B4-BE49-F238E27FC236}">
                <a16:creationId xmlns:a16="http://schemas.microsoft.com/office/drawing/2014/main" id="{9530F310-A6F9-46C4-B694-E16A27883808}"/>
              </a:ext>
            </a:extLst>
          </p:cNvPr>
          <p:cNvSpPr>
            <a:spLocks xmlns:a="http://schemas.openxmlformats.org/drawingml/2006/main" noGrp="1"/>
          </p:cNvSpPr>
          <p:nvPr/>
        </p:nvSpPr>
        <p:spPr>
          <a:xfrm xmlns:a="http://schemas.openxmlformats.org/drawingml/2006/main">
            <a:off x="9277350" y="3257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Stratified 5-Fold</a:t>
            </a:r>
          </a:p>
        </p:txBody>
      </p:sp>
      <p:sp>
        <p:nvSpPr>
          <p:cNvPr id="16" name="">
            <a:extLst xmlns:a="http://schemas.openxmlformats.org/drawingml/2006/main">
              <a:ext uri="{FF2B5EF4-FFF2-40B4-BE49-F238E27FC236}">
                <a16:creationId xmlns:a16="http://schemas.microsoft.com/office/drawing/2014/main" id="{DEAB817C-4266-4DC6-94BC-9663B276DD6B}"/>
              </a:ext>
            </a:extLst>
          </p:cNvPr>
          <p:cNvSpPr>
            <a:spLocks xmlns:a="http://schemas.openxmlformats.org/drawingml/2006/main" noGrp="1"/>
          </p:cNvSpPr>
          <p:nvPr/>
        </p:nvSpPr>
        <p:spPr>
          <a:xfrm xmlns:a="http://schemas.openxmlformats.org/drawingml/2006/main">
            <a:off x="9277350" y="3581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random_state=42</a:t>
            </a:r>
          </a:p>
        </p:txBody>
      </p:sp>
      <p:sp>
        <p:nvSpPr>
          <p:cNvPr id="17" name="">
            <a:extLst xmlns:a="http://schemas.openxmlformats.org/drawingml/2006/main">
              <a:ext uri="{FF2B5EF4-FFF2-40B4-BE49-F238E27FC236}">
                <a16:creationId xmlns:a16="http://schemas.microsoft.com/office/drawing/2014/main" id="{33F3B605-65DC-43F3-BA41-6A7926AC4109}"/>
              </a:ext>
            </a:extLst>
          </p:cNvPr>
          <p:cNvSpPr>
            <a:spLocks xmlns:a="http://schemas.openxmlformats.org/drawingml/2006/main" noGrp="1"/>
          </p:cNvSpPr>
          <p:nvPr/>
        </p:nvSpPr>
        <p:spPr>
          <a:xfrm xmlns:a="http://schemas.openxmlformats.org/drawingml/2006/main">
            <a:off x="8477250" y="4219575"/>
            <a:ext cx="3181350" cy="971550"/>
          </a:xfrm>
          <a:prstGeom xmlns:a="http://schemas.openxmlformats.org/drawingml/2006/main" prst="roundRect">
            <a:avLst>
              <a:gd name="adj" fmla="val 7843"/>
            </a:avLst>
          </a:prstGeom>
          <a:solidFill xmlns:a="http://schemas.openxmlformats.org/drawingml/2006/main">
            <a:srgbClr val="F3F6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F7ACAF-ED89-4962-B8A6-43F76E2DBAF4}"/>
              </a:ext>
            </a:extLst>
          </p:cNvPr>
          <p:cNvSpPr>
            <a:spLocks xmlns:a="http://schemas.openxmlformats.org/drawingml/2006/main" noGrp="1"/>
          </p:cNvSpPr>
          <p:nvPr/>
        </p:nvSpPr>
        <p:spPr>
          <a:xfrm xmlns:a="http://schemas.openxmlformats.org/drawingml/2006/main">
            <a:off x="8705850" y="4400550"/>
            <a:ext cx="43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85E43"/>
                </a:solidFill>
                <a:latin typeface="Malgun Gothic"/>
                <a:ea typeface="Malgun Gothic"/>
                <a:cs typeface="Malgun Gothic"/>
              </a:defRPr>
            </a:pPr>
            <a:r>
              <a:rPr sz="1500" b="1">
                <a:solidFill>
                  <a:srgbClr val="E85E43"/>
                </a:solidFill>
                <a:latin typeface="Malgun Gothic"/>
                <a:ea typeface="Malgun Gothic"/>
                <a:cs typeface="Malgun Gothic"/>
              </a:rPr>
              <a:t>03</a:t>
            </a:r>
          </a:p>
        </p:txBody>
      </p:sp>
      <p:sp>
        <p:nvSpPr>
          <p:cNvPr id="19" name="">
            <a:extLst xmlns:a="http://schemas.openxmlformats.org/drawingml/2006/main">
              <a:ext uri="{FF2B5EF4-FFF2-40B4-BE49-F238E27FC236}">
                <a16:creationId xmlns:a16="http://schemas.microsoft.com/office/drawing/2014/main" id="{AA8E13EC-56F5-41CB-9065-382E2B684D85}"/>
              </a:ext>
            </a:extLst>
          </p:cNvPr>
          <p:cNvSpPr>
            <a:spLocks xmlns:a="http://schemas.openxmlformats.org/drawingml/2006/main" noGrp="1"/>
          </p:cNvSpPr>
          <p:nvPr/>
        </p:nvSpPr>
        <p:spPr>
          <a:xfrm xmlns:a="http://schemas.openxmlformats.org/drawingml/2006/main">
            <a:off x="9277350" y="4400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Pipeline 내부 Fit</a:t>
            </a:r>
          </a:p>
        </p:txBody>
      </p:sp>
      <p:sp>
        <p:nvSpPr>
          <p:cNvPr id="20" name="">
            <a:extLst xmlns:a="http://schemas.openxmlformats.org/drawingml/2006/main">
              <a:ext uri="{FF2B5EF4-FFF2-40B4-BE49-F238E27FC236}">
                <a16:creationId xmlns:a16="http://schemas.microsoft.com/office/drawing/2014/main" id="{7EFB2144-018F-4A28-83B0-AF5E17AAE95F}"/>
              </a:ext>
            </a:extLst>
          </p:cNvPr>
          <p:cNvSpPr>
            <a:spLocks xmlns:a="http://schemas.openxmlformats.org/drawingml/2006/main" noGrp="1"/>
          </p:cNvSpPr>
          <p:nvPr/>
        </p:nvSpPr>
        <p:spPr>
          <a:xfrm xmlns:a="http://schemas.openxmlformats.org/drawingml/2006/main">
            <a:off x="9277350" y="4724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Target 기반 인코딩 없음</a:t>
            </a:r>
          </a:p>
        </p:txBody>
      </p:sp>
      <p:sp>
        <p:nvSpPr>
          <p:cNvPr id="21" name="">
            <a:extLst xmlns:a="http://schemas.openxmlformats.org/drawingml/2006/main">
              <a:ext uri="{FF2B5EF4-FFF2-40B4-BE49-F238E27FC236}">
                <a16:creationId xmlns:a16="http://schemas.microsoft.com/office/drawing/2014/main" id="{BD097562-CC73-4088-A3D0-4DDAAAA8A897}"/>
              </a:ext>
            </a:extLst>
          </p:cNvPr>
          <p:cNvSpPr>
            <a:spLocks xmlns:a="http://schemas.openxmlformats.org/drawingml/2006/main" noGrp="1"/>
          </p:cNvSpPr>
          <p:nvPr/>
        </p:nvSpPr>
        <p:spPr>
          <a:xfrm xmlns:a="http://schemas.openxmlformats.org/drawingml/2006/main">
            <a:off x="533400" y="58578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354B"/>
                </a:solidFill>
                <a:latin typeface="Malgun Gothic"/>
                <a:ea typeface="Malgun Gothic"/>
                <a:cs typeface="Malgun Gothic"/>
              </a:defRPr>
            </a:pPr>
            <a:r>
              <a:rPr sz="1275" b="1">
                <a:solidFill>
                  <a:srgbClr val="17354B"/>
                </a:solidFill>
                <a:latin typeface="Malgun Gothic"/>
                <a:ea typeface="Malgun Gothic"/>
                <a:cs typeface="Malgun Gothic"/>
              </a:rPr>
              <a:t>Dummy 0.5134  →  Raw Logistic 0.8995  →  Log Logistic 0.9063  →  CatBoost OOF 0.9479</a:t>
            </a:r>
          </a:p>
        </p:txBody>
      </p:sp>
      <p:sp>
        <p:nvSpPr>
          <p:cNvPr id="22" name="">
            <a:extLst xmlns:a="http://schemas.openxmlformats.org/drawingml/2006/main">
              <a:ext uri="{FF2B5EF4-FFF2-40B4-BE49-F238E27FC236}">
                <a16:creationId xmlns:a16="http://schemas.microsoft.com/office/drawing/2014/main" id="{B7AC7DDE-F96A-42E5-A8BB-7F4B318EDBE4}"/>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01_performance_progression.csv · model_comparison_fair.csv · validation_plan.md</a:t>
            </a:r>
          </a:p>
        </p:txBody>
      </p:sp>
    </p:spTree>
    <p:extLst>
      <p:ext uri="{BB962C8B-B14F-4D97-AF65-F5344CB8AC3E}">
        <p14:creationId xmlns:p14="http://schemas.microsoft.com/office/powerpoint/2010/main" val="5207894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DC8075-9726-4AFB-9806-55E6CF68F550}"/>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PERFORMANCE JOURNEY</a:t>
            </a:r>
          </a:p>
        </p:txBody>
      </p:sp>
      <p:sp>
        <p:nvSpPr>
          <p:cNvPr id="2" name="">
            <a:extLst xmlns:a="http://schemas.openxmlformats.org/drawingml/2006/main">
              <a:ext uri="{FF2B5EF4-FFF2-40B4-BE49-F238E27FC236}">
                <a16:creationId xmlns:a16="http://schemas.microsoft.com/office/drawing/2014/main" id="{18065BA0-C495-48A9-9BC1-0811D4D7DC28}"/>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성능 향상은 단계별 검증과 제외 결정의 결과였습니다</a:t>
            </a:r>
          </a:p>
        </p:txBody>
      </p:sp>
      <p:sp>
        <p:nvSpPr>
          <p:cNvPr id="3" name="">
            <a:extLst xmlns:a="http://schemas.openxmlformats.org/drawingml/2006/main">
              <a:ext uri="{FF2B5EF4-FFF2-40B4-BE49-F238E27FC236}">
                <a16:creationId xmlns:a16="http://schemas.microsoft.com/office/drawing/2014/main" id="{ADA1F077-FDEF-43F2-A43A-71A1856E5526}"/>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Baseline부터 최종 후보까지 직전 변화와 누적 변화를 같은 OOF 기준으로 추적했다</a:t>
            </a:r>
          </a:p>
        </p:txBody>
      </p:sp>
      <p:sp>
        <p:nvSpPr>
          <p:cNvPr id="4" name="">
            <a:extLst xmlns:a="http://schemas.openxmlformats.org/drawingml/2006/main">
              <a:ext uri="{FF2B5EF4-FFF2-40B4-BE49-F238E27FC236}">
                <a16:creationId xmlns:a16="http://schemas.microsoft.com/office/drawing/2014/main" id="{015F3611-3A9E-4D4B-8471-EF7CC50A8062}"/>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CD5987BE-7C35-4B69-B273-D9D4E39B2176}"/>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38EBFFBE-7C0F-4330-9288-C581B227B636}"/>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08</a:t>
            </a:r>
          </a:p>
        </p:txBody>
      </p:sp>
      <p:sp>
        <p:nvSpPr>
          <p:cNvPr id="7" name="">
            <a:extLst xmlns:a="http://schemas.openxmlformats.org/drawingml/2006/main">
              <a:ext uri="{FF2B5EF4-FFF2-40B4-BE49-F238E27FC236}">
                <a16:creationId xmlns:a16="http://schemas.microsoft.com/office/drawing/2014/main" id="{40A968A4-F257-4BC9-B2BA-4316F5D5F918}"/>
              </a:ext>
            </a:extLst>
          </p:cNvPr>
          <p:cNvSpPr>
            <a:spLocks xmlns:a="http://schemas.openxmlformats.org/drawingml/2006/main" noGrp="1"/>
          </p:cNvSpPr>
          <p:nvPr/>
        </p:nvSpPr>
        <p:spPr>
          <a:xfrm xmlns:a="http://schemas.openxmlformats.org/drawingml/2006/main">
            <a:off x="533400" y="1790700"/>
            <a:ext cx="7524750" cy="3924300"/>
          </a:xfrm>
          <a:prstGeom xmlns:a="http://schemas.openxmlformats.org/drawingml/2006/main" prst="roundRect">
            <a:avLst>
              <a:gd name="adj" fmla="val 1942"/>
            </a:avLst>
          </a:prstGeom>
          <a:solidFill xmlns:a="http://schemas.openxmlformats.org/drawingml/2006/main">
            <a:srgbClr val="FBFCFD"/>
          </a:solidFill>
          <a:ln xmlns:a="http://schemas.openxmlformats.org/drawingml/2006/main" w="9525">
            <a:solidFill>
              <a:srgbClr val="D9E1E6"/>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05e53ae511f4ab5"/>
          <a:srcRect xmlns:a="http://schemas.openxmlformats.org/drawingml/2006/main" l="0" t="0" r="0" b="0"/>
          <a:stretch xmlns:a="http://schemas.openxmlformats.org/drawingml/2006/main"/>
        </p:blipFill>
        <p:spPr>
          <a:xfrm xmlns:a="http://schemas.openxmlformats.org/drawingml/2006/main" flipH="0" flipV="0">
            <a:off x="1052589" y="1866900"/>
            <a:ext cx="6486372" cy="37719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D128C9A-C616-4AA8-8307-19FC66110CFA}"/>
              </a:ext>
            </a:extLst>
          </p:cNvPr>
          <p:cNvSpPr>
            <a:spLocks xmlns:a="http://schemas.openxmlformats.org/drawingml/2006/main" noGrp="1"/>
          </p:cNvSpPr>
          <p:nvPr/>
        </p:nvSpPr>
        <p:spPr>
          <a:xfrm xmlns:a="http://schemas.openxmlformats.org/drawingml/2006/main">
            <a:off x="8382000" y="1952625"/>
            <a:ext cx="3276600" cy="1047750"/>
          </a:xfrm>
          <a:prstGeom xmlns:a="http://schemas.openxmlformats.org/drawingml/2006/main" prst="roundRect">
            <a:avLst>
              <a:gd name="adj" fmla="val 7273"/>
            </a:avLst>
          </a:prstGeom>
          <a:solidFill xmlns:a="http://schemas.openxmlformats.org/drawingml/2006/main">
            <a:srgbClr val="EDF7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2277E5-BB68-4CC7-8F2A-F847C1535762}"/>
              </a:ext>
            </a:extLst>
          </p:cNvPr>
          <p:cNvSpPr>
            <a:spLocks xmlns:a="http://schemas.openxmlformats.org/drawingml/2006/main" noGrp="1"/>
          </p:cNvSpPr>
          <p:nvPr/>
        </p:nvSpPr>
        <p:spPr>
          <a:xfrm xmlns:a="http://schemas.openxmlformats.org/drawingml/2006/main">
            <a:off x="8610600" y="2133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18847A"/>
                </a:solidFill>
                <a:latin typeface="Malgun Gothic"/>
                <a:ea typeface="Malgun Gothic"/>
                <a:cs typeface="Malgun Gothic"/>
              </a:defRPr>
            </a:pPr>
            <a:r>
              <a:rPr sz="1050" b="1">
                <a:solidFill>
                  <a:srgbClr val="18847A"/>
                </a:solidFill>
                <a:latin typeface="Malgun Gothic"/>
                <a:ea typeface="Malgun Gothic"/>
                <a:cs typeface="Malgun Gothic"/>
              </a:rPr>
              <a:t>최초 Baseline</a:t>
            </a:r>
          </a:p>
        </p:txBody>
      </p:sp>
      <p:sp>
        <p:nvSpPr>
          <p:cNvPr id="11" name="">
            <a:extLst xmlns:a="http://schemas.openxmlformats.org/drawingml/2006/main">
              <a:ext uri="{FF2B5EF4-FFF2-40B4-BE49-F238E27FC236}">
                <a16:creationId xmlns:a16="http://schemas.microsoft.com/office/drawing/2014/main" id="{67F30600-C8D5-4F9E-9A36-EA3321EA6430}"/>
              </a:ext>
            </a:extLst>
          </p:cNvPr>
          <p:cNvSpPr>
            <a:spLocks xmlns:a="http://schemas.openxmlformats.org/drawingml/2006/main" noGrp="1"/>
          </p:cNvSpPr>
          <p:nvPr/>
        </p:nvSpPr>
        <p:spPr>
          <a:xfrm xmlns:a="http://schemas.openxmlformats.org/drawingml/2006/main">
            <a:off x="8610600" y="250507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212B"/>
                </a:solidFill>
                <a:latin typeface="Malgun Gothic"/>
                <a:ea typeface="Malgun Gothic"/>
                <a:cs typeface="Malgun Gothic"/>
              </a:defRPr>
            </a:pPr>
            <a:r>
              <a:rPr sz="1425" b="1">
                <a:solidFill>
                  <a:srgbClr val="17212B"/>
                </a:solidFill>
                <a:latin typeface="Malgun Gothic"/>
                <a:ea typeface="Malgun Gothic"/>
                <a:cs typeface="Malgun Gothic"/>
              </a:rPr>
              <a:t>Raw Logistic  0.899495</a:t>
            </a:r>
          </a:p>
        </p:txBody>
      </p:sp>
      <p:sp>
        <p:nvSpPr>
          <p:cNvPr id="12" name="">
            <a:extLst xmlns:a="http://schemas.openxmlformats.org/drawingml/2006/main">
              <a:ext uri="{FF2B5EF4-FFF2-40B4-BE49-F238E27FC236}">
                <a16:creationId xmlns:a16="http://schemas.microsoft.com/office/drawing/2014/main" id="{299D2B4B-1CE6-4A62-BD3F-869869BA249A}"/>
              </a:ext>
            </a:extLst>
          </p:cNvPr>
          <p:cNvSpPr>
            <a:spLocks xmlns:a="http://schemas.openxmlformats.org/drawingml/2006/main" noGrp="1"/>
          </p:cNvSpPr>
          <p:nvPr/>
        </p:nvSpPr>
        <p:spPr>
          <a:xfrm xmlns:a="http://schemas.openxmlformats.org/drawingml/2006/main">
            <a:off x="8382000" y="3190875"/>
            <a:ext cx="3276600" cy="1047750"/>
          </a:xfrm>
          <a:prstGeom xmlns:a="http://schemas.openxmlformats.org/drawingml/2006/main" prst="roundRect">
            <a:avLst>
              <a:gd name="adj" fmla="val 7273"/>
            </a:avLst>
          </a:prstGeom>
          <a:solidFill xmlns:a="http://schemas.openxmlformats.org/drawingml/2006/main">
            <a:srgbClr val="FFF3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35235D-7377-4A57-959C-26E1B7ECAD6D}"/>
              </a:ext>
            </a:extLst>
          </p:cNvPr>
          <p:cNvSpPr>
            <a:spLocks xmlns:a="http://schemas.openxmlformats.org/drawingml/2006/main" noGrp="1"/>
          </p:cNvSpPr>
          <p:nvPr/>
        </p:nvSpPr>
        <p:spPr>
          <a:xfrm xmlns:a="http://schemas.openxmlformats.org/drawingml/2006/main">
            <a:off x="8610600" y="33718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E85E43"/>
                </a:solidFill>
                <a:latin typeface="Malgun Gothic"/>
                <a:ea typeface="Malgun Gothic"/>
                <a:cs typeface="Malgun Gothic"/>
              </a:defRPr>
            </a:pPr>
            <a:r>
              <a:rPr sz="1050" b="1">
                <a:solidFill>
                  <a:srgbClr val="E85E43"/>
                </a:solidFill>
                <a:latin typeface="Malgun Gothic"/>
                <a:ea typeface="Malgun Gothic"/>
                <a:cs typeface="Malgun Gothic"/>
              </a:rPr>
              <a:t>최종 후보</a:t>
            </a:r>
          </a:p>
        </p:txBody>
      </p:sp>
      <p:sp>
        <p:nvSpPr>
          <p:cNvPr id="14" name="">
            <a:extLst xmlns:a="http://schemas.openxmlformats.org/drawingml/2006/main">
              <a:ext uri="{FF2B5EF4-FFF2-40B4-BE49-F238E27FC236}">
                <a16:creationId xmlns:a16="http://schemas.microsoft.com/office/drawing/2014/main" id="{9CAAAC08-1D69-4841-B5C3-5D9A4138D87D}"/>
              </a:ext>
            </a:extLst>
          </p:cNvPr>
          <p:cNvSpPr>
            <a:spLocks xmlns:a="http://schemas.openxmlformats.org/drawingml/2006/main" noGrp="1"/>
          </p:cNvSpPr>
          <p:nvPr/>
        </p:nvSpPr>
        <p:spPr>
          <a:xfrm xmlns:a="http://schemas.openxmlformats.org/drawingml/2006/main">
            <a:off x="8610600" y="374332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CatBoost OOF  0.947897</a:t>
            </a:r>
          </a:p>
        </p:txBody>
      </p:sp>
      <p:sp>
        <p:nvSpPr>
          <p:cNvPr id="15" name="">
            <a:extLst xmlns:a="http://schemas.openxmlformats.org/drawingml/2006/main">
              <a:ext uri="{FF2B5EF4-FFF2-40B4-BE49-F238E27FC236}">
                <a16:creationId xmlns:a16="http://schemas.microsoft.com/office/drawing/2014/main" id="{0B306A6D-9173-4829-844B-4E7C59BD4846}"/>
              </a:ext>
            </a:extLst>
          </p:cNvPr>
          <p:cNvSpPr>
            <a:spLocks xmlns:a="http://schemas.openxmlformats.org/drawingml/2006/main" noGrp="1"/>
          </p:cNvSpPr>
          <p:nvPr/>
        </p:nvSpPr>
        <p:spPr>
          <a:xfrm xmlns:a="http://schemas.openxmlformats.org/drawingml/2006/main">
            <a:off x="8382000" y="4429125"/>
            <a:ext cx="3276600" cy="1285875"/>
          </a:xfrm>
          <a:prstGeom xmlns:a="http://schemas.openxmlformats.org/drawingml/2006/main" prst="roundRect">
            <a:avLst>
              <a:gd name="adj" fmla="val 5926"/>
            </a:avLst>
          </a:prstGeom>
          <a:solidFill xmlns:a="http://schemas.openxmlformats.org/drawingml/2006/main">
            <a:srgbClr val="F3F6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DF6A0D-C554-482A-A523-4D9639955B7D}"/>
              </a:ext>
            </a:extLst>
          </p:cNvPr>
          <p:cNvSpPr>
            <a:spLocks xmlns:a="http://schemas.openxmlformats.org/drawingml/2006/main" noGrp="1"/>
          </p:cNvSpPr>
          <p:nvPr/>
        </p:nvSpPr>
        <p:spPr>
          <a:xfrm xmlns:a="http://schemas.openxmlformats.org/drawingml/2006/main">
            <a:off x="86106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17354B"/>
                </a:solidFill>
                <a:latin typeface="Malgun Gothic"/>
                <a:ea typeface="Malgun Gothic"/>
                <a:cs typeface="Malgun Gothic"/>
              </a:defRPr>
            </a:pPr>
            <a:r>
              <a:rPr sz="1050" b="1">
                <a:solidFill>
                  <a:srgbClr val="17354B"/>
                </a:solidFill>
                <a:latin typeface="Malgun Gothic"/>
                <a:ea typeface="Malgun Gothic"/>
                <a:cs typeface="Malgun Gothic"/>
              </a:rPr>
              <a:t>변화</a:t>
            </a:r>
          </a:p>
        </p:txBody>
      </p:sp>
      <p:sp>
        <p:nvSpPr>
          <p:cNvPr id="17" name="">
            <a:extLst xmlns:a="http://schemas.openxmlformats.org/drawingml/2006/main">
              <a:ext uri="{FF2B5EF4-FFF2-40B4-BE49-F238E27FC236}">
                <a16:creationId xmlns:a16="http://schemas.microsoft.com/office/drawing/2014/main" id="{BE3F5C46-510E-4B95-BD1E-51138A3FAD1C}"/>
              </a:ext>
            </a:extLst>
          </p:cNvPr>
          <p:cNvSpPr>
            <a:spLocks xmlns:a="http://schemas.openxmlformats.org/drawingml/2006/main" noGrp="1"/>
          </p:cNvSpPr>
          <p:nvPr/>
        </p:nvSpPr>
        <p:spPr>
          <a:xfrm xmlns:a="http://schemas.openxmlformats.org/drawingml/2006/main">
            <a:off x="8610600" y="49720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17212B"/>
                </a:solidFill>
                <a:latin typeface="Malgun Gothic"/>
                <a:ea typeface="Malgun Gothic"/>
                <a:cs typeface="Malgun Gothic"/>
              </a:defRPr>
            </a:pPr>
            <a:r>
              <a:rPr sz="1200" b="0">
                <a:solidFill>
                  <a:srgbClr val="17212B"/>
                </a:solidFill>
                <a:latin typeface="Malgun Gothic"/>
                <a:ea typeface="Malgun Gothic"/>
                <a:cs typeface="Malgun Gothic"/>
              </a:rPr>
              <a:t>+0.048402 누적 개선</a:t>
            </a:r>
          </a:p>
          <a:p xmlns:a="http://schemas.openxmlformats.org/drawingml/2006/main">
            <a:pPr algn="l">
              <a:buNone/>
              <a:defRPr sz="1200" b="0">
                <a:solidFill>
                  <a:srgbClr val="17212B"/>
                </a:solidFill>
                <a:latin typeface="Malgun Gothic"/>
                <a:ea typeface="Malgun Gothic"/>
                <a:cs typeface="Malgun Gothic"/>
              </a:defRPr>
            </a:pPr>
            <a:r>
              <a:rPr sz="1200" b="0">
                <a:solidFill>
                  <a:srgbClr val="17212B"/>
                </a:solidFill>
                <a:latin typeface="Malgun Gothic"/>
                <a:ea typeface="Malgun Gothic"/>
                <a:cs typeface="Malgun Gothic"/>
              </a:rPr>
              <a:t>RF 탐색 +0.003554 · GB 탐색 -0.000793</a:t>
            </a:r>
          </a:p>
        </p:txBody>
      </p:sp>
      <p:sp>
        <p:nvSpPr>
          <p:cNvPr id="18" name="">
            <a:extLst xmlns:a="http://schemas.openxmlformats.org/drawingml/2006/main">
              <a:ext uri="{FF2B5EF4-FFF2-40B4-BE49-F238E27FC236}">
                <a16:creationId xmlns:a16="http://schemas.microsoft.com/office/drawing/2014/main" id="{67E7FB6D-2815-4869-938A-A02E4B3E4C6F}"/>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01_performance_progression.csv · 05_seven_model_search_before_after.csv</a:t>
            </a:r>
          </a:p>
        </p:txBody>
      </p:sp>
    </p:spTree>
    <p:extLst>
      <p:ext uri="{BB962C8B-B14F-4D97-AF65-F5344CB8AC3E}">
        <p14:creationId xmlns:p14="http://schemas.microsoft.com/office/powerpoint/2010/main" val="3139296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DA05FE-CBFF-4B73-9290-84791EFB2AD7}"/>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PRODUCT WORKFLOW</a:t>
            </a:r>
          </a:p>
        </p:txBody>
      </p:sp>
      <p:sp>
        <p:nvSpPr>
          <p:cNvPr id="2" name="">
            <a:extLst xmlns:a="http://schemas.openxmlformats.org/drawingml/2006/main">
              <a:ext uri="{FF2B5EF4-FFF2-40B4-BE49-F238E27FC236}">
                <a16:creationId xmlns:a16="http://schemas.microsoft.com/office/drawing/2014/main" id="{7237AA14-4C8E-4E51-910F-36E86FE3301D}"/>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Streamlit은 분석에서 고객 검토까지 한 흐름으로 연결합니다</a:t>
            </a:r>
          </a:p>
        </p:txBody>
      </p:sp>
      <p:sp>
        <p:nvSpPr>
          <p:cNvPr id="3" name="">
            <a:extLst xmlns:a="http://schemas.openxmlformats.org/drawingml/2006/main">
              <a:ext uri="{FF2B5EF4-FFF2-40B4-BE49-F238E27FC236}">
                <a16:creationId xmlns:a16="http://schemas.microsoft.com/office/drawing/2014/main" id="{CEBF2604-5956-4604-9EFF-F4440E56DB76}"/>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위험 신호·추천 행동·가정 기반 계획을 실제 화면에서 확인하고 사람이 결정한다</a:t>
            </a:r>
          </a:p>
        </p:txBody>
      </p:sp>
      <p:sp>
        <p:nvSpPr>
          <p:cNvPr id="4" name="">
            <a:extLst xmlns:a="http://schemas.openxmlformats.org/drawingml/2006/main">
              <a:ext uri="{FF2B5EF4-FFF2-40B4-BE49-F238E27FC236}">
                <a16:creationId xmlns:a16="http://schemas.microsoft.com/office/drawing/2014/main" id="{DB2DB6FF-225D-4854-B0BC-1158BD0DE732}"/>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4F38766C-3C46-46A1-B83E-E27FD3E3C0E8}"/>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C5330836-DDF9-4A0C-B870-6EF62611B30B}"/>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12</a:t>
            </a:r>
          </a:p>
        </p:txBody>
      </p:sp>
      <p:sp>
        <p:nvSpPr>
          <p:cNvPr id="7" name="">
            <a:extLst xmlns:a="http://schemas.openxmlformats.org/drawingml/2006/main">
              <a:ext uri="{FF2B5EF4-FFF2-40B4-BE49-F238E27FC236}">
                <a16:creationId xmlns:a16="http://schemas.microsoft.com/office/drawing/2014/main" id="{4251809A-6AE5-4B12-92CC-A3B650DF8F15}"/>
              </a:ext>
            </a:extLst>
          </p:cNvPr>
          <p:cNvSpPr>
            <a:spLocks xmlns:a="http://schemas.openxmlformats.org/drawingml/2006/main" noGrp="1"/>
          </p:cNvSpPr>
          <p:nvPr/>
        </p:nvSpPr>
        <p:spPr>
          <a:xfrm xmlns:a="http://schemas.openxmlformats.org/drawingml/2006/main">
            <a:off x="533400" y="1790700"/>
            <a:ext cx="5429250" cy="3733800"/>
          </a:xfrm>
          <a:prstGeom xmlns:a="http://schemas.openxmlformats.org/drawingml/2006/main" prst="roundRect">
            <a:avLst>
              <a:gd name="adj" fmla="val 2041"/>
            </a:avLst>
          </a:prstGeom>
          <a:solidFill xmlns:a="http://schemas.openxmlformats.org/drawingml/2006/main">
            <a:srgbClr val="FBFCFD"/>
          </a:solidFill>
          <a:ln xmlns:a="http://schemas.openxmlformats.org/drawingml/2006/main" w="9525">
            <a:solidFill>
              <a:srgbClr val="D9E1E6"/>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4aa52248f194ec0"/>
          <a:srcRect xmlns:a="http://schemas.openxmlformats.org/drawingml/2006/main" l="0" t="0" r="0" b="0"/>
          <a:stretch xmlns:a="http://schemas.openxmlformats.org/drawingml/2006/main"/>
        </p:blipFill>
        <p:spPr>
          <a:xfrm xmlns:a="http://schemas.openxmlformats.org/drawingml/2006/main" flipH="0" flipV="0">
            <a:off x="609600" y="2125240"/>
            <a:ext cx="5276850" cy="306472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44B0BC0-1DE3-4B00-B805-38757568597C}"/>
              </a:ext>
            </a:extLst>
          </p:cNvPr>
          <p:cNvSpPr>
            <a:spLocks xmlns:a="http://schemas.openxmlformats.org/drawingml/2006/main" noGrp="1"/>
          </p:cNvSpPr>
          <p:nvPr/>
        </p:nvSpPr>
        <p:spPr>
          <a:xfrm xmlns:a="http://schemas.openxmlformats.org/drawingml/2006/main">
            <a:off x="6229350" y="1790700"/>
            <a:ext cx="5429250" cy="3733800"/>
          </a:xfrm>
          <a:prstGeom xmlns:a="http://schemas.openxmlformats.org/drawingml/2006/main" prst="roundRect">
            <a:avLst>
              <a:gd name="adj" fmla="val 2041"/>
            </a:avLst>
          </a:prstGeom>
          <a:solidFill xmlns:a="http://schemas.openxmlformats.org/drawingml/2006/main">
            <a:srgbClr val="FBFCFD"/>
          </a:solidFill>
          <a:ln xmlns:a="http://schemas.openxmlformats.org/drawingml/2006/main" w="9525">
            <a:solidFill>
              <a:srgbClr val="D9E1E6"/>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4255d1745674c34"/>
          <a:srcRect xmlns:a="http://schemas.openxmlformats.org/drawingml/2006/main" l="0" t="0" r="0" b="0"/>
          <a:stretch xmlns:a="http://schemas.openxmlformats.org/drawingml/2006/main"/>
        </p:blipFill>
        <p:spPr>
          <a:xfrm xmlns:a="http://schemas.openxmlformats.org/drawingml/2006/main" flipH="0" flipV="0">
            <a:off x="6317724" y="1866900"/>
            <a:ext cx="5252502" cy="35814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AF76802-B6E1-4126-B499-0F85362B3950}"/>
              </a:ext>
            </a:extLst>
          </p:cNvPr>
          <p:cNvSpPr>
            <a:spLocks xmlns:a="http://schemas.openxmlformats.org/drawingml/2006/main" noGrp="1"/>
          </p:cNvSpPr>
          <p:nvPr/>
        </p:nvSpPr>
        <p:spPr>
          <a:xfrm xmlns:a="http://schemas.openxmlformats.org/drawingml/2006/main">
            <a:off x="533400" y="569595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E85E43"/>
                </a:solidFill>
                <a:latin typeface="Malgun Gothic"/>
                <a:ea typeface="Malgun Gothic"/>
                <a:cs typeface="Malgun Gothic"/>
              </a:defRPr>
            </a:pPr>
            <a:r>
              <a:rPr sz="1200" b="1">
                <a:solidFill>
                  <a:srgbClr val="E85E43"/>
                </a:solidFill>
                <a:latin typeface="Malgun Gothic"/>
                <a:ea typeface="Malgun Gothic"/>
                <a:cs typeface="Malgun Gothic"/>
              </a:rPr>
              <a:t>고객별 위험 신호 · 추천 행동 · 운영 단계</a:t>
            </a:r>
          </a:p>
        </p:txBody>
      </p:sp>
      <p:sp>
        <p:nvSpPr>
          <p:cNvPr id="12" name="">
            <a:extLst xmlns:a="http://schemas.openxmlformats.org/drawingml/2006/main">
              <a:ext uri="{FF2B5EF4-FFF2-40B4-BE49-F238E27FC236}">
                <a16:creationId xmlns:a16="http://schemas.microsoft.com/office/drawing/2014/main" id="{C236EB30-743F-4DFE-8794-D54CF757B780}"/>
              </a:ext>
            </a:extLst>
          </p:cNvPr>
          <p:cNvSpPr>
            <a:spLocks xmlns:a="http://schemas.openxmlformats.org/drawingml/2006/main" noGrp="1"/>
          </p:cNvSpPr>
          <p:nvPr/>
        </p:nvSpPr>
        <p:spPr>
          <a:xfrm xmlns:a="http://schemas.openxmlformats.org/drawingml/2006/main">
            <a:off x="6229350" y="569595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17354B"/>
                </a:solidFill>
                <a:latin typeface="Malgun Gothic"/>
                <a:ea typeface="Malgun Gothic"/>
                <a:cs typeface="Malgun Gothic"/>
              </a:defRPr>
            </a:pPr>
            <a:r>
              <a:rPr sz="1200" b="1">
                <a:solidFill>
                  <a:srgbClr val="17354B"/>
                </a:solidFill>
                <a:latin typeface="Malgun Gothic"/>
                <a:ea typeface="Malgun Gothic"/>
                <a:cs typeface="Malgun Gothic"/>
              </a:rPr>
              <a:t>구독 유형별 접촉비용 · 고객가치 계획 가정</a:t>
            </a:r>
          </a:p>
        </p:txBody>
      </p:sp>
      <p:sp>
        <p:nvSpPr>
          <p:cNvPr id="13" name="">
            <a:extLst xmlns:a="http://schemas.openxmlformats.org/drawingml/2006/main">
              <a:ext uri="{FF2B5EF4-FFF2-40B4-BE49-F238E27FC236}">
                <a16:creationId xmlns:a16="http://schemas.microsoft.com/office/drawing/2014/main" id="{38403B42-97A3-4861-B816-B6DD817BF33D}"/>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app/streamlit_app.py · src/retention_strategy.py · 실제 앱 캡처</a:t>
            </a:r>
          </a:p>
        </p:txBody>
      </p:sp>
    </p:spTree>
    <p:extLst>
      <p:ext uri="{BB962C8B-B14F-4D97-AF65-F5344CB8AC3E}">
        <p14:creationId xmlns:p14="http://schemas.microsoft.com/office/powerpoint/2010/main" val="1244218099"/>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55448"/>
            <a:ext cx="5943600" cy="210312"/>
          </a:xfrm>
          <a:prstGeom prst="rect">
            <a:avLst/>
          </a:prstGeom>
          <a:noFill/>
        </p:spPr>
        <p:txBody>
          <a:bodyPr wrap="square" anchor="t" lIns="0" rIns="0" tIns="0" bIns="0">
            <a:spAutoFit/>
          </a:bodyPr>
          <a:lstStyle/>
          <a:p>
            <a:pPr algn="l"/>
            <a:r>
              <a:rPr sz="900" b="1">
                <a:solidFill>
                  <a:srgbClr val="E85E43"/>
                </a:solidFill>
                <a:latin typeface="Malgun Gothic"/>
              </a:rPr>
              <a:t>MODEL BENCHMARK</a:t>
            </a:r>
          </a:p>
        </p:txBody>
      </p:sp>
      <p:sp>
        <p:nvSpPr>
          <p:cNvPr id="3" name="TextBox 2"/>
          <p:cNvSpPr txBox="1"/>
          <p:nvPr/>
        </p:nvSpPr>
        <p:spPr>
          <a:xfrm>
            <a:off x="530352" y="402336"/>
            <a:ext cx="11119104" cy="1005840"/>
          </a:xfrm>
          <a:prstGeom prst="rect">
            <a:avLst/>
          </a:prstGeom>
          <a:noFill/>
        </p:spPr>
        <p:txBody>
          <a:bodyPr wrap="square" anchor="t" lIns="0" rIns="0" tIns="0" bIns="0">
            <a:spAutoFit/>
          </a:bodyPr>
          <a:lstStyle/>
          <a:p>
            <a:pPr algn="l"/>
            <a:r>
              <a:rPr sz="2850" b="1">
                <a:solidFill>
                  <a:srgbClr val="17212B"/>
                </a:solidFill>
                <a:latin typeface="Malgun Gothic"/>
              </a:rPr>
              <a:t>8개 모델을 동일한 조건에서 비교해 상위 후보를 선별했습니다</a:t>
            </a:r>
          </a:p>
        </p:txBody>
      </p:sp>
      <p:sp>
        <p:nvSpPr>
          <p:cNvPr id="4" name="TextBox 3"/>
          <p:cNvSpPr txBox="1"/>
          <p:nvPr/>
        </p:nvSpPr>
        <p:spPr>
          <a:xfrm>
            <a:off x="530352" y="1453896"/>
            <a:ext cx="10762488" cy="274320"/>
          </a:xfrm>
          <a:prstGeom prst="rect">
            <a:avLst/>
          </a:prstGeom>
          <a:noFill/>
        </p:spPr>
        <p:txBody>
          <a:bodyPr wrap="square" anchor="t" lIns="0" rIns="0" tIns="0" bIns="0">
            <a:spAutoFit/>
          </a:bodyPr>
          <a:lstStyle/>
          <a:p>
            <a:pPr algn="l"/>
            <a:r>
              <a:rPr sz="1200" b="0">
                <a:solidFill>
                  <a:srgbClr val="60707E"/>
                </a:solidFill>
                <a:latin typeface="Malgun Gothic"/>
              </a:rPr>
              <a:t>같은 log_numeric 피처·고정 5-Fold·동일 OOF로 8개 모델을 한 번에 비교했다</a:t>
            </a:r>
          </a:p>
        </p:txBody>
      </p:sp>
      <p:sp>
        <p:nvSpPr>
          <p:cNvPr id="5" name="Rounded Rectangle 4"/>
          <p:cNvSpPr/>
          <p:nvPr/>
        </p:nvSpPr>
        <p:spPr>
          <a:xfrm>
            <a:off x="530352" y="1828800"/>
            <a:ext cx="7086600" cy="3749039"/>
          </a:xfrm>
          <a:prstGeom prst="roundRect">
            <a:avLst>
              <a:gd name="adj" fmla="val 3000"/>
            </a:avLst>
          </a:prstGeom>
          <a:solidFill>
            <a:srgbClr val="FFFFFF"/>
          </a:solidFill>
          <a:ln w="9525">
            <a:solidFill>
              <a:srgbClr val="D9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984782" y="1938528"/>
            <a:ext cx="6177738" cy="3529583"/>
          </a:xfrm>
          <a:prstGeom prst="rect">
            <a:avLst/>
          </a:prstGeom>
        </p:spPr>
      </p:pic>
      <p:sp>
        <p:nvSpPr>
          <p:cNvPr id="7" name="Rounded Rectangle 6"/>
          <p:cNvSpPr/>
          <p:nvPr/>
        </p:nvSpPr>
        <p:spPr>
          <a:xfrm>
            <a:off x="7818120" y="1828800"/>
            <a:ext cx="3840480" cy="3749039"/>
          </a:xfrm>
          <a:prstGeom prst="roundRect">
            <a:avLst>
              <a:gd name="adj" fmla="val 5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65008" y="2029968"/>
            <a:ext cx="3291840" cy="256032"/>
          </a:xfrm>
          <a:prstGeom prst="rect">
            <a:avLst/>
          </a:prstGeom>
          <a:noFill/>
        </p:spPr>
        <p:txBody>
          <a:bodyPr wrap="square" anchor="t" lIns="0" rIns="0" tIns="0" bIns="0">
            <a:spAutoFit/>
          </a:bodyPr>
          <a:lstStyle/>
          <a:p>
            <a:pPr algn="l"/>
            <a:r>
              <a:rPr sz="1150" b="1">
                <a:solidFill>
                  <a:srgbClr val="17354B"/>
                </a:solidFill>
                <a:latin typeface="Malgun Gothic"/>
              </a:rPr>
              <a:t>5-Fold OOF PR-AUC</a:t>
            </a:r>
          </a:p>
        </p:txBody>
      </p:sp>
      <p:sp>
        <p:nvSpPr>
          <p:cNvPr id="9" name="TextBox 8"/>
          <p:cNvSpPr txBox="1"/>
          <p:nvPr/>
        </p:nvSpPr>
        <p:spPr>
          <a:xfrm>
            <a:off x="8065008" y="2377440"/>
            <a:ext cx="2331720" cy="219456"/>
          </a:xfrm>
          <a:prstGeom prst="rect">
            <a:avLst/>
          </a:prstGeom>
          <a:noFill/>
        </p:spPr>
        <p:txBody>
          <a:bodyPr wrap="square" anchor="t" lIns="0" rIns="0" tIns="0" bIns="0">
            <a:spAutoFit/>
          </a:bodyPr>
          <a:lstStyle/>
          <a:p>
            <a:pPr algn="l"/>
            <a:r>
              <a:rPr sz="1100" b="1">
                <a:solidFill>
                  <a:srgbClr val="18847A"/>
                </a:solidFill>
                <a:latin typeface="Malgun Gothic"/>
              </a:rPr>
              <a:t>★ CatBoost</a:t>
            </a:r>
          </a:p>
        </p:txBody>
      </p:sp>
      <p:sp>
        <p:nvSpPr>
          <p:cNvPr id="10" name="TextBox 9"/>
          <p:cNvSpPr txBox="1"/>
          <p:nvPr/>
        </p:nvSpPr>
        <p:spPr>
          <a:xfrm>
            <a:off x="10378440" y="2377440"/>
            <a:ext cx="1097280" cy="219456"/>
          </a:xfrm>
          <a:prstGeom prst="rect">
            <a:avLst/>
          </a:prstGeom>
          <a:noFill/>
        </p:spPr>
        <p:txBody>
          <a:bodyPr wrap="square" anchor="t" lIns="0" rIns="0" tIns="0" bIns="0">
            <a:spAutoFit/>
          </a:bodyPr>
          <a:lstStyle/>
          <a:p>
            <a:pPr algn="r"/>
            <a:r>
              <a:rPr sz="1100" b="1">
                <a:solidFill>
                  <a:srgbClr val="18847A"/>
                </a:solidFill>
                <a:latin typeface="Malgun Gothic"/>
              </a:rPr>
              <a:t>0.9476</a:t>
            </a:r>
          </a:p>
        </p:txBody>
      </p:sp>
      <p:sp>
        <p:nvSpPr>
          <p:cNvPr id="11" name="TextBox 10"/>
          <p:cNvSpPr txBox="1"/>
          <p:nvPr/>
        </p:nvSpPr>
        <p:spPr>
          <a:xfrm>
            <a:off x="8065008" y="2683764"/>
            <a:ext cx="2331720" cy="219456"/>
          </a:xfrm>
          <a:prstGeom prst="rect">
            <a:avLst/>
          </a:prstGeom>
          <a:noFill/>
        </p:spPr>
        <p:txBody>
          <a:bodyPr wrap="square" anchor="t" lIns="0" rIns="0" tIns="0" bIns="0">
            <a:spAutoFit/>
          </a:bodyPr>
          <a:lstStyle/>
          <a:p>
            <a:pPr algn="l"/>
            <a:r>
              <a:rPr sz="1100" b="1">
                <a:solidFill>
                  <a:srgbClr val="18847A"/>
                </a:solidFill>
                <a:latin typeface="Malgun Gothic"/>
              </a:rPr>
              <a:t>★ LightGBM</a:t>
            </a:r>
          </a:p>
        </p:txBody>
      </p:sp>
      <p:sp>
        <p:nvSpPr>
          <p:cNvPr id="12" name="TextBox 11"/>
          <p:cNvSpPr txBox="1"/>
          <p:nvPr/>
        </p:nvSpPr>
        <p:spPr>
          <a:xfrm>
            <a:off x="10378440" y="2683764"/>
            <a:ext cx="1097280" cy="219456"/>
          </a:xfrm>
          <a:prstGeom prst="rect">
            <a:avLst/>
          </a:prstGeom>
          <a:noFill/>
        </p:spPr>
        <p:txBody>
          <a:bodyPr wrap="square" anchor="t" lIns="0" rIns="0" tIns="0" bIns="0">
            <a:spAutoFit/>
          </a:bodyPr>
          <a:lstStyle/>
          <a:p>
            <a:pPr algn="r"/>
            <a:r>
              <a:rPr sz="1100" b="1">
                <a:solidFill>
                  <a:srgbClr val="18847A"/>
                </a:solidFill>
                <a:latin typeface="Malgun Gothic"/>
              </a:rPr>
              <a:t>0.9475</a:t>
            </a:r>
          </a:p>
        </p:txBody>
      </p:sp>
      <p:sp>
        <p:nvSpPr>
          <p:cNvPr id="13" name="TextBox 12"/>
          <p:cNvSpPr txBox="1"/>
          <p:nvPr/>
        </p:nvSpPr>
        <p:spPr>
          <a:xfrm>
            <a:off x="8065008" y="2990088"/>
            <a:ext cx="2331720" cy="219456"/>
          </a:xfrm>
          <a:prstGeom prst="rect">
            <a:avLst/>
          </a:prstGeom>
          <a:noFill/>
        </p:spPr>
        <p:txBody>
          <a:bodyPr wrap="square" anchor="t" lIns="0" rIns="0" tIns="0" bIns="0">
            <a:spAutoFit/>
          </a:bodyPr>
          <a:lstStyle/>
          <a:p>
            <a:pPr algn="l"/>
            <a:r>
              <a:rPr sz="1100" b="1">
                <a:solidFill>
                  <a:srgbClr val="18847A"/>
                </a:solidFill>
                <a:latin typeface="Malgun Gothic"/>
              </a:rPr>
              <a:t>★ XGBoost</a:t>
            </a:r>
          </a:p>
        </p:txBody>
      </p:sp>
      <p:sp>
        <p:nvSpPr>
          <p:cNvPr id="14" name="TextBox 13"/>
          <p:cNvSpPr txBox="1"/>
          <p:nvPr/>
        </p:nvSpPr>
        <p:spPr>
          <a:xfrm>
            <a:off x="10378440" y="2990088"/>
            <a:ext cx="1097280" cy="219456"/>
          </a:xfrm>
          <a:prstGeom prst="rect">
            <a:avLst/>
          </a:prstGeom>
          <a:noFill/>
        </p:spPr>
        <p:txBody>
          <a:bodyPr wrap="square" anchor="t" lIns="0" rIns="0" tIns="0" bIns="0">
            <a:spAutoFit/>
          </a:bodyPr>
          <a:lstStyle/>
          <a:p>
            <a:pPr algn="r"/>
            <a:r>
              <a:rPr sz="1100" b="1">
                <a:solidFill>
                  <a:srgbClr val="18847A"/>
                </a:solidFill>
                <a:latin typeface="Malgun Gothic"/>
              </a:rPr>
              <a:t>0.9471</a:t>
            </a:r>
          </a:p>
        </p:txBody>
      </p:sp>
      <p:sp>
        <p:nvSpPr>
          <p:cNvPr id="15" name="TextBox 14"/>
          <p:cNvSpPr txBox="1"/>
          <p:nvPr/>
        </p:nvSpPr>
        <p:spPr>
          <a:xfrm>
            <a:off x="8065008" y="3296412"/>
            <a:ext cx="2331720" cy="219456"/>
          </a:xfrm>
          <a:prstGeom prst="rect">
            <a:avLst/>
          </a:prstGeom>
          <a:noFill/>
        </p:spPr>
        <p:txBody>
          <a:bodyPr wrap="square" anchor="t" lIns="0" rIns="0" tIns="0" bIns="0">
            <a:spAutoFit/>
          </a:bodyPr>
          <a:lstStyle/>
          <a:p>
            <a:pPr algn="l"/>
            <a:r>
              <a:rPr sz="1100" b="0">
                <a:solidFill>
                  <a:srgbClr val="17212B"/>
                </a:solidFill>
                <a:latin typeface="Malgun Gothic"/>
              </a:rPr>
              <a:t>· Gradient Boosting</a:t>
            </a:r>
          </a:p>
        </p:txBody>
      </p:sp>
      <p:sp>
        <p:nvSpPr>
          <p:cNvPr id="16" name="TextBox 15"/>
          <p:cNvSpPr txBox="1"/>
          <p:nvPr/>
        </p:nvSpPr>
        <p:spPr>
          <a:xfrm>
            <a:off x="10378440" y="3296412"/>
            <a:ext cx="1097280" cy="219456"/>
          </a:xfrm>
          <a:prstGeom prst="rect">
            <a:avLst/>
          </a:prstGeom>
          <a:noFill/>
        </p:spPr>
        <p:txBody>
          <a:bodyPr wrap="square" anchor="t" lIns="0" rIns="0" tIns="0" bIns="0">
            <a:spAutoFit/>
          </a:bodyPr>
          <a:lstStyle/>
          <a:p>
            <a:pPr algn="r"/>
            <a:r>
              <a:rPr sz="1100" b="0">
                <a:solidFill>
                  <a:srgbClr val="17212B"/>
                </a:solidFill>
                <a:latin typeface="Malgun Gothic"/>
              </a:rPr>
              <a:t>0.9464</a:t>
            </a:r>
          </a:p>
        </p:txBody>
      </p:sp>
      <p:sp>
        <p:nvSpPr>
          <p:cNvPr id="17" name="TextBox 16"/>
          <p:cNvSpPr txBox="1"/>
          <p:nvPr/>
        </p:nvSpPr>
        <p:spPr>
          <a:xfrm>
            <a:off x="8065008" y="3602736"/>
            <a:ext cx="2331720" cy="219456"/>
          </a:xfrm>
          <a:prstGeom prst="rect">
            <a:avLst/>
          </a:prstGeom>
          <a:noFill/>
        </p:spPr>
        <p:txBody>
          <a:bodyPr wrap="square" anchor="t" lIns="0" rIns="0" tIns="0" bIns="0">
            <a:spAutoFit/>
          </a:bodyPr>
          <a:lstStyle/>
          <a:p>
            <a:pPr algn="l"/>
            <a:r>
              <a:rPr sz="1100" b="0">
                <a:solidFill>
                  <a:srgbClr val="17212B"/>
                </a:solidFill>
                <a:latin typeface="Malgun Gothic"/>
              </a:rPr>
              <a:t>· Random Forest</a:t>
            </a:r>
          </a:p>
        </p:txBody>
      </p:sp>
      <p:sp>
        <p:nvSpPr>
          <p:cNvPr id="18" name="TextBox 17"/>
          <p:cNvSpPr txBox="1"/>
          <p:nvPr/>
        </p:nvSpPr>
        <p:spPr>
          <a:xfrm>
            <a:off x="10378440" y="3602736"/>
            <a:ext cx="1097280" cy="219456"/>
          </a:xfrm>
          <a:prstGeom prst="rect">
            <a:avLst/>
          </a:prstGeom>
          <a:noFill/>
        </p:spPr>
        <p:txBody>
          <a:bodyPr wrap="square" anchor="t" lIns="0" rIns="0" tIns="0" bIns="0">
            <a:spAutoFit/>
          </a:bodyPr>
          <a:lstStyle/>
          <a:p>
            <a:pPr algn="r"/>
            <a:r>
              <a:rPr sz="1100" b="0">
                <a:solidFill>
                  <a:srgbClr val="17212B"/>
                </a:solidFill>
                <a:latin typeface="Malgun Gothic"/>
              </a:rPr>
              <a:t>0.9394</a:t>
            </a:r>
          </a:p>
        </p:txBody>
      </p:sp>
      <p:sp>
        <p:nvSpPr>
          <p:cNvPr id="19" name="TextBox 18"/>
          <p:cNvSpPr txBox="1"/>
          <p:nvPr/>
        </p:nvSpPr>
        <p:spPr>
          <a:xfrm>
            <a:off x="8065008" y="3909060"/>
            <a:ext cx="2331720" cy="219456"/>
          </a:xfrm>
          <a:prstGeom prst="rect">
            <a:avLst/>
          </a:prstGeom>
          <a:noFill/>
        </p:spPr>
        <p:txBody>
          <a:bodyPr wrap="square" anchor="t" lIns="0" rIns="0" tIns="0" bIns="0">
            <a:spAutoFit/>
          </a:bodyPr>
          <a:lstStyle/>
          <a:p>
            <a:pPr algn="l"/>
            <a:r>
              <a:rPr sz="1100" b="0">
                <a:solidFill>
                  <a:srgbClr val="17212B"/>
                </a:solidFill>
                <a:latin typeface="Malgun Gothic"/>
              </a:rPr>
              <a:t>· Decision Tree</a:t>
            </a:r>
          </a:p>
        </p:txBody>
      </p:sp>
      <p:sp>
        <p:nvSpPr>
          <p:cNvPr id="20" name="TextBox 19"/>
          <p:cNvSpPr txBox="1"/>
          <p:nvPr/>
        </p:nvSpPr>
        <p:spPr>
          <a:xfrm>
            <a:off x="10378440" y="3909060"/>
            <a:ext cx="1097280" cy="219456"/>
          </a:xfrm>
          <a:prstGeom prst="rect">
            <a:avLst/>
          </a:prstGeom>
          <a:noFill/>
        </p:spPr>
        <p:txBody>
          <a:bodyPr wrap="square" anchor="t" lIns="0" rIns="0" tIns="0" bIns="0">
            <a:spAutoFit/>
          </a:bodyPr>
          <a:lstStyle/>
          <a:p>
            <a:pPr algn="r"/>
            <a:r>
              <a:rPr sz="1100" b="0">
                <a:solidFill>
                  <a:srgbClr val="17212B"/>
                </a:solidFill>
                <a:latin typeface="Malgun Gothic"/>
              </a:rPr>
              <a:t>0.9361</a:t>
            </a:r>
          </a:p>
        </p:txBody>
      </p:sp>
      <p:sp>
        <p:nvSpPr>
          <p:cNvPr id="21" name="TextBox 20"/>
          <p:cNvSpPr txBox="1"/>
          <p:nvPr/>
        </p:nvSpPr>
        <p:spPr>
          <a:xfrm>
            <a:off x="8065008" y="4215384"/>
            <a:ext cx="2331720" cy="219456"/>
          </a:xfrm>
          <a:prstGeom prst="rect">
            <a:avLst/>
          </a:prstGeom>
          <a:noFill/>
        </p:spPr>
        <p:txBody>
          <a:bodyPr wrap="square" anchor="t" lIns="0" rIns="0" tIns="0" bIns="0">
            <a:spAutoFit/>
          </a:bodyPr>
          <a:lstStyle/>
          <a:p>
            <a:pPr algn="l"/>
            <a:r>
              <a:rPr sz="1100" b="0">
                <a:solidFill>
                  <a:srgbClr val="17212B"/>
                </a:solidFill>
                <a:latin typeface="Malgun Gothic"/>
              </a:rPr>
              <a:t>· Logistic</a:t>
            </a:r>
          </a:p>
        </p:txBody>
      </p:sp>
      <p:sp>
        <p:nvSpPr>
          <p:cNvPr id="22" name="TextBox 21"/>
          <p:cNvSpPr txBox="1"/>
          <p:nvPr/>
        </p:nvSpPr>
        <p:spPr>
          <a:xfrm>
            <a:off x="10378440" y="4215384"/>
            <a:ext cx="1097280" cy="219456"/>
          </a:xfrm>
          <a:prstGeom prst="rect">
            <a:avLst/>
          </a:prstGeom>
          <a:noFill/>
        </p:spPr>
        <p:txBody>
          <a:bodyPr wrap="square" anchor="t" lIns="0" rIns="0" tIns="0" bIns="0">
            <a:spAutoFit/>
          </a:bodyPr>
          <a:lstStyle/>
          <a:p>
            <a:pPr algn="r"/>
            <a:r>
              <a:rPr sz="1100" b="0">
                <a:solidFill>
                  <a:srgbClr val="17212B"/>
                </a:solidFill>
                <a:latin typeface="Malgun Gothic"/>
              </a:rPr>
              <a:t>0.9063</a:t>
            </a:r>
          </a:p>
        </p:txBody>
      </p:sp>
      <p:sp>
        <p:nvSpPr>
          <p:cNvPr id="23" name="TextBox 22"/>
          <p:cNvSpPr txBox="1"/>
          <p:nvPr/>
        </p:nvSpPr>
        <p:spPr>
          <a:xfrm>
            <a:off x="8065008" y="4521708"/>
            <a:ext cx="2331720" cy="219456"/>
          </a:xfrm>
          <a:prstGeom prst="rect">
            <a:avLst/>
          </a:prstGeom>
          <a:noFill/>
        </p:spPr>
        <p:txBody>
          <a:bodyPr wrap="square" anchor="t" lIns="0" rIns="0" tIns="0" bIns="0">
            <a:spAutoFit/>
          </a:bodyPr>
          <a:lstStyle/>
          <a:p>
            <a:pPr algn="l"/>
            <a:r>
              <a:rPr sz="1100" b="0">
                <a:solidFill>
                  <a:srgbClr val="17212B"/>
                </a:solidFill>
                <a:latin typeface="Malgun Gothic"/>
              </a:rPr>
              <a:t>· Dummy</a:t>
            </a:r>
          </a:p>
        </p:txBody>
      </p:sp>
      <p:sp>
        <p:nvSpPr>
          <p:cNvPr id="24" name="TextBox 23"/>
          <p:cNvSpPr txBox="1"/>
          <p:nvPr/>
        </p:nvSpPr>
        <p:spPr>
          <a:xfrm>
            <a:off x="10378440" y="4521708"/>
            <a:ext cx="1097280" cy="219456"/>
          </a:xfrm>
          <a:prstGeom prst="rect">
            <a:avLst/>
          </a:prstGeom>
          <a:noFill/>
        </p:spPr>
        <p:txBody>
          <a:bodyPr wrap="square" anchor="t" lIns="0" rIns="0" tIns="0" bIns="0">
            <a:spAutoFit/>
          </a:bodyPr>
          <a:lstStyle/>
          <a:p>
            <a:pPr algn="r"/>
            <a:r>
              <a:rPr sz="1100" b="0">
                <a:solidFill>
                  <a:srgbClr val="17212B"/>
                </a:solidFill>
                <a:latin typeface="Malgun Gothic"/>
              </a:rPr>
              <a:t>0.5134</a:t>
            </a:r>
          </a:p>
        </p:txBody>
      </p:sp>
      <p:sp>
        <p:nvSpPr>
          <p:cNvPr id="25" name="TextBox 24"/>
          <p:cNvSpPr txBox="1"/>
          <p:nvPr/>
        </p:nvSpPr>
        <p:spPr>
          <a:xfrm>
            <a:off x="8065008" y="4956048"/>
            <a:ext cx="3291840" cy="502920"/>
          </a:xfrm>
          <a:prstGeom prst="rect">
            <a:avLst/>
          </a:prstGeom>
          <a:noFill/>
        </p:spPr>
        <p:txBody>
          <a:bodyPr wrap="square" anchor="t" lIns="0" rIns="0" tIns="0" bIns="0">
            <a:spAutoFit/>
          </a:bodyPr>
          <a:lstStyle/>
          <a:p>
            <a:pPr algn="l"/>
            <a:r>
              <a:rPr sz="1000" b="0">
                <a:solidFill>
                  <a:srgbClr val="60707E"/>
                </a:solidFill>
                <a:latin typeface="Malgun Gothic"/>
              </a:rPr>
              <a:t>★ 상위 3개(CatBoost·XGBoost·LightGBM)를 정밀 튜닝·안정성 검증 대상으로 선별</a:t>
            </a:r>
          </a:p>
        </p:txBody>
      </p:sp>
      <p:sp>
        <p:nvSpPr>
          <p:cNvPr id="26" name="TextBox 25"/>
          <p:cNvSpPr txBox="1"/>
          <p:nvPr/>
        </p:nvSpPr>
        <p:spPr>
          <a:xfrm>
            <a:off x="11064240" y="6510528"/>
            <a:ext cx="594360" cy="173736"/>
          </a:xfrm>
          <a:prstGeom prst="rect">
            <a:avLst/>
          </a:prstGeom>
          <a:noFill/>
        </p:spPr>
        <p:txBody>
          <a:bodyPr wrap="square" anchor="t" lIns="0" rIns="0" tIns="0" bIns="0">
            <a:spAutoFit/>
          </a:bodyPr>
          <a:lstStyle/>
          <a:p>
            <a:pPr algn="r"/>
            <a:r>
              <a:rPr sz="825" b="1">
                <a:solidFill>
                  <a:srgbClr val="60707E"/>
                </a:solidFill>
                <a:latin typeface="Malgun Gothic"/>
              </a:rPr>
              <a:t>07</a:t>
            </a:r>
          </a:p>
        </p:txBody>
      </p:sp>
      <p:sp>
        <p:nvSpPr>
          <p:cNvPr id="27" name="Rectangle 26"/>
          <p:cNvSpPr/>
          <p:nvPr/>
        </p:nvSpPr>
        <p:spPr>
          <a:xfrm>
            <a:off x="530352" y="6437376"/>
            <a:ext cx="11128248" cy="10972"/>
          </a:xfrm>
          <a:prstGeom prst="rect">
            <a:avLst/>
          </a:prstGeom>
          <a:solidFill>
            <a:srgbClr val="D9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6537960"/>
            <a:ext cx="5330952" cy="155448"/>
          </a:xfrm>
          <a:prstGeom prst="rect">
            <a:avLst/>
          </a:prstGeom>
          <a:noFill/>
        </p:spPr>
        <p:txBody>
          <a:bodyPr wrap="square" anchor="t" lIns="0" rIns="0" tIns="0" bIns="0">
            <a:spAutoFit/>
          </a:bodyPr>
          <a:lstStyle/>
          <a:p>
            <a:pPr algn="l"/>
            <a:r>
              <a:rPr sz="750" b="0">
                <a:solidFill>
                  <a:srgbClr val="60707E"/>
                </a:solidFill>
                <a:latin typeface="Malgun Gothic"/>
              </a:rPr>
              <a:t>PlaylistPro · Retention Decision Support</a:t>
            </a:r>
          </a:p>
        </p:txBody>
      </p:sp>
      <p:sp>
        <p:nvSpPr>
          <p:cNvPr id="29" name="TextBox 28"/>
          <p:cNvSpPr txBox="1"/>
          <p:nvPr/>
        </p:nvSpPr>
        <p:spPr>
          <a:xfrm>
            <a:off x="530352" y="6199632"/>
            <a:ext cx="10570464" cy="164592"/>
          </a:xfrm>
          <a:prstGeom prst="rect">
            <a:avLst/>
          </a:prstGeom>
          <a:noFill/>
        </p:spPr>
        <p:txBody>
          <a:bodyPr wrap="square" anchor="t" lIns="0" rIns="0" tIns="0" bIns="0">
            <a:spAutoFit/>
          </a:bodyPr>
          <a:lstStyle/>
          <a:p>
            <a:pPr algn="l"/>
            <a:r>
              <a:rPr sz="750" b="0">
                <a:solidFill>
                  <a:srgbClr val="60707E"/>
                </a:solidFill>
                <a:latin typeface="Malgun Gothic"/>
              </a:rPr>
              <a:t>근거: 04_eight_model_fair_comparison.csv · model_comparison_fair.csv · run_manifest.json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55448"/>
            <a:ext cx="5943600" cy="210312"/>
          </a:xfrm>
          <a:prstGeom prst="rect">
            <a:avLst/>
          </a:prstGeom>
          <a:noFill/>
        </p:spPr>
        <p:txBody>
          <a:bodyPr wrap="square" anchor="t" lIns="0" rIns="0" tIns="0" bIns="0">
            <a:spAutoFit/>
          </a:bodyPr>
          <a:lstStyle/>
          <a:p>
            <a:pPr algn="l"/>
            <a:r>
              <a:rPr sz="900" b="1">
                <a:solidFill>
                  <a:srgbClr val="E85E43"/>
                </a:solidFill>
                <a:latin typeface="Malgun Gothic"/>
              </a:rPr>
              <a:t>MODEL SELECTION</a:t>
            </a:r>
          </a:p>
        </p:txBody>
      </p:sp>
      <p:sp>
        <p:nvSpPr>
          <p:cNvPr id="3" name="TextBox 2"/>
          <p:cNvSpPr txBox="1"/>
          <p:nvPr/>
        </p:nvSpPr>
        <p:spPr>
          <a:xfrm>
            <a:off x="530352" y="402336"/>
            <a:ext cx="11119104" cy="1005840"/>
          </a:xfrm>
          <a:prstGeom prst="rect">
            <a:avLst/>
          </a:prstGeom>
          <a:noFill/>
        </p:spPr>
        <p:txBody>
          <a:bodyPr wrap="square" anchor="t" lIns="0" rIns="0" tIns="0" bIns="0">
            <a:spAutoFit/>
          </a:bodyPr>
          <a:lstStyle/>
          <a:p>
            <a:pPr algn="l"/>
            <a:r>
              <a:rPr sz="2600" b="1">
                <a:solidFill>
                  <a:srgbClr val="17212B"/>
                </a:solidFill>
                <a:latin typeface="Malgun Gothic"/>
              </a:rPr>
              <a:t>CatBoost는 근소한 순위 우위로 선택했지만 절대적인 승자는 아닙니다</a:t>
            </a:r>
          </a:p>
        </p:txBody>
      </p:sp>
      <p:sp>
        <p:nvSpPr>
          <p:cNvPr id="4" name="TextBox 3"/>
          <p:cNvSpPr txBox="1"/>
          <p:nvPr/>
        </p:nvSpPr>
        <p:spPr>
          <a:xfrm>
            <a:off x="530352" y="1453896"/>
            <a:ext cx="10762488" cy="274320"/>
          </a:xfrm>
          <a:prstGeom prst="rect">
            <a:avLst/>
          </a:prstGeom>
          <a:noFill/>
        </p:spPr>
        <p:txBody>
          <a:bodyPr wrap="square" anchor="t" lIns="0" rIns="0" tIns="0" bIns="0">
            <a:spAutoFit/>
          </a:bodyPr>
          <a:lstStyle/>
          <a:p>
            <a:pPr algn="l"/>
            <a:r>
              <a:rPr sz="1200" b="0">
                <a:solidFill>
                  <a:srgbClr val="60707E"/>
                </a:solidFill>
                <a:latin typeface="Malgun Gothic"/>
              </a:rPr>
              <a:t>상위 3개 정밀 튜닝·5-Seed·Bootstrap으로 검증 · Recall 우선이면 LightGBM도 합리적 대안</a:t>
            </a:r>
          </a:p>
        </p:txBody>
      </p:sp>
      <p:sp>
        <p:nvSpPr>
          <p:cNvPr id="5" name="Rounded Rectangle 4"/>
          <p:cNvSpPr/>
          <p:nvPr/>
        </p:nvSpPr>
        <p:spPr>
          <a:xfrm>
            <a:off x="530352" y="1828800"/>
            <a:ext cx="5440680" cy="3429000"/>
          </a:xfrm>
          <a:prstGeom prst="roundRect">
            <a:avLst>
              <a:gd name="adj" fmla="val 3000"/>
            </a:avLst>
          </a:prstGeom>
          <a:solidFill>
            <a:srgbClr val="FFFFFF"/>
          </a:solidFill>
          <a:ln w="9525">
            <a:solidFill>
              <a:srgbClr val="D9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640080" y="2170323"/>
            <a:ext cx="5221224" cy="2745952"/>
          </a:xfrm>
          <a:prstGeom prst="rect">
            <a:avLst/>
          </a:prstGeom>
        </p:spPr>
      </p:pic>
      <p:sp>
        <p:nvSpPr>
          <p:cNvPr id="7" name="Rounded Rectangle 6"/>
          <p:cNvSpPr/>
          <p:nvPr/>
        </p:nvSpPr>
        <p:spPr>
          <a:xfrm>
            <a:off x="6108192" y="1828800"/>
            <a:ext cx="5550408" cy="3429000"/>
          </a:xfrm>
          <a:prstGeom prst="roundRect">
            <a:avLst>
              <a:gd name="adj" fmla="val 3000"/>
            </a:avLst>
          </a:prstGeom>
          <a:solidFill>
            <a:srgbClr val="FFFFFF"/>
          </a:solidFill>
          <a:ln w="9525">
            <a:solidFill>
              <a:srgbClr val="D9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8_bootstrap_confidence_intervals.png"/>
          <p:cNvPicPr>
            <a:picLocks noChangeAspect="1"/>
          </p:cNvPicPr>
          <p:nvPr/>
        </p:nvPicPr>
        <p:blipFill>
          <a:blip r:embed="rId3"/>
          <a:stretch>
            <a:fillRect/>
          </a:stretch>
        </p:blipFill>
        <p:spPr>
          <a:xfrm>
            <a:off x="6217920" y="2233037"/>
            <a:ext cx="5330952" cy="2620524"/>
          </a:xfrm>
          <a:prstGeom prst="rect">
            <a:avLst/>
          </a:prstGeom>
        </p:spPr>
      </p:pic>
      <p:sp>
        <p:nvSpPr>
          <p:cNvPr id="9" name="Rounded Rectangle 8"/>
          <p:cNvSpPr/>
          <p:nvPr/>
        </p:nvSpPr>
        <p:spPr>
          <a:xfrm>
            <a:off x="530352" y="5394960"/>
            <a:ext cx="11128248" cy="603504"/>
          </a:xfrm>
          <a:prstGeom prst="roundRect">
            <a:avLst>
              <a:gd name="adj" fmla="val 10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486400"/>
            <a:ext cx="10607040" cy="219456"/>
          </a:xfrm>
          <a:prstGeom prst="rect">
            <a:avLst/>
          </a:prstGeom>
          <a:noFill/>
        </p:spPr>
        <p:txBody>
          <a:bodyPr wrap="square" anchor="t" lIns="0" rIns="0" tIns="0" bIns="0">
            <a:spAutoFit/>
          </a:bodyPr>
          <a:lstStyle/>
          <a:p>
            <a:pPr algn="l"/>
            <a:r>
              <a:rPr sz="1050" b="1">
                <a:solidFill>
                  <a:srgbClr val="17354B"/>
                </a:solidFill>
                <a:latin typeface="Malgun Gothic"/>
              </a:rPr>
              <a:t>OOF PR-AUC  </a:t>
            </a:r>
            <a:r>
              <a:rPr sz="1050" b="0">
                <a:solidFill>
                  <a:srgbClr val="17212B"/>
                </a:solidFill>
                <a:latin typeface="Malgun Gothic"/>
              </a:rPr>
              <a:t>CatBoost 0.947897 · LightGBM 0.947790 · XGBoost 0.947765</a:t>
            </a:r>
          </a:p>
        </p:txBody>
      </p:sp>
      <p:sp>
        <p:nvSpPr>
          <p:cNvPr id="11" name="TextBox 10"/>
          <p:cNvSpPr txBox="1"/>
          <p:nvPr/>
        </p:nvSpPr>
        <p:spPr>
          <a:xfrm>
            <a:off x="777240" y="5742432"/>
            <a:ext cx="10607040" cy="219456"/>
          </a:xfrm>
          <a:prstGeom prst="rect">
            <a:avLst/>
          </a:prstGeom>
          <a:noFill/>
        </p:spPr>
        <p:txBody>
          <a:bodyPr wrap="square" anchor="t" lIns="0" rIns="0" tIns="0" bIns="0">
            <a:spAutoFit/>
          </a:bodyPr>
          <a:lstStyle/>
          <a:p>
            <a:pPr algn="l"/>
            <a:r>
              <a:rPr sz="1050" b="1">
                <a:solidFill>
                  <a:srgbClr val="17354B"/>
                </a:solidFill>
                <a:latin typeface="Malgun Gothic"/>
              </a:rPr>
              <a:t>안정성  </a:t>
            </a:r>
            <a:r>
              <a:rPr sz="1050" b="0">
                <a:solidFill>
                  <a:srgbClr val="17212B"/>
                </a:solidFill>
                <a:latin typeface="Malgun Gothic"/>
              </a:rPr>
              <a:t>5-Seed 평균 CatBoost 0.947880 (σ=0.000061) · Bootstrap 95% CI 중첩   |   </a:t>
            </a:r>
            <a:r>
              <a:rPr sz="1050" b="1">
                <a:solidFill>
                  <a:srgbClr val="E85E43"/>
                </a:solidFill>
                <a:latin typeface="Malgun Gothic"/>
              </a:rPr>
              <a:t>Trade-off  </a:t>
            </a:r>
            <a:r>
              <a:rPr sz="1050" b="0">
                <a:solidFill>
                  <a:srgbClr val="17212B"/>
                </a:solidFill>
                <a:latin typeface="Malgun Gothic"/>
              </a:rPr>
              <a:t>Recall@0.50 LightGBM 0.8599 &gt; CatBoost 0.8364 · Brier LightGBM 근소 우수</a:t>
            </a:r>
          </a:p>
        </p:txBody>
      </p:sp>
      <p:sp>
        <p:nvSpPr>
          <p:cNvPr id="12" name="TextBox 11"/>
          <p:cNvSpPr txBox="1"/>
          <p:nvPr/>
        </p:nvSpPr>
        <p:spPr>
          <a:xfrm>
            <a:off x="11064240" y="6510528"/>
            <a:ext cx="594360" cy="173736"/>
          </a:xfrm>
          <a:prstGeom prst="rect">
            <a:avLst/>
          </a:prstGeom>
          <a:noFill/>
        </p:spPr>
        <p:txBody>
          <a:bodyPr wrap="square" anchor="t" lIns="0" rIns="0" tIns="0" bIns="0">
            <a:spAutoFit/>
          </a:bodyPr>
          <a:lstStyle/>
          <a:p>
            <a:pPr algn="r"/>
            <a:r>
              <a:rPr sz="825" b="1">
                <a:solidFill>
                  <a:srgbClr val="60707E"/>
                </a:solidFill>
                <a:latin typeface="Malgun Gothic"/>
              </a:rPr>
              <a:t>09</a:t>
            </a:r>
          </a:p>
        </p:txBody>
      </p:sp>
      <p:sp>
        <p:nvSpPr>
          <p:cNvPr id="13" name="Rectangle 12"/>
          <p:cNvSpPr/>
          <p:nvPr/>
        </p:nvSpPr>
        <p:spPr>
          <a:xfrm>
            <a:off x="530352" y="6437376"/>
            <a:ext cx="11128248" cy="10972"/>
          </a:xfrm>
          <a:prstGeom prst="rect">
            <a:avLst/>
          </a:prstGeom>
          <a:solidFill>
            <a:srgbClr val="D9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6537960"/>
            <a:ext cx="5330952" cy="155448"/>
          </a:xfrm>
          <a:prstGeom prst="rect">
            <a:avLst/>
          </a:prstGeom>
          <a:noFill/>
        </p:spPr>
        <p:txBody>
          <a:bodyPr wrap="square" anchor="t" lIns="0" rIns="0" tIns="0" bIns="0">
            <a:spAutoFit/>
          </a:bodyPr>
          <a:lstStyle/>
          <a:p>
            <a:pPr algn="l"/>
            <a:r>
              <a:rPr sz="750" b="0">
                <a:solidFill>
                  <a:srgbClr val="60707E"/>
                </a:solidFill>
                <a:latin typeface="Malgun Gothic"/>
              </a:rPr>
              <a:t>PlaylistPro · Retention Decision Support</a:t>
            </a:r>
          </a:p>
        </p:txBody>
      </p:sp>
      <p:sp>
        <p:nvSpPr>
          <p:cNvPr id="15" name="TextBox 14"/>
          <p:cNvSpPr txBox="1"/>
          <p:nvPr/>
        </p:nvSpPr>
        <p:spPr>
          <a:xfrm>
            <a:off x="530352" y="6199632"/>
            <a:ext cx="10570464" cy="164592"/>
          </a:xfrm>
          <a:prstGeom prst="rect">
            <a:avLst/>
          </a:prstGeom>
          <a:noFill/>
        </p:spPr>
        <p:txBody>
          <a:bodyPr wrap="square" anchor="t" lIns="0" rIns="0" tIns="0" bIns="0">
            <a:spAutoFit/>
          </a:bodyPr>
          <a:lstStyle/>
          <a:p>
            <a:pPr algn="l"/>
            <a:r>
              <a:rPr sz="750" b="0">
                <a:solidFill>
                  <a:srgbClr val="60707E"/>
                </a:solidFill>
                <a:latin typeface="Malgun Gothic"/>
              </a:rPr>
              <a:t>근거: final_model_selection_matrix.csv · top3_fine_tuning_summary.csv · 07_seed_stability.csv · 08_bootstrap_confidence_intervals.csv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55448"/>
            <a:ext cx="5943600" cy="210312"/>
          </a:xfrm>
          <a:prstGeom prst="rect">
            <a:avLst/>
          </a:prstGeom>
          <a:noFill/>
        </p:spPr>
        <p:txBody>
          <a:bodyPr wrap="square" anchor="t" lIns="0" rIns="0" tIns="0" bIns="0">
            <a:spAutoFit/>
          </a:bodyPr>
          <a:lstStyle/>
          <a:p>
            <a:pPr algn="l"/>
            <a:r>
              <a:rPr sz="900" b="1">
                <a:solidFill>
                  <a:srgbClr val="E85E43"/>
                </a:solidFill>
                <a:latin typeface="Malgun Gothic"/>
              </a:rPr>
              <a:t>MODEL PACKAGING</a:t>
            </a:r>
          </a:p>
        </p:txBody>
      </p:sp>
      <p:sp>
        <p:nvSpPr>
          <p:cNvPr id="3" name="TextBox 2"/>
          <p:cNvSpPr txBox="1"/>
          <p:nvPr/>
        </p:nvSpPr>
        <p:spPr>
          <a:xfrm>
            <a:off x="530352" y="402336"/>
            <a:ext cx="11119104" cy="1005840"/>
          </a:xfrm>
          <a:prstGeom prst="rect">
            <a:avLst/>
          </a:prstGeom>
          <a:noFill/>
        </p:spPr>
        <p:txBody>
          <a:bodyPr wrap="square" anchor="t" lIns="0" rIns="0" tIns="0" bIns="0">
            <a:spAutoFit/>
          </a:bodyPr>
          <a:lstStyle/>
          <a:p>
            <a:pPr algn="l"/>
            <a:r>
              <a:rPr sz="2850" b="1">
                <a:solidFill>
                  <a:srgbClr val="17212B"/>
                </a:solidFill>
                <a:latin typeface="Malgun Gothic"/>
              </a:rPr>
              <a:t>최종 모델은 재현 가능한 Pipeline과 Metadata로 저장했습니다</a:t>
            </a:r>
          </a:p>
        </p:txBody>
      </p:sp>
      <p:sp>
        <p:nvSpPr>
          <p:cNvPr id="4" name="TextBox 3"/>
          <p:cNvSpPr txBox="1"/>
          <p:nvPr/>
        </p:nvSpPr>
        <p:spPr>
          <a:xfrm>
            <a:off x="530352" y="1453896"/>
            <a:ext cx="10762488" cy="274320"/>
          </a:xfrm>
          <a:prstGeom prst="rect">
            <a:avLst/>
          </a:prstGeom>
          <a:noFill/>
        </p:spPr>
        <p:txBody>
          <a:bodyPr wrap="square" anchor="t" lIns="0" rIns="0" tIns="0" bIns="0">
            <a:spAutoFit/>
          </a:bodyPr>
          <a:lstStyle/>
          <a:p>
            <a:pPr algn="l"/>
            <a:r>
              <a:rPr sz="1200" b="0">
                <a:solidFill>
                  <a:srgbClr val="60707E"/>
                </a:solidFill>
                <a:latin typeface="Malgun Gothic"/>
              </a:rPr>
              <a:t>전처리와 CatBoost를 하나의 Pipeline으로 고정 · Streamlit이 동일 저장 모델을 재로딩한다</a:t>
            </a:r>
          </a:p>
        </p:txBody>
      </p:sp>
      <p:sp>
        <p:nvSpPr>
          <p:cNvPr id="5" name="Rounded Rectangle 4"/>
          <p:cNvSpPr/>
          <p:nvPr/>
        </p:nvSpPr>
        <p:spPr>
          <a:xfrm>
            <a:off x="530352" y="1847088"/>
            <a:ext cx="5504688" cy="3246120"/>
          </a:xfrm>
          <a:prstGeom prst="roundRect">
            <a:avLst>
              <a:gd name="adj" fmla="val 5000"/>
            </a:avLst>
          </a:prstGeom>
          <a:solidFill>
            <a:srgbClr val="ED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29968"/>
            <a:ext cx="5029200" cy="256032"/>
          </a:xfrm>
          <a:prstGeom prst="rect">
            <a:avLst/>
          </a:prstGeom>
          <a:noFill/>
        </p:spPr>
        <p:txBody>
          <a:bodyPr wrap="square" anchor="t" lIns="0" rIns="0" tIns="0" bIns="0">
            <a:spAutoFit/>
          </a:bodyPr>
          <a:lstStyle/>
          <a:p>
            <a:pPr algn="l"/>
            <a:r>
              <a:rPr sz="1300" b="1">
                <a:solidFill>
                  <a:srgbClr val="18847A"/>
                </a:solidFill>
                <a:latin typeface="Malgun Gothic"/>
              </a:rPr>
              <a:t>저장 산출물</a:t>
            </a:r>
          </a:p>
        </p:txBody>
      </p:sp>
      <p:sp>
        <p:nvSpPr>
          <p:cNvPr id="7" name="TextBox 6"/>
          <p:cNvSpPr txBox="1"/>
          <p:nvPr/>
        </p:nvSpPr>
        <p:spPr>
          <a:xfrm>
            <a:off x="777240" y="2395728"/>
            <a:ext cx="1691640" cy="237744"/>
          </a:xfrm>
          <a:prstGeom prst="rect">
            <a:avLst/>
          </a:prstGeom>
          <a:noFill/>
        </p:spPr>
        <p:txBody>
          <a:bodyPr wrap="square" anchor="t" lIns="0" rIns="0" tIns="0" bIns="0">
            <a:spAutoFit/>
          </a:bodyPr>
          <a:lstStyle/>
          <a:p>
            <a:pPr algn="l"/>
            <a:r>
              <a:rPr sz="1050" b="0">
                <a:solidFill>
                  <a:srgbClr val="60707E"/>
                </a:solidFill>
                <a:latin typeface="Malgun Gothic"/>
              </a:rPr>
              <a:t>모델 파일</a:t>
            </a:r>
          </a:p>
        </p:txBody>
      </p:sp>
      <p:sp>
        <p:nvSpPr>
          <p:cNvPr id="8" name="TextBox 7"/>
          <p:cNvSpPr txBox="1"/>
          <p:nvPr/>
        </p:nvSpPr>
        <p:spPr>
          <a:xfrm>
            <a:off x="2514600" y="2395728"/>
            <a:ext cx="3291840" cy="237744"/>
          </a:xfrm>
          <a:prstGeom prst="rect">
            <a:avLst/>
          </a:prstGeom>
          <a:noFill/>
        </p:spPr>
        <p:txBody>
          <a:bodyPr wrap="square" anchor="t" lIns="0" rIns="0" tIns="0" bIns="0">
            <a:spAutoFit/>
          </a:bodyPr>
          <a:lstStyle/>
          <a:p>
            <a:pPr algn="l"/>
            <a:r>
              <a:rPr sz="1050" b="1">
                <a:solidFill>
                  <a:srgbClr val="17212B"/>
                </a:solidFill>
                <a:latin typeface="Malgun Gothic"/>
              </a:rPr>
              <a:t>music_churn_pipeline.joblib</a:t>
            </a:r>
          </a:p>
        </p:txBody>
      </p:sp>
      <p:sp>
        <p:nvSpPr>
          <p:cNvPr id="9" name="TextBox 8"/>
          <p:cNvSpPr txBox="1"/>
          <p:nvPr/>
        </p:nvSpPr>
        <p:spPr>
          <a:xfrm>
            <a:off x="777240" y="2761488"/>
            <a:ext cx="1691640" cy="237744"/>
          </a:xfrm>
          <a:prstGeom prst="rect">
            <a:avLst/>
          </a:prstGeom>
          <a:noFill/>
        </p:spPr>
        <p:txBody>
          <a:bodyPr wrap="square" anchor="t" lIns="0" rIns="0" tIns="0" bIns="0">
            <a:spAutoFit/>
          </a:bodyPr>
          <a:lstStyle/>
          <a:p>
            <a:pPr algn="l"/>
            <a:r>
              <a:rPr sz="1050" b="0">
                <a:solidFill>
                  <a:srgbClr val="60707E"/>
                </a:solidFill>
                <a:latin typeface="Malgun Gothic"/>
              </a:rPr>
              <a:t>저장 위치</a:t>
            </a:r>
          </a:p>
        </p:txBody>
      </p:sp>
      <p:sp>
        <p:nvSpPr>
          <p:cNvPr id="10" name="TextBox 9"/>
          <p:cNvSpPr txBox="1"/>
          <p:nvPr/>
        </p:nvSpPr>
        <p:spPr>
          <a:xfrm>
            <a:off x="2514600" y="2761488"/>
            <a:ext cx="3291840" cy="237744"/>
          </a:xfrm>
          <a:prstGeom prst="rect">
            <a:avLst/>
          </a:prstGeom>
          <a:noFill/>
        </p:spPr>
        <p:txBody>
          <a:bodyPr wrap="square" anchor="t" lIns="0" rIns="0" tIns="0" bIns="0">
            <a:spAutoFit/>
          </a:bodyPr>
          <a:lstStyle/>
          <a:p>
            <a:pPr algn="l"/>
            <a:r>
              <a:rPr sz="1050" b="1">
                <a:solidFill>
                  <a:srgbClr val="17212B"/>
                </a:solidFill>
                <a:latin typeface="Malgun Gothic"/>
              </a:rPr>
              <a:t>artifacts/model/</a:t>
            </a:r>
          </a:p>
        </p:txBody>
      </p:sp>
      <p:sp>
        <p:nvSpPr>
          <p:cNvPr id="11" name="TextBox 10"/>
          <p:cNvSpPr txBox="1"/>
          <p:nvPr/>
        </p:nvSpPr>
        <p:spPr>
          <a:xfrm>
            <a:off x="777240" y="3127248"/>
            <a:ext cx="1691640" cy="237744"/>
          </a:xfrm>
          <a:prstGeom prst="rect">
            <a:avLst/>
          </a:prstGeom>
          <a:noFill/>
        </p:spPr>
        <p:txBody>
          <a:bodyPr wrap="square" anchor="t" lIns="0" rIns="0" tIns="0" bIns="0">
            <a:spAutoFit/>
          </a:bodyPr>
          <a:lstStyle/>
          <a:p>
            <a:pPr algn="l"/>
            <a:r>
              <a:rPr sz="1050" b="0">
                <a:solidFill>
                  <a:srgbClr val="60707E"/>
                </a:solidFill>
                <a:latin typeface="Malgun Gothic"/>
              </a:rPr>
              <a:t>구성</a:t>
            </a:r>
          </a:p>
        </p:txBody>
      </p:sp>
      <p:sp>
        <p:nvSpPr>
          <p:cNvPr id="12" name="TextBox 11"/>
          <p:cNvSpPr txBox="1"/>
          <p:nvPr/>
        </p:nvSpPr>
        <p:spPr>
          <a:xfrm>
            <a:off x="2514600" y="3127248"/>
            <a:ext cx="3291840" cy="237744"/>
          </a:xfrm>
          <a:prstGeom prst="rect">
            <a:avLst/>
          </a:prstGeom>
          <a:noFill/>
        </p:spPr>
        <p:txBody>
          <a:bodyPr wrap="square" anchor="t" lIns="0" rIns="0" tIns="0" bIns="0">
            <a:spAutoFit/>
          </a:bodyPr>
          <a:lstStyle/>
          <a:p>
            <a:pPr algn="l"/>
            <a:r>
              <a:rPr sz="1050" b="1">
                <a:solidFill>
                  <a:srgbClr val="17212B"/>
                </a:solidFill>
                <a:latin typeface="Malgun Gothic"/>
              </a:rPr>
              <a:t>전처리 + CatBoost 결합 Pipeline</a:t>
            </a:r>
          </a:p>
        </p:txBody>
      </p:sp>
      <p:sp>
        <p:nvSpPr>
          <p:cNvPr id="13" name="TextBox 12"/>
          <p:cNvSpPr txBox="1"/>
          <p:nvPr/>
        </p:nvSpPr>
        <p:spPr>
          <a:xfrm>
            <a:off x="777240" y="3493008"/>
            <a:ext cx="1691640" cy="237744"/>
          </a:xfrm>
          <a:prstGeom prst="rect">
            <a:avLst/>
          </a:prstGeom>
          <a:noFill/>
        </p:spPr>
        <p:txBody>
          <a:bodyPr wrap="square" anchor="t" lIns="0" rIns="0" tIns="0" bIns="0">
            <a:spAutoFit/>
          </a:bodyPr>
          <a:lstStyle/>
          <a:p>
            <a:pPr algn="l"/>
            <a:r>
              <a:rPr sz="1050" b="0">
                <a:solidFill>
                  <a:srgbClr val="60707E"/>
                </a:solidFill>
                <a:latin typeface="Malgun Gothic"/>
              </a:rPr>
              <a:t>Feature schema</a:t>
            </a:r>
          </a:p>
        </p:txBody>
      </p:sp>
      <p:sp>
        <p:nvSpPr>
          <p:cNvPr id="14" name="TextBox 13"/>
          <p:cNvSpPr txBox="1"/>
          <p:nvPr/>
        </p:nvSpPr>
        <p:spPr>
          <a:xfrm>
            <a:off x="2514600" y="3493008"/>
            <a:ext cx="3291840" cy="237744"/>
          </a:xfrm>
          <a:prstGeom prst="rect">
            <a:avLst/>
          </a:prstGeom>
          <a:noFill/>
        </p:spPr>
        <p:txBody>
          <a:bodyPr wrap="square" anchor="t" lIns="0" rIns="0" tIns="0" bIns="0">
            <a:spAutoFit/>
          </a:bodyPr>
          <a:lstStyle/>
          <a:p>
            <a:pPr algn="l"/>
            <a:r>
              <a:rPr sz="1050" b="1">
                <a:solidFill>
                  <a:srgbClr val="17212B"/>
                </a:solidFill>
                <a:latin typeface="Malgun Gothic"/>
              </a:rPr>
              <a:t>log_numeric · 19개 입력 컬럼</a:t>
            </a:r>
          </a:p>
        </p:txBody>
      </p:sp>
      <p:sp>
        <p:nvSpPr>
          <p:cNvPr id="15" name="TextBox 14"/>
          <p:cNvSpPr txBox="1"/>
          <p:nvPr/>
        </p:nvSpPr>
        <p:spPr>
          <a:xfrm>
            <a:off x="777240" y="3858768"/>
            <a:ext cx="1691640" cy="237744"/>
          </a:xfrm>
          <a:prstGeom prst="rect">
            <a:avLst/>
          </a:prstGeom>
          <a:noFill/>
        </p:spPr>
        <p:txBody>
          <a:bodyPr wrap="square" anchor="t" lIns="0" rIns="0" tIns="0" bIns="0">
            <a:spAutoFit/>
          </a:bodyPr>
          <a:lstStyle/>
          <a:p>
            <a:pPr algn="l"/>
            <a:r>
              <a:rPr sz="1050" b="0">
                <a:solidFill>
                  <a:srgbClr val="60707E"/>
                </a:solidFill>
                <a:latin typeface="Malgun Gothic"/>
              </a:rPr>
              <a:t>최종 모델</a:t>
            </a:r>
          </a:p>
        </p:txBody>
      </p:sp>
      <p:sp>
        <p:nvSpPr>
          <p:cNvPr id="16" name="TextBox 15"/>
          <p:cNvSpPr txBox="1"/>
          <p:nvPr/>
        </p:nvSpPr>
        <p:spPr>
          <a:xfrm>
            <a:off x="2514600" y="3858768"/>
            <a:ext cx="3291840" cy="237744"/>
          </a:xfrm>
          <a:prstGeom prst="rect">
            <a:avLst/>
          </a:prstGeom>
          <a:noFill/>
        </p:spPr>
        <p:txBody>
          <a:bodyPr wrap="square" anchor="t" lIns="0" rIns="0" tIns="0" bIns="0">
            <a:spAutoFit/>
          </a:bodyPr>
          <a:lstStyle/>
          <a:p>
            <a:pPr algn="l"/>
            <a:r>
              <a:rPr sz="1050" b="1">
                <a:solidFill>
                  <a:srgbClr val="17212B"/>
                </a:solidFill>
                <a:latin typeface="Malgun Gothic"/>
              </a:rPr>
              <a:t>CatBoost</a:t>
            </a:r>
          </a:p>
        </p:txBody>
      </p:sp>
      <p:sp>
        <p:nvSpPr>
          <p:cNvPr id="17" name="TextBox 16"/>
          <p:cNvSpPr txBox="1"/>
          <p:nvPr/>
        </p:nvSpPr>
        <p:spPr>
          <a:xfrm>
            <a:off x="777240" y="4224528"/>
            <a:ext cx="1691640" cy="237744"/>
          </a:xfrm>
          <a:prstGeom prst="rect">
            <a:avLst/>
          </a:prstGeom>
          <a:noFill/>
        </p:spPr>
        <p:txBody>
          <a:bodyPr wrap="square" anchor="t" lIns="0" rIns="0" tIns="0" bIns="0">
            <a:spAutoFit/>
          </a:bodyPr>
          <a:lstStyle/>
          <a:p>
            <a:pPr algn="l"/>
            <a:r>
              <a:rPr sz="1050" b="0">
                <a:solidFill>
                  <a:srgbClr val="60707E"/>
                </a:solidFill>
                <a:latin typeface="Malgun Gothic"/>
              </a:rPr>
              <a:t>OOF PR-AUC</a:t>
            </a:r>
          </a:p>
        </p:txBody>
      </p:sp>
      <p:sp>
        <p:nvSpPr>
          <p:cNvPr id="18" name="TextBox 17"/>
          <p:cNvSpPr txBox="1"/>
          <p:nvPr/>
        </p:nvSpPr>
        <p:spPr>
          <a:xfrm>
            <a:off x="2514600" y="4224528"/>
            <a:ext cx="3291840" cy="237744"/>
          </a:xfrm>
          <a:prstGeom prst="rect">
            <a:avLst/>
          </a:prstGeom>
          <a:noFill/>
        </p:spPr>
        <p:txBody>
          <a:bodyPr wrap="square" anchor="t" lIns="0" rIns="0" tIns="0" bIns="0">
            <a:spAutoFit/>
          </a:bodyPr>
          <a:lstStyle/>
          <a:p>
            <a:pPr algn="l"/>
            <a:r>
              <a:rPr sz="1050" b="1">
                <a:solidFill>
                  <a:srgbClr val="17212B"/>
                </a:solidFill>
                <a:latin typeface="Malgun Gothic"/>
              </a:rPr>
              <a:t>0.947897</a:t>
            </a:r>
          </a:p>
        </p:txBody>
      </p:sp>
      <p:sp>
        <p:nvSpPr>
          <p:cNvPr id="19" name="TextBox 18"/>
          <p:cNvSpPr txBox="1"/>
          <p:nvPr/>
        </p:nvSpPr>
        <p:spPr>
          <a:xfrm>
            <a:off x="777240" y="4590288"/>
            <a:ext cx="1691640" cy="237744"/>
          </a:xfrm>
          <a:prstGeom prst="rect">
            <a:avLst/>
          </a:prstGeom>
          <a:noFill/>
        </p:spPr>
        <p:txBody>
          <a:bodyPr wrap="square" anchor="t" lIns="0" rIns="0" tIns="0" bIns="0">
            <a:spAutoFit/>
          </a:bodyPr>
          <a:lstStyle/>
          <a:p>
            <a:pPr algn="l"/>
            <a:r>
              <a:rPr sz="1050" b="0">
                <a:solidFill>
                  <a:srgbClr val="60707E"/>
                </a:solidFill>
                <a:latin typeface="Malgun Gothic"/>
              </a:rPr>
              <a:t>Run ID</a:t>
            </a:r>
          </a:p>
        </p:txBody>
      </p:sp>
      <p:sp>
        <p:nvSpPr>
          <p:cNvPr id="20" name="TextBox 19"/>
          <p:cNvSpPr txBox="1"/>
          <p:nvPr/>
        </p:nvSpPr>
        <p:spPr>
          <a:xfrm>
            <a:off x="2514600" y="4590288"/>
            <a:ext cx="3291840" cy="237744"/>
          </a:xfrm>
          <a:prstGeom prst="rect">
            <a:avLst/>
          </a:prstGeom>
          <a:noFill/>
        </p:spPr>
        <p:txBody>
          <a:bodyPr wrap="square" anchor="t" lIns="0" rIns="0" tIns="0" bIns="0">
            <a:spAutoFit/>
          </a:bodyPr>
          <a:lstStyle/>
          <a:p>
            <a:pPr algn="l"/>
            <a:r>
              <a:rPr sz="1050" b="1">
                <a:solidFill>
                  <a:srgbClr val="17212B"/>
                </a:solidFill>
                <a:latin typeface="Malgun Gothic"/>
              </a:rPr>
              <a:t>20260721_full_fair_v1</a:t>
            </a:r>
          </a:p>
        </p:txBody>
      </p:sp>
      <p:sp>
        <p:nvSpPr>
          <p:cNvPr id="21" name="Rounded Rectangle 20"/>
          <p:cNvSpPr/>
          <p:nvPr/>
        </p:nvSpPr>
        <p:spPr>
          <a:xfrm>
            <a:off x="6153912" y="1847088"/>
            <a:ext cx="5504688" cy="3246120"/>
          </a:xfrm>
          <a:prstGeom prst="roundRect">
            <a:avLst>
              <a:gd name="adj" fmla="val 5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029968"/>
            <a:ext cx="5029200" cy="256032"/>
          </a:xfrm>
          <a:prstGeom prst="rect">
            <a:avLst/>
          </a:prstGeom>
          <a:noFill/>
        </p:spPr>
        <p:txBody>
          <a:bodyPr wrap="square" anchor="t" lIns="0" rIns="0" tIns="0" bIns="0">
            <a:spAutoFit/>
          </a:bodyPr>
          <a:lstStyle/>
          <a:p>
            <a:pPr algn="l"/>
            <a:r>
              <a:rPr sz="1300" b="1">
                <a:solidFill>
                  <a:srgbClr val="17354B"/>
                </a:solidFill>
                <a:latin typeface="Malgun Gothic"/>
              </a:rPr>
              <a:t>무결성·재로딩 검증</a:t>
            </a:r>
          </a:p>
        </p:txBody>
      </p:sp>
      <p:sp>
        <p:nvSpPr>
          <p:cNvPr id="23" name="TextBox 22"/>
          <p:cNvSpPr txBox="1"/>
          <p:nvPr/>
        </p:nvSpPr>
        <p:spPr>
          <a:xfrm>
            <a:off x="6400800" y="2395728"/>
            <a:ext cx="1691640" cy="237744"/>
          </a:xfrm>
          <a:prstGeom prst="rect">
            <a:avLst/>
          </a:prstGeom>
          <a:noFill/>
        </p:spPr>
        <p:txBody>
          <a:bodyPr wrap="square" anchor="t" lIns="0" rIns="0" tIns="0" bIns="0">
            <a:spAutoFit/>
          </a:bodyPr>
          <a:lstStyle/>
          <a:p>
            <a:pPr algn="l"/>
            <a:r>
              <a:rPr sz="1050" b="0">
                <a:solidFill>
                  <a:srgbClr val="60707E"/>
                </a:solidFill>
                <a:latin typeface="Malgun Gothic"/>
              </a:rPr>
              <a:t>SHA-256</a:t>
            </a:r>
          </a:p>
        </p:txBody>
      </p:sp>
      <p:sp>
        <p:nvSpPr>
          <p:cNvPr id="24" name="TextBox 23"/>
          <p:cNvSpPr txBox="1"/>
          <p:nvPr/>
        </p:nvSpPr>
        <p:spPr>
          <a:xfrm>
            <a:off x="8138160" y="2395728"/>
            <a:ext cx="3429000" cy="237744"/>
          </a:xfrm>
          <a:prstGeom prst="rect">
            <a:avLst/>
          </a:prstGeom>
          <a:noFill/>
        </p:spPr>
        <p:txBody>
          <a:bodyPr wrap="square" anchor="t" lIns="0" rIns="0" tIns="0" bIns="0">
            <a:spAutoFit/>
          </a:bodyPr>
          <a:lstStyle/>
          <a:p>
            <a:pPr algn="l"/>
            <a:r>
              <a:rPr sz="1050" b="1">
                <a:solidFill>
                  <a:srgbClr val="17212B"/>
                </a:solidFill>
                <a:latin typeface="Malgun Gothic"/>
              </a:rPr>
              <a:t>fc35ca91e924 … 989a7d0e</a:t>
            </a:r>
          </a:p>
        </p:txBody>
      </p:sp>
      <p:sp>
        <p:nvSpPr>
          <p:cNvPr id="25" name="TextBox 24"/>
          <p:cNvSpPr txBox="1"/>
          <p:nvPr/>
        </p:nvSpPr>
        <p:spPr>
          <a:xfrm>
            <a:off x="6400800" y="2761488"/>
            <a:ext cx="1874519" cy="237744"/>
          </a:xfrm>
          <a:prstGeom prst="rect">
            <a:avLst/>
          </a:prstGeom>
          <a:noFill/>
        </p:spPr>
        <p:txBody>
          <a:bodyPr wrap="square" anchor="t" lIns="0" rIns="0" tIns="0" bIns="0">
            <a:spAutoFit/>
          </a:bodyPr>
          <a:lstStyle/>
          <a:p>
            <a:pPr algn="l"/>
            <a:r>
              <a:rPr sz="1050" b="0">
                <a:solidFill>
                  <a:srgbClr val="60707E"/>
                </a:solidFill>
                <a:latin typeface="Malgun Gothic"/>
              </a:rPr>
              <a:t>파일 SHA 일치</a:t>
            </a:r>
          </a:p>
        </p:txBody>
      </p:sp>
      <p:sp>
        <p:nvSpPr>
          <p:cNvPr id="26" name="TextBox 25"/>
          <p:cNvSpPr txBox="1"/>
          <p:nvPr/>
        </p:nvSpPr>
        <p:spPr>
          <a:xfrm>
            <a:off x="8275320" y="2761488"/>
            <a:ext cx="3291840" cy="237744"/>
          </a:xfrm>
          <a:prstGeom prst="rect">
            <a:avLst/>
          </a:prstGeom>
          <a:noFill/>
        </p:spPr>
        <p:txBody>
          <a:bodyPr wrap="square" anchor="t" lIns="0" rIns="0" tIns="0" bIns="0">
            <a:spAutoFit/>
          </a:bodyPr>
          <a:lstStyle/>
          <a:p>
            <a:pPr algn="l"/>
            <a:r>
              <a:rPr sz="1050" b="1">
                <a:solidFill>
                  <a:srgbClr val="17212B"/>
                </a:solidFill>
                <a:latin typeface="Malgun Gothic"/>
              </a:rPr>
              <a:t>music_churn_pipeline.joblib 검증</a:t>
            </a:r>
          </a:p>
        </p:txBody>
      </p:sp>
      <p:sp>
        <p:nvSpPr>
          <p:cNvPr id="27" name="TextBox 26"/>
          <p:cNvSpPr txBox="1"/>
          <p:nvPr/>
        </p:nvSpPr>
        <p:spPr>
          <a:xfrm>
            <a:off x="6400800" y="3127248"/>
            <a:ext cx="1874519" cy="237744"/>
          </a:xfrm>
          <a:prstGeom prst="rect">
            <a:avLst/>
          </a:prstGeom>
          <a:noFill/>
        </p:spPr>
        <p:txBody>
          <a:bodyPr wrap="square" anchor="t" lIns="0" rIns="0" tIns="0" bIns="0">
            <a:spAutoFit/>
          </a:bodyPr>
          <a:lstStyle/>
          <a:p>
            <a:pPr algn="l"/>
            <a:r>
              <a:rPr sz="1050" b="0">
                <a:solidFill>
                  <a:srgbClr val="60707E"/>
                </a:solidFill>
                <a:latin typeface="Malgun Gothic"/>
              </a:rPr>
              <a:t>reload_verified</a:t>
            </a:r>
          </a:p>
        </p:txBody>
      </p:sp>
      <p:sp>
        <p:nvSpPr>
          <p:cNvPr id="28" name="TextBox 27"/>
          <p:cNvSpPr txBox="1"/>
          <p:nvPr/>
        </p:nvSpPr>
        <p:spPr>
          <a:xfrm>
            <a:off x="8275320" y="3127248"/>
            <a:ext cx="3291840" cy="237744"/>
          </a:xfrm>
          <a:prstGeom prst="rect">
            <a:avLst/>
          </a:prstGeom>
          <a:noFill/>
        </p:spPr>
        <p:txBody>
          <a:bodyPr wrap="square" anchor="t" lIns="0" rIns="0" tIns="0" bIns="0">
            <a:spAutoFit/>
          </a:bodyPr>
          <a:lstStyle/>
          <a:p>
            <a:pPr algn="l"/>
            <a:r>
              <a:rPr sz="1050" b="1">
                <a:solidFill>
                  <a:srgbClr val="17212B"/>
                </a:solidFill>
                <a:latin typeface="Malgun Gothic"/>
              </a:rPr>
              <a:t>true</a:t>
            </a:r>
          </a:p>
        </p:txBody>
      </p:sp>
      <p:sp>
        <p:nvSpPr>
          <p:cNvPr id="29" name="TextBox 28"/>
          <p:cNvSpPr txBox="1"/>
          <p:nvPr/>
        </p:nvSpPr>
        <p:spPr>
          <a:xfrm>
            <a:off x="6400800" y="3493008"/>
            <a:ext cx="1874519" cy="237744"/>
          </a:xfrm>
          <a:prstGeom prst="rect">
            <a:avLst/>
          </a:prstGeom>
          <a:noFill/>
        </p:spPr>
        <p:txBody>
          <a:bodyPr wrap="square" anchor="t" lIns="0" rIns="0" tIns="0" bIns="0">
            <a:spAutoFit/>
          </a:bodyPr>
          <a:lstStyle/>
          <a:p>
            <a:pPr algn="l"/>
            <a:r>
              <a:rPr sz="1050" b="0">
                <a:solidFill>
                  <a:srgbClr val="60707E"/>
                </a:solidFill>
                <a:latin typeface="Malgun Gothic"/>
              </a:rPr>
              <a:t>새 프로세스 재로딩</a:t>
            </a:r>
          </a:p>
        </p:txBody>
      </p:sp>
      <p:sp>
        <p:nvSpPr>
          <p:cNvPr id="30" name="TextBox 29"/>
          <p:cNvSpPr txBox="1"/>
          <p:nvPr/>
        </p:nvSpPr>
        <p:spPr>
          <a:xfrm>
            <a:off x="8275320" y="3493008"/>
            <a:ext cx="3291840" cy="237744"/>
          </a:xfrm>
          <a:prstGeom prst="rect">
            <a:avLst/>
          </a:prstGeom>
          <a:noFill/>
        </p:spPr>
        <p:txBody>
          <a:bodyPr wrap="square" anchor="t" lIns="0" rIns="0" tIns="0" bIns="0">
            <a:spAutoFit/>
          </a:bodyPr>
          <a:lstStyle/>
          <a:p>
            <a:pPr algn="l"/>
            <a:r>
              <a:rPr sz="1050" b="1">
                <a:solidFill>
                  <a:srgbClr val="17212B"/>
                </a:solidFill>
                <a:latin typeface="Malgun Gothic"/>
              </a:rPr>
              <a:t>true (fresh_process)</a:t>
            </a:r>
          </a:p>
        </p:txBody>
      </p:sp>
      <p:sp>
        <p:nvSpPr>
          <p:cNvPr id="31" name="TextBox 30"/>
          <p:cNvSpPr txBox="1"/>
          <p:nvPr/>
        </p:nvSpPr>
        <p:spPr>
          <a:xfrm>
            <a:off x="6400800" y="3858768"/>
            <a:ext cx="1874519" cy="237744"/>
          </a:xfrm>
          <a:prstGeom prst="rect">
            <a:avLst/>
          </a:prstGeom>
          <a:noFill/>
        </p:spPr>
        <p:txBody>
          <a:bodyPr wrap="square" anchor="t" lIns="0" rIns="0" tIns="0" bIns="0">
            <a:spAutoFit/>
          </a:bodyPr>
          <a:lstStyle/>
          <a:p>
            <a:pPr algn="l"/>
            <a:r>
              <a:rPr sz="1050" b="0">
                <a:solidFill>
                  <a:srgbClr val="60707E"/>
                </a:solidFill>
                <a:latin typeface="Malgun Gothic"/>
              </a:rPr>
              <a:t>소스 후보</a:t>
            </a:r>
          </a:p>
        </p:txBody>
      </p:sp>
      <p:sp>
        <p:nvSpPr>
          <p:cNvPr id="32" name="TextBox 31"/>
          <p:cNvSpPr txBox="1"/>
          <p:nvPr/>
        </p:nvSpPr>
        <p:spPr>
          <a:xfrm>
            <a:off x="8275320" y="3858768"/>
            <a:ext cx="3291840" cy="237744"/>
          </a:xfrm>
          <a:prstGeom prst="rect">
            <a:avLst/>
          </a:prstGeom>
          <a:noFill/>
        </p:spPr>
        <p:txBody>
          <a:bodyPr wrap="square" anchor="t" lIns="0" rIns="0" tIns="0" bIns="0">
            <a:spAutoFit/>
          </a:bodyPr>
          <a:lstStyle/>
          <a:p>
            <a:pPr algn="l"/>
            <a:r>
              <a:rPr sz="1050" b="1">
                <a:solidFill>
                  <a:srgbClr val="17212B"/>
                </a:solidFill>
                <a:latin typeface="Malgun Gothic"/>
              </a:rPr>
              <a:t>models/candidates/…/candidate_pipeline.joblib</a:t>
            </a:r>
          </a:p>
        </p:txBody>
      </p:sp>
      <p:sp>
        <p:nvSpPr>
          <p:cNvPr id="33" name="TextBox 32"/>
          <p:cNvSpPr txBox="1"/>
          <p:nvPr/>
        </p:nvSpPr>
        <p:spPr>
          <a:xfrm>
            <a:off x="6400800" y="4224528"/>
            <a:ext cx="1874519" cy="237744"/>
          </a:xfrm>
          <a:prstGeom prst="rect">
            <a:avLst/>
          </a:prstGeom>
          <a:noFill/>
        </p:spPr>
        <p:txBody>
          <a:bodyPr wrap="square" anchor="t" lIns="0" rIns="0" tIns="0" bIns="0">
            <a:spAutoFit/>
          </a:bodyPr>
          <a:lstStyle/>
          <a:p>
            <a:pPr algn="l"/>
            <a:r>
              <a:rPr sz="1050" b="0">
                <a:solidFill>
                  <a:srgbClr val="60707E"/>
                </a:solidFill>
                <a:latin typeface="Malgun Gothic"/>
              </a:rPr>
              <a:t>로드 규칙</a:t>
            </a:r>
          </a:p>
        </p:txBody>
      </p:sp>
      <p:sp>
        <p:nvSpPr>
          <p:cNvPr id="34" name="TextBox 33"/>
          <p:cNvSpPr txBox="1"/>
          <p:nvPr/>
        </p:nvSpPr>
        <p:spPr>
          <a:xfrm>
            <a:off x="8275320" y="4224528"/>
            <a:ext cx="3291840" cy="237744"/>
          </a:xfrm>
          <a:prstGeom prst="rect">
            <a:avLst/>
          </a:prstGeom>
          <a:noFill/>
        </p:spPr>
        <p:txBody>
          <a:bodyPr wrap="square" anchor="t" lIns="0" rIns="0" tIns="0" bIns="0">
            <a:spAutoFit/>
          </a:bodyPr>
          <a:lstStyle/>
          <a:p>
            <a:pPr algn="l"/>
            <a:r>
              <a:rPr sz="1050" b="1">
                <a:solidFill>
                  <a:srgbClr val="17212B"/>
                </a:solidFill>
                <a:latin typeface="Malgun Gothic"/>
              </a:rPr>
              <a:t>저장소 내부 경로 + SHA-256 검증 후 로드</a:t>
            </a:r>
          </a:p>
        </p:txBody>
      </p:sp>
      <p:sp>
        <p:nvSpPr>
          <p:cNvPr id="35" name="Rounded Rectangle 34"/>
          <p:cNvSpPr/>
          <p:nvPr/>
        </p:nvSpPr>
        <p:spPr>
          <a:xfrm>
            <a:off x="530352" y="5285232"/>
            <a:ext cx="11128248" cy="713232"/>
          </a:xfrm>
          <a:prstGeom prst="roundRect">
            <a:avLst>
              <a:gd name="adj" fmla="val 9000"/>
            </a:avLst>
          </a:prstGeom>
          <a:solidFill>
            <a:srgbClr val="173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394960"/>
            <a:ext cx="914400" cy="256032"/>
          </a:xfrm>
          <a:prstGeom prst="rect">
            <a:avLst/>
          </a:prstGeom>
          <a:noFill/>
        </p:spPr>
        <p:txBody>
          <a:bodyPr wrap="square" anchor="t" lIns="0" rIns="0" tIns="0" bIns="0">
            <a:spAutoFit/>
          </a:bodyPr>
          <a:lstStyle/>
          <a:p>
            <a:pPr algn="l"/>
            <a:r>
              <a:rPr sz="1100" b="1">
                <a:solidFill>
                  <a:srgbClr val="F6A28F"/>
                </a:solidFill>
                <a:latin typeface="Malgun Gothic"/>
              </a:rPr>
              <a:t>의미</a:t>
            </a:r>
          </a:p>
        </p:txBody>
      </p:sp>
      <p:sp>
        <p:nvSpPr>
          <p:cNvPr id="37" name="TextBox 36"/>
          <p:cNvSpPr txBox="1"/>
          <p:nvPr/>
        </p:nvSpPr>
        <p:spPr>
          <a:xfrm>
            <a:off x="777240" y="5669280"/>
            <a:ext cx="10881360" cy="256032"/>
          </a:xfrm>
          <a:prstGeom prst="rect">
            <a:avLst/>
          </a:prstGeom>
          <a:noFill/>
        </p:spPr>
        <p:txBody>
          <a:bodyPr wrap="square" anchor="t" lIns="0" rIns="0" tIns="0" bIns="0">
            <a:spAutoFit/>
          </a:bodyPr>
          <a:lstStyle/>
          <a:p>
            <a:pPr algn="l"/>
            <a:r>
              <a:rPr sz="1350" b="1">
                <a:solidFill>
                  <a:srgbClr val="FFFFFF"/>
                </a:solidFill>
                <a:latin typeface="Malgun Gothic"/>
              </a:rPr>
              <a:t>학습 결과를 Streamlit이 동일하게 재사용하도록 모델·전처리·Metadata를 하나의 Pipeline으로 함께 고정했습니다.</a:t>
            </a:r>
          </a:p>
        </p:txBody>
      </p:sp>
      <p:sp>
        <p:nvSpPr>
          <p:cNvPr id="38" name="TextBox 37"/>
          <p:cNvSpPr txBox="1"/>
          <p:nvPr/>
        </p:nvSpPr>
        <p:spPr>
          <a:xfrm>
            <a:off x="11064240" y="6510528"/>
            <a:ext cx="594360" cy="173736"/>
          </a:xfrm>
          <a:prstGeom prst="rect">
            <a:avLst/>
          </a:prstGeom>
          <a:noFill/>
        </p:spPr>
        <p:txBody>
          <a:bodyPr wrap="square" anchor="t" lIns="0" rIns="0" tIns="0" bIns="0">
            <a:spAutoFit/>
          </a:bodyPr>
          <a:lstStyle/>
          <a:p>
            <a:pPr algn="r"/>
            <a:r>
              <a:rPr sz="825" b="1">
                <a:solidFill>
                  <a:srgbClr val="60707E"/>
                </a:solidFill>
                <a:latin typeface="Malgun Gothic"/>
              </a:rPr>
              <a:t>10</a:t>
            </a:r>
          </a:p>
        </p:txBody>
      </p:sp>
      <p:sp>
        <p:nvSpPr>
          <p:cNvPr id="39" name="Rectangle 38"/>
          <p:cNvSpPr/>
          <p:nvPr/>
        </p:nvSpPr>
        <p:spPr>
          <a:xfrm>
            <a:off x="530352" y="6437376"/>
            <a:ext cx="11128248" cy="10972"/>
          </a:xfrm>
          <a:prstGeom prst="rect">
            <a:avLst/>
          </a:prstGeom>
          <a:solidFill>
            <a:srgbClr val="D9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 y="6537960"/>
            <a:ext cx="5330952" cy="155448"/>
          </a:xfrm>
          <a:prstGeom prst="rect">
            <a:avLst/>
          </a:prstGeom>
          <a:noFill/>
        </p:spPr>
        <p:txBody>
          <a:bodyPr wrap="square" anchor="t" lIns="0" rIns="0" tIns="0" bIns="0">
            <a:spAutoFit/>
          </a:bodyPr>
          <a:lstStyle/>
          <a:p>
            <a:pPr algn="l"/>
            <a:r>
              <a:rPr sz="750" b="0">
                <a:solidFill>
                  <a:srgbClr val="60707E"/>
                </a:solidFill>
                <a:latin typeface="Malgun Gothic"/>
              </a:rPr>
              <a:t>PlaylistPro · Retention Decision Support</a:t>
            </a:r>
          </a:p>
        </p:txBody>
      </p:sp>
      <p:sp>
        <p:nvSpPr>
          <p:cNvPr id="41" name="TextBox 40"/>
          <p:cNvSpPr txBox="1"/>
          <p:nvPr/>
        </p:nvSpPr>
        <p:spPr>
          <a:xfrm>
            <a:off x="530352" y="6199632"/>
            <a:ext cx="10570464" cy="164592"/>
          </a:xfrm>
          <a:prstGeom prst="rect">
            <a:avLst/>
          </a:prstGeom>
          <a:noFill/>
        </p:spPr>
        <p:txBody>
          <a:bodyPr wrap="square" anchor="t" lIns="0" rIns="0" tIns="0" bIns="0">
            <a:spAutoFit/>
          </a:bodyPr>
          <a:lstStyle/>
          <a:p>
            <a:pPr algn="l"/>
            <a:r>
              <a:rPr sz="750" b="0">
                <a:solidFill>
                  <a:srgbClr val="60707E"/>
                </a:solidFill>
                <a:latin typeface="Malgun Gothic"/>
              </a:rPr>
              <a:t>근거: artifacts/model/metadata.json · run_manifest.json · artifacts/model/music_churn_pipeline.joblib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155448"/>
            <a:ext cx="5943600" cy="210312"/>
          </a:xfrm>
          <a:prstGeom prst="rect">
            <a:avLst/>
          </a:prstGeom>
          <a:noFill/>
        </p:spPr>
        <p:txBody>
          <a:bodyPr wrap="square" anchor="t" lIns="0" rIns="0" tIns="0" bIns="0">
            <a:spAutoFit/>
          </a:bodyPr>
          <a:lstStyle/>
          <a:p>
            <a:pPr algn="l"/>
            <a:r>
              <a:rPr sz="900" b="1">
                <a:solidFill>
                  <a:srgbClr val="E85E43"/>
                </a:solidFill>
                <a:latin typeface="Malgun Gothic"/>
              </a:rPr>
              <a:t>STREAMLIT · OPERATING CONTROLS</a:t>
            </a:r>
          </a:p>
        </p:txBody>
      </p:sp>
      <p:sp>
        <p:nvSpPr>
          <p:cNvPr id="3" name="TextBox 2"/>
          <p:cNvSpPr txBox="1"/>
          <p:nvPr/>
        </p:nvSpPr>
        <p:spPr>
          <a:xfrm>
            <a:off x="530352" y="402336"/>
            <a:ext cx="11119104" cy="1005840"/>
          </a:xfrm>
          <a:prstGeom prst="rect">
            <a:avLst/>
          </a:prstGeom>
          <a:noFill/>
        </p:spPr>
        <p:txBody>
          <a:bodyPr wrap="square" anchor="t" lIns="0" rIns="0" tIns="0" bIns="0">
            <a:spAutoFit/>
          </a:bodyPr>
          <a:lstStyle/>
          <a:p>
            <a:pPr algn="l"/>
            <a:r>
              <a:rPr sz="2850" b="1">
                <a:solidFill>
                  <a:srgbClr val="17212B"/>
                </a:solidFill>
                <a:latin typeface="Malgun Gothic"/>
              </a:rPr>
              <a:t>Streamlit에서 Threshold와 Top-K를 실제 검토 인원으로 바꿉니다</a:t>
            </a:r>
          </a:p>
        </p:txBody>
      </p:sp>
      <p:sp>
        <p:nvSpPr>
          <p:cNvPr id="4" name="TextBox 3"/>
          <p:cNvSpPr txBox="1"/>
          <p:nvPr/>
        </p:nvSpPr>
        <p:spPr>
          <a:xfrm>
            <a:off x="530352" y="1453896"/>
            <a:ext cx="10762488" cy="274320"/>
          </a:xfrm>
          <a:prstGeom prst="rect">
            <a:avLst/>
          </a:prstGeom>
          <a:noFill/>
        </p:spPr>
        <p:txBody>
          <a:bodyPr wrap="square" anchor="t" lIns="0" rIns="0" tIns="0" bIns="0">
            <a:spAutoFit/>
          </a:bodyPr>
          <a:lstStyle/>
          <a:p>
            <a:pPr algn="l"/>
            <a:r>
              <a:rPr sz="1200" b="0">
                <a:solidFill>
                  <a:srgbClr val="60707E"/>
                </a:solidFill>
                <a:latin typeface="Malgun Gothic"/>
              </a:rPr>
              <a:t>정답 하나가 아니라 자원과 오류 비용에 맞춰 운영자가 선택한다 · Lift는 위험 농축도</a:t>
            </a:r>
          </a:p>
        </p:txBody>
      </p:sp>
      <p:sp>
        <p:nvSpPr>
          <p:cNvPr id="5" name="Rounded Rectangle 4"/>
          <p:cNvSpPr/>
          <p:nvPr/>
        </p:nvSpPr>
        <p:spPr>
          <a:xfrm>
            <a:off x="530352" y="1810512"/>
            <a:ext cx="5504688" cy="2788920"/>
          </a:xfrm>
          <a:prstGeom prst="roundRect">
            <a:avLst>
              <a:gd name="adj" fmla="val 3000"/>
            </a:avLst>
          </a:prstGeom>
          <a:solidFill>
            <a:srgbClr val="FFFFFF"/>
          </a:solidFill>
          <a:ln w="9525">
            <a:solidFill>
              <a:srgbClr val="D9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836969" y="1920240"/>
            <a:ext cx="4891452" cy="2569463"/>
          </a:xfrm>
          <a:prstGeom prst="rect">
            <a:avLst/>
          </a:prstGeom>
        </p:spPr>
      </p:pic>
      <p:sp>
        <p:nvSpPr>
          <p:cNvPr id="7" name="Rounded Rectangle 6"/>
          <p:cNvSpPr/>
          <p:nvPr/>
        </p:nvSpPr>
        <p:spPr>
          <a:xfrm>
            <a:off x="6153912" y="1810512"/>
            <a:ext cx="5504688" cy="2788920"/>
          </a:xfrm>
          <a:prstGeom prst="roundRect">
            <a:avLst>
              <a:gd name="adj" fmla="val 3000"/>
            </a:avLst>
          </a:prstGeom>
          <a:solidFill>
            <a:srgbClr val="FFFFFF"/>
          </a:solidFill>
          <a:ln w="9525">
            <a:solidFill>
              <a:srgbClr val="D9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6463584" y="1920240"/>
            <a:ext cx="4885342" cy="2569463"/>
          </a:xfrm>
          <a:prstGeom prst="rect">
            <a:avLst/>
          </a:prstGeom>
        </p:spPr>
      </p:pic>
      <p:sp>
        <p:nvSpPr>
          <p:cNvPr id="9" name="Rounded Rectangle 8"/>
          <p:cNvSpPr/>
          <p:nvPr/>
        </p:nvSpPr>
        <p:spPr>
          <a:xfrm>
            <a:off x="530352" y="4736592"/>
            <a:ext cx="2688336" cy="932688"/>
          </a:xfrm>
          <a:prstGeom prst="roundRect">
            <a:avLst>
              <a:gd name="adj" fmla="val 6000"/>
            </a:avLst>
          </a:prstGeom>
          <a:solidFill>
            <a:srgbClr val="ED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46320"/>
            <a:ext cx="2395728" cy="237744"/>
          </a:xfrm>
          <a:prstGeom prst="rect">
            <a:avLst/>
          </a:prstGeom>
          <a:noFill/>
        </p:spPr>
        <p:txBody>
          <a:bodyPr wrap="square" anchor="t" lIns="0" rIns="0" tIns="0" bIns="0">
            <a:spAutoFit/>
          </a:bodyPr>
          <a:lstStyle/>
          <a:p>
            <a:pPr algn="l"/>
            <a:r>
              <a:rPr sz="1100" b="1">
                <a:solidFill>
                  <a:srgbClr val="18847A"/>
                </a:solidFill>
                <a:latin typeface="Malgun Gothic"/>
              </a:rPr>
              <a:t>재현율 우선 · Th 0.29</a:t>
            </a:r>
          </a:p>
        </p:txBody>
      </p:sp>
      <p:sp>
        <p:nvSpPr>
          <p:cNvPr id="11" name="TextBox 10"/>
          <p:cNvSpPr txBox="1"/>
          <p:nvPr/>
        </p:nvSpPr>
        <p:spPr>
          <a:xfrm>
            <a:off x="694944" y="5157216"/>
            <a:ext cx="2395728" cy="219456"/>
          </a:xfrm>
          <a:prstGeom prst="rect">
            <a:avLst/>
          </a:prstGeom>
          <a:noFill/>
        </p:spPr>
        <p:txBody>
          <a:bodyPr wrap="square" anchor="t" lIns="0" rIns="0" tIns="0" bIns="0">
            <a:spAutoFit/>
          </a:bodyPr>
          <a:lstStyle/>
          <a:p>
            <a:pPr algn="l"/>
            <a:r>
              <a:rPr sz="1050" b="0">
                <a:solidFill>
                  <a:srgbClr val="17212B"/>
                </a:solidFill>
                <a:latin typeface="Malgun Gothic"/>
              </a:rPr>
              <a:t>77,700명 · Recall 95.18%</a:t>
            </a:r>
          </a:p>
        </p:txBody>
      </p:sp>
      <p:sp>
        <p:nvSpPr>
          <p:cNvPr id="12" name="TextBox 11"/>
          <p:cNvSpPr txBox="1"/>
          <p:nvPr/>
        </p:nvSpPr>
        <p:spPr>
          <a:xfrm>
            <a:off x="694944" y="5394960"/>
            <a:ext cx="2395728" cy="219456"/>
          </a:xfrm>
          <a:prstGeom prst="rect">
            <a:avLst/>
          </a:prstGeom>
          <a:noFill/>
        </p:spPr>
        <p:txBody>
          <a:bodyPr wrap="square" anchor="t" lIns="0" rIns="0" tIns="0" bIns="0">
            <a:spAutoFit/>
          </a:bodyPr>
          <a:lstStyle/>
          <a:p>
            <a:pPr algn="l"/>
            <a:r>
              <a:rPr sz="1050" b="0">
                <a:solidFill>
                  <a:srgbClr val="60707E"/>
                </a:solidFill>
                <a:latin typeface="Malgun Gothic"/>
              </a:rPr>
              <a:t>FN 3,091 · FP 16,617</a:t>
            </a:r>
          </a:p>
        </p:txBody>
      </p:sp>
      <p:sp>
        <p:nvSpPr>
          <p:cNvPr id="13" name="Rounded Rectangle 12"/>
          <p:cNvSpPr/>
          <p:nvPr/>
        </p:nvSpPr>
        <p:spPr>
          <a:xfrm>
            <a:off x="3319272" y="4736592"/>
            <a:ext cx="2688336" cy="932688"/>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3864" y="4846320"/>
            <a:ext cx="2395728" cy="237744"/>
          </a:xfrm>
          <a:prstGeom prst="rect">
            <a:avLst/>
          </a:prstGeom>
          <a:noFill/>
        </p:spPr>
        <p:txBody>
          <a:bodyPr wrap="square" anchor="t" lIns="0" rIns="0" tIns="0" bIns="0">
            <a:spAutoFit/>
          </a:bodyPr>
          <a:lstStyle/>
          <a:p>
            <a:pPr algn="l"/>
            <a:r>
              <a:rPr sz="1100" b="1">
                <a:solidFill>
                  <a:srgbClr val="17354B"/>
                </a:solidFill>
                <a:latin typeface="Malgun Gothic"/>
              </a:rPr>
              <a:t>균형형 F1 · Th 0.35</a:t>
            </a:r>
          </a:p>
        </p:txBody>
      </p:sp>
      <p:sp>
        <p:nvSpPr>
          <p:cNvPr id="15" name="TextBox 14"/>
          <p:cNvSpPr txBox="1"/>
          <p:nvPr/>
        </p:nvSpPr>
        <p:spPr>
          <a:xfrm>
            <a:off x="3483864" y="5157216"/>
            <a:ext cx="2395728" cy="219456"/>
          </a:xfrm>
          <a:prstGeom prst="rect">
            <a:avLst/>
          </a:prstGeom>
          <a:noFill/>
        </p:spPr>
        <p:txBody>
          <a:bodyPr wrap="square" anchor="t" lIns="0" rIns="0" tIns="0" bIns="0">
            <a:spAutoFit/>
          </a:bodyPr>
          <a:lstStyle/>
          <a:p>
            <a:pPr algn="l"/>
            <a:r>
              <a:rPr sz="1050" b="0">
                <a:solidFill>
                  <a:srgbClr val="17212B"/>
                </a:solidFill>
                <a:latin typeface="Malgun Gothic"/>
              </a:rPr>
              <a:t>76,143명 · Recall 94.44%</a:t>
            </a:r>
          </a:p>
        </p:txBody>
      </p:sp>
      <p:sp>
        <p:nvSpPr>
          <p:cNvPr id="16" name="TextBox 15"/>
          <p:cNvSpPr txBox="1"/>
          <p:nvPr/>
        </p:nvSpPr>
        <p:spPr>
          <a:xfrm>
            <a:off x="3483864" y="5394960"/>
            <a:ext cx="2395728" cy="219456"/>
          </a:xfrm>
          <a:prstGeom prst="rect">
            <a:avLst/>
          </a:prstGeom>
          <a:noFill/>
        </p:spPr>
        <p:txBody>
          <a:bodyPr wrap="square" anchor="t" lIns="0" rIns="0" tIns="0" bIns="0">
            <a:spAutoFit/>
          </a:bodyPr>
          <a:lstStyle/>
          <a:p>
            <a:pPr algn="l"/>
            <a:r>
              <a:rPr sz="1050" b="0">
                <a:solidFill>
                  <a:srgbClr val="60707E"/>
                </a:solidFill>
                <a:latin typeface="Malgun Gothic"/>
              </a:rPr>
              <a:t>FN 3,569 · FP 15,538</a:t>
            </a:r>
          </a:p>
        </p:txBody>
      </p:sp>
      <p:sp>
        <p:nvSpPr>
          <p:cNvPr id="17" name="Rounded Rectangle 16"/>
          <p:cNvSpPr/>
          <p:nvPr/>
        </p:nvSpPr>
        <p:spPr>
          <a:xfrm>
            <a:off x="6108192" y="4736592"/>
            <a:ext cx="2688336" cy="932688"/>
          </a:xfrm>
          <a:prstGeom prst="roundRect">
            <a:avLst>
              <a:gd name="adj" fmla="val 6000"/>
            </a:avLst>
          </a:prstGeom>
          <a:solidFill>
            <a:srgbClr val="FF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2783" y="4846320"/>
            <a:ext cx="2395728" cy="237744"/>
          </a:xfrm>
          <a:prstGeom prst="rect">
            <a:avLst/>
          </a:prstGeom>
          <a:noFill/>
        </p:spPr>
        <p:txBody>
          <a:bodyPr wrap="square" anchor="t" lIns="0" rIns="0" tIns="0" bIns="0">
            <a:spAutoFit/>
          </a:bodyPr>
          <a:lstStyle/>
          <a:p>
            <a:pPr algn="l"/>
            <a:r>
              <a:rPr sz="1100" b="1">
                <a:solidFill>
                  <a:srgbClr val="E85E43"/>
                </a:solidFill>
                <a:latin typeface="Malgun Gothic"/>
              </a:rPr>
              <a:t>정밀도 우선 · Th 0.74</a:t>
            </a:r>
          </a:p>
        </p:txBody>
      </p:sp>
      <p:sp>
        <p:nvSpPr>
          <p:cNvPr id="19" name="TextBox 18"/>
          <p:cNvSpPr txBox="1"/>
          <p:nvPr/>
        </p:nvSpPr>
        <p:spPr>
          <a:xfrm>
            <a:off x="6272783" y="5157216"/>
            <a:ext cx="2395728" cy="219456"/>
          </a:xfrm>
          <a:prstGeom prst="rect">
            <a:avLst/>
          </a:prstGeom>
          <a:noFill/>
        </p:spPr>
        <p:txBody>
          <a:bodyPr wrap="square" anchor="t" lIns="0" rIns="0" tIns="0" bIns="0">
            <a:spAutoFit/>
          </a:bodyPr>
          <a:lstStyle/>
          <a:p>
            <a:pPr algn="l"/>
            <a:r>
              <a:rPr sz="1050" b="0">
                <a:solidFill>
                  <a:srgbClr val="17212B"/>
                </a:solidFill>
                <a:latin typeface="Malgun Gothic"/>
              </a:rPr>
              <a:t>48,463명 · Precision 95.07%</a:t>
            </a:r>
          </a:p>
        </p:txBody>
      </p:sp>
      <p:sp>
        <p:nvSpPr>
          <p:cNvPr id="20" name="TextBox 19"/>
          <p:cNvSpPr txBox="1"/>
          <p:nvPr/>
        </p:nvSpPr>
        <p:spPr>
          <a:xfrm>
            <a:off x="6272783" y="5394960"/>
            <a:ext cx="2395728" cy="219456"/>
          </a:xfrm>
          <a:prstGeom prst="rect">
            <a:avLst/>
          </a:prstGeom>
          <a:noFill/>
        </p:spPr>
        <p:txBody>
          <a:bodyPr wrap="square" anchor="t" lIns="0" rIns="0" tIns="0" bIns="0">
            <a:spAutoFit/>
          </a:bodyPr>
          <a:lstStyle/>
          <a:p>
            <a:pPr algn="l"/>
            <a:r>
              <a:rPr sz="1050" b="0">
                <a:solidFill>
                  <a:srgbClr val="60707E"/>
                </a:solidFill>
                <a:latin typeface="Malgun Gothic"/>
              </a:rPr>
              <a:t>FN 18,099 · FP 2,388</a:t>
            </a:r>
          </a:p>
        </p:txBody>
      </p:sp>
      <p:sp>
        <p:nvSpPr>
          <p:cNvPr id="21" name="Rounded Rectangle 20"/>
          <p:cNvSpPr/>
          <p:nvPr/>
        </p:nvSpPr>
        <p:spPr>
          <a:xfrm>
            <a:off x="8897111" y="4736592"/>
            <a:ext cx="2688336" cy="932688"/>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1703" y="4846320"/>
            <a:ext cx="2395728" cy="237744"/>
          </a:xfrm>
          <a:prstGeom prst="rect">
            <a:avLst/>
          </a:prstGeom>
          <a:noFill/>
        </p:spPr>
        <p:txBody>
          <a:bodyPr wrap="square" anchor="t" lIns="0" rIns="0" tIns="0" bIns="0">
            <a:spAutoFit/>
          </a:bodyPr>
          <a:lstStyle/>
          <a:p>
            <a:pPr algn="l"/>
            <a:r>
              <a:rPr sz="1100" b="1">
                <a:solidFill>
                  <a:srgbClr val="17354B"/>
                </a:solidFill>
                <a:latin typeface="Malgun Gothic"/>
              </a:rPr>
              <a:t>Top 10% 용량</a:t>
            </a:r>
          </a:p>
        </p:txBody>
      </p:sp>
      <p:sp>
        <p:nvSpPr>
          <p:cNvPr id="23" name="TextBox 22"/>
          <p:cNvSpPr txBox="1"/>
          <p:nvPr/>
        </p:nvSpPr>
        <p:spPr>
          <a:xfrm>
            <a:off x="9061703" y="5157216"/>
            <a:ext cx="2395728" cy="219456"/>
          </a:xfrm>
          <a:prstGeom prst="rect">
            <a:avLst/>
          </a:prstGeom>
          <a:noFill/>
        </p:spPr>
        <p:txBody>
          <a:bodyPr wrap="square" anchor="t" lIns="0" rIns="0" tIns="0" bIns="0">
            <a:spAutoFit/>
          </a:bodyPr>
          <a:lstStyle/>
          <a:p>
            <a:pPr algn="l"/>
            <a:r>
              <a:rPr sz="1050" b="0">
                <a:solidFill>
                  <a:srgbClr val="17212B"/>
                </a:solidFill>
                <a:latin typeface="Malgun Gothic"/>
              </a:rPr>
              <a:t>12,500명 · Capture 19.48%</a:t>
            </a:r>
          </a:p>
        </p:txBody>
      </p:sp>
      <p:sp>
        <p:nvSpPr>
          <p:cNvPr id="24" name="TextBox 23"/>
          <p:cNvSpPr txBox="1"/>
          <p:nvPr/>
        </p:nvSpPr>
        <p:spPr>
          <a:xfrm>
            <a:off x="9061703" y="5394960"/>
            <a:ext cx="2395728" cy="219456"/>
          </a:xfrm>
          <a:prstGeom prst="rect">
            <a:avLst/>
          </a:prstGeom>
          <a:noFill/>
        </p:spPr>
        <p:txBody>
          <a:bodyPr wrap="square" anchor="t" lIns="0" rIns="0" tIns="0" bIns="0">
            <a:spAutoFit/>
          </a:bodyPr>
          <a:lstStyle/>
          <a:p>
            <a:pPr algn="l"/>
            <a:r>
              <a:rPr sz="1050" b="0">
                <a:solidFill>
                  <a:srgbClr val="60707E"/>
                </a:solidFill>
                <a:latin typeface="Malgun Gothic"/>
              </a:rPr>
              <a:t>Lift 1.95 (농축도)</a:t>
            </a:r>
          </a:p>
        </p:txBody>
      </p:sp>
      <p:sp>
        <p:nvSpPr>
          <p:cNvPr id="25" name="TextBox 24"/>
          <p:cNvSpPr txBox="1"/>
          <p:nvPr/>
        </p:nvSpPr>
        <p:spPr>
          <a:xfrm>
            <a:off x="530352" y="5788152"/>
            <a:ext cx="11128248" cy="237744"/>
          </a:xfrm>
          <a:prstGeom prst="rect">
            <a:avLst/>
          </a:prstGeom>
          <a:noFill/>
        </p:spPr>
        <p:txBody>
          <a:bodyPr wrap="square" anchor="t" lIns="0" rIns="0" tIns="0" bIns="0">
            <a:spAutoFit/>
          </a:bodyPr>
          <a:lstStyle/>
          <a:p>
            <a:pPr algn="l"/>
            <a:r>
              <a:rPr sz="1100" b="1">
                <a:solidFill>
                  <a:srgbClr val="17212B"/>
                </a:solidFill>
                <a:latin typeface="Malgun Gothic"/>
              </a:rPr>
              <a:t>Lift는 캠페인 uplift가 아니라 위험 고객 농축도입니다. 0.35는 OOF F1 기본값일 뿐 사업 최적값이 아닙니다.</a:t>
            </a:r>
          </a:p>
        </p:txBody>
      </p:sp>
      <p:sp>
        <p:nvSpPr>
          <p:cNvPr id="26" name="TextBox 25"/>
          <p:cNvSpPr txBox="1"/>
          <p:nvPr/>
        </p:nvSpPr>
        <p:spPr>
          <a:xfrm>
            <a:off x="11064240" y="6510528"/>
            <a:ext cx="594360" cy="173736"/>
          </a:xfrm>
          <a:prstGeom prst="rect">
            <a:avLst/>
          </a:prstGeom>
          <a:noFill/>
        </p:spPr>
        <p:txBody>
          <a:bodyPr wrap="square" anchor="t" lIns="0" rIns="0" tIns="0" bIns="0">
            <a:spAutoFit/>
          </a:bodyPr>
          <a:lstStyle/>
          <a:p>
            <a:pPr algn="r"/>
            <a:r>
              <a:rPr sz="825" b="1">
                <a:solidFill>
                  <a:srgbClr val="60707E"/>
                </a:solidFill>
                <a:latin typeface="Malgun Gothic"/>
              </a:rPr>
              <a:t>11</a:t>
            </a:r>
          </a:p>
        </p:txBody>
      </p:sp>
      <p:sp>
        <p:nvSpPr>
          <p:cNvPr id="27" name="Rectangle 26"/>
          <p:cNvSpPr/>
          <p:nvPr/>
        </p:nvSpPr>
        <p:spPr>
          <a:xfrm>
            <a:off x="530352" y="6437376"/>
            <a:ext cx="11128248" cy="10972"/>
          </a:xfrm>
          <a:prstGeom prst="rect">
            <a:avLst/>
          </a:prstGeom>
          <a:solidFill>
            <a:srgbClr val="D9E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6537960"/>
            <a:ext cx="5330952" cy="155448"/>
          </a:xfrm>
          <a:prstGeom prst="rect">
            <a:avLst/>
          </a:prstGeom>
          <a:noFill/>
        </p:spPr>
        <p:txBody>
          <a:bodyPr wrap="square" anchor="t" lIns="0" rIns="0" tIns="0" bIns="0">
            <a:spAutoFit/>
          </a:bodyPr>
          <a:lstStyle/>
          <a:p>
            <a:pPr algn="l"/>
            <a:r>
              <a:rPr sz="750" b="0">
                <a:solidFill>
                  <a:srgbClr val="60707E"/>
                </a:solidFill>
                <a:latin typeface="Malgun Gothic"/>
              </a:rPr>
              <a:t>PlaylistPro · Retention Decision Support</a:t>
            </a:r>
          </a:p>
        </p:txBody>
      </p:sp>
      <p:sp>
        <p:nvSpPr>
          <p:cNvPr id="29" name="TextBox 28"/>
          <p:cNvSpPr txBox="1"/>
          <p:nvPr/>
        </p:nvSpPr>
        <p:spPr>
          <a:xfrm>
            <a:off x="530352" y="6199632"/>
            <a:ext cx="10570464" cy="164592"/>
          </a:xfrm>
          <a:prstGeom prst="rect">
            <a:avLst/>
          </a:prstGeom>
          <a:noFill/>
        </p:spPr>
        <p:txBody>
          <a:bodyPr wrap="square" anchor="t" lIns="0" rIns="0" tIns="0" bIns="0">
            <a:spAutoFit/>
          </a:bodyPr>
          <a:lstStyle/>
          <a:p>
            <a:pPr algn="l"/>
            <a:r>
              <a:rPr sz="750" b="0">
                <a:solidFill>
                  <a:srgbClr val="60707E"/>
                </a:solidFill>
                <a:latin typeface="Malgun Gothic"/>
              </a:rPr>
              <a:t>근거: 10_11_threshold_sweep.csv · 14_topk_capture_lift.csv · artifacts/model/metadata.json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54B"/>
        </a:solidFill>
        <a:effectLst/>
      </p:bgPr>
    </p:bg>
    <p:spTree>
      <p:nvGrpSpPr>
        <p:cNvPr id="1" name=""/>
        <p:cNvGrpSpPr/>
        <p:nvPr/>
      </p:nvGrpSpPr>
      <p:grpSpPr/>
      <p:sp>
        <p:nvSpPr>
          <p:cNvPr id="2" name="TextBox 1"/>
          <p:cNvSpPr txBox="1"/>
          <p:nvPr/>
        </p:nvSpPr>
        <p:spPr>
          <a:xfrm>
            <a:off x="530352" y="365760"/>
            <a:ext cx="5943600" cy="228600"/>
          </a:xfrm>
          <a:prstGeom prst="rect">
            <a:avLst/>
          </a:prstGeom>
          <a:noFill/>
        </p:spPr>
        <p:txBody>
          <a:bodyPr wrap="square" anchor="t" lIns="0" rIns="0" tIns="0" bIns="0">
            <a:spAutoFit/>
          </a:bodyPr>
          <a:lstStyle/>
          <a:p>
            <a:pPr algn="l"/>
            <a:r>
              <a:rPr sz="900" b="1">
                <a:solidFill>
                  <a:srgbClr val="F6A28F"/>
                </a:solidFill>
                <a:latin typeface="Malgun Gothic"/>
              </a:rPr>
              <a:t>PROJECT OUTCOME</a:t>
            </a:r>
          </a:p>
        </p:txBody>
      </p:sp>
      <p:sp>
        <p:nvSpPr>
          <p:cNvPr id="3" name="TextBox 2"/>
          <p:cNvSpPr txBox="1"/>
          <p:nvPr/>
        </p:nvSpPr>
        <p:spPr>
          <a:xfrm>
            <a:off x="530352" y="749808"/>
            <a:ext cx="10698480" cy="731520"/>
          </a:xfrm>
          <a:prstGeom prst="rect">
            <a:avLst/>
          </a:prstGeom>
          <a:noFill/>
        </p:spPr>
        <p:txBody>
          <a:bodyPr wrap="square" anchor="t" lIns="0" rIns="0" tIns="0" bIns="0">
            <a:spAutoFit/>
          </a:bodyPr>
          <a:lstStyle/>
          <a:p>
            <a:pPr algn="l"/>
            <a:r>
              <a:rPr sz="3000" b="1">
                <a:solidFill>
                  <a:srgbClr val="FFFFFF"/>
                </a:solidFill>
                <a:latin typeface="Malgun Gothic"/>
              </a:rPr>
              <a:t>모델 점수를 실행 가능한 고객 검토 순서로 바꿨습니다</a:t>
            </a:r>
          </a:p>
        </p:txBody>
      </p:sp>
      <p:sp>
        <p:nvSpPr>
          <p:cNvPr id="4" name="TextBox 3"/>
          <p:cNvSpPr txBox="1"/>
          <p:nvPr/>
        </p:nvSpPr>
        <p:spPr>
          <a:xfrm>
            <a:off x="530352" y="1517904"/>
            <a:ext cx="10424160" cy="365760"/>
          </a:xfrm>
          <a:prstGeom prst="rect">
            <a:avLst/>
          </a:prstGeom>
          <a:noFill/>
        </p:spPr>
        <p:txBody>
          <a:bodyPr wrap="square" anchor="t" lIns="0" rIns="0" tIns="0" bIns="0">
            <a:spAutoFit/>
          </a:bodyPr>
          <a:lstStyle/>
          <a:p>
            <a:pPr algn="l"/>
            <a:r>
              <a:rPr sz="1350" b="0">
                <a:solidFill>
                  <a:srgbClr val="D9E5EC"/>
                </a:solidFill>
                <a:latin typeface="Malgun Gothic"/>
              </a:rPr>
              <a:t>성과는 점수 하나가 아니라 고객 인사이트·모델 검증·운영 기준·유지 행동을 연결한 의사결정 구조입니다.</a:t>
            </a:r>
          </a:p>
        </p:txBody>
      </p:sp>
      <p:sp>
        <p:nvSpPr>
          <p:cNvPr id="5" name="Rectangle 4"/>
          <p:cNvSpPr/>
          <p:nvPr/>
        </p:nvSpPr>
        <p:spPr>
          <a:xfrm>
            <a:off x="530352" y="2212848"/>
            <a:ext cx="2688336" cy="27432"/>
          </a:xfrm>
          <a:prstGeom prst="rect">
            <a:avLst/>
          </a:prstGeom>
          <a:solidFill>
            <a:srgbClr val="6E8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2395728"/>
            <a:ext cx="914400" cy="265176"/>
          </a:xfrm>
          <a:prstGeom prst="rect">
            <a:avLst/>
          </a:prstGeom>
          <a:noFill/>
        </p:spPr>
        <p:txBody>
          <a:bodyPr wrap="square" anchor="t" lIns="0" rIns="0" tIns="0" bIns="0">
            <a:spAutoFit/>
          </a:bodyPr>
          <a:lstStyle/>
          <a:p>
            <a:pPr algn="l"/>
            <a:r>
              <a:rPr sz="1200" b="1">
                <a:solidFill>
                  <a:srgbClr val="F6A28F"/>
                </a:solidFill>
                <a:latin typeface="Malgun Gothic"/>
              </a:rPr>
              <a:t>01</a:t>
            </a:r>
          </a:p>
        </p:txBody>
      </p:sp>
      <p:sp>
        <p:nvSpPr>
          <p:cNvPr id="7" name="TextBox 6"/>
          <p:cNvSpPr txBox="1"/>
          <p:nvPr/>
        </p:nvSpPr>
        <p:spPr>
          <a:xfrm>
            <a:off x="530352" y="2798064"/>
            <a:ext cx="2688336" cy="292608"/>
          </a:xfrm>
          <a:prstGeom prst="rect">
            <a:avLst/>
          </a:prstGeom>
          <a:noFill/>
        </p:spPr>
        <p:txBody>
          <a:bodyPr wrap="square" anchor="t" lIns="0" rIns="0" tIns="0" bIns="0">
            <a:spAutoFit/>
          </a:bodyPr>
          <a:lstStyle/>
          <a:p>
            <a:pPr algn="l"/>
            <a:r>
              <a:rPr sz="1650" b="1">
                <a:solidFill>
                  <a:srgbClr val="FFFFFF"/>
                </a:solidFill>
                <a:latin typeface="Malgun Gothic"/>
              </a:rPr>
              <a:t>고객 이해</a:t>
            </a:r>
          </a:p>
        </p:txBody>
      </p:sp>
      <p:sp>
        <p:nvSpPr>
          <p:cNvPr id="8" name="TextBox 7"/>
          <p:cNvSpPr txBox="1"/>
          <p:nvPr/>
        </p:nvSpPr>
        <p:spPr>
          <a:xfrm>
            <a:off x="530352" y="3218688"/>
            <a:ext cx="2596896" cy="548640"/>
          </a:xfrm>
          <a:prstGeom prst="rect">
            <a:avLst/>
          </a:prstGeom>
          <a:noFill/>
        </p:spPr>
        <p:txBody>
          <a:bodyPr wrap="square" anchor="t" lIns="0" rIns="0" tIns="0" bIns="0">
            <a:spAutoFit/>
          </a:bodyPr>
          <a:lstStyle/>
          <a:p>
            <a:pPr algn="l"/>
            <a:r>
              <a:rPr sz="1125" b="0">
                <a:solidFill>
                  <a:srgbClr val="D9E5EC"/>
                </a:solidFill>
                <a:latin typeface="Malgun Gothic"/>
              </a:rPr>
              <a:t>낮은 청취·Free·높은 문의 신호 발견</a:t>
            </a:r>
          </a:p>
        </p:txBody>
      </p:sp>
      <p:sp>
        <p:nvSpPr>
          <p:cNvPr id="9" name="Rectangle 8"/>
          <p:cNvSpPr/>
          <p:nvPr/>
        </p:nvSpPr>
        <p:spPr>
          <a:xfrm>
            <a:off x="3319272" y="2212848"/>
            <a:ext cx="2688336" cy="27432"/>
          </a:xfrm>
          <a:prstGeom prst="rect">
            <a:avLst/>
          </a:prstGeom>
          <a:solidFill>
            <a:srgbClr val="6E8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9272" y="2395728"/>
            <a:ext cx="914400" cy="265176"/>
          </a:xfrm>
          <a:prstGeom prst="rect">
            <a:avLst/>
          </a:prstGeom>
          <a:noFill/>
        </p:spPr>
        <p:txBody>
          <a:bodyPr wrap="square" anchor="t" lIns="0" rIns="0" tIns="0" bIns="0">
            <a:spAutoFit/>
          </a:bodyPr>
          <a:lstStyle/>
          <a:p>
            <a:pPr algn="l"/>
            <a:r>
              <a:rPr sz="1200" b="1">
                <a:solidFill>
                  <a:srgbClr val="F6A28F"/>
                </a:solidFill>
                <a:latin typeface="Malgun Gothic"/>
              </a:rPr>
              <a:t>02</a:t>
            </a:r>
          </a:p>
        </p:txBody>
      </p:sp>
      <p:sp>
        <p:nvSpPr>
          <p:cNvPr id="11" name="TextBox 10"/>
          <p:cNvSpPr txBox="1"/>
          <p:nvPr/>
        </p:nvSpPr>
        <p:spPr>
          <a:xfrm>
            <a:off x="3319272" y="2798064"/>
            <a:ext cx="2688336" cy="292608"/>
          </a:xfrm>
          <a:prstGeom prst="rect">
            <a:avLst/>
          </a:prstGeom>
          <a:noFill/>
        </p:spPr>
        <p:txBody>
          <a:bodyPr wrap="square" anchor="t" lIns="0" rIns="0" tIns="0" bIns="0">
            <a:spAutoFit/>
          </a:bodyPr>
          <a:lstStyle/>
          <a:p>
            <a:pPr algn="l"/>
            <a:r>
              <a:rPr sz="1650" b="1">
                <a:solidFill>
                  <a:srgbClr val="FFFFFF"/>
                </a:solidFill>
                <a:latin typeface="Malgun Gothic"/>
              </a:rPr>
              <a:t>공정한 검증</a:t>
            </a:r>
          </a:p>
        </p:txBody>
      </p:sp>
      <p:sp>
        <p:nvSpPr>
          <p:cNvPr id="12" name="TextBox 11"/>
          <p:cNvSpPr txBox="1"/>
          <p:nvPr/>
        </p:nvSpPr>
        <p:spPr>
          <a:xfrm>
            <a:off x="3319272" y="3218688"/>
            <a:ext cx="2596896" cy="548640"/>
          </a:xfrm>
          <a:prstGeom prst="rect">
            <a:avLst/>
          </a:prstGeom>
          <a:noFill/>
        </p:spPr>
        <p:txBody>
          <a:bodyPr wrap="square" anchor="t" lIns="0" rIns="0" tIns="0" bIns="0">
            <a:spAutoFit/>
          </a:bodyPr>
          <a:lstStyle/>
          <a:p>
            <a:pPr algn="l"/>
            <a:r>
              <a:rPr sz="1125" b="0">
                <a:solidFill>
                  <a:srgbClr val="D9E5EC"/>
                </a:solidFill>
                <a:latin typeface="Malgun Gothic"/>
              </a:rPr>
              <a:t>고정 5-Fold OOF·8개 모델 비교</a:t>
            </a:r>
          </a:p>
        </p:txBody>
      </p:sp>
      <p:sp>
        <p:nvSpPr>
          <p:cNvPr id="13" name="Rectangle 12"/>
          <p:cNvSpPr/>
          <p:nvPr/>
        </p:nvSpPr>
        <p:spPr>
          <a:xfrm>
            <a:off x="6108192" y="2212848"/>
            <a:ext cx="2688336" cy="27432"/>
          </a:xfrm>
          <a:prstGeom prst="rect">
            <a:avLst/>
          </a:prstGeom>
          <a:solidFill>
            <a:srgbClr val="6E87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08192" y="2395728"/>
            <a:ext cx="914400" cy="265176"/>
          </a:xfrm>
          <a:prstGeom prst="rect">
            <a:avLst/>
          </a:prstGeom>
          <a:noFill/>
        </p:spPr>
        <p:txBody>
          <a:bodyPr wrap="square" anchor="t" lIns="0" rIns="0" tIns="0" bIns="0">
            <a:spAutoFit/>
          </a:bodyPr>
          <a:lstStyle/>
          <a:p>
            <a:pPr algn="l"/>
            <a:r>
              <a:rPr sz="1200" b="1">
                <a:solidFill>
                  <a:srgbClr val="F6A28F"/>
                </a:solidFill>
                <a:latin typeface="Malgun Gothic"/>
              </a:rPr>
              <a:t>03</a:t>
            </a:r>
          </a:p>
        </p:txBody>
      </p:sp>
      <p:sp>
        <p:nvSpPr>
          <p:cNvPr id="15" name="TextBox 14"/>
          <p:cNvSpPr txBox="1"/>
          <p:nvPr/>
        </p:nvSpPr>
        <p:spPr>
          <a:xfrm>
            <a:off x="6108192" y="2798064"/>
            <a:ext cx="2688336" cy="292608"/>
          </a:xfrm>
          <a:prstGeom prst="rect">
            <a:avLst/>
          </a:prstGeom>
          <a:noFill/>
        </p:spPr>
        <p:txBody>
          <a:bodyPr wrap="square" anchor="t" lIns="0" rIns="0" tIns="0" bIns="0">
            <a:spAutoFit/>
          </a:bodyPr>
          <a:lstStyle/>
          <a:p>
            <a:pPr algn="l"/>
            <a:r>
              <a:rPr sz="1650" b="1">
                <a:solidFill>
                  <a:srgbClr val="FFFFFF"/>
                </a:solidFill>
                <a:latin typeface="Malgun Gothic"/>
              </a:rPr>
              <a:t>운영 선택</a:t>
            </a:r>
          </a:p>
        </p:txBody>
      </p:sp>
      <p:sp>
        <p:nvSpPr>
          <p:cNvPr id="16" name="TextBox 15"/>
          <p:cNvSpPr txBox="1"/>
          <p:nvPr/>
        </p:nvSpPr>
        <p:spPr>
          <a:xfrm>
            <a:off x="6108192" y="3218688"/>
            <a:ext cx="2596896" cy="548640"/>
          </a:xfrm>
          <a:prstGeom prst="rect">
            <a:avLst/>
          </a:prstGeom>
          <a:noFill/>
        </p:spPr>
        <p:txBody>
          <a:bodyPr wrap="square" anchor="t" lIns="0" rIns="0" tIns="0" bIns="0">
            <a:spAutoFit/>
          </a:bodyPr>
          <a:lstStyle/>
          <a:p>
            <a:pPr algn="l"/>
            <a:r>
              <a:rPr sz="1125" b="0">
                <a:solidFill>
                  <a:srgbClr val="D9E5EC"/>
                </a:solidFill>
                <a:latin typeface="Malgun Gothic"/>
              </a:rPr>
              <a:t>Threshold·Top-K로 검토 범위 결정</a:t>
            </a:r>
          </a:p>
        </p:txBody>
      </p:sp>
      <p:sp>
        <p:nvSpPr>
          <p:cNvPr id="17" name="Rectangle 16"/>
          <p:cNvSpPr/>
          <p:nvPr/>
        </p:nvSpPr>
        <p:spPr>
          <a:xfrm>
            <a:off x="8897111" y="2212848"/>
            <a:ext cx="2688336" cy="27432"/>
          </a:xfrm>
          <a:prstGeom prst="rect">
            <a:avLst/>
          </a:prstGeom>
          <a:solidFill>
            <a:srgbClr val="E85E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97111" y="2395728"/>
            <a:ext cx="914400" cy="265176"/>
          </a:xfrm>
          <a:prstGeom prst="rect">
            <a:avLst/>
          </a:prstGeom>
          <a:noFill/>
        </p:spPr>
        <p:txBody>
          <a:bodyPr wrap="square" anchor="t" lIns="0" rIns="0" tIns="0" bIns="0">
            <a:spAutoFit/>
          </a:bodyPr>
          <a:lstStyle/>
          <a:p>
            <a:pPr algn="l"/>
            <a:r>
              <a:rPr sz="1200" b="1">
                <a:solidFill>
                  <a:srgbClr val="F6A28F"/>
                </a:solidFill>
                <a:latin typeface="Malgun Gothic"/>
              </a:rPr>
              <a:t>04</a:t>
            </a:r>
          </a:p>
        </p:txBody>
      </p:sp>
      <p:sp>
        <p:nvSpPr>
          <p:cNvPr id="19" name="TextBox 18"/>
          <p:cNvSpPr txBox="1"/>
          <p:nvPr/>
        </p:nvSpPr>
        <p:spPr>
          <a:xfrm>
            <a:off x="8897111" y="2798064"/>
            <a:ext cx="2688336" cy="292608"/>
          </a:xfrm>
          <a:prstGeom prst="rect">
            <a:avLst/>
          </a:prstGeom>
          <a:noFill/>
        </p:spPr>
        <p:txBody>
          <a:bodyPr wrap="square" anchor="t" lIns="0" rIns="0" tIns="0" bIns="0">
            <a:spAutoFit/>
          </a:bodyPr>
          <a:lstStyle/>
          <a:p>
            <a:pPr algn="l"/>
            <a:r>
              <a:rPr sz="1650" b="1">
                <a:solidFill>
                  <a:srgbClr val="FFFFFF"/>
                </a:solidFill>
                <a:latin typeface="Malgun Gothic"/>
              </a:rPr>
              <a:t>행동 검토</a:t>
            </a:r>
          </a:p>
        </p:txBody>
      </p:sp>
      <p:sp>
        <p:nvSpPr>
          <p:cNvPr id="20" name="TextBox 19"/>
          <p:cNvSpPr txBox="1"/>
          <p:nvPr/>
        </p:nvSpPr>
        <p:spPr>
          <a:xfrm>
            <a:off x="8897111" y="3218688"/>
            <a:ext cx="2596896" cy="548640"/>
          </a:xfrm>
          <a:prstGeom prst="rect">
            <a:avLst/>
          </a:prstGeom>
          <a:noFill/>
        </p:spPr>
        <p:txBody>
          <a:bodyPr wrap="square" anchor="t" lIns="0" rIns="0" tIns="0" bIns="0">
            <a:spAutoFit/>
          </a:bodyPr>
          <a:lstStyle/>
          <a:p>
            <a:pPr algn="l"/>
            <a:r>
              <a:rPr sz="1125" b="0">
                <a:solidFill>
                  <a:srgbClr val="D9E5EC"/>
                </a:solidFill>
                <a:latin typeface="Malgun Gothic"/>
              </a:rPr>
              <a:t>투명한 규칙과 담당자 최종 선택</a:t>
            </a:r>
          </a:p>
        </p:txBody>
      </p:sp>
      <p:sp>
        <p:nvSpPr>
          <p:cNvPr id="21" name="Rounded Rectangle 20"/>
          <p:cNvSpPr/>
          <p:nvPr/>
        </p:nvSpPr>
        <p:spPr>
          <a:xfrm>
            <a:off x="530352" y="4041648"/>
            <a:ext cx="11128248" cy="786384"/>
          </a:xfrm>
          <a:prstGeom prst="roundRect">
            <a:avLst>
              <a:gd name="adj" fmla="val 7000"/>
            </a:avLst>
          </a:prstGeom>
          <a:solidFill>
            <a:srgbClr val="214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42232"/>
            <a:ext cx="10881360" cy="219456"/>
          </a:xfrm>
          <a:prstGeom prst="rect">
            <a:avLst/>
          </a:prstGeom>
          <a:noFill/>
        </p:spPr>
        <p:txBody>
          <a:bodyPr wrap="square" anchor="t" lIns="0" rIns="0" tIns="0" bIns="0">
            <a:spAutoFit/>
          </a:bodyPr>
          <a:lstStyle/>
          <a:p>
            <a:pPr algn="l"/>
            <a:r>
              <a:rPr sz="1050" b="1">
                <a:solidFill>
                  <a:srgbClr val="F6A28F"/>
                </a:solidFill>
                <a:latin typeface="Malgun Gothic"/>
              </a:rPr>
              <a:t>반드시 함께 말할 한계</a:t>
            </a:r>
          </a:p>
        </p:txBody>
      </p:sp>
      <p:sp>
        <p:nvSpPr>
          <p:cNvPr id="23" name="TextBox 22"/>
          <p:cNvSpPr txBox="1"/>
          <p:nvPr/>
        </p:nvSpPr>
        <p:spPr>
          <a:xfrm>
            <a:off x="777240" y="4425696"/>
            <a:ext cx="10881360" cy="310896"/>
          </a:xfrm>
          <a:prstGeom prst="rect">
            <a:avLst/>
          </a:prstGeom>
          <a:noFill/>
        </p:spPr>
        <p:txBody>
          <a:bodyPr wrap="square" anchor="t" lIns="0" rIns="0" tIns="0" bIns="0">
            <a:spAutoFit/>
          </a:bodyPr>
          <a:lstStyle/>
          <a:p>
            <a:pPr algn="l"/>
            <a:r>
              <a:rPr sz="1150" b="0">
                <a:solidFill>
                  <a:srgbClr val="AFC3D0"/>
                </a:solidFill>
                <a:latin typeface="Malgun Gothic"/>
              </a:rPr>
              <a:t>실제 미래 라벨 Holdout 없음 · 예측 기간 미정 · 규칙 기반 합성 데이터 · 실제 이탈 감소 미검증 · 실제 ROI 미검증 · 행동 효과는 A/B 테스트 필요</a:t>
            </a:r>
          </a:p>
        </p:txBody>
      </p:sp>
      <p:sp>
        <p:nvSpPr>
          <p:cNvPr id="24" name="Rounded Rectangle 23"/>
          <p:cNvSpPr/>
          <p:nvPr/>
        </p:nvSpPr>
        <p:spPr>
          <a:xfrm>
            <a:off x="530352" y="4992624"/>
            <a:ext cx="11128248" cy="1005840"/>
          </a:xfrm>
          <a:prstGeom prst="roundRect">
            <a:avLst>
              <a:gd name="adj" fmla="val 6000"/>
            </a:avLst>
          </a:prstGeom>
          <a:solidFill>
            <a:srgbClr val="2146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38928"/>
            <a:ext cx="914400" cy="256032"/>
          </a:xfrm>
          <a:prstGeom prst="rect">
            <a:avLst/>
          </a:prstGeom>
          <a:noFill/>
        </p:spPr>
        <p:txBody>
          <a:bodyPr wrap="square" anchor="t" lIns="0" rIns="0" tIns="0" bIns="0">
            <a:spAutoFit/>
          </a:bodyPr>
          <a:lstStyle/>
          <a:p>
            <a:pPr algn="l"/>
            <a:r>
              <a:rPr sz="1200" b="1">
                <a:solidFill>
                  <a:srgbClr val="F6A28F"/>
                </a:solidFill>
                <a:latin typeface="Malgun Gothic"/>
              </a:rPr>
              <a:t>결론</a:t>
            </a:r>
          </a:p>
        </p:txBody>
      </p:sp>
      <p:sp>
        <p:nvSpPr>
          <p:cNvPr id="26" name="TextBox 25"/>
          <p:cNvSpPr txBox="1"/>
          <p:nvPr/>
        </p:nvSpPr>
        <p:spPr>
          <a:xfrm>
            <a:off x="777240" y="5449824"/>
            <a:ext cx="10881360" cy="502920"/>
          </a:xfrm>
          <a:prstGeom prst="rect">
            <a:avLst/>
          </a:prstGeom>
          <a:noFill/>
        </p:spPr>
        <p:txBody>
          <a:bodyPr wrap="square" anchor="t" lIns="0" rIns="0" tIns="0" bIns="0">
            <a:spAutoFit/>
          </a:bodyPr>
          <a:lstStyle/>
          <a:p>
            <a:pPr algn="l"/>
            <a:r>
              <a:rPr sz="1500" b="1">
                <a:solidFill>
                  <a:srgbClr val="FFFFFF"/>
                </a:solidFill>
                <a:latin typeface="Malgun Gothic"/>
              </a:rPr>
              <a:t>PlaylistPro의 성과는 PR-AUC 숫자 하나가 아니라, 고객 인사이트·모델 검증·운영 기준·유지 행동을 하나의 의사결정 흐름으로 연결한 것입니다.</a:t>
            </a:r>
          </a:p>
        </p:txBody>
      </p:sp>
      <p:sp>
        <p:nvSpPr>
          <p:cNvPr id="27" name="TextBox 26"/>
          <p:cNvSpPr txBox="1"/>
          <p:nvPr/>
        </p:nvSpPr>
        <p:spPr>
          <a:xfrm>
            <a:off x="11064240" y="365760"/>
            <a:ext cx="594360" cy="173736"/>
          </a:xfrm>
          <a:prstGeom prst="rect">
            <a:avLst/>
          </a:prstGeom>
          <a:noFill/>
        </p:spPr>
        <p:txBody>
          <a:bodyPr wrap="square" anchor="t" lIns="0" rIns="0" tIns="0" bIns="0">
            <a:spAutoFit/>
          </a:bodyPr>
          <a:lstStyle/>
          <a:p>
            <a:pPr algn="r"/>
            <a:r>
              <a:rPr sz="825" b="1">
                <a:solidFill>
                  <a:srgbClr val="AFC3D0"/>
                </a:solidFill>
                <a:latin typeface="Malgun Gothic"/>
              </a:rPr>
              <a:t>14</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2026-07-21T21:18:19.6100000Z</dcterms:created>
  <dcterms:modified xsi:type="dcterms:W3CDTF">2026-07-21T21:18:19.6100000Z</dcterms:modified>
</coreProperties>
</file>