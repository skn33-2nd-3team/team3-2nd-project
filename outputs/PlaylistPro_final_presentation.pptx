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6ed0b7761c4e70" /><Relationship Type="http://schemas.openxmlformats.org/officeDocument/2006/relationships/extended-properties" Target="/docProps/app.xml" Id="R432a0b3f82474ab7" /><Relationship Type="http://schemas.openxmlformats.org/officeDocument/2006/relationships/officeDocument" Target="/ppt/presentation.xml" Id="R714bb6382c1343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02fe59fe5c4784"/>
  </p:sldMasterIdLst>
  <p:notesMasterIdLst>
    <p:notesMasterId xmlns:r="http://schemas.openxmlformats.org/officeDocument/2006/relationships" r:id="Rf678cba21a6646bd"/>
  </p:notesMasterIdLst>
  <p:sldIdLst>
    <p:sldId xmlns:r="http://schemas.openxmlformats.org/officeDocument/2006/relationships" id="256" r:id="R02f870f726f641a1"/>
    <p:sldId xmlns:r="http://schemas.openxmlformats.org/officeDocument/2006/relationships" id="257" r:id="Rbb891dad4ab545f9"/>
    <p:sldId xmlns:r="http://schemas.openxmlformats.org/officeDocument/2006/relationships" id="258" r:id="R0170244a2dbc4a99"/>
    <p:sldId xmlns:r="http://schemas.openxmlformats.org/officeDocument/2006/relationships" id="259" r:id="Rc55a688a2328477b"/>
    <p:sldId xmlns:r="http://schemas.openxmlformats.org/officeDocument/2006/relationships" id="260" r:id="Ra6de859cceeb4fe0"/>
    <p:sldId xmlns:r="http://schemas.openxmlformats.org/officeDocument/2006/relationships" id="261" r:id="Rfbb30c79e85f4193"/>
    <p:sldId xmlns:r="http://schemas.openxmlformats.org/officeDocument/2006/relationships" id="262" r:id="Rdff99ed2d91a401e"/>
    <p:sldId xmlns:r="http://schemas.openxmlformats.org/officeDocument/2006/relationships" id="263" r:id="R6ef095b828e04338"/>
    <p:sldId xmlns:r="http://schemas.openxmlformats.org/officeDocument/2006/relationships" id="264" r:id="R45bdc7f21a5b43ed"/>
    <p:sldId xmlns:r="http://schemas.openxmlformats.org/officeDocument/2006/relationships" id="265" r:id="R8dd40c4761be48e8"/>
    <p:sldId xmlns:r="http://schemas.openxmlformats.org/officeDocument/2006/relationships" id="266" r:id="R5f6ff8ee8d5645ee"/>
    <p:sldId xmlns:r="http://schemas.openxmlformats.org/officeDocument/2006/relationships" id="267" r:id="Rd6552bac0fa340c5"/>
    <p:sldId xmlns:r="http://schemas.openxmlformats.org/officeDocument/2006/relationships" id="268" r:id="R22ec8be80c494c34"/>
    <p:sldId xmlns:r="http://schemas.openxmlformats.org/officeDocument/2006/relationships" id="269" r:id="Re7e361ff5c2e4041"/>
    <p:sldId xmlns:r="http://schemas.openxmlformats.org/officeDocument/2006/relationships" id="270" r:id="R140b66af240b44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c2242ca81245d0" /><Relationship Type="http://schemas.openxmlformats.org/officeDocument/2006/relationships/slideMaster" Target="/ppt/slideMasters/slideMaster1.xml" Id="Rde02fe59fe5c4784" /><Relationship Type="http://schemas.openxmlformats.org/officeDocument/2006/relationships/notesMaster" Target="/ppt/notesMasters/notesMaster1.xml" Id="Rf678cba21a6646bd" /><Relationship Type="http://schemas.openxmlformats.org/officeDocument/2006/relationships/presProps" Target="/ppt/presProps.xml" Id="Re0650b794a27481a" /><Relationship Type="http://schemas.openxmlformats.org/officeDocument/2006/relationships/tableStyles" Target="/ppt/tableStyles.xml" Id="R5957c5641c5047da" /><Relationship Type="http://schemas.openxmlformats.org/officeDocument/2006/relationships/slide" Target="/ppt/slides/slide1.xml" Id="R02f870f726f641a1" /><Relationship Type="http://schemas.openxmlformats.org/officeDocument/2006/relationships/slide" Target="/ppt/slides/slide2.xml" Id="Rbb891dad4ab545f9" /><Relationship Type="http://schemas.openxmlformats.org/officeDocument/2006/relationships/slide" Target="/ppt/slides/slide3.xml" Id="R0170244a2dbc4a99" /><Relationship Type="http://schemas.openxmlformats.org/officeDocument/2006/relationships/slide" Target="/ppt/slides/slide4.xml" Id="Rc55a688a2328477b" /><Relationship Type="http://schemas.openxmlformats.org/officeDocument/2006/relationships/slide" Target="/ppt/slides/slide5.xml" Id="Ra6de859cceeb4fe0" /><Relationship Type="http://schemas.openxmlformats.org/officeDocument/2006/relationships/slide" Target="/ppt/slides/slide6.xml" Id="Rfbb30c79e85f4193" /><Relationship Type="http://schemas.openxmlformats.org/officeDocument/2006/relationships/slide" Target="/ppt/slides/slide7.xml" Id="Rdff99ed2d91a401e" /><Relationship Type="http://schemas.openxmlformats.org/officeDocument/2006/relationships/slide" Target="/ppt/slides/slide8.xml" Id="R6ef095b828e04338" /><Relationship Type="http://schemas.openxmlformats.org/officeDocument/2006/relationships/slide" Target="/ppt/slides/slide9.xml" Id="R45bdc7f21a5b43ed" /><Relationship Type="http://schemas.openxmlformats.org/officeDocument/2006/relationships/slide" Target="/ppt/slides/slide10.xml" Id="R8dd40c4761be48e8" /><Relationship Type="http://schemas.openxmlformats.org/officeDocument/2006/relationships/slide" Target="/ppt/slides/slide11.xml" Id="R5f6ff8ee8d5645ee" /><Relationship Type="http://schemas.openxmlformats.org/officeDocument/2006/relationships/slide" Target="/ppt/slides/slide12.xml" Id="Rd6552bac0fa340c5" /><Relationship Type="http://schemas.openxmlformats.org/officeDocument/2006/relationships/slide" Target="/ppt/slides/slide13.xml" Id="R22ec8be80c494c34" /><Relationship Type="http://schemas.openxmlformats.org/officeDocument/2006/relationships/slide" Target="/ppt/slides/slide14.xml" Id="Re7e361ff5c2e4041" /><Relationship Type="http://schemas.openxmlformats.org/officeDocument/2006/relationships/slide" Target="/ppt/slides/slide15.xml" Id="R140b66af240b44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0ed9a8cfca4c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c477319db142d6" /><Relationship Type="http://schemas.openxmlformats.org/officeDocument/2006/relationships/notesMaster" Target="/ppt/notesMasters/notesMaster1.xml" Id="R175b1851948f46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80b2bc4c78413f" /><Relationship Type="http://schemas.openxmlformats.org/officeDocument/2006/relationships/notesMaster" Target="/ppt/notesMasters/notesMaster1.xml" Id="R9c5aa8d49c2e4e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4098d499ea4119" /><Relationship Type="http://schemas.openxmlformats.org/officeDocument/2006/relationships/notesMaster" Target="/ppt/notesMasters/notesMaster1.xml" Id="R556b5f740b1649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39fe9771804307" /><Relationship Type="http://schemas.openxmlformats.org/officeDocument/2006/relationships/notesMaster" Target="/ppt/notesMasters/notesMaster1.xml" Id="R65dbccfd841446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782ce810924839" /><Relationship Type="http://schemas.openxmlformats.org/officeDocument/2006/relationships/notesMaster" Target="/ppt/notesMasters/notesMaster1.xml" Id="R07fdc1e655e949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c60362ba1048be" /><Relationship Type="http://schemas.openxmlformats.org/officeDocument/2006/relationships/notesMaster" Target="/ppt/notesMasters/notesMaster1.xml" Id="R97732a028ff14c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caa1fb426a4b6a" /><Relationship Type="http://schemas.openxmlformats.org/officeDocument/2006/relationships/notesMaster" Target="/ppt/notesMasters/notesMaster1.xml" Id="Rbc20b891f4914e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8aa1c00de04b8f" /><Relationship Type="http://schemas.openxmlformats.org/officeDocument/2006/relationships/notesMaster" Target="/ppt/notesMasters/notesMaster1.xml" Id="Rfacda31fdff44e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e00609b92248ed" /><Relationship Type="http://schemas.openxmlformats.org/officeDocument/2006/relationships/notesMaster" Target="/ppt/notesMasters/notesMaster1.xml" Id="R7c91aa1d8c2a4e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0b891310e44ceb" /><Relationship Type="http://schemas.openxmlformats.org/officeDocument/2006/relationships/notesMaster" Target="/ppt/notesMasters/notesMaster1.xml" Id="R55091aa6eb6945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d08ceb07a94a16" /><Relationship Type="http://schemas.openxmlformats.org/officeDocument/2006/relationships/notesMaster" Target="/ppt/notesMasters/notesMaster1.xml" Id="R9d92404067a74e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d1f1bdea774807" /><Relationship Type="http://schemas.openxmlformats.org/officeDocument/2006/relationships/notesMaster" Target="/ppt/notesMasters/notesMaster1.xml" Id="R29d868b309df4f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24f449ad594f65" /><Relationship Type="http://schemas.openxmlformats.org/officeDocument/2006/relationships/notesMaster" Target="/ppt/notesMasters/notesMaster1.xml" Id="R2e73abc4dab147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b59006fbc94abe" /><Relationship Type="http://schemas.openxmlformats.org/officeDocument/2006/relationships/notesMaster" Target="/ppt/notesMasters/notesMaster1.xml" Id="Rc1a452acc0cc41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e91412804545cb" /><Relationship Type="http://schemas.openxmlformats.org/officeDocument/2006/relationships/notesMaster" Target="/ppt/notesMasters/notesMaster1.xml" Id="Ra36a0f903ebb42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발표는 단순 모델 점수 경쟁이 아니라 고객 유지 자원의 배분 문제에서 시작합니다.</a:t>
            </a:r>
          </a:p>
          <a:p xmlns:a="http://schemas.openxmlformats.org/drawingml/2006/main">
            <a:r>
              <a:t>인사이트, 모델 검증, 운영 우선순위를 하나의 의사결정 흐름으로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FN은 실제 이탈 고객을 놓치는 오류이고 FP는 유지 가능 고객을 불필요하게 검토하는 오류입니다.</a:t>
            </a:r>
          </a:p>
          <a:p xmlns:a="http://schemas.openxmlformats.org/drawingml/2006/main">
            <a:r>
              <a:t>정답 임계값은 아직 없으며 운영 여건에 따라 선택하도록 설계했습니다.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75,000명 Test에는 정답이 없기 때문에 성능 평가용 Holdout이 아닙니다.</a:t>
            </a:r>
          </a:p>
          <a:p xmlns:a="http://schemas.openxmlformats.org/drawingml/2006/main">
            <a:r>
              <a:t>합성 데이터의 규칙성이 성능을 높였을 수 있어 외부 일반화는 후속 검증 대상입니다.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낮은 청취 활동은 가장 강한 수치 신호였고 Free 구독과 높은 문의는 범주별 이탈률을 크게 갈랐습니다.</a:t>
            </a:r>
          </a:p>
          <a:p xmlns:a="http://schemas.openxmlformats.org/drawingml/2006/main">
            <a:r>
              <a:t>이는 인과관계가 아니라 합성 데이터 내 관찰 연관이며, 행동 제안은 검증 가능한 가설로만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Logistic은 Feature 가설 검증기로 사용했고 최종 후보 모델로 해석하지 않습니다.</a:t>
            </a:r>
          </a:p>
          <a:p xmlns:a="http://schemas.openxmlformats.org/drawingml/2006/main">
            <a:r>
              <a:t>전체 성능 상승의 주된 원인은 전처리가 아니라 비선형 부스팅 모델 전환입니다.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Baseline부터 최종 후보까지 동일한 평가 규칙을 유지했습니다.</a:t>
            </a:r>
          </a:p>
          <a:p xmlns:a="http://schemas.openxmlformats.org/drawingml/2006/main">
            <a:r>
              <a:t>PR-AUC 외에도 ROC-AUC, F1, Recall, Precision, FN, FP, Brier를 함께 기록했습니다.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Dummy를 포함해 8개 모델을 비교했고 7개 학습 모델에 제한된 탐색을 적용했습니다.</a:t>
            </a:r>
          </a:p>
          <a:p xmlns:a="http://schemas.openxmlformats.org/drawingml/2006/main">
            <a:r>
              <a:t>상위 3개 모델의 점수 차이는 매우 작아 단일 최고값만으로 결론내리지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오래 걸린 GradientBoosting과 RandomForest는 경량화한 조건으로 완료했고 실패와 개선 폭을 모두 기록했습니다.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Fine CV 최고값뿐 아니라 반복 평균과 분산, Bootstrap 신뢰구간 중첩을 함께 평가했습니다.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Bootstrap 95% 구간이 겹치므로 통계적으로 압도적인 우위라고 말하지 않습니다.</a:t>
            </a:r>
          </a:p>
          <a:p xmlns:a="http://schemas.openxmlformats.org/drawingml/2006/main">
            <a:r>
              <a:t>순위 성능과 반복 안정성을 우선하면 CatBoost, Recall이나 보정력을 우선하면 LightGBM도 합리적입니다.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Recall 우선은 이탈 고객을 거의 놓치지 않지만 전체 고객의 62%를 검토해야 합니다.</a:t>
            </a:r>
          </a:p>
          <a:p xmlns:a="http://schemas.openxmlformats.org/drawingml/2006/main">
            <a:r>
              <a:t>Precision 우선은 접촉 효율이 높지만 18,099명의 이탈 고객을 놓칠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Top-K는 검토 가능한 고객 수가 먼저 정해진 운영 환경에 적합합니다.</a:t>
            </a:r>
          </a:p>
          <a:p xmlns:a="http://schemas.openxmlformats.org/drawingml/2006/main">
            <a:r>
              <a:t>Lift는 실제 유지 효과가 아니라 무작위 선택 대비 관찰 이탈 라벨의 집중도입니다.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세그먼트별 성능 차이는 실제 운영 전 공정성과 정책 적합성을 추가 검증할 근거입니다.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Streamlit은 실제 저장된 CatBoost 모델 확률을 사용하며 위험 신호와 규칙 기반 행동 후보를 분리해서 보여줍니다.</a:t>
            </a:r>
          </a:p>
          <a:p xmlns:a="http://schemas.openxmlformats.org/drawingml/2006/main">
            <a:r>
              <a:t>CRM 실행이나 할인 제공은 외부 시스템과 사업 권한이 필요한 범위로 명확히 제외했습니다.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결과는 고객 검토 우선순위를 만드는 기술적 근거까지 완성했습니다.</a:t>
            </a:r>
          </a:p>
          <a:p xmlns:a="http://schemas.openxmlformats.org/drawingml/2006/main">
            <a:r>
              <a:t>실제 행동 효과는 시간 기반 라벨, 외부 Holdout, 운영 승인, A/B 테스트 순으로 검증해야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3aa20792445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4f0c1de66846b5" /><Relationship Type="http://schemas.openxmlformats.org/officeDocument/2006/relationships/slideLayout" Target="/ppt/slideLayouts/slideLayout1.xml" Id="R73e017999cf74b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e017999cf74b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b107253754d97" /><Relationship Type="http://schemas.openxmlformats.org/officeDocument/2006/relationships/notesSlide" Target="/ppt/notesSlides/notesSlide1.xml" Id="Rd49032fd006848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f3c8297ef48d0" /><Relationship Type="http://schemas.openxmlformats.org/officeDocument/2006/relationships/notesSlide" Target="/ppt/notesSlides/notesSlide2.xml" Id="R34f6a26578724c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445e9372a4dd6" /><Relationship Type="http://schemas.openxmlformats.org/officeDocument/2006/relationships/notesSlide" Target="/ppt/notesSlides/notesSlide3.xml" Id="Rfa0093d80c714f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df94c812a4a1d" /><Relationship Type="http://schemas.openxmlformats.org/officeDocument/2006/relationships/image" Target="/ppt/media/image.png" Id="R962bfb08057e4d50" /><Relationship Type="http://schemas.openxmlformats.org/officeDocument/2006/relationships/image" Target="/ppt/media/image2.png" Id="Rbf92a2e3144c42bb" /><Relationship Type="http://schemas.openxmlformats.org/officeDocument/2006/relationships/notesSlide" Target="/ppt/notesSlides/notesSlide4.xml" Id="R63ba01bf8e9b40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2af3e55ed487f" /><Relationship Type="http://schemas.openxmlformats.org/officeDocument/2006/relationships/image" Target="/ppt/media/image3.png" Id="R77f12fc25e0a46d4" /><Relationship Type="http://schemas.openxmlformats.org/officeDocument/2006/relationships/notesSlide" Target="/ppt/notesSlides/notesSlide5.xml" Id="R400014d7f86240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738d103414f24" /><Relationship Type="http://schemas.openxmlformats.org/officeDocument/2006/relationships/image" Target="/ppt/media/image4.png" Id="Rbadb94eb378c4583" /><Relationship Type="http://schemas.openxmlformats.org/officeDocument/2006/relationships/notesSlide" Target="/ppt/notesSlides/notesSlide6.xml" Id="R31cc0a3f2d1447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88c8a8d204ada" /><Relationship Type="http://schemas.openxmlformats.org/officeDocument/2006/relationships/image" Target="/ppt/media/image5.png" Id="R33d7bfe6c66348d1" /><Relationship Type="http://schemas.openxmlformats.org/officeDocument/2006/relationships/image" Target="/ppt/media/image6.png" Id="R10d170b4079844e7" /><Relationship Type="http://schemas.openxmlformats.org/officeDocument/2006/relationships/notesSlide" Target="/ppt/notesSlides/notesSlide7.xml" Id="R9e8b8ab199fe41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547cc32654833" /><Relationship Type="http://schemas.openxmlformats.org/officeDocument/2006/relationships/image" Target="/ppt/media/image7.png" Id="R0e8eb132ecf4436e" /><Relationship Type="http://schemas.openxmlformats.org/officeDocument/2006/relationships/notesSlide" Target="/ppt/notesSlides/notesSlide8.xml" Id="R9339408ffc3a4d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e4fdafcbd41ee" /><Relationship Type="http://schemas.openxmlformats.org/officeDocument/2006/relationships/image" Target="/ppt/media/image8.png" Id="R8eb9ff3b0a0641fa" /><Relationship Type="http://schemas.openxmlformats.org/officeDocument/2006/relationships/image" Target="/ppt/media/image9.png" Id="Rf038cff8ae4d4ae9" /><Relationship Type="http://schemas.openxmlformats.org/officeDocument/2006/relationships/notesSlide" Target="/ppt/notesSlides/notesSlide9.xml" Id="R6a18a0965d934b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9980862a0443f" /><Relationship Type="http://schemas.openxmlformats.org/officeDocument/2006/relationships/image" Target="/ppt/media/image10.png" Id="Rf23f364a7b7a4d29" /><Relationship Type="http://schemas.openxmlformats.org/officeDocument/2006/relationships/notesSlide" Target="/ppt/notesSlides/notesSlide10.xml" Id="R701265086ce04a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e0a7ef9e24747" /><Relationship Type="http://schemas.openxmlformats.org/officeDocument/2006/relationships/image" Target="/ppt/media/image11.png" Id="R6aae6ffa338f4076" /><Relationship Type="http://schemas.openxmlformats.org/officeDocument/2006/relationships/notesSlide" Target="/ppt/notesSlides/notesSlide11.xml" Id="R723e192c3c3e4a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f5639e6b74d73" /><Relationship Type="http://schemas.openxmlformats.org/officeDocument/2006/relationships/image" Target="/ppt/media/image12.png" Id="Rbfec451ae5314439" /><Relationship Type="http://schemas.openxmlformats.org/officeDocument/2006/relationships/image" Target="/ppt/media/image13.png" Id="R8328a6813630400d" /><Relationship Type="http://schemas.openxmlformats.org/officeDocument/2006/relationships/notesSlide" Target="/ppt/notesSlides/notesSlide12.xml" Id="Rfc322fe22d1746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7c06038684df4" /><Relationship Type="http://schemas.openxmlformats.org/officeDocument/2006/relationships/image" Target="/ppt/media/image14.png" Id="Rc55bfcdeaee14abd" /><Relationship Type="http://schemas.openxmlformats.org/officeDocument/2006/relationships/image" Target="/ppt/media/image15.png" Id="R76f9f7f917dd4efe" /><Relationship Type="http://schemas.openxmlformats.org/officeDocument/2006/relationships/notesSlide" Target="/ppt/notesSlides/notesSlide13.xml" Id="R147847968af44c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c5eebf9524cb7" /><Relationship Type="http://schemas.openxmlformats.org/officeDocument/2006/relationships/notesSlide" Target="/ppt/notesSlides/notesSlide14.xml" Id="R2b3cdf2dff9a46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c74583a114a35" /><Relationship Type="http://schemas.openxmlformats.org/officeDocument/2006/relationships/notesSlide" Target="/ppt/notesSlides/notesSlide15.xml" Id="R7eac829739a44e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E68E2-39BF-4ADC-9ADB-F8D694EC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PLAYLISTPRO · 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689D4-2360-4EB8-A6E7-075C24F5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657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이탈을 맞히는 모델을 넘어,</a:t>
            </a:r>
          </a:p>
          <a:p xmlns:a="http://schemas.openxmlformats.org/drawingml/2006/main">
            <a:pPr algn="l">
              <a:defRPr sz="39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누구부터 검토할지 결정하는 근거로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54D56-0C5F-4414-A441-246AB305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고객 행동 인사이트 → 공정한 모델 검증 → Threshold·Top-K 운영 우선순위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EE807-0E5E-437D-AD4E-EE481011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규칙 기반 합성 데이터 · 최종 기술 후보 CatBoost · 실제 효과는 후속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9C5EF-C5B0-4DF9-BF4A-0F0E5505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4350"/>
            <a:ext cx="3848100" cy="57150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17354B"/>
          </a:solidFill>
          <a:ln xmlns:a="http://schemas.openxmlformats.org/drawingml/2006/main" w="9525">
            <a:solidFill>
              <a:srgbClr val="1735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E311D-5E6F-4605-A26B-7BB24363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8763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52D6E-7B30-49BC-9EE5-80ED1B43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954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59728-6F1B-44AA-A78E-9D8249C3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B4DF1-3E48-4F7F-826B-15801A38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Risk ranking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A4DFD-2B16-46E5-82F5-1CC8DDD5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FA894-6CAA-4A30-B1A4-37BC1801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766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Review priority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A4ECF-77EA-4166-8776-CB3F51E8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625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494"/>
          </a:solidFill>
          <a:ln xmlns:a="http://schemas.openxmlformats.org/drawingml/2006/main" w="0">
            <a:solidFill>
              <a:srgbClr val="6D849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F1B60-2F0F-43F2-A561-D05AC0F6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0062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rPr>
              <a:t>모델 점수는 결론이 아니라</a:t>
            </a:r>
          </a:p>
          <a:p xmlns:a="http://schemas.openxmlformats.org/drawingml/2006/main">
            <a:pPr algn="l">
              <a:defRPr sz="1350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rPr>
              <a:t>운영자가 선택할 수 있는 근거입니다.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23D03-1A2E-4FA1-8030-DE188832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2026.07.22</a:t>
            </a:r>
          </a:p>
        </p:txBody>
      </p:sp>
    </p:spTree>
    <p:extLst>
      <p:ext uri="{BB962C8B-B14F-4D97-AF65-F5344CB8AC3E}">
        <p14:creationId xmlns:p14="http://schemas.microsoft.com/office/powerpoint/2010/main" val="348049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6BB0F-A6FF-4369-A78B-1470C118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BUSINESS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87453-D68B-4E03-B6D3-6771DFA9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좋은 예측은 ‘정답 하나’가 아니라 비용에 맞는 선택지를 제공합니다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E82A5-2CA0-443B-A53F-09365F5D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Recall과 Precision은 서로 다른 운영 부담을 만든다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D7E5E-B551-4F2A-908B-17BEED2D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solidFill>
              <a:srgbClr val="D9E1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91849-6AE4-46BB-AFC8-99ED55DA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PlaylistPro · Retention Decision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7ED5D-4689-45D7-840B-B9D3F4C0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30580-D4C4-428F-BC16-9C3A3DFC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718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9C839-A513-49BE-9C28-718C7968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rPr>
              <a:t>놓침을 줄이는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CEDEC-A7E4-46B6-98AA-4330F964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rPr>
              <a:t>FN 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B296C-4543-4557-8E81-198D52F4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이탈 고객을 더 많이 찾지만</a:t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검토 대상과 접촉 비용이 늘어납니다.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3947A-F4B7-4A8F-9F60-8B314A37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52625"/>
            <a:ext cx="33718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AE240-3983-4FBA-B5FD-D3692AC1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09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불필요한 접촉을 줄이는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BF2A0-8E36-496D-B628-2B476AE7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14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FP 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CE808-1D0E-4826-ACD3-6AEB5384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90900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선별 정확도는 높아지지만</a:t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놓치는 이탈 고객이 늘어납니다.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5127E-CFF9-4CCA-B987-83B35CE0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3718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F4A1F-F029-4D66-8F6E-99BDCA7F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rPr>
              <a:t>운영 가능한 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186B2-A612-456B-901D-C4E4D9AB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527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rPr>
              <a:t>CAPACITY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53DDF-4D23-4DC6-9645-519B58D3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90900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최종 Threshold는 모델이 아니라</a:t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인력·예산·고객 경험이 결정합니다.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BE4E6-7FA7-451A-947F-C8F906BF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따라서 하나의 임계값을 강요하지 않고 보수적·균형·정밀 시나리오를 함께 제시합니다.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72300-A61F-4F39-ADF4-17816DBA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7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근거: docs/requirements.md · docs/validation_plan.md</a:t>
            </a:r>
          </a:p>
        </p:txBody>
      </p:sp>
    </p:spTree>
    <p:extLst>
      <p:ext uri="{BB962C8B-B14F-4D97-AF65-F5344CB8AC3E}">
        <p14:creationId xmlns:p14="http://schemas.microsoft.com/office/powerpoint/2010/main" val="3249936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BB666B-DED7-47B8-9A83-AF77BA0D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DATA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D61AB-0495-4E79-BD0F-E9B56345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데이터는 모델 비교에 충분하지만 실제 미래 성과를 증명하지는 못합니다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5C2E5-D2FA-4A18-8928-BB128C21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검증 가능한 범위와 아직 모르는 범위를 먼저 분리했다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F22C4-4258-4EF5-90C4-30594D16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solidFill>
              <a:srgbClr val="D9E1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FC9BB-CC1F-4679-933F-0BD1F494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PlaylistPro · Retention Decision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D8964-E34B-4E11-8CFA-2FFF1A0A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E7CB3-4A04-41F9-8D2B-F7CA2F37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3123B-1BB5-4DC2-B356-D944FCBA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7A"/>
          </a:solidFill>
          <a:ln xmlns:a="http://schemas.openxmlformats.org/drawingml/2006/main" w="0">
            <a:solidFill>
              <a:srgbClr val="1884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F46B0-E724-40A9-AD46-3EA53EE8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학습 고객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16313-FA52-44A0-9794-C7F3066C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125,000명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4D931-DA1B-4CDF-A70F-79C66D4E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20개 변수 · churned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F01B8-3D79-43AC-9D9A-F37F5253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F888C-D150-4E7F-811F-EEE8BE0F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224"/>
          </a:solidFill>
          <a:ln xmlns:a="http://schemas.openxmlformats.org/drawingml/2006/main" w="0">
            <a:solidFill>
              <a:srgbClr val="D992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9DDAB-101E-4E71-91D3-3359FE2F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526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점수 산출 고객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07ADF-407D-4674-926F-97B27065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288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75,000명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96FCD-9BEC-4358-9FD5-3D9C94A8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765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19개 변수 · 정답 라벨 없음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34CDA-2C2C-4CFC-B0A9-04332D8D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812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7EEF0-B30C-4844-B904-86BCBAAB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812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E43"/>
          </a:solidFill>
          <a:ln xmlns:a="http://schemas.openxmlformats.org/drawingml/2006/main" w="0">
            <a:solidFill>
              <a:srgbClr val="E85E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753CB-6B6B-4F5C-9E6E-4488F65D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관찰 이탈 비율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FC64F-0E06-493F-88A2-DF374CEF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288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51.34%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27A2D-A77C-472D-AE2A-85917559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765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클래스 불균형 데이터 아님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3FE49F-1DC7-447F-B870-AF494B42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rPr>
              <a:t>검증 완료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FF315-0E1F-496B-ADC9-D8320309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고객 1명 = 1행 · 결측/중복 0건 · Train/Test 고객 ID 교집합 0건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7C4321-5403-41B4-AFB0-A4AD753F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발표 해석의 경계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27B99-5C8A-4C16-8767-5E1E03A2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규칙 기반 합성 데이터 · 예측 기간 미정 · 외부 라벨 Holdout 없음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54010-5A00-4822-83A4-D3A840F7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11125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1481C5-052C-4CB6-98B5-9EB3124D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현재 성능은 5-Fold OOF 기반 기술 검증입니다. 실제 서비스 이탈 감소 효과로 확대 해석하지 않습니다.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69B99C-2542-49CB-AC4C-F1EA7183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7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근거: docs/data_card.md · docs/validation_plan.md · 20260721_full_fair_v1/run_manifest.json</a:t>
            </a:r>
          </a:p>
        </p:txBody>
      </p:sp>
    </p:spTree>
    <p:extLst>
      <p:ext uri="{BB962C8B-B14F-4D97-AF65-F5344CB8AC3E}">
        <p14:creationId xmlns:p14="http://schemas.microsoft.com/office/powerpoint/2010/main" val="308593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2D7BA-7989-4055-A7E4-9A8BF392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CUSTOMER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319A2-AF33-43B1-8A85-B1C4637A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낮은 청취 활동·Free 구독·높은 문의가 가장 강한 관찰 신호였습니다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3AF8C-C7D7-406D-A10F-A23DB7A7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행동·구독 맥락·서비스 마찰이라는 서로 다른 축에서 이탈 차이가 나타났다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AFE57-F955-41A1-B0C6-8E5D43FA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solidFill>
              <a:srgbClr val="D9E1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D4085-F622-4BAF-AAFA-5F65CFD0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PlaylistPro · Retention Decision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A2548-F91E-42FB-BD82-7E3A6C2C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65C47-6797-4697-A3E9-FE5A5A45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3340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bfb08057e4d50"/>
          <a:stretch xmlns:a="http://schemas.openxmlformats.org/drawingml/2006/main"/>
        </p:blipFill>
        <p:spPr>
          <a:xfrm xmlns:a="http://schemas.openxmlformats.org/drawingml/2006/main">
            <a:off x="609600" y="2176251"/>
            <a:ext cx="5181600" cy="264837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86E2A-E940-4AD6-B81F-DA7FDAF1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46735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2a2e3144c42bb"/>
          <a:stretch xmlns:a="http://schemas.openxmlformats.org/drawingml/2006/main"/>
        </p:blipFill>
        <p:spPr>
          <a:xfrm xmlns:a="http://schemas.openxmlformats.org/drawingml/2006/main">
            <a:off x="6267450" y="2255212"/>
            <a:ext cx="5314950" cy="249045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9FEA7-9D15-476C-9254-735AB277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rPr>
              <a:t>weekly_hours 상관 -0.302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A7120-4258-4422-877F-FAAD1082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244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rPr>
              <a:t>Free 79.41%  ·  Premium 33.91%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4C10D-CC31-4BE6-9319-AE1F969E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24475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문의 High 74.33%  ·  Low 28.92%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FEF0F-2DC5-4441-9965-1CD57869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7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근거: 19_numeric_target_correlations.csv · 20_categorical_churn_associations.csv · EDA insight</a:t>
            </a:r>
          </a:p>
        </p:txBody>
      </p:sp>
    </p:spTree>
    <p:extLst>
      <p:ext uri="{BB962C8B-B14F-4D97-AF65-F5344CB8AC3E}">
        <p14:creationId xmlns:p14="http://schemas.microsoft.com/office/powerpoint/2010/main" val="1100937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CB304-EBF5-4A0B-B7CB-DE6A9955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FEATURE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CDD18-1695-4595-A900-200283B3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로그 변환은 채택했고 효과가 없던 비율·상호작용·신호 축소는 제외했습니다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2670B-8724-494E-B6FC-FFFF92BF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실패한 실험도 같은 OOF 기준으로 기록해 선택 논리를 남겼다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F0D9A-23FA-4016-9310-938AF433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solidFill>
              <a:srgbClr val="D9E1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DA47A-43E7-43A7-B1E3-4203EA0E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PlaylistPro · Retention Decision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09956-6FC7-422F-B01D-04A94641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62910-0F6E-4E7B-8767-BE7FAD10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12fc25e0a46d4"/>
          <a:stretch xmlns:a="http://schemas.openxmlformats.org/drawingml/2006/main"/>
        </p:blipFill>
        <p:spPr>
          <a:xfrm xmlns:a="http://schemas.openxmlformats.org/drawingml/2006/main">
            <a:off x="671439" y="1866900"/>
            <a:ext cx="6962922" cy="3657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C8BF6-793D-40D7-8DEC-CBDB2C85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5623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35C4B-3FD3-45E7-8329-D78B33F7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rPr>
              <a:t>채택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C1E13-D9AC-449A-935A-74C0319E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log_numeric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1EDB7-0A5D-4AF2-97AD-095490EB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241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Logistic PR-AUC</a:t>
            </a:r>
          </a:p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0.899495 → 0.906293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4D25D-B7F0-47D2-9B3A-A048F875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562350" cy="202882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4AA2B-1510-448C-95E3-8AC9F5E1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81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9DD89-8C5E-4EDA-BF3B-8CCC4BF4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52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비율 · 상호작용 · 신호 축소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600EB-DA00-42FF-8948-E222A1FD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291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개선이 없거나 미미함</a:t>
            </a:r>
          </a:p>
          <a:p xmlns:a="http://schemas.openxmlformats.org/drawingml/2006/main">
            <a:pPr algn="l">
              <a:defRPr sz="1125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CatBoost raw 대비 log 효과도 +0.000089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35AE3-51CA-4984-B626-BD380EE4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7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근거: preprocessing_experiment_results.csv · tree_feature_validation.csv</a:t>
            </a:r>
          </a:p>
        </p:txBody>
      </p:sp>
    </p:spTree>
    <p:extLst>
      <p:ext uri="{BB962C8B-B14F-4D97-AF65-F5344CB8AC3E}">
        <p14:creationId xmlns:p14="http://schemas.microsoft.com/office/powerpoint/2010/main" val="928771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FE7D4-0EE8-48A5-85AC-9D42C2C0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VALIDATION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CB8B4-398E-4158-8CB2-B38850B6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 Feature와 같은 Fold를 고정해 개선 원인을 분리했습니다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2F025-3118-46DF-9553-1FCF499A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전처리는 각 학습 Fold 안에서만 Fit해 누수를 차단했다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F74B8-9D19-49D0-85D8-97FD1671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solidFill>
              <a:srgbClr val="D9E1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9AC3C-4A7E-44E2-9CA9-FECDC2D9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PlaylistPro · Retention Decision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940F9-7C73-4795-A51C-976ADC04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C4698-674D-4EBA-A801-0FF5C716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762000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b94eb378c4583"/>
          <a:stretch xmlns:a="http://schemas.openxmlformats.org/drawingml/2006/main"/>
        </p:blipFill>
        <p:spPr>
          <a:xfrm xmlns:a="http://schemas.openxmlformats.org/drawingml/2006/main">
            <a:off x="666852" y="1847850"/>
            <a:ext cx="7353096" cy="3867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F7C06-3C73-42DC-BCD2-62718622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33575"/>
            <a:ext cx="31813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E6ECB-9356-4068-A4DB-7F46FFB1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31118-5FE5-402C-B4F9-CD85C0D9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동일 log_numeric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5A9AA-6CFC-4CDA-A4EB-06FC7AB9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38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모델만 바꿔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493DD-E3BA-4A80-8AE8-1A285DE5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1813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7BED0-8664-4B1F-A546-BF9DFAA0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0F310-A6F9-46C4-B694-E16A2788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57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Stratified 5-Fold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B817C-4266-4DC6-94BC-9663B276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81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random_state=42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3B605-65DC-43F3-BA41-6A7926AC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9575"/>
            <a:ext cx="31813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7ACAF-ED89-4962-B8A6-43F76E2D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0055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E13EC-56F5-41CB-9065-382E2B68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00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Pipeline 내부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B2144-018F-4A28-83B0-AF5E17A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24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Target 기반 인코딩 없음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97562-CC73-4088-A3D0-4DDAAAA8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rPr>
              <a:t>Dummy 0.5134  →  Raw Logistic 0.8995  →  Log Logistic 0.9063  →  CatBoost OOF 0.9479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AC7DDE-F96A-42E5-A8BB-7F4B318E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7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근거: 01_performance_progression.csv · model_comparison_fair.csv · validation_plan.md</a:t>
            </a:r>
          </a:p>
        </p:txBody>
      </p:sp>
    </p:spTree>
    <p:extLst>
      <p:ext uri="{BB962C8B-B14F-4D97-AF65-F5344CB8AC3E}">
        <p14:creationId xmlns:p14="http://schemas.microsoft.com/office/powerpoint/2010/main" val="5207894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F27015-8E5A-4EC1-A5BD-90C15DD8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63882-AC8F-4C35-8A01-F663EAFA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8개 모델을 같은 조건에서 비교한 뒤 상위 3개만 정밀 탐색했습니다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79F74-940D-44C1-BC3A-AA570897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탐색 횟수보다 비교 조건의 공정성과 재현성을 우선했다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442F7-CE30-46CF-B953-F1013472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solidFill>
              <a:srgbClr val="D9E1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BE0C0-913D-42F3-A43D-5E5E888B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PlaylistPro · Retention Decision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22A46-D199-4A92-A9B3-5DF2A462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0F73F-5A9A-441C-AFFE-56DB7332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381625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7bfe6c66348d1"/>
          <a:stretch xmlns:a="http://schemas.openxmlformats.org/drawingml/2006/main"/>
        </p:blipFill>
        <p:spPr>
          <a:xfrm xmlns:a="http://schemas.openxmlformats.org/drawingml/2006/main">
            <a:off x="609600" y="2011369"/>
            <a:ext cx="5229225" cy="298766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4D640-AD9C-4756-9668-4A8C3461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90700"/>
            <a:ext cx="5457825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170b4079844e7"/>
          <a:stretch xmlns:a="http://schemas.openxmlformats.org/drawingml/2006/main"/>
        </p:blipFill>
        <p:spPr>
          <a:xfrm xmlns:a="http://schemas.openxmlformats.org/drawingml/2006/main">
            <a:off x="6276975" y="2110082"/>
            <a:ext cx="5305425" cy="279023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6F0B6-C039-4191-8637-76408173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1125200" cy="561975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7354B"/>
          </a:solidFill>
          <a:ln xmlns:a="http://schemas.openxmlformats.org/drawingml/2006/main" w="9525">
            <a:solidFill>
              <a:srgbClr val="1735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366C1-BB3E-4EC1-A233-3E52B110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3D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AFC3D0"/>
                </a:solidFill>
                <a:latin typeface="Malgun Gothic"/>
                <a:ea typeface="Malgun Gothic"/>
                <a:cs typeface="Malgun Gothic"/>
              </a:rPr>
              <a:t>Fine CV PR-AUC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FB5F4-C103-4C27-B313-A1EC33DC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534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CatBoost 0.947913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4358B-1751-4883-B816-C79E94E9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534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LightGBM 0.947806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AB957-81C5-4040-875E-8CF7D129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340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XGBoost 0.947793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A3E4F-80C1-48CC-836C-02D4E286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816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rPr>
              <a:t>격차 ≤ 0.000120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BB8DB-46EE-481C-BF89-57ECB09F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7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근거: model_comparison_fair.csv · top3_fine_tuning_summary.csv · full_fair_v1 manifest</a:t>
            </a:r>
          </a:p>
        </p:txBody>
      </p:sp>
    </p:spTree>
    <p:extLst>
      <p:ext uri="{BB962C8B-B14F-4D97-AF65-F5344CB8AC3E}">
        <p14:creationId xmlns:p14="http://schemas.microsoft.com/office/powerpoint/2010/main" val="17337678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C8075-9726-4AFB-9806-55E6CF68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SEARCH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65BA0-C495-48A9-9BC1-0811D4D7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제한된 탐색은 모든 모델을 개선하지 않았고 실패 결과도 선택 근거가 됐습니다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1F077-FDEF-43F2-A43A-71A1856E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탐색 상한을 지키고 기존 checkpoint를 재사용해 불필요한 재학습을 막았다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F3611-3A9E-4D4B-8471-EF7CC50A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solidFill>
              <a:srgbClr val="D9E1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987BE-7C35-4B69-B273-D9D4E39B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PlaylistPro · Retention Decision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BFFBE-7C0F-4330-9288-C581B227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968A4-F257-4BC9-B2BA-4316F5D5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524750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eb132ecf4436e"/>
          <a:stretch xmlns:a="http://schemas.openxmlformats.org/drawingml/2006/main"/>
        </p:blipFill>
        <p:spPr>
          <a:xfrm xmlns:a="http://schemas.openxmlformats.org/drawingml/2006/main">
            <a:off x="1052589" y="1866900"/>
            <a:ext cx="6486372" cy="3771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28C9A-C616-4AA8-8307-19FC6611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276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277E5-BB68-4CC7-8F2A-F847C153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33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rPr>
              <a:t>가장 큰 개선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30600-C8D5-4F9E-9A36-EA3321EA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050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RandomForest +0.003554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D2B4B-1CE6-4A62-BD3F-869869BA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3276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5235D-7377-4A57-959C-26E1B7EC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명확한 제외 근거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AAC08-1D69-4841-B5C3-5D9A4138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433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GradientBoosting -0.000793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06A6D-9173-4829-844B-4E7C59BD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32766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F6A0D-C554-482A-A523-4D963995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10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rPr>
              <a:t>의미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F5C46-510E-4B95-BD1E-51138A3F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720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탐색이 항상 개선을 보장하지 않음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상위 3개만 각 15회 정밀 탐색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7FB6D-2815-4869-938A-A02E4B3E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7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근거: 05_seven_model_search_before_after.csv · run manifest search budgets</a:t>
            </a:r>
          </a:p>
        </p:txBody>
      </p:sp>
    </p:spTree>
    <p:extLst>
      <p:ext uri="{BB962C8B-B14F-4D97-AF65-F5344CB8AC3E}">
        <p14:creationId xmlns:p14="http://schemas.microsoft.com/office/powerpoint/2010/main" val="3139296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C1C92-E037-4900-B937-886A4195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ROBUSTNESS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BCF56-2C5A-47C2-A94B-D98259E6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정밀 탐색 뒤에도 상위 3개는 근접했고 반복 안정성이 최종 판단을 보완했습니다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8A041-61D6-4D33-82AC-F4F0B40E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5개 Seed와 1,000회 Bootstrap으로 단일 운 좋은 결과를 배제했다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32B4B-0304-4E9A-B65B-006D4071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solidFill>
              <a:srgbClr val="D9E1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71E2D-F784-4F33-9645-D28E659A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PlaylistPro · Retention Decision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A8374-15CC-45F5-B9BF-7D802CB5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8EA08-0E80-42A8-8D42-09155D3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3340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9ff3b0a0641fa"/>
          <a:stretch xmlns:a="http://schemas.openxmlformats.org/drawingml/2006/main"/>
        </p:blipFill>
        <p:spPr>
          <a:xfrm xmlns:a="http://schemas.openxmlformats.org/drawingml/2006/main">
            <a:off x="609600" y="2104543"/>
            <a:ext cx="5181600" cy="272511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48910-9C1F-44FB-94FB-A5FAA65D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4673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8cff8ae4d4ae9"/>
          <a:stretch xmlns:a="http://schemas.openxmlformats.org/drawingml/2006/main"/>
        </p:blipFill>
        <p:spPr>
          <a:xfrm xmlns:a="http://schemas.openxmlformats.org/drawingml/2006/main">
            <a:off x="6267450" y="2071137"/>
            <a:ext cx="5314950" cy="279192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A2731-55E9-4FF2-814D-46450EED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33337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D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858F4-5CE5-4FD7-A516-4BE09389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rPr>
              <a:t>CatBoost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BE200-3C7C-434F-88E2-FA1B8649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48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평균 0.947880 · σ 0.000061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D4FB3-6176-4D75-A807-02594E38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14950"/>
            <a:ext cx="33337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D882F-56EC-4B6C-8E6E-191F32F8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67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rPr>
              <a:t>XGBoost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73356-4B6D-40F8-84E1-7E3B0477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48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평균 0.947726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8D842-AD65-4C86-87AA-5F625513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14950"/>
            <a:ext cx="33337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A51D1-B997-4E03-9026-DC0F283A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67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LightGBM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62947-8EE6-4EE2-96BA-7DC1C3C9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448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평균 0.947721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E9CE1-10C2-4EC0-ABE9-864BEE2A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7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근거: top3_fine_tuning_summary.csv · 07_seed_stability.csv · 08_bootstrap_confidence_intervals.csv</a:t>
            </a:r>
          </a:p>
        </p:txBody>
      </p:sp>
    </p:spTree>
    <p:extLst>
      <p:ext uri="{BB962C8B-B14F-4D97-AF65-F5344CB8AC3E}">
        <p14:creationId xmlns:p14="http://schemas.microsoft.com/office/powerpoint/2010/main" val="6964277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8EF7C-31D9-4FB0-977A-2D0B1C34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SELECTION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A099F-4F12-4ABA-A1AC-E34AE76D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CatBoost는 근소한 순위 우위와 Seed 안정성으로 선택했지만 절대적 승자는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C0B87-43C9-48C0-994A-EC1133D5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Bootstrap 구간은 겹치며 LightGBM은 Recall과 Brier에서 강점이 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F242F-57D8-4C0A-93D6-D55741B2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solidFill>
              <a:srgbClr val="D9E1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53643-E4A4-415D-91DB-11CEB01D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PlaylistPro · Retention Decision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501B0-1642-4165-9647-0255EACD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D0E33-825F-498B-9E72-0005DE30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1912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f364a7b7a4d29"/>
          <a:stretch xmlns:a="http://schemas.openxmlformats.org/drawingml/2006/main"/>
        </p:blipFill>
        <p:spPr>
          <a:xfrm xmlns:a="http://schemas.openxmlformats.org/drawingml/2006/main">
            <a:off x="609600" y="2144773"/>
            <a:ext cx="6038850" cy="296850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FE4B2-0F94-4DE0-B4F0-C5F84244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47850"/>
            <a:ext cx="45339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0CA26-7A5D-42A0-81A7-EBCDB806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95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rPr>
              <a:t>CatBoost를 선택한 근거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A3CAD-272C-4042-94B7-F95DE7AA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908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① Fine CV PR-AUC  0.947913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② OOF PR-AUC       0.947897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③ 5-Seed 평균       0.947880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④ Seed 표준편차     0.000061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D431B-4AB7-474C-ABAE-C103145C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solidFill>
              <a:srgbClr val="D9E1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08A2B-74FA-4C9C-9BD9-8CEECA29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62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반드시 함께 말할 Trade-off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B2552-4BAF-43A3-BE5D-65F3D818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625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LightGBM @0.50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Recall 0.859850  &gt;  CatBoost 0.836382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Brier  0.095049  &lt;  CatBoost 0.095215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05743-9850-413F-83DB-E28D2B4E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모델 선택과 운영 Threshold 선택은 별개입니다.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E5E99-3432-415F-88B3-E3D63349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7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근거: final_model_selection_matrix.csv · seed_stability.csv · bootstrap_confidence_intervals.csv</a:t>
            </a:r>
          </a:p>
        </p:txBody>
      </p:sp>
    </p:spTree>
    <p:extLst>
      <p:ext uri="{BB962C8B-B14F-4D97-AF65-F5344CB8AC3E}">
        <p14:creationId xmlns:p14="http://schemas.microsoft.com/office/powerpoint/2010/main" val="21042960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395E1E-2E98-463F-921C-ADEDE277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OPERATING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87658-96B5-4BA7-AA69-E2C85877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Threshold를 낮추면 놓침은 줄지만 검토 대상이 빠르게 늘어납니다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C174F-9F15-478D-8D33-887B16C2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운영팀은 비용과 인력에 맞춰 세 가지 시나리오 중 선택할 수 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A2CFB-1FA7-4F28-B3C0-08FE13AB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solidFill>
              <a:srgbClr val="D9E1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157B1-8988-48D0-8C9E-1FD656EF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PlaylistPro · Retention Decision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552F7-6EEA-4F54-A4C7-9E3935CA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D46C1-7058-4427-8108-1C668CA9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676275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e6ffa338f4076"/>
          <a:stretch xmlns:a="http://schemas.openxmlformats.org/drawingml/2006/main"/>
        </p:blipFill>
        <p:spPr>
          <a:xfrm xmlns:a="http://schemas.openxmlformats.org/drawingml/2006/main">
            <a:off x="609600" y="1949978"/>
            <a:ext cx="6610350" cy="347239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53BC2-BE31-4194-B692-5458EC1E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66900"/>
            <a:ext cx="4000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ED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67095-241D-421C-9881-8AEB1266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38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rPr>
              <a:t>RECALL 우선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3E703-8BBE-4000-8214-F7E3596F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00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rPr>
              <a:t>0.29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6A73F-4EAE-446D-83C5-C57109D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717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77,700명 · 62.16%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D275C-C633-4F7A-A83B-86028A9B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Recall 95.18% · FN 3,091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334C9-6C9A-4B5E-976A-883C3320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24200"/>
            <a:ext cx="4000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B2FF7-B91D-4834-91D6-721C2628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95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rPr>
              <a:t>균형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15DC1-08B4-4A88-9B73-233FFE38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575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rPr>
              <a:t>0.35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2BCBF-D50C-4945-888A-4BEA7AEE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290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76,143명 · 60.91%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AEDD6-0843-4679-B598-33E563FE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Recall 94.44% · FN 3,569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FD834-8762-4651-AB17-89DDAC53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81500"/>
            <a:ext cx="4000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E339F-771D-41A9-838E-DC8CFACC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52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PRECISION 우선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A5B6F-B284-4AC8-B01C-56889005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148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0.74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75BF0E-1AFE-41C0-9BAD-828226B8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863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48,463명 · 38.77%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97E88-AF06-4FB1-9B86-4A05F1F0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43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Precision 95.07% · FN 18,099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413486-AA7F-48E1-B65E-53E196C4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0.35는 OOF F1 최고점일 뿐, 사업 최적 임계값으로 확정하지 않았습니다.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03F2F8-7460-4B5E-ABD7-DAA1C42A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7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근거: threshold_operating_scenarios_v2.csv · 10_11_threshold_sweep.csv</a:t>
            </a:r>
          </a:p>
        </p:txBody>
      </p:sp>
    </p:spTree>
    <p:extLst>
      <p:ext uri="{BB962C8B-B14F-4D97-AF65-F5344CB8AC3E}">
        <p14:creationId xmlns:p14="http://schemas.microsoft.com/office/powerpoint/2010/main" val="19491093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9640C-64DD-405D-B558-282D1BC4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CAPACITY-BASED TARGETING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83845-CCF9-4612-83A8-9D572051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인력이 정해져 있다면 Top-K가 가장 직접적인 검토 기준입니다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6B2EA-7B8E-423F-BCE4-C6D21586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상위 위험군에 이탈 고객이 얼마나 집중되는지 Capture·Lift·Decile로 확인했다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B68BE-7E9E-4CC2-9D1C-120408F0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solidFill>
              <a:srgbClr val="D9E1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0E0EF-F66D-4B19-814D-D39AC4CB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PlaylistPro · Retention Decision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B205D-49F1-47CD-903D-3D7B2623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13D80-CBE1-4652-9EE4-565B69BC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5476875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c451ae5314439"/>
          <a:stretch xmlns:a="http://schemas.openxmlformats.org/drawingml/2006/main"/>
        </p:blipFill>
        <p:spPr>
          <a:xfrm xmlns:a="http://schemas.openxmlformats.org/drawingml/2006/main">
            <a:off x="609600" y="2200236"/>
            <a:ext cx="5324475" cy="28004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36822-F162-4D91-B40A-025EDB7F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81175"/>
            <a:ext cx="5476875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8a6813630400d"/>
          <a:stretch xmlns:a="http://schemas.openxmlformats.org/drawingml/2006/main"/>
        </p:blipFill>
        <p:spPr>
          <a:xfrm xmlns:a="http://schemas.openxmlformats.org/drawingml/2006/main">
            <a:off x="6257925" y="2201985"/>
            <a:ext cx="5324475" cy="279692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48886-C9A0-4703-B6C9-87639922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Top 10%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D14DE-D6E6-429B-AD02-5B72F963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7212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rPr>
              <a:t>Capture 19.48% · Lift 1.95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7D1BF-B2EA-466E-8418-C73E7B22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619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Top 30%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E298B-D3D8-4164-BEA5-BD3888FA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57212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rPr>
              <a:t>Capture 56.81% · Lift 1.89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1D83C-A796-47DA-A995-35503878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7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근거: 14_topk_capture_lift.csv · 15_risk_decile.csv</a:t>
            </a:r>
          </a:p>
        </p:txBody>
      </p:sp>
    </p:spTree>
    <p:extLst>
      <p:ext uri="{BB962C8B-B14F-4D97-AF65-F5344CB8AC3E}">
        <p14:creationId xmlns:p14="http://schemas.microsoft.com/office/powerpoint/2010/main" val="11448083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A05FE-CBFF-4B73-9290-84791EFB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DIAGNOSTIC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7AA14-4C8E-4E51-910F-36E86FE3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세그먼트별 오류와 Feature 중요도는 다음 검증 질문을 만드는 진단 자료입니다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F2604-5956-4604-9EFF-F4440E56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인과관계나 고객별 처방의 직접 근거로 사용하지 않는다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DB6FF-225D-4854-B0BC-1158BD0D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solidFill>
              <a:srgbClr val="D9E1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8766C-3C46-46A1-B83E-E27FD3E3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PlaylistPro · Retention Decision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30836-DDF9-4A0C-B870-6EF62611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1809A-6AE5-4B12-92CC-A3B650DF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42925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bfcdeaee14abd"/>
          <a:stretch xmlns:a="http://schemas.openxmlformats.org/drawingml/2006/main"/>
        </p:blipFill>
        <p:spPr>
          <a:xfrm xmlns:a="http://schemas.openxmlformats.org/drawingml/2006/main">
            <a:off x="609600" y="2125240"/>
            <a:ext cx="5276850" cy="306472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B0BC0-1DE3-4B00-B805-38757568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42925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9f7f917dd4efe"/>
          <a:stretch xmlns:a="http://schemas.openxmlformats.org/drawingml/2006/main"/>
        </p:blipFill>
        <p:spPr>
          <a:xfrm xmlns:a="http://schemas.openxmlformats.org/drawingml/2006/main">
            <a:off x="6317724" y="1866900"/>
            <a:ext cx="5252502" cy="35814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76802-B6E1-4126-B499-0F85362B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Premium Recall 72.38% · Family Recall 74.88%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6EB30-743F-4DFE-8794-D54CF757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959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rPr>
              <a:t>중요도는 예측 기여이며 원인·개입 효과가 아님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03B42-97A3-4861-B816-B6DD817B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7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근거: 18_segment_error_analysis.csv · 17_final_feature_importance.csv</a:t>
            </a:r>
          </a:p>
        </p:txBody>
      </p:sp>
    </p:spTree>
    <p:extLst>
      <p:ext uri="{BB962C8B-B14F-4D97-AF65-F5344CB8AC3E}">
        <p14:creationId xmlns:p14="http://schemas.microsoft.com/office/powerpoint/2010/main" val="12442180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F18E38-E665-48A8-B16E-C72321A3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DECISION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9E29A-F10D-4604-8046-E5F58891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Streamlit은 점수·위험 신호·행동 가설을 한 고객 검토 흐름으로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6944C-0521-4D83-B743-BEAACF5D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모델은 위험도를 계산하고 규칙은 후보 행동을 제안하며 최종 선택은 담당자가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864F4-BDE7-41ED-8B79-27A2072C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solidFill>
              <a:srgbClr val="D9E1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A9B98-D091-4673-B706-206841BC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PlaylistPro · Retention Decision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A943B-9517-4DEF-8811-CBF52C2D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EE359-0D31-4F6B-BFA0-5D6D1428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4574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D954E-4A95-4255-9378-B9A1994C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847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B710E-76B7-4126-84A8-ABF563BE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CatBoost 점수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33969-8671-4DD1-B544-B19B2296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저장 모델로</a:t>
            </a:r>
          </a:p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75,000명 확률 산출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68EB1-A937-4E5E-A6F5-275CDA69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765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E1492-3485-4268-AA3A-D3FC110D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24574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8F091-C062-425A-AF98-002E102A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28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354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E0D66-3245-40B4-B98F-9B46A043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우선순위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46052-C094-41AF-97F6-20B1246A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Threshold 또는</a:t>
            </a:r>
          </a:p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Top-K로 검토 큐 구성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E81CD-585F-4594-B7B9-84D4C354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765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0B303-382B-4CBD-BF5F-181FB8BC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38350"/>
            <a:ext cx="24574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EE885-EB69-4A1C-A3E5-3F0674F7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92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9922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546D0-FF48-44A4-A8A9-FB1CB537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1차 신호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2F396-66B4-47A5-B578-6A9B55D1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청취·구독·문의</a:t>
            </a:r>
          </a:p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위험 신호를 함께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7F64F-3C40-4DD8-8E5F-CF19070D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765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78228A-6603-4AF6-9F6E-4E6DDD23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24574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09EA7-4927-4FA0-9BA1-4CEC52BD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85E4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5D26DE-236A-478C-9A43-413E3B4C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추천 행동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FA2CA5-C8C9-4878-B487-1C97CEF0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규칙 기반 후보를</a:t>
            </a:r>
          </a:p>
          <a:p xmlns:a="http://schemas.openxmlformats.org/drawingml/2006/main">
            <a:pPr algn="l">
              <a:def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담당자가 선택·보류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924A02-1DEE-479B-A73C-FBEF64B6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95825"/>
            <a:ext cx="11125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4B"/>
          </a:solidFill>
          <a:ln xmlns:a="http://schemas.openxmlformats.org/drawingml/2006/main" w="9525">
            <a:solidFill>
              <a:srgbClr val="1735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9BD4EA-6527-4811-8072-C8E3AE23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rPr>
              <a:t>앱이 직접 하지 않는 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2618C-8F1F-4C1D-AD47-8A2EF257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CRM 발송 · 할인 제공 · 고객 접촉 · 실제 uplift/ROI 확정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12005D-E7A1-49F2-A1D9-231F878B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0958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rPr>
              <a:t>6개 화면 · 모델 SHA 재로딩 검증 · 7개 전략 세그먼트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57715D-A7AC-4268-AB95-5EF1BED5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7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07E"/>
                </a:solidFill>
                <a:latin typeface="Malgun Gothic"/>
                <a:ea typeface="Malgun Gothic"/>
                <a:cs typeface="Malgun Gothic"/>
              </a:rPr>
              <a:t>근거: app/streamlit_app.py · src/retention_strategy.py · artifacts/model/metadata.json</a:t>
            </a:r>
          </a:p>
        </p:txBody>
      </p:sp>
    </p:spTree>
    <p:extLst>
      <p:ext uri="{BB962C8B-B14F-4D97-AF65-F5344CB8AC3E}">
        <p14:creationId xmlns:p14="http://schemas.microsoft.com/office/powerpoint/2010/main" val="6393977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35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9F7059-402E-4FD9-9DDE-D9D681A1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rPr>
              <a:t>NEXT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38DC5-CF34-4166-97F3-31F8D699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 확보한 것은 ‘누구부터 볼 것인가’의 근거입니다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D1D48-B8D2-46D6-B147-483757BC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rPr>
              <a:t>‘어떤 행동이 실제 이탈을 줄이는가’는 다음 검증 단계에서 답해야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A1829-54FD-410D-B055-00B96AC3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797"/>
          </a:solidFill>
          <a:ln xmlns:a="http://schemas.openxmlformats.org/drawingml/2006/main" w="0">
            <a:solidFill>
              <a:srgbClr val="6E879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F5C3B-4F2D-44CC-A087-10E6BA25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5441E-D30A-495D-85C0-27160A5C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시간 기반 라벨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DC74E-1C05-4C28-8AF4-56C9728C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rPr>
              <a:t>관찰 시점과 미래 이탈 시점을 분리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731F4-E986-4837-9989-5FBFE4A7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76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797"/>
          </a:solidFill>
          <a:ln xmlns:a="http://schemas.openxmlformats.org/drawingml/2006/main" w="0">
            <a:solidFill>
              <a:srgbClr val="6E879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70360-AFB7-47EB-A5DB-74F38C42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67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EC988-E150-42D5-BEBA-6E26A750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05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외부 Holdout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F7FDA-B83D-40AC-A58D-D98AB123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rPr>
              <a:t>실제 신규 고객에서 일반화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5D847-E79A-4136-AE38-319C6115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797"/>
          </a:solidFill>
          <a:ln xmlns:a="http://schemas.openxmlformats.org/drawingml/2006/main" w="0">
            <a:solidFill>
              <a:srgbClr val="6E87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ABA5A-0DDF-411B-9E37-1C63B2FB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51669-7F14-4B73-AA01-AD79E7CB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기준 승인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FD411-73FC-49EF-B804-F1E090AF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rPr>
              <a:t>인력·비용으로 Threshold/Top-K 확정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2CF12-02BA-465C-80CE-9D22B2DF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76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E43"/>
          </a:solidFill>
          <a:ln xmlns:a="http://schemas.openxmlformats.org/drawingml/2006/main" w="0">
            <a:solidFill>
              <a:srgbClr val="E85E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FEC25-750F-4B90-BC1C-F38EDB0C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67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5E43C-4F2B-40BA-8C56-7D802427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05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A/B 테스트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82176-6BA9-4E25-BC72-9A455EE5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004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9E5EC"/>
                </a:solidFill>
                <a:latin typeface="Malgun Gothic"/>
                <a:ea typeface="Malgun Gothic"/>
                <a:cs typeface="Malgun Gothic"/>
              </a:rPr>
              <a:t>행동별 uplift와 순효과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584757-92D3-4EE3-A558-1AFBAB47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11125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1465F"/>
          </a:solidFill>
          <a:ln xmlns:a="http://schemas.openxmlformats.org/drawingml/2006/main" w="9525">
            <a:solidFill>
              <a:srgbClr val="2146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6E5D7-0E3C-4C05-A2FC-A507822B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6A28F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D4A10F-B5B3-4434-A630-A0483C35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인사이트 → 공정한 검증 → CatBoost 랭킹 → 운영 선택지까지 연결했습니다.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0B766-CBC2-4DBE-B871-856E1A27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86500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C3D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AFC3D0"/>
                </a:solidFill>
                <a:latin typeface="Malgun Gothic"/>
                <a:ea typeface="Malgun Gothic"/>
                <a:cs typeface="Malgun Gothic"/>
              </a:rPr>
              <a:t>기술 후보 선정 완료 · 운영 효과 검증은 미완료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41C90-2C0C-49C0-AC60-D0C40C4D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C3D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AFC3D0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64414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2026-07-21T20:20:57.6890000Z</dcterms:created>
  <dcterms:modified xsi:type="dcterms:W3CDTF">2026-07-21T20:20:57.6890000Z</dcterms:modified>
</coreProperties>
</file>