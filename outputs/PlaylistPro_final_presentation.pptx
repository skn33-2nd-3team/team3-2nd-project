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2c8b03ecffd4fdb" /><Relationship Type="http://schemas.openxmlformats.org/officeDocument/2006/relationships/extended-properties" Target="/docProps/app.xml" Id="R825f1c23688c40ff" /><Relationship Type="http://schemas.openxmlformats.org/officeDocument/2006/relationships/officeDocument" Target="/ppt/presentation.xml" Id="R74493f724d3a4df8" /></Relationships>
</file>

<file path=ppt/presentation.xml><?xml version="1.0" encoding="utf-8"?>
<p:presentation xmlns:p="http://schemas.openxmlformats.org/presentationml/2006/main">
  <p:sldMasterIdLst>
    <p:sldMasterId xmlns:r="http://schemas.openxmlformats.org/officeDocument/2006/relationships" id="2147483648" r:id="R9a45db933c6e44b1"/>
  </p:sldMasterIdLst>
  <p:notesMasterIdLst>
    <p:notesMasterId xmlns:r="http://schemas.openxmlformats.org/officeDocument/2006/relationships" r:id="R217fcb46d06747fa"/>
  </p:notesMasterIdLst>
  <p:sldIdLst>
    <p:sldId xmlns:r="http://schemas.openxmlformats.org/officeDocument/2006/relationships" id="256" r:id="R9927639671af4d11"/>
    <p:sldId xmlns:r="http://schemas.openxmlformats.org/officeDocument/2006/relationships" id="257" r:id="Rc8e8e43d738e4ccc"/>
    <p:sldId xmlns:r="http://schemas.openxmlformats.org/officeDocument/2006/relationships" id="258" r:id="Rca835b0e8eee40c0"/>
    <p:sldId xmlns:r="http://schemas.openxmlformats.org/officeDocument/2006/relationships" id="259" r:id="R3126d209923a46b2"/>
    <p:sldId xmlns:r="http://schemas.openxmlformats.org/officeDocument/2006/relationships" id="260" r:id="Rd8c011c54fa74af8"/>
    <p:sldId xmlns:r="http://schemas.openxmlformats.org/officeDocument/2006/relationships" id="261" r:id="R641c78230d944b1c"/>
    <p:sldId xmlns:r="http://schemas.openxmlformats.org/officeDocument/2006/relationships" id="262" r:id="R623b734efa104971"/>
    <p:sldId xmlns:r="http://schemas.openxmlformats.org/officeDocument/2006/relationships" id="263" r:id="Ra55f8227fdd84a4e"/>
    <p:sldId xmlns:r="http://schemas.openxmlformats.org/officeDocument/2006/relationships" id="264" r:id="R4e63f692613b4415"/>
    <p:sldId xmlns:r="http://schemas.openxmlformats.org/officeDocument/2006/relationships" id="265" r:id="R4708bac069c24186"/>
    <p:sldId xmlns:r="http://schemas.openxmlformats.org/officeDocument/2006/relationships" id="266" r:id="R2cb107ef4fd34dc5"/>
    <p:sldId xmlns:r="http://schemas.openxmlformats.org/officeDocument/2006/relationships" id="267" r:id="Re3095d6980974475"/>
    <p:sldId xmlns:r="http://schemas.openxmlformats.org/officeDocument/2006/relationships" id="268" r:id="R7c764b56f0794ca2"/>
    <p:sldId xmlns:r="http://schemas.openxmlformats.org/officeDocument/2006/relationships" id="269" r:id="Re870dd0db4df4fc5"/>
    <p:sldId xmlns:r="http://schemas.openxmlformats.org/officeDocument/2006/relationships" id="270" r:id="R78315ebcedb4465a"/>
    <p:sldId xmlns:r="http://schemas.openxmlformats.org/officeDocument/2006/relationships" id="271" r:id="Redf94dc55ea14a01"/>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8dae7def3f5490d" /><Relationship Type="http://schemas.openxmlformats.org/officeDocument/2006/relationships/slideMaster" Target="/ppt/slideMasters/slideMaster1.xml" Id="R9a45db933c6e44b1" /><Relationship Type="http://schemas.openxmlformats.org/officeDocument/2006/relationships/notesMaster" Target="/ppt/notesMasters/notesMaster1.xml" Id="R217fcb46d06747fa" /><Relationship Type="http://schemas.openxmlformats.org/officeDocument/2006/relationships/presProps" Target="/ppt/presProps.xml" Id="R08655d96bd9246b9" /><Relationship Type="http://schemas.openxmlformats.org/officeDocument/2006/relationships/tableStyles" Target="/ppt/tableStyles.xml" Id="R14fc1774c07c4a94" /><Relationship Type="http://schemas.openxmlformats.org/officeDocument/2006/relationships/slide" Target="/ppt/slides/slide1.xml" Id="R9927639671af4d11" /><Relationship Type="http://schemas.openxmlformats.org/officeDocument/2006/relationships/slide" Target="/ppt/slides/slide2.xml" Id="Rc8e8e43d738e4ccc" /><Relationship Type="http://schemas.openxmlformats.org/officeDocument/2006/relationships/slide" Target="/ppt/slides/slide3.xml" Id="Rca835b0e8eee40c0" /><Relationship Type="http://schemas.openxmlformats.org/officeDocument/2006/relationships/slide" Target="/ppt/slides/slide4.xml" Id="R3126d209923a46b2" /><Relationship Type="http://schemas.openxmlformats.org/officeDocument/2006/relationships/slide" Target="/ppt/slides/slide5.xml" Id="Rd8c011c54fa74af8" /><Relationship Type="http://schemas.openxmlformats.org/officeDocument/2006/relationships/slide" Target="/ppt/slides/slide6.xml" Id="R641c78230d944b1c" /><Relationship Type="http://schemas.openxmlformats.org/officeDocument/2006/relationships/slide" Target="/ppt/slides/slide7.xml" Id="R623b734efa104971" /><Relationship Type="http://schemas.openxmlformats.org/officeDocument/2006/relationships/slide" Target="/ppt/slides/slide8.xml" Id="Ra55f8227fdd84a4e" /><Relationship Type="http://schemas.openxmlformats.org/officeDocument/2006/relationships/slide" Target="/ppt/slides/slide9.xml" Id="R4e63f692613b4415" /><Relationship Type="http://schemas.openxmlformats.org/officeDocument/2006/relationships/slide" Target="/ppt/slides/slide10.xml" Id="R4708bac069c24186" /><Relationship Type="http://schemas.openxmlformats.org/officeDocument/2006/relationships/slide" Target="/ppt/slides/slide11.xml" Id="R2cb107ef4fd34dc5" /><Relationship Type="http://schemas.openxmlformats.org/officeDocument/2006/relationships/slide" Target="/ppt/slides/slide12.xml" Id="Re3095d6980974475" /><Relationship Type="http://schemas.openxmlformats.org/officeDocument/2006/relationships/slide" Target="/ppt/slides/slide13.xml" Id="R7c764b56f0794ca2" /><Relationship Type="http://schemas.openxmlformats.org/officeDocument/2006/relationships/slide" Target="/ppt/slides/slide14.xml" Id="Re870dd0db4df4fc5" /><Relationship Type="http://schemas.openxmlformats.org/officeDocument/2006/relationships/slide" Target="/ppt/slides/slide15.xml" Id="R78315ebcedb4465a" /><Relationship Type="http://schemas.openxmlformats.org/officeDocument/2006/relationships/slide" Target="/ppt/slides/slide16.xml" Id="Redf94dc55ea14a0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a8ced0f9e74490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aaaa9f6da8c4a8e" /><Relationship Type="http://schemas.openxmlformats.org/officeDocument/2006/relationships/notesMaster" Target="/ppt/notesMasters/notesMaster1.xml" Id="R4f57851a278b4362" /></Relationships>
</file>

<file path=ppt/notesSlides/_rels/notesSlide2.xml.rels>&#65279;<?xml version="1.0" encoding="utf-8"?><Relationships xmlns="http://schemas.openxmlformats.org/package/2006/relationships"><Relationship Type="http://schemas.openxmlformats.org/officeDocument/2006/relationships/slide" Target="/ppt/slides/slide2.xml" Id="R48b2a337ec57467a" /><Relationship Type="http://schemas.openxmlformats.org/officeDocument/2006/relationships/notesMaster" Target="/ppt/notesMasters/notesMaster1.xml" Id="R5f89fbd999f5496c" /></Relationships>
</file>

<file path=ppt/notesSlides/_rels/notesSlide3.xml.rels>&#65279;<?xml version="1.0" encoding="utf-8"?><Relationships xmlns="http://schemas.openxmlformats.org/package/2006/relationships"><Relationship Type="http://schemas.openxmlformats.org/officeDocument/2006/relationships/slide" Target="/ppt/slides/slide3.xml" Id="R44e7b24990b1461a" /><Relationship Type="http://schemas.openxmlformats.org/officeDocument/2006/relationships/notesMaster" Target="/ppt/notesMasters/notesMaster1.xml" Id="Rb9a2083d95184a88" /></Relationships>
</file>

<file path=ppt/notesSlides/_rels/notesSlide4.xml.rels>&#65279;<?xml version="1.0" encoding="utf-8"?><Relationships xmlns="http://schemas.openxmlformats.org/package/2006/relationships"><Relationship Type="http://schemas.openxmlformats.org/officeDocument/2006/relationships/slide" Target="/ppt/slides/slide4.xml" Id="Rac4ee40ab7754e96" /><Relationship Type="http://schemas.openxmlformats.org/officeDocument/2006/relationships/notesMaster" Target="/ppt/notesMasters/notesMaster1.xml" Id="R48071bb665db43eb" /></Relationships>
</file>

<file path=ppt/notesSlides/_rels/notesSlide5.xml.rels>&#65279;<?xml version="1.0" encoding="utf-8"?><Relationships xmlns="http://schemas.openxmlformats.org/package/2006/relationships"><Relationship Type="http://schemas.openxmlformats.org/officeDocument/2006/relationships/slide" Target="/ppt/slides/slide5.xml" Id="R5d02a37a6bb24d43" /><Relationship Type="http://schemas.openxmlformats.org/officeDocument/2006/relationships/notesMaster" Target="/ppt/notesMasters/notesMaster1.xml" Id="Rae217307e9bb48cf" /></Relationships>
</file>

<file path=ppt/notesSlides/_rels/notesSlide6.xml.rels>&#65279;<?xml version="1.0" encoding="utf-8"?><Relationships xmlns="http://schemas.openxmlformats.org/package/2006/relationships"><Relationship Type="http://schemas.openxmlformats.org/officeDocument/2006/relationships/slide" Target="/ppt/slides/slide6.xml" Id="R28c7e7f687384a68" /><Relationship Type="http://schemas.openxmlformats.org/officeDocument/2006/relationships/notesMaster" Target="/ppt/notesMasters/notesMaster1.xml" Id="Rbb449b0485914102" /></Relationships>
</file>

<file path=ppt/notesSlides/_rels/notesSlide7.xml.rels>&#65279;<?xml version="1.0" encoding="utf-8"?><Relationships xmlns="http://schemas.openxmlformats.org/package/2006/relationships"><Relationship Type="http://schemas.openxmlformats.org/officeDocument/2006/relationships/slide" Target="/ppt/slides/slide7.xml" Id="R50802ceee68443f5" /><Relationship Type="http://schemas.openxmlformats.org/officeDocument/2006/relationships/notesMaster" Target="/ppt/notesMasters/notesMaster1.xml" Id="R2d601e5c46ba4049" /></Relationships>
</file>

<file path=ppt/notesSlides/_rels/notesSlide8.xml.rels>&#65279;<?xml version="1.0" encoding="utf-8"?><Relationships xmlns="http://schemas.openxmlformats.org/package/2006/relationships"><Relationship Type="http://schemas.openxmlformats.org/officeDocument/2006/relationships/slide" Target="/ppt/slides/slide8.xml" Id="R71a86c8ced3e4e86" /><Relationship Type="http://schemas.openxmlformats.org/officeDocument/2006/relationships/notesMaster" Target="/ppt/notesMasters/notesMaster1.xml" Id="R2704465815d4490d" /></Relationships>
</file>

<file path=ppt/notesSlides/_rels/notesSlide9.xml.rels>&#65279;<?xml version="1.0" encoding="utf-8"?><Relationships xmlns="http://schemas.openxmlformats.org/package/2006/relationships"><Relationship Type="http://schemas.openxmlformats.org/officeDocument/2006/relationships/slide" Target="/ppt/slides/slide9.xml" Id="R29f24a7e8b0a4686" /><Relationship Type="http://schemas.openxmlformats.org/officeDocument/2006/relationships/notesMaster" Target="/ppt/notesMasters/notesMaster1.xml" Id="Rb4fc88245ed7401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45bc013a3014431" /><Relationship Type="http://schemas.openxmlformats.org/officeDocument/2006/relationships/notesMaster" Target="/ppt/notesMasters/notesMaster1.xml" Id="R056c6185749847c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006a2d46d5a4a12" /><Relationship Type="http://schemas.openxmlformats.org/officeDocument/2006/relationships/notesMaster" Target="/ppt/notesMasters/notesMaster1.xml" Id="Rd9757204ff0b4ab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ca765793a6d48de" /><Relationship Type="http://schemas.openxmlformats.org/officeDocument/2006/relationships/notesMaster" Target="/ppt/notesMasters/notesMaster1.xml" Id="R54649823fa1b4dc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f9c1f043e504b51" /><Relationship Type="http://schemas.openxmlformats.org/officeDocument/2006/relationships/notesMaster" Target="/ppt/notesMasters/notesMaster1.xml" Id="Rfa7034dbde224eb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40033828f5a4e5b" /><Relationship Type="http://schemas.openxmlformats.org/officeDocument/2006/relationships/notesMaster" Target="/ppt/notesMasters/notesMaster1.xml" Id="R105dcb5bec99488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c7d7ef7364f4b7d" /><Relationship Type="http://schemas.openxmlformats.org/officeDocument/2006/relationships/notesMaster" Target="/ppt/notesMasters/notesMaster1.xml" Id="R929335da5dec451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375284a3eff4b6c" /><Relationship Type="http://schemas.openxmlformats.org/officeDocument/2006/relationships/notesMaster" Target="/ppt/notesMasters/notesMaster1.xml" Id="Rf94ea1d90e444a2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장은 프로젝트의 정식 표지입니다. PlaylistPro는 고객 이탈을 맞히는 모델 자체보다, 리텐션 담당자가 누구를 먼저 보고 어떤 행동을 검토할지 결정하도록 돕는 프로젝트입니다. 오늘은 비즈니스 문제에서 시작해 데이터, 모델, 저장, 앱, 유지 전략까지 한 흐름으로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프로젝트 요구사항을 한 문장으로 정의하면 이렇습니다. 사용자는 리텐션·CRM 담당자이고, 고객 프로필로 제공된 churned 라벨을 예측합니다. 결과는 위험 고객 우선순위와 행동 가설로 연결됩니다. 다만 실제 발송이나 할인, 고객 접촉은 외부 시스템과 사업 권한이 필요하므로 앱이 자동 실행하지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학습 데이터는 12만 5천 명, 예측 데이터는 7만 5천 명입니다. 결측, 중복, Train/Test ID 겹침은 없었습니다. 다만 이 데이터는 규칙 기반 합성 데이터로 평가되며 예측 horizon과 외부 라벨 Holdout이 없습니다. 따라서 이후 지표는 현실 성과가 아니라 5-Fold OOF 내부 검증 근거입니다.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가장 강한 연속형 신호는 weekly_hours 감소였습니다. 구독 유형에서는 Free, 문의 수준에서는 High 그룹의 이탈률이 높았습니다. skip과 pause도 보조 신호였습니다. 이 결과는 원인 증명이 아니라 어떤 유지 행동을 실험할지 정하는 단서입니다.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전처리에서 중요한 것은 Logistic OOF 개선이 명확했던 log_numeric입니다. 상호작용과 각종 ratio, pruning은 복잡도에 비해 개선이 거의 없어서 제외했습니다. 특히 CatBoost에서는 raw와 log 차이가 0.000089에 불과하므로 전처리가 최종 성능의 핵심이었다고 과장하지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공정 비교를 위해 모든 후보가 동일한 log_numeric 특징과 같은 5개 fold를 사용했습니다. 전처리와 모델 fit은 각 학습 fold 안에서만 수행했고, 평가에는 OOF 예측만 사용했습니다. 선정 지표는 PR-AUC였지만 실제 운영을 위해 Recall, FN, Precision, FP, F1, 대상 고객 수를 함께 봤습니다.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동일한 입력과 fold에서 Dummy, Logistic, Decision Tree, Random Forest, Gradient Boosting, XGBoost, LightGBM, CatBoost를 비교했습니다. CatBoost baseline이 0.947622로 1위였고 LightGBM과 XGBoost가 근접했습니다. Gradient Boosting과 Random Forest는 실행 시간을 경량화해 후보군을 끝까지 유지했습니다.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Raw Logistic 0.899495에서 log_numeric으로 0.006798을 개선했고, CatBoost baseline에서 0.947622까지 크게 상승했습니다. Random search 최고점은 0.948004였고 최종 OOF는 0.947897입니다. 상호작용과 ratio는 제외했고 Gradient Boosting 탐색은 오히려 0.000793 하락했습니다. 성공과 실패를 함께 기록했습니다.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정밀 비교에서 CatBoost 0.947897, LightGBM 0.947790, XGBoost 0.947765로 차이가 매우 작았습니다. Bootstrap 신뢰구간은 겹칩니다. CatBoost는 PR-AUC의 근소한 우위와 5개 seed 안정성을 근거로 조건부 후보가 됐습니다. 반면 기본 threshold Recall과 Brier는 LightGBM이 조금 더 좋으므로 사업 우선순위가 달라지면 선택도 달라질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최종 후보는 joblib과 metadata로 저장했습니다. Run ID, feature variant, 지표, 운영 시나리오를 함께 기록했고 SHA-256이 실제 파일 해시와 일치하는지 확인했습니다. 같은 프로세스와 새 프로세스에서 재로딩을 검증했고 Streamlit은 이 artifact를 직접 로드합니다.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Streamlit은 단순 예측 폼이 아니라 프로젝트 요약, 데이터 인사이트, 개선 실험, 모델 선정, 고객 우선순위, 캠페인 계획의 6개 화면으로 구성됩니다. 저장 모델의 성능 근거와 한계를 앱 안에서 다시 확인할 수 있어 발표 내용과 시연 내용이 분리되지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Threshold 0.29는 이탈 누락을 줄이지만 7만 7천700명을 검토해야 하고 FP가 1만 6천617명입니다. 0.35는 F1 균형 시나리오입니다. 0.74는 Precision 95%를 확보하지만 FN이 1만 8천99명으로 늘어납니다. 모델 선택보다 실제 운영에서는 이 Threshold 선택이 더 직접적인 의사결정입니다.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고객 수가 제한되면 전체 threshold보다 Top-K가 이해하기 쉽습니다. 상위 10%인 1만 2천500명에 실제 이탈자의 19.48%가 포함됐고 lift는 1.95입니다. Risk decile도 낮은 위험과 높은 위험을 뚜렷하게 구분합니다. 다만 이는 라벨 집중도이며 캠페인 처치의 증분 효과를 의미하지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고객 우선순위 화면에서는 위험 점수뿐 아니라 운영 단계와 1차 신호, 행동 후보를 확인합니다. 캠페인 계획에서는 구독 유형에 따라 다른 접촉 비용과 고객 가치 가정을 편집해 대상 규모를 비교할 수 있습니다. 이 값은 실제 LTV나 ROI가 아니라 계획용 가정이며 사람이 최종 승인합니다.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고위험이라는 이유만으로 같은 쿠폰을 주면 안 됩니다. 문의가 높으면 서비스 회복, 청취 시간이 떨어지면 재활성화, skip이나 pause가 높으면 추천 품질과 복귀 경험, Free 고위험은 저비용 혜택 인지 가설로 구분합니다. Age, location, customer_id는 행동 타깃 규칙에서 제외했고, 각 행동은 A/B 테스트로 검증해야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PlaylistPro의 결과는 네 단계입니다. 데이터에서 위험 맥락을 발견하고, 동일 조건 비교로 기술 후보를 정하고, 운영 시나리오로 검토 우선순위를 만들고, 위험 신호별 행동 가설을 제시했습니다. 현재 기술 후보와 도구는 완성했지만 현실 효과는 아직 검증 전입니다. 다음 단계는 시간 기반 외부 Holdout과 실제 캠페인 A/B 테스트입니다.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114ce8d48dc437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64cec2264fe4c32" /><Relationship Type="http://schemas.openxmlformats.org/officeDocument/2006/relationships/slideLayout" Target="/ppt/slideLayouts/slideLayout1.xml" Id="R9f35ff1c8cba499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f35ff1c8cba499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d0720cefa104deb" /><Relationship Type="http://schemas.openxmlformats.org/officeDocument/2006/relationships/notesSlide" Target="/ppt/notesSlides/notesSlide1.xml" Id="R3daa7a6f744c438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a902c7226184f43" /><Relationship Type="http://schemas.openxmlformats.org/officeDocument/2006/relationships/notesSlide" Target="/ppt/notesSlides/notesSlide2.xml" Id="R102becd40450450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1095056ac854cb4" /><Relationship Type="http://schemas.openxmlformats.org/officeDocument/2006/relationships/notesSlide" Target="/ppt/notesSlides/notesSlide3.xml" Id="R4866a2faf0214ea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bdb0d14db8c49ed" /><Relationship Type="http://schemas.openxmlformats.org/officeDocument/2006/relationships/image" Target="/ppt/media/image.png" Id="Re7b200ecdd654b21" /><Relationship Type="http://schemas.openxmlformats.org/officeDocument/2006/relationships/image" Target="/ppt/media/image2.png" Id="R16588698041d4b54" /><Relationship Type="http://schemas.openxmlformats.org/officeDocument/2006/relationships/notesSlide" Target="/ppt/notesSlides/notesSlide4.xml" Id="R2405dd2583ad4d3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11aae83d8184b83" /><Relationship Type="http://schemas.openxmlformats.org/officeDocument/2006/relationships/image" Target="/ppt/media/image3.png" Id="Rf0ba180de4344a7c" /><Relationship Type="http://schemas.openxmlformats.org/officeDocument/2006/relationships/notesSlide" Target="/ppt/notesSlides/notesSlide5.xml" Id="R29047876d33641e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c1d6c9007e4444c" /><Relationship Type="http://schemas.openxmlformats.org/officeDocument/2006/relationships/notesSlide" Target="/ppt/notesSlides/notesSlide6.xml" Id="Rf4b1dcab7c14496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676c2ceb6864b95" /><Relationship Type="http://schemas.openxmlformats.org/officeDocument/2006/relationships/image" Target="/ppt/media/image4.png" Id="Rb18c59667f6e4310" /><Relationship Type="http://schemas.openxmlformats.org/officeDocument/2006/relationships/notesSlide" Target="/ppt/notesSlides/notesSlide7.xml" Id="R9c886114096d4bc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761877a58fc48e4" /><Relationship Type="http://schemas.openxmlformats.org/officeDocument/2006/relationships/image" Target="/ppt/media/image5.png" Id="Rf388b04899014715" /><Relationship Type="http://schemas.openxmlformats.org/officeDocument/2006/relationships/notesSlide" Target="/ppt/notesSlides/notesSlide8.xml" Id="Rde4976142eb04c5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8da0b7133c14f90" /><Relationship Type="http://schemas.openxmlformats.org/officeDocument/2006/relationships/image" Target="/ppt/media/image6.png" Id="R58aad54fc8934111" /><Relationship Type="http://schemas.openxmlformats.org/officeDocument/2006/relationships/notesSlide" Target="/ppt/notesSlides/notesSlide9.xml" Id="Rc19d82e4171343f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8a995677dbf4234" /><Relationship Type="http://schemas.openxmlformats.org/officeDocument/2006/relationships/notesSlide" Target="/ppt/notesSlides/notesSlide10.xml" Id="Rb7c338a9114c469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d9bb52114764730" /><Relationship Type="http://schemas.openxmlformats.org/officeDocument/2006/relationships/image" Target="/ppt/media/image.jpeg" Id="R084cd853814e4cf0" /><Relationship Type="http://schemas.openxmlformats.org/officeDocument/2006/relationships/image" Target="/ppt/media/image2.jpeg" Id="Rb6d4fc3724b944bc" /><Relationship Type="http://schemas.openxmlformats.org/officeDocument/2006/relationships/notesSlide" Target="/ppt/notesSlides/notesSlide11.xml" Id="R23c5d20b44e74ec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4c63995171748d8" /><Relationship Type="http://schemas.openxmlformats.org/officeDocument/2006/relationships/image" Target="/ppt/media/image7.png" Id="R9efb142e3d0d4a81" /><Relationship Type="http://schemas.openxmlformats.org/officeDocument/2006/relationships/notesSlide" Target="/ppt/notesSlides/notesSlide12.xml" Id="R666f76d7c0b948b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f3190d74d8f4dda" /><Relationship Type="http://schemas.openxmlformats.org/officeDocument/2006/relationships/image" Target="/ppt/media/image8.png" Id="R297eab1e0a9b4e5a" /><Relationship Type="http://schemas.openxmlformats.org/officeDocument/2006/relationships/image" Target="/ppt/media/image9.png" Id="R6fc32648572a4ff9" /><Relationship Type="http://schemas.openxmlformats.org/officeDocument/2006/relationships/notesSlide" Target="/ppt/notesSlides/notesSlide13.xml" Id="R868a14cb0a1a4f2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ca23168f42941f9" /><Relationship Type="http://schemas.openxmlformats.org/officeDocument/2006/relationships/image" Target="/ppt/media/image3.jpeg" Id="R5d82a182fc6542ca" /><Relationship Type="http://schemas.openxmlformats.org/officeDocument/2006/relationships/image" Target="/ppt/media/image4.jpeg" Id="R2b47c77916044dc0" /><Relationship Type="http://schemas.openxmlformats.org/officeDocument/2006/relationships/notesSlide" Target="/ppt/notesSlides/notesSlide14.xml" Id="R01d2fe3036ee48f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f2ad73c927a4409" /><Relationship Type="http://schemas.openxmlformats.org/officeDocument/2006/relationships/notesSlide" Target="/ppt/notesSlides/notesSlide15.xml" Id="R6edf7a3d4d4e45f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793287d9bbb494c" /><Relationship Type="http://schemas.openxmlformats.org/officeDocument/2006/relationships/notesSlide" Target="/ppt/notesSlides/notesSlide16.xml" Id="R5071740628b94328"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89315CF8-F3C0-4ABC-9349-4BFDA7A24E4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6F3EE"/>
          </a:solidFill>
        </p:spPr>
      </p:sp>
      <p:sp>
        <p:nvSpPr>
          <p:cNvPr id="2" name="">
            <a:extLst xmlns:a="http://schemas.openxmlformats.org/drawingml/2006/main">
              <a:ext uri="{FF2B5EF4-FFF2-40B4-BE49-F238E27FC236}">
                <a16:creationId xmlns:a16="http://schemas.microsoft.com/office/drawing/2014/main" id="{B37F2BF9-F254-4558-87AA-663D30A7F6FF}"/>
              </a:ext>
            </a:extLst>
          </p:cNvPr>
          <p:cNvSpPr>
            <a:spLocks xmlns:a="http://schemas.openxmlformats.org/drawingml/2006/main" noGrp="1"/>
          </p:cNvSpPr>
          <p:nvPr/>
        </p:nvSpPr>
        <p:spPr>
          <a:xfrm xmlns:a="http://schemas.openxmlformats.org/drawingml/2006/main">
            <a:off x="0" y="0"/>
            <a:ext cx="228600" cy="6858000"/>
          </a:xfrm>
          <a:prstGeom xmlns:a="http://schemas.openxmlformats.org/drawingml/2006/main" prst="rect">
            <a:avLst/>
          </a:prstGeom>
          <a:solidFill xmlns:a="http://schemas.openxmlformats.org/drawingml/2006/main">
            <a:srgbClr val="F2674A"/>
          </a:solidFill>
        </p:spPr>
      </p:sp>
      <p:sp>
        <p:nvSpPr>
          <p:cNvPr id="3" name="">
            <a:extLst xmlns:a="http://schemas.openxmlformats.org/drawingml/2006/main">
              <a:ext uri="{FF2B5EF4-FFF2-40B4-BE49-F238E27FC236}">
                <a16:creationId xmlns:a16="http://schemas.microsoft.com/office/drawing/2014/main" id="{218106A4-7F39-4E41-B30B-2E1A3F02A54B}"/>
              </a:ext>
            </a:extLst>
          </p:cNvPr>
          <p:cNvSpPr>
            <a:spLocks xmlns:a="http://schemas.openxmlformats.org/drawingml/2006/main" noGrp="1"/>
          </p:cNvSpPr>
          <p:nvPr/>
        </p:nvSpPr>
        <p:spPr>
          <a:xfrm xmlns:a="http://schemas.openxmlformats.org/drawingml/2006/main">
            <a:off x="685800" y="609600"/>
            <a:ext cx="40005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i="0">
                <a:solidFill>
                  <a:srgbClr val="118C83"/>
                </a:solidFill>
                <a:latin typeface="Malgun Gothic"/>
                <a:ea typeface="Malgun Gothic"/>
                <a:cs typeface="Malgun Gothic"/>
              </a:defRPr>
            </a:pPr>
            <a:r>
              <a:t>FINAL PROJECT PRESENTATION</a:t>
            </a:r>
          </a:p>
        </p:txBody>
      </p:sp>
      <p:sp>
        <p:nvSpPr>
          <p:cNvPr id="4" name="">
            <a:extLst xmlns:a="http://schemas.openxmlformats.org/drawingml/2006/main">
              <a:ext uri="{FF2B5EF4-FFF2-40B4-BE49-F238E27FC236}">
                <a16:creationId xmlns:a16="http://schemas.microsoft.com/office/drawing/2014/main" id="{AA74AD83-C502-4F0C-850B-BED8AB12ED72}"/>
              </a:ext>
            </a:extLst>
          </p:cNvPr>
          <p:cNvSpPr>
            <a:spLocks xmlns:a="http://schemas.openxmlformats.org/drawingml/2006/main" noGrp="1"/>
          </p:cNvSpPr>
          <p:nvPr/>
        </p:nvSpPr>
        <p:spPr>
          <a:xfrm xmlns:a="http://schemas.openxmlformats.org/drawingml/2006/main">
            <a:off x="685800" y="1200150"/>
            <a:ext cx="6858000" cy="819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5250" b="1" i="0">
                <a:solidFill>
                  <a:srgbClr val="12313F"/>
                </a:solidFill>
                <a:latin typeface="Malgun Gothic"/>
                <a:ea typeface="Malgun Gothic"/>
                <a:cs typeface="Malgun Gothic"/>
              </a:defRPr>
            </a:pPr>
            <a:r>
              <a:t>PlaylistPro</a:t>
            </a:r>
          </a:p>
        </p:txBody>
      </p:sp>
      <p:sp>
        <p:nvSpPr>
          <p:cNvPr id="5" name="">
            <a:extLst xmlns:a="http://schemas.openxmlformats.org/drawingml/2006/main">
              <a:ext uri="{FF2B5EF4-FFF2-40B4-BE49-F238E27FC236}">
                <a16:creationId xmlns:a16="http://schemas.microsoft.com/office/drawing/2014/main" id="{7A68B7C2-58D3-429E-A1A2-7CF06F3C3133}"/>
              </a:ext>
            </a:extLst>
          </p:cNvPr>
          <p:cNvSpPr>
            <a:spLocks xmlns:a="http://schemas.openxmlformats.org/drawingml/2006/main" noGrp="1"/>
          </p:cNvSpPr>
          <p:nvPr/>
        </p:nvSpPr>
        <p:spPr>
          <a:xfrm xmlns:a="http://schemas.openxmlformats.org/drawingml/2006/main">
            <a:off x="685800" y="2152650"/>
            <a:ext cx="7143750" cy="1104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925" b="1" i="0">
                <a:solidFill>
                  <a:srgbClr val="17262D"/>
                </a:solidFill>
                <a:latin typeface="Malgun Gothic"/>
                <a:ea typeface="Malgun Gothic"/>
                <a:cs typeface="Malgun Gothic"/>
              </a:defRPr>
            </a:pPr>
            <a:r>
              <a:t>고객 이탈 위험 예측 기반
리텐션 의사결정 지원</a:t>
            </a:r>
          </a:p>
        </p:txBody>
      </p:sp>
      <p:sp>
        <p:nvSpPr>
          <p:cNvPr id="6" name="">
            <a:extLst xmlns:a="http://schemas.openxmlformats.org/drawingml/2006/main">
              <a:ext uri="{FF2B5EF4-FFF2-40B4-BE49-F238E27FC236}">
                <a16:creationId xmlns:a16="http://schemas.microsoft.com/office/drawing/2014/main" id="{53769ABD-866D-4BC8-8596-B2142D846AD2}"/>
              </a:ext>
            </a:extLst>
          </p:cNvPr>
          <p:cNvSpPr>
            <a:spLocks xmlns:a="http://schemas.openxmlformats.org/drawingml/2006/main" noGrp="1"/>
          </p:cNvSpPr>
          <p:nvPr/>
        </p:nvSpPr>
        <p:spPr>
          <a:xfrm xmlns:a="http://schemas.openxmlformats.org/drawingml/2006/main">
            <a:off x="685800" y="3600450"/>
            <a:ext cx="6858000" cy="9525"/>
          </a:xfrm>
          <a:prstGeom xmlns:a="http://schemas.openxmlformats.org/drawingml/2006/main" prst="rect">
            <a:avLst/>
          </a:prstGeom>
          <a:solidFill xmlns:a="http://schemas.openxmlformats.org/drawingml/2006/main">
            <a:srgbClr val="D8D8D2"/>
          </a:solidFill>
        </p:spPr>
      </p:sp>
      <p:sp>
        <p:nvSpPr>
          <p:cNvPr id="7" name="">
            <a:extLst xmlns:a="http://schemas.openxmlformats.org/drawingml/2006/main">
              <a:ext uri="{FF2B5EF4-FFF2-40B4-BE49-F238E27FC236}">
                <a16:creationId xmlns:a16="http://schemas.microsoft.com/office/drawing/2014/main" id="{1FEB139C-CD6D-4EF3-8606-617AB8F61668}"/>
              </a:ext>
            </a:extLst>
          </p:cNvPr>
          <p:cNvSpPr>
            <a:spLocks xmlns:a="http://schemas.openxmlformats.org/drawingml/2006/main" noGrp="1"/>
          </p:cNvSpPr>
          <p:nvPr/>
        </p:nvSpPr>
        <p:spPr>
          <a:xfrm xmlns:a="http://schemas.openxmlformats.org/drawingml/2006/main">
            <a:off x="685800" y="3848100"/>
            <a:ext cx="6572250" cy="590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i="0">
                <a:solidFill>
                  <a:srgbClr val="607078"/>
                </a:solidFill>
                <a:latin typeface="Malgun Gothic"/>
                <a:ea typeface="Malgun Gothic"/>
                <a:cs typeface="Malgun Gothic"/>
              </a:defRPr>
            </a:pPr>
            <a:r>
              <a:t>리텐션·CRM 담당자가 고객 관리 우선순위와
유지 활동 후보를 결정하도록</a:t>
            </a:r>
          </a:p>
        </p:txBody>
      </p:sp>
      <p:sp>
        <p:nvSpPr>
          <p:cNvPr id="8" name="">
            <a:extLst xmlns:a="http://schemas.openxmlformats.org/drawingml/2006/main">
              <a:ext uri="{FF2B5EF4-FFF2-40B4-BE49-F238E27FC236}">
                <a16:creationId xmlns:a16="http://schemas.microsoft.com/office/drawing/2014/main" id="{DC2146B0-D5DC-4B4A-BADE-1F8446693DB6}"/>
              </a:ext>
            </a:extLst>
          </p:cNvPr>
          <p:cNvSpPr>
            <a:spLocks xmlns:a="http://schemas.openxmlformats.org/drawingml/2006/main" noGrp="1"/>
          </p:cNvSpPr>
          <p:nvPr/>
        </p:nvSpPr>
        <p:spPr>
          <a:xfrm xmlns:a="http://schemas.openxmlformats.org/drawingml/2006/main">
            <a:off x="685800" y="5314950"/>
            <a:ext cx="40957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1" i="0">
                <a:solidFill>
                  <a:srgbClr val="12313F"/>
                </a:solidFill>
                <a:latin typeface="Malgun Gothic"/>
                <a:ea typeface="Malgun Gothic"/>
                <a:cs typeface="Malgun Gothic"/>
              </a:defRPr>
            </a:pPr>
            <a:r>
              <a:t>SKN 33기 2차 프로젝트 3팀</a:t>
            </a:r>
          </a:p>
        </p:txBody>
      </p:sp>
      <p:sp>
        <p:nvSpPr>
          <p:cNvPr id="9" name="">
            <a:extLst xmlns:a="http://schemas.openxmlformats.org/drawingml/2006/main">
              <a:ext uri="{FF2B5EF4-FFF2-40B4-BE49-F238E27FC236}">
                <a16:creationId xmlns:a16="http://schemas.microsoft.com/office/drawing/2014/main" id="{42C8E4FF-79D5-4785-B47C-53D8154CC8BD}"/>
              </a:ext>
            </a:extLst>
          </p:cNvPr>
          <p:cNvSpPr>
            <a:spLocks xmlns:a="http://schemas.openxmlformats.org/drawingml/2006/main" noGrp="1"/>
          </p:cNvSpPr>
          <p:nvPr/>
        </p:nvSpPr>
        <p:spPr>
          <a:xfrm xmlns:a="http://schemas.openxmlformats.org/drawingml/2006/main">
            <a:off x="685800" y="5695950"/>
            <a:ext cx="581025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0" i="0">
                <a:solidFill>
                  <a:srgbClr val="607078"/>
                </a:solidFill>
                <a:latin typeface="Malgun Gothic"/>
                <a:ea typeface="Malgun Gothic"/>
                <a:cs typeface="Malgun Gothic"/>
              </a:defRPr>
            </a:pPr>
            <a:r>
              <a:t>june229  ·  갱도니  ·  DoHwa  ·  Isnthee</a:t>
            </a:r>
          </a:p>
        </p:txBody>
      </p:sp>
      <p:sp>
        <p:nvSpPr>
          <p:cNvPr id="10" name="">
            <a:extLst xmlns:a="http://schemas.openxmlformats.org/drawingml/2006/main">
              <a:ext uri="{FF2B5EF4-FFF2-40B4-BE49-F238E27FC236}">
                <a16:creationId xmlns:a16="http://schemas.microsoft.com/office/drawing/2014/main" id="{E30E0ED5-F4AD-4FB4-8578-EFC7793B5A6A}"/>
              </a:ext>
            </a:extLst>
          </p:cNvPr>
          <p:cNvSpPr>
            <a:spLocks xmlns:a="http://schemas.openxmlformats.org/drawingml/2006/main" noGrp="1"/>
          </p:cNvSpPr>
          <p:nvPr/>
        </p:nvSpPr>
        <p:spPr>
          <a:xfrm xmlns:a="http://schemas.openxmlformats.org/drawingml/2006/main">
            <a:off x="685800" y="6115050"/>
            <a:ext cx="20955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i="0">
                <a:solidFill>
                  <a:srgbClr val="98A5AA"/>
                </a:solidFill>
                <a:latin typeface="Malgun Gothic"/>
                <a:ea typeface="Malgun Gothic"/>
                <a:cs typeface="Malgun Gothic"/>
              </a:defRPr>
            </a:pPr>
            <a:r>
              <a:t>2026. 07. 22</a:t>
            </a:r>
          </a:p>
        </p:txBody>
      </p:sp>
      <p:sp>
        <p:nvSpPr>
          <p:cNvPr id="11" name="">
            <a:extLst xmlns:a="http://schemas.openxmlformats.org/drawingml/2006/main">
              <a:ext uri="{FF2B5EF4-FFF2-40B4-BE49-F238E27FC236}">
                <a16:creationId xmlns:a16="http://schemas.microsoft.com/office/drawing/2014/main" id="{2A26EA50-7A5C-4685-9836-9D33D8B599E9}"/>
              </a:ext>
            </a:extLst>
          </p:cNvPr>
          <p:cNvSpPr>
            <a:spLocks xmlns:a="http://schemas.openxmlformats.org/drawingml/2006/main" noGrp="1"/>
          </p:cNvSpPr>
          <p:nvPr/>
        </p:nvSpPr>
        <p:spPr>
          <a:xfrm xmlns:a="http://schemas.openxmlformats.org/drawingml/2006/main">
            <a:off x="8334375" y="0"/>
            <a:ext cx="3857625" cy="6858000"/>
          </a:xfrm>
          <a:prstGeom xmlns:a="http://schemas.openxmlformats.org/drawingml/2006/main" prst="rect">
            <a:avLst/>
          </a:prstGeom>
          <a:solidFill xmlns:a="http://schemas.openxmlformats.org/drawingml/2006/main">
            <a:srgbClr val="12313F"/>
          </a:solidFill>
        </p:spPr>
      </p:sp>
      <p:sp>
        <p:nvSpPr>
          <p:cNvPr id="12" name="">
            <a:extLst xmlns:a="http://schemas.openxmlformats.org/drawingml/2006/main">
              <a:ext uri="{FF2B5EF4-FFF2-40B4-BE49-F238E27FC236}">
                <a16:creationId xmlns:a16="http://schemas.microsoft.com/office/drawing/2014/main" id="{EF901898-6C1C-456F-9A52-9C60BE278355}"/>
              </a:ext>
            </a:extLst>
          </p:cNvPr>
          <p:cNvSpPr>
            <a:spLocks xmlns:a="http://schemas.openxmlformats.org/drawingml/2006/main" noGrp="1"/>
          </p:cNvSpPr>
          <p:nvPr/>
        </p:nvSpPr>
        <p:spPr>
          <a:xfrm xmlns:a="http://schemas.openxmlformats.org/drawingml/2006/main">
            <a:off x="9010650" y="904875"/>
            <a:ext cx="2381250" cy="16668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9150" b="1" i="0">
                <a:solidFill>
                  <a:srgbClr val="2D5564"/>
                </a:solidFill>
                <a:latin typeface="Malgun Gothic"/>
                <a:ea typeface="Malgun Gothic"/>
                <a:cs typeface="Malgun Gothic"/>
              </a:defRPr>
            </a:pPr>
            <a:r>
              <a:t>♫</a:t>
            </a:r>
          </a:p>
        </p:txBody>
      </p:sp>
      <p:sp>
        <p:nvSpPr>
          <p:cNvPr id="13" name="">
            <a:extLst xmlns:a="http://schemas.openxmlformats.org/drawingml/2006/main">
              <a:ext uri="{FF2B5EF4-FFF2-40B4-BE49-F238E27FC236}">
                <a16:creationId xmlns:a16="http://schemas.microsoft.com/office/drawing/2014/main" id="{34475368-4B2F-47E9-917A-E0F78ECF4937}"/>
              </a:ext>
            </a:extLst>
          </p:cNvPr>
          <p:cNvSpPr>
            <a:spLocks xmlns:a="http://schemas.openxmlformats.org/drawingml/2006/main" noGrp="1"/>
          </p:cNvSpPr>
          <p:nvPr/>
        </p:nvSpPr>
        <p:spPr>
          <a:xfrm xmlns:a="http://schemas.openxmlformats.org/drawingml/2006/main">
            <a:off x="8886825" y="3181350"/>
            <a:ext cx="20955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FFFFFF"/>
                </a:solidFill>
                <a:latin typeface="Malgun Gothic"/>
                <a:ea typeface="Malgun Gothic"/>
                <a:cs typeface="Malgun Gothic"/>
              </a:defRPr>
            </a:pPr>
            <a:r>
              <a:t>SIGNAL</a:t>
            </a:r>
          </a:p>
        </p:txBody>
      </p:sp>
      <p:sp>
        <p:nvSpPr>
          <p:cNvPr id="14" name="">
            <a:extLst xmlns:a="http://schemas.openxmlformats.org/drawingml/2006/main">
              <a:ext uri="{FF2B5EF4-FFF2-40B4-BE49-F238E27FC236}">
                <a16:creationId xmlns:a16="http://schemas.microsoft.com/office/drawing/2014/main" id="{66C27AD6-4695-4332-B9C4-5A9D4C248536}"/>
              </a:ext>
            </a:extLst>
          </p:cNvPr>
          <p:cNvSpPr>
            <a:spLocks xmlns:a="http://schemas.openxmlformats.org/drawingml/2006/main" noGrp="1"/>
          </p:cNvSpPr>
          <p:nvPr/>
        </p:nvSpPr>
        <p:spPr>
          <a:xfrm xmlns:a="http://schemas.openxmlformats.org/drawingml/2006/main">
            <a:off x="8886825" y="3733800"/>
            <a:ext cx="20955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A8D7D0"/>
                </a:solidFill>
                <a:latin typeface="Malgun Gothic"/>
                <a:ea typeface="Malgun Gothic"/>
                <a:cs typeface="Malgun Gothic"/>
              </a:defRPr>
            </a:pPr>
            <a:r>
              <a:t>PRIORITY</a:t>
            </a:r>
          </a:p>
        </p:txBody>
      </p:sp>
      <p:sp>
        <p:nvSpPr>
          <p:cNvPr id="15" name="">
            <a:extLst xmlns:a="http://schemas.openxmlformats.org/drawingml/2006/main">
              <a:ext uri="{FF2B5EF4-FFF2-40B4-BE49-F238E27FC236}">
                <a16:creationId xmlns:a16="http://schemas.microsoft.com/office/drawing/2014/main" id="{C55BB650-0B68-4A21-88E7-5F5C0596EE02}"/>
              </a:ext>
            </a:extLst>
          </p:cNvPr>
          <p:cNvSpPr>
            <a:spLocks xmlns:a="http://schemas.openxmlformats.org/drawingml/2006/main" noGrp="1"/>
          </p:cNvSpPr>
          <p:nvPr/>
        </p:nvSpPr>
        <p:spPr>
          <a:xfrm xmlns:a="http://schemas.openxmlformats.org/drawingml/2006/main">
            <a:off x="8886825" y="4286250"/>
            <a:ext cx="20955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F4A18D"/>
                </a:solidFill>
                <a:latin typeface="Malgun Gothic"/>
                <a:ea typeface="Malgun Gothic"/>
                <a:cs typeface="Malgun Gothic"/>
              </a:defRPr>
            </a:pPr>
            <a:r>
              <a:t>ACTION</a:t>
            </a:r>
          </a:p>
        </p:txBody>
      </p:sp>
      <p:sp>
        <p:nvSpPr>
          <p:cNvPr id="16" name="">
            <a:extLst xmlns:a="http://schemas.openxmlformats.org/drawingml/2006/main">
              <a:ext uri="{FF2B5EF4-FFF2-40B4-BE49-F238E27FC236}">
                <a16:creationId xmlns:a16="http://schemas.microsoft.com/office/drawing/2014/main" id="{E387BE63-AF3D-4021-8C41-BAE66E7F298A}"/>
              </a:ext>
            </a:extLst>
          </p:cNvPr>
          <p:cNvSpPr>
            <a:spLocks xmlns:a="http://schemas.openxmlformats.org/drawingml/2006/main" noGrp="1"/>
          </p:cNvSpPr>
          <p:nvPr/>
        </p:nvSpPr>
        <p:spPr>
          <a:xfrm xmlns:a="http://schemas.openxmlformats.org/drawingml/2006/main">
            <a:off x="8886825" y="5276850"/>
            <a:ext cx="20955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200" b="0" i="0">
                <a:solidFill>
                  <a:srgbClr val="BFD0D6"/>
                </a:solidFill>
                <a:latin typeface="Malgun Gothic"/>
                <a:ea typeface="Malgun Gothic"/>
                <a:cs typeface="Malgun Gothic"/>
              </a:defRPr>
            </a:pPr>
            <a:r>
              <a:t>데이터에서 행동까지</a:t>
            </a:r>
          </a:p>
        </p:txBody>
      </p:sp>
    </p:spTree>
    <p:extLst>
      <p:ext uri="{BB962C8B-B14F-4D97-AF65-F5344CB8AC3E}">
        <p14:creationId xmlns:p14="http://schemas.microsoft.com/office/powerpoint/2010/main" val="195291946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5F59B325-1D66-4E12-A21B-BDAB2AC183A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6F3EE"/>
          </a:solidFill>
        </p:spPr>
      </p:sp>
      <p:sp>
        <p:nvSpPr>
          <p:cNvPr id="2" name="">
            <a:extLst xmlns:a="http://schemas.openxmlformats.org/drawingml/2006/main">
              <a:ext uri="{FF2B5EF4-FFF2-40B4-BE49-F238E27FC236}">
                <a16:creationId xmlns:a16="http://schemas.microsoft.com/office/drawing/2014/main" id="{3F8572D0-CA75-4A7E-849A-9A2F4E971F35}"/>
              </a:ext>
            </a:extLst>
          </p:cNvPr>
          <p:cNvSpPr>
            <a:spLocks xmlns:a="http://schemas.openxmlformats.org/drawingml/2006/main" noGrp="1"/>
          </p:cNvSpPr>
          <p:nvPr/>
        </p:nvSpPr>
        <p:spPr>
          <a:xfrm xmlns:a="http://schemas.openxmlformats.org/drawingml/2006/main">
            <a:off x="476250" y="257175"/>
            <a:ext cx="40005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118C83"/>
                </a:solidFill>
                <a:latin typeface="Malgun Gothic"/>
                <a:ea typeface="Malgun Gothic"/>
                <a:cs typeface="Malgun Gothic"/>
              </a:defRPr>
            </a:pPr>
            <a:r>
              <a:t>01 · BUSINESS PROBLEM</a:t>
            </a:r>
          </a:p>
        </p:txBody>
      </p:sp>
      <p:sp>
        <p:nvSpPr>
          <p:cNvPr id="3" name="">
            <a:extLst xmlns:a="http://schemas.openxmlformats.org/drawingml/2006/main">
              <a:ext uri="{FF2B5EF4-FFF2-40B4-BE49-F238E27FC236}">
                <a16:creationId xmlns:a16="http://schemas.microsoft.com/office/drawing/2014/main" id="{0477FDFC-BEB4-47FE-9393-2447AC558E40}"/>
              </a:ext>
            </a:extLst>
          </p:cNvPr>
          <p:cNvSpPr>
            <a:spLocks xmlns:a="http://schemas.openxmlformats.org/drawingml/2006/main" noGrp="1"/>
          </p:cNvSpPr>
          <p:nvPr/>
        </p:nvSpPr>
        <p:spPr>
          <a:xfrm xmlns:a="http://schemas.openxmlformats.org/drawingml/2006/main">
            <a:off x="476250" y="561975"/>
            <a:ext cx="11049000" cy="5429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850" b="1" i="0">
                <a:solidFill>
                  <a:srgbClr val="17262D"/>
                </a:solidFill>
                <a:latin typeface="Malgun Gothic"/>
                <a:ea typeface="Malgun Gothic"/>
                <a:cs typeface="Malgun Gothic"/>
              </a:defRPr>
            </a:pPr>
            <a:r>
              <a:t>이 프로젝트의 답은 ‘누구에게, 어떤 행동을 제안할 것인가’입니다</a:t>
            </a:r>
          </a:p>
        </p:txBody>
      </p:sp>
      <p:sp>
        <p:nvSpPr>
          <p:cNvPr id="4" name="">
            <a:extLst xmlns:a="http://schemas.openxmlformats.org/drawingml/2006/main">
              <a:ext uri="{FF2B5EF4-FFF2-40B4-BE49-F238E27FC236}">
                <a16:creationId xmlns:a16="http://schemas.microsoft.com/office/drawing/2014/main" id="{6223DBF8-3A25-41F9-ACDE-0214C589DE0F}"/>
              </a:ext>
            </a:extLst>
          </p:cNvPr>
          <p:cNvSpPr>
            <a:spLocks xmlns:a="http://schemas.openxmlformats.org/drawingml/2006/main" noGrp="1"/>
          </p:cNvSpPr>
          <p:nvPr/>
        </p:nvSpPr>
        <p:spPr>
          <a:xfrm xmlns:a="http://schemas.openxmlformats.org/drawingml/2006/main">
            <a:off x="476250" y="1200150"/>
            <a:ext cx="723900" cy="47625"/>
          </a:xfrm>
          <a:prstGeom xmlns:a="http://schemas.openxmlformats.org/drawingml/2006/main" prst="rect">
            <a:avLst/>
          </a:prstGeom>
          <a:solidFill xmlns:a="http://schemas.openxmlformats.org/drawingml/2006/main">
            <a:srgbClr val="F2674A"/>
          </a:solidFill>
        </p:spPr>
      </p:sp>
      <p:sp>
        <p:nvSpPr>
          <p:cNvPr id="5" name="">
            <a:extLst xmlns:a="http://schemas.openxmlformats.org/drawingml/2006/main">
              <a:ext uri="{FF2B5EF4-FFF2-40B4-BE49-F238E27FC236}">
                <a16:creationId xmlns:a16="http://schemas.microsoft.com/office/drawing/2014/main" id="{BB29149B-432E-466B-BD91-50F2818D6D6B}"/>
              </a:ext>
            </a:extLst>
          </p:cNvPr>
          <p:cNvSpPr>
            <a:spLocks xmlns:a="http://schemas.openxmlformats.org/drawingml/2006/main" noGrp="1"/>
          </p:cNvSpPr>
          <p:nvPr/>
        </p:nvSpPr>
        <p:spPr>
          <a:xfrm xmlns:a="http://schemas.openxmlformats.org/drawingml/2006/main">
            <a:off x="476250" y="1562100"/>
            <a:ext cx="11239500" cy="1009650"/>
          </a:xfrm>
          <a:prstGeom xmlns:a="http://schemas.openxmlformats.org/drawingml/2006/main" prst="roundRect">
            <a:avLst>
              <a:gd name="adj" fmla="val 7547"/>
            </a:avLst>
          </a:prstGeom>
          <a:solidFill xmlns:a="http://schemas.openxmlformats.org/drawingml/2006/main">
            <a:srgbClr val="12313F"/>
          </a:solidFill>
          <a:ln xmlns:a="http://schemas.openxmlformats.org/drawingml/2006/main" w="9525">
            <a:solidFill>
              <a:srgbClr val="12313F"/>
            </a:solidFill>
            <a:prstDash val="solid"/>
          </a:ln>
        </p:spPr>
      </p:sp>
      <p:sp>
        <p:nvSpPr>
          <p:cNvPr id="6" name="">
            <a:extLst xmlns:a="http://schemas.openxmlformats.org/drawingml/2006/main">
              <a:ext uri="{FF2B5EF4-FFF2-40B4-BE49-F238E27FC236}">
                <a16:creationId xmlns:a16="http://schemas.microsoft.com/office/drawing/2014/main" id="{97117958-49F8-4D24-987F-6C6E90DDC482}"/>
              </a:ext>
            </a:extLst>
          </p:cNvPr>
          <p:cNvSpPr>
            <a:spLocks xmlns:a="http://schemas.openxmlformats.org/drawingml/2006/main" noGrp="1"/>
          </p:cNvSpPr>
          <p:nvPr/>
        </p:nvSpPr>
        <p:spPr>
          <a:xfrm xmlns:a="http://schemas.openxmlformats.org/drawingml/2006/main">
            <a:off x="742950" y="1847850"/>
            <a:ext cx="10706100" cy="457200"/>
          </a:xfrm>
          <a:prstGeom xmlns:a="http://schemas.openxmlformats.org/drawingml/2006/main" prst="rect">
            <a:avLst/>
          </a:prstGeom>
        </p:spPr>
        <p:txBody>
          <a:bodyPr xmlns:a="http://schemas.openxmlformats.org/drawingml/2006/main" wrap="square" lIns="0" tIns="0" rIns="0" bIns="0" anchor="ctr">
            <a:normAutofit fontScale="96982"/>
          </a:bodyPr>
          <a:lstStyle xmlns:a="http://schemas.openxmlformats.org/drawingml/2006/main"/>
          <a:p xmlns:a="http://schemas.openxmlformats.org/drawingml/2006/main">
            <a:pPr algn="ctr">
              <a:defRPr sz="1875" b="1" i="0">
                <a:solidFill>
                  <a:srgbClr val="FFFFFF"/>
                </a:solidFill>
                <a:latin typeface="Malgun Gothic"/>
                <a:ea typeface="Malgun Gothic"/>
                <a:cs typeface="Malgun Gothic"/>
              </a:defRPr>
            </a:pPr>
            <a:r>
              <a:t>리텐션·CRM 담당자가 이탈 위험 고객을 먼저 검토하고, 유지 활동 실험 후보를 선택하도록 지원합니다.</a:t>
            </a:r>
          </a:p>
        </p:txBody>
      </p:sp>
      <p:sp>
        <p:nvSpPr>
          <p:cNvPr id="7" name="">
            <a:extLst xmlns:a="http://schemas.openxmlformats.org/drawingml/2006/main">
              <a:ext uri="{FF2B5EF4-FFF2-40B4-BE49-F238E27FC236}">
                <a16:creationId xmlns:a16="http://schemas.microsoft.com/office/drawing/2014/main" id="{EC59B88E-6218-4C5B-A80E-945180B5572E}"/>
              </a:ext>
            </a:extLst>
          </p:cNvPr>
          <p:cNvSpPr>
            <a:spLocks xmlns:a="http://schemas.openxmlformats.org/drawingml/2006/main" noGrp="1"/>
          </p:cNvSpPr>
          <p:nvPr/>
        </p:nvSpPr>
        <p:spPr>
          <a:xfrm xmlns:a="http://schemas.openxmlformats.org/drawingml/2006/main">
            <a:off x="476250" y="3067050"/>
            <a:ext cx="1905000" cy="1733550"/>
          </a:xfrm>
          <a:prstGeom xmlns:a="http://schemas.openxmlformats.org/drawingml/2006/main" prst="roundRect">
            <a:avLst>
              <a:gd name="adj" fmla="val 4396"/>
            </a:avLst>
          </a:prstGeom>
          <a:solidFill xmlns:a="http://schemas.openxmlformats.org/drawingml/2006/main">
            <a:srgbClr val="FFFDFC"/>
          </a:solidFill>
          <a:ln xmlns:a="http://schemas.openxmlformats.org/drawingml/2006/main" w="9525">
            <a:solidFill>
              <a:srgbClr val="D8D8D2"/>
            </a:solidFill>
            <a:prstDash val="solid"/>
          </a:ln>
        </p:spPr>
      </p:sp>
      <p:sp>
        <p:nvSpPr>
          <p:cNvPr id="8" name="">
            <a:extLst xmlns:a="http://schemas.openxmlformats.org/drawingml/2006/main">
              <a:ext uri="{FF2B5EF4-FFF2-40B4-BE49-F238E27FC236}">
                <a16:creationId xmlns:a16="http://schemas.microsoft.com/office/drawing/2014/main" id="{000D0E61-0B99-460B-9098-8B2CC42698E0}"/>
              </a:ext>
            </a:extLst>
          </p:cNvPr>
          <p:cNvSpPr>
            <a:spLocks xmlns:a="http://schemas.openxmlformats.org/drawingml/2006/main" noGrp="1"/>
          </p:cNvSpPr>
          <p:nvPr/>
        </p:nvSpPr>
        <p:spPr>
          <a:xfrm xmlns:a="http://schemas.openxmlformats.org/drawingml/2006/main">
            <a:off x="647700" y="3267075"/>
            <a:ext cx="15621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1" i="0">
                <a:solidFill>
                  <a:srgbClr val="118C83"/>
                </a:solidFill>
                <a:latin typeface="Malgun Gothic"/>
                <a:ea typeface="Malgun Gothic"/>
                <a:cs typeface="Malgun Gothic"/>
              </a:defRPr>
            </a:pPr>
            <a:r>
              <a:t>사용자</a:t>
            </a:r>
          </a:p>
        </p:txBody>
      </p:sp>
      <p:sp>
        <p:nvSpPr>
          <p:cNvPr id="9" name="">
            <a:extLst xmlns:a="http://schemas.openxmlformats.org/drawingml/2006/main">
              <a:ext uri="{FF2B5EF4-FFF2-40B4-BE49-F238E27FC236}">
                <a16:creationId xmlns:a16="http://schemas.microsoft.com/office/drawing/2014/main" id="{B808834E-306E-415C-8887-7865880DEA39}"/>
              </a:ext>
            </a:extLst>
          </p:cNvPr>
          <p:cNvSpPr>
            <a:spLocks xmlns:a="http://schemas.openxmlformats.org/drawingml/2006/main" noGrp="1"/>
          </p:cNvSpPr>
          <p:nvPr/>
        </p:nvSpPr>
        <p:spPr>
          <a:xfrm xmlns:a="http://schemas.openxmlformats.org/drawingml/2006/main">
            <a:off x="647700" y="3676650"/>
            <a:ext cx="1562100" cy="657225"/>
          </a:xfrm>
          <a:prstGeom xmlns:a="http://schemas.openxmlformats.org/drawingml/2006/main" prst="rect">
            <a:avLst/>
          </a:prstGeom>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575" b="1" i="0">
                <a:solidFill>
                  <a:srgbClr val="17262D"/>
                </a:solidFill>
                <a:latin typeface="Malgun Gothic"/>
                <a:ea typeface="Malgun Gothic"/>
                <a:cs typeface="Malgun Gothic"/>
              </a:defRPr>
            </a:pPr>
            <a:r>
              <a:t>리텐션·CRM
담당자</a:t>
            </a:r>
          </a:p>
        </p:txBody>
      </p:sp>
      <p:sp>
        <p:nvSpPr>
          <p:cNvPr id="10" name="">
            <a:extLst xmlns:a="http://schemas.openxmlformats.org/drawingml/2006/main">
              <a:ext uri="{FF2B5EF4-FFF2-40B4-BE49-F238E27FC236}">
                <a16:creationId xmlns:a16="http://schemas.microsoft.com/office/drawing/2014/main" id="{52E85EF2-70BF-476B-87A6-B795410A1272}"/>
              </a:ext>
            </a:extLst>
          </p:cNvPr>
          <p:cNvSpPr>
            <a:spLocks xmlns:a="http://schemas.openxmlformats.org/drawingml/2006/main" noGrp="1"/>
          </p:cNvSpPr>
          <p:nvPr/>
        </p:nvSpPr>
        <p:spPr>
          <a:xfrm xmlns:a="http://schemas.openxmlformats.org/drawingml/2006/main">
            <a:off x="2419350" y="3752850"/>
            <a:ext cx="28575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950" b="1" i="0">
                <a:solidFill>
                  <a:srgbClr val="98A5AA"/>
                </a:solidFill>
                <a:latin typeface="Malgun Gothic"/>
                <a:ea typeface="Malgun Gothic"/>
                <a:cs typeface="Malgun Gothic"/>
              </a:defRPr>
            </a:pPr>
            <a:r>
              <a:t>→</a:t>
            </a:r>
          </a:p>
        </p:txBody>
      </p:sp>
      <p:sp>
        <p:nvSpPr>
          <p:cNvPr id="11" name="">
            <a:extLst xmlns:a="http://schemas.openxmlformats.org/drawingml/2006/main">
              <a:ext uri="{FF2B5EF4-FFF2-40B4-BE49-F238E27FC236}">
                <a16:creationId xmlns:a16="http://schemas.microsoft.com/office/drawing/2014/main" id="{9F02CB5B-6A90-4B98-BBCF-3A4B22A6AC5B}"/>
              </a:ext>
            </a:extLst>
          </p:cNvPr>
          <p:cNvSpPr>
            <a:spLocks xmlns:a="http://schemas.openxmlformats.org/drawingml/2006/main" noGrp="1"/>
          </p:cNvSpPr>
          <p:nvPr/>
        </p:nvSpPr>
        <p:spPr>
          <a:xfrm xmlns:a="http://schemas.openxmlformats.org/drawingml/2006/main">
            <a:off x="2743200" y="3067050"/>
            <a:ext cx="1905000" cy="1733550"/>
          </a:xfrm>
          <a:prstGeom xmlns:a="http://schemas.openxmlformats.org/drawingml/2006/main" prst="roundRect">
            <a:avLst>
              <a:gd name="adj" fmla="val 4396"/>
            </a:avLst>
          </a:prstGeom>
          <a:solidFill xmlns:a="http://schemas.openxmlformats.org/drawingml/2006/main">
            <a:srgbClr val="FFFDFC"/>
          </a:solidFill>
          <a:ln xmlns:a="http://schemas.openxmlformats.org/drawingml/2006/main" w="9525">
            <a:solidFill>
              <a:srgbClr val="D8D8D2"/>
            </a:solidFill>
            <a:prstDash val="solid"/>
          </a:ln>
        </p:spPr>
      </p:sp>
      <p:sp>
        <p:nvSpPr>
          <p:cNvPr id="12" name="">
            <a:extLst xmlns:a="http://schemas.openxmlformats.org/drawingml/2006/main">
              <a:ext uri="{FF2B5EF4-FFF2-40B4-BE49-F238E27FC236}">
                <a16:creationId xmlns:a16="http://schemas.microsoft.com/office/drawing/2014/main" id="{8E071241-8BAD-4618-BDA5-ED9B6E3D4A48}"/>
              </a:ext>
            </a:extLst>
          </p:cNvPr>
          <p:cNvSpPr>
            <a:spLocks xmlns:a="http://schemas.openxmlformats.org/drawingml/2006/main" noGrp="1"/>
          </p:cNvSpPr>
          <p:nvPr/>
        </p:nvSpPr>
        <p:spPr>
          <a:xfrm xmlns:a="http://schemas.openxmlformats.org/drawingml/2006/main">
            <a:off x="2914650" y="3267075"/>
            <a:ext cx="15621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1" i="0">
                <a:solidFill>
                  <a:srgbClr val="3A6EA5"/>
                </a:solidFill>
                <a:latin typeface="Malgun Gothic"/>
                <a:ea typeface="Malgun Gothic"/>
                <a:cs typeface="Malgun Gothic"/>
              </a:defRPr>
            </a:pPr>
            <a:r>
              <a:t>데이터</a:t>
            </a:r>
          </a:p>
        </p:txBody>
      </p:sp>
      <p:sp>
        <p:nvSpPr>
          <p:cNvPr id="13" name="">
            <a:extLst xmlns:a="http://schemas.openxmlformats.org/drawingml/2006/main">
              <a:ext uri="{FF2B5EF4-FFF2-40B4-BE49-F238E27FC236}">
                <a16:creationId xmlns:a16="http://schemas.microsoft.com/office/drawing/2014/main" id="{8FCADD19-3D0A-425B-AD91-91F76BEA01CE}"/>
              </a:ext>
            </a:extLst>
          </p:cNvPr>
          <p:cNvSpPr>
            <a:spLocks xmlns:a="http://schemas.openxmlformats.org/drawingml/2006/main" noGrp="1"/>
          </p:cNvSpPr>
          <p:nvPr/>
        </p:nvSpPr>
        <p:spPr>
          <a:xfrm xmlns:a="http://schemas.openxmlformats.org/drawingml/2006/main">
            <a:off x="2914650" y="3676650"/>
            <a:ext cx="1562100" cy="657225"/>
          </a:xfrm>
          <a:prstGeom xmlns:a="http://schemas.openxmlformats.org/drawingml/2006/main" prst="rect">
            <a:avLst/>
          </a:prstGeom>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575" b="1" i="0">
                <a:solidFill>
                  <a:srgbClr val="17262D"/>
                </a:solidFill>
                <a:latin typeface="Malgun Gothic"/>
                <a:ea typeface="Malgun Gothic"/>
                <a:cs typeface="Malgun Gothic"/>
              </a:defRPr>
            </a:pPr>
            <a:r>
              <a:t>구독·이용·문의
고객 프로필</a:t>
            </a:r>
          </a:p>
        </p:txBody>
      </p:sp>
      <p:sp>
        <p:nvSpPr>
          <p:cNvPr id="14" name="">
            <a:extLst xmlns:a="http://schemas.openxmlformats.org/drawingml/2006/main">
              <a:ext uri="{FF2B5EF4-FFF2-40B4-BE49-F238E27FC236}">
                <a16:creationId xmlns:a16="http://schemas.microsoft.com/office/drawing/2014/main" id="{23F964D5-6812-427D-AFA4-60BDB7FA2254}"/>
              </a:ext>
            </a:extLst>
          </p:cNvPr>
          <p:cNvSpPr>
            <a:spLocks xmlns:a="http://schemas.openxmlformats.org/drawingml/2006/main" noGrp="1"/>
          </p:cNvSpPr>
          <p:nvPr/>
        </p:nvSpPr>
        <p:spPr>
          <a:xfrm xmlns:a="http://schemas.openxmlformats.org/drawingml/2006/main">
            <a:off x="4686300" y="3752850"/>
            <a:ext cx="28575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950" b="1" i="0">
                <a:solidFill>
                  <a:srgbClr val="98A5AA"/>
                </a:solidFill>
                <a:latin typeface="Malgun Gothic"/>
                <a:ea typeface="Malgun Gothic"/>
                <a:cs typeface="Malgun Gothic"/>
              </a:defRPr>
            </a:pPr>
            <a:r>
              <a:t>→</a:t>
            </a:r>
          </a:p>
        </p:txBody>
      </p:sp>
      <p:sp>
        <p:nvSpPr>
          <p:cNvPr id="15" name="">
            <a:extLst xmlns:a="http://schemas.openxmlformats.org/drawingml/2006/main">
              <a:ext uri="{FF2B5EF4-FFF2-40B4-BE49-F238E27FC236}">
                <a16:creationId xmlns:a16="http://schemas.microsoft.com/office/drawing/2014/main" id="{BB4CB356-863C-4E8E-8282-78B079657DA9}"/>
              </a:ext>
            </a:extLst>
          </p:cNvPr>
          <p:cNvSpPr>
            <a:spLocks xmlns:a="http://schemas.openxmlformats.org/drawingml/2006/main" noGrp="1"/>
          </p:cNvSpPr>
          <p:nvPr/>
        </p:nvSpPr>
        <p:spPr>
          <a:xfrm xmlns:a="http://schemas.openxmlformats.org/drawingml/2006/main">
            <a:off x="5010150" y="3067050"/>
            <a:ext cx="1905000" cy="1733550"/>
          </a:xfrm>
          <a:prstGeom xmlns:a="http://schemas.openxmlformats.org/drawingml/2006/main" prst="roundRect">
            <a:avLst>
              <a:gd name="adj" fmla="val 4396"/>
            </a:avLst>
          </a:prstGeom>
          <a:solidFill xmlns:a="http://schemas.openxmlformats.org/drawingml/2006/main">
            <a:srgbClr val="FFFDFC"/>
          </a:solidFill>
          <a:ln xmlns:a="http://schemas.openxmlformats.org/drawingml/2006/main" w="9525">
            <a:solidFill>
              <a:srgbClr val="D8D8D2"/>
            </a:solidFill>
            <a:prstDash val="solid"/>
          </a:ln>
        </p:spPr>
      </p:sp>
      <p:sp>
        <p:nvSpPr>
          <p:cNvPr id="16" name="">
            <a:extLst xmlns:a="http://schemas.openxmlformats.org/drawingml/2006/main">
              <a:ext uri="{FF2B5EF4-FFF2-40B4-BE49-F238E27FC236}">
                <a16:creationId xmlns:a16="http://schemas.microsoft.com/office/drawing/2014/main" id="{877F28D9-45B4-4F78-BBB4-213DA77ACF22}"/>
              </a:ext>
            </a:extLst>
          </p:cNvPr>
          <p:cNvSpPr>
            <a:spLocks xmlns:a="http://schemas.openxmlformats.org/drawingml/2006/main" noGrp="1"/>
          </p:cNvSpPr>
          <p:nvPr/>
        </p:nvSpPr>
        <p:spPr>
          <a:xfrm xmlns:a="http://schemas.openxmlformats.org/drawingml/2006/main">
            <a:off x="5181600" y="3267075"/>
            <a:ext cx="15621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1" i="0">
                <a:solidFill>
                  <a:srgbClr val="F2674A"/>
                </a:solidFill>
                <a:latin typeface="Malgun Gothic"/>
                <a:ea typeface="Malgun Gothic"/>
                <a:cs typeface="Malgun Gothic"/>
              </a:defRPr>
            </a:pPr>
            <a:r>
              <a:t>TARGET</a:t>
            </a:r>
          </a:p>
        </p:txBody>
      </p:sp>
      <p:sp>
        <p:nvSpPr>
          <p:cNvPr id="17" name="">
            <a:extLst xmlns:a="http://schemas.openxmlformats.org/drawingml/2006/main">
              <a:ext uri="{FF2B5EF4-FFF2-40B4-BE49-F238E27FC236}">
                <a16:creationId xmlns:a16="http://schemas.microsoft.com/office/drawing/2014/main" id="{379FE24D-8D83-4F4E-81A5-09A17574F7F0}"/>
              </a:ext>
            </a:extLst>
          </p:cNvPr>
          <p:cNvSpPr>
            <a:spLocks xmlns:a="http://schemas.openxmlformats.org/drawingml/2006/main" noGrp="1"/>
          </p:cNvSpPr>
          <p:nvPr/>
        </p:nvSpPr>
        <p:spPr>
          <a:xfrm xmlns:a="http://schemas.openxmlformats.org/drawingml/2006/main">
            <a:off x="5181600" y="3676650"/>
            <a:ext cx="1562100" cy="657225"/>
          </a:xfrm>
          <a:prstGeom xmlns:a="http://schemas.openxmlformats.org/drawingml/2006/main" prst="rect">
            <a:avLst/>
          </a:prstGeom>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575" b="1" i="0">
                <a:solidFill>
                  <a:srgbClr val="17262D"/>
                </a:solidFill>
                <a:latin typeface="Malgun Gothic"/>
                <a:ea typeface="Malgun Gothic"/>
                <a:cs typeface="Malgun Gothic"/>
              </a:defRPr>
            </a:pPr>
            <a:r>
              <a:t>제공된
churned 라벨</a:t>
            </a:r>
          </a:p>
        </p:txBody>
      </p:sp>
      <p:sp>
        <p:nvSpPr>
          <p:cNvPr id="18" name="">
            <a:extLst xmlns:a="http://schemas.openxmlformats.org/drawingml/2006/main">
              <a:ext uri="{FF2B5EF4-FFF2-40B4-BE49-F238E27FC236}">
                <a16:creationId xmlns:a16="http://schemas.microsoft.com/office/drawing/2014/main" id="{9CA4165A-FDCD-4C8C-BCFF-DDABE5D12F85}"/>
              </a:ext>
            </a:extLst>
          </p:cNvPr>
          <p:cNvSpPr>
            <a:spLocks xmlns:a="http://schemas.openxmlformats.org/drawingml/2006/main" noGrp="1"/>
          </p:cNvSpPr>
          <p:nvPr/>
        </p:nvSpPr>
        <p:spPr>
          <a:xfrm xmlns:a="http://schemas.openxmlformats.org/drawingml/2006/main">
            <a:off x="6953250" y="3752850"/>
            <a:ext cx="28575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950" b="1" i="0">
                <a:solidFill>
                  <a:srgbClr val="98A5AA"/>
                </a:solidFill>
                <a:latin typeface="Malgun Gothic"/>
                <a:ea typeface="Malgun Gothic"/>
                <a:cs typeface="Malgun Gothic"/>
              </a:defRPr>
            </a:pPr>
            <a:r>
              <a:t>→</a:t>
            </a:r>
          </a:p>
        </p:txBody>
      </p:sp>
      <p:sp>
        <p:nvSpPr>
          <p:cNvPr id="19" name="">
            <a:extLst xmlns:a="http://schemas.openxmlformats.org/drawingml/2006/main">
              <a:ext uri="{FF2B5EF4-FFF2-40B4-BE49-F238E27FC236}">
                <a16:creationId xmlns:a16="http://schemas.microsoft.com/office/drawing/2014/main" id="{2F659F63-9015-4BC1-B713-C0430D18DEA8}"/>
              </a:ext>
            </a:extLst>
          </p:cNvPr>
          <p:cNvSpPr>
            <a:spLocks xmlns:a="http://schemas.openxmlformats.org/drawingml/2006/main" noGrp="1"/>
          </p:cNvSpPr>
          <p:nvPr/>
        </p:nvSpPr>
        <p:spPr>
          <a:xfrm xmlns:a="http://schemas.openxmlformats.org/drawingml/2006/main">
            <a:off x="7277100" y="3067050"/>
            <a:ext cx="1905000" cy="1733550"/>
          </a:xfrm>
          <a:prstGeom xmlns:a="http://schemas.openxmlformats.org/drawingml/2006/main" prst="roundRect">
            <a:avLst>
              <a:gd name="adj" fmla="val 4396"/>
            </a:avLst>
          </a:prstGeom>
          <a:solidFill xmlns:a="http://schemas.openxmlformats.org/drawingml/2006/main">
            <a:srgbClr val="FFFDFC"/>
          </a:solidFill>
          <a:ln xmlns:a="http://schemas.openxmlformats.org/drawingml/2006/main" w="9525">
            <a:solidFill>
              <a:srgbClr val="D8D8D2"/>
            </a:solidFill>
            <a:prstDash val="solid"/>
          </a:ln>
        </p:spPr>
      </p:sp>
      <p:sp>
        <p:nvSpPr>
          <p:cNvPr id="20" name="">
            <a:extLst xmlns:a="http://schemas.openxmlformats.org/drawingml/2006/main">
              <a:ext uri="{FF2B5EF4-FFF2-40B4-BE49-F238E27FC236}">
                <a16:creationId xmlns:a16="http://schemas.microsoft.com/office/drawing/2014/main" id="{42EBDC08-F205-4F3A-940A-3ADD25209E9F}"/>
              </a:ext>
            </a:extLst>
          </p:cNvPr>
          <p:cNvSpPr>
            <a:spLocks xmlns:a="http://schemas.openxmlformats.org/drawingml/2006/main" noGrp="1"/>
          </p:cNvSpPr>
          <p:nvPr/>
        </p:nvSpPr>
        <p:spPr>
          <a:xfrm xmlns:a="http://schemas.openxmlformats.org/drawingml/2006/main">
            <a:off x="7448550" y="3267075"/>
            <a:ext cx="15621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1" i="0">
                <a:solidFill>
                  <a:srgbClr val="D79A36"/>
                </a:solidFill>
                <a:latin typeface="Malgun Gothic"/>
                <a:ea typeface="Malgun Gothic"/>
                <a:cs typeface="Malgun Gothic"/>
              </a:defRPr>
            </a:pPr>
            <a:r>
              <a:t>의사결정</a:t>
            </a:r>
          </a:p>
        </p:txBody>
      </p:sp>
      <p:sp>
        <p:nvSpPr>
          <p:cNvPr id="21" name="">
            <a:extLst xmlns:a="http://schemas.openxmlformats.org/drawingml/2006/main">
              <a:ext uri="{FF2B5EF4-FFF2-40B4-BE49-F238E27FC236}">
                <a16:creationId xmlns:a16="http://schemas.microsoft.com/office/drawing/2014/main" id="{D4B544B5-70B7-465F-82B3-7F697E0CCAD8}"/>
              </a:ext>
            </a:extLst>
          </p:cNvPr>
          <p:cNvSpPr>
            <a:spLocks xmlns:a="http://schemas.openxmlformats.org/drawingml/2006/main" noGrp="1"/>
          </p:cNvSpPr>
          <p:nvPr/>
        </p:nvSpPr>
        <p:spPr>
          <a:xfrm xmlns:a="http://schemas.openxmlformats.org/drawingml/2006/main">
            <a:off x="7448550" y="3676650"/>
            <a:ext cx="1562100" cy="657225"/>
          </a:xfrm>
          <a:prstGeom xmlns:a="http://schemas.openxmlformats.org/drawingml/2006/main" prst="rect">
            <a:avLst/>
          </a:prstGeom>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575" b="1" i="0">
                <a:solidFill>
                  <a:srgbClr val="17262D"/>
                </a:solidFill>
                <a:latin typeface="Malgun Gothic"/>
                <a:ea typeface="Malgun Gothic"/>
                <a:cs typeface="Malgun Gothic"/>
              </a:defRPr>
            </a:pPr>
            <a:r>
              <a:t>누구를 먼저
검토할지</a:t>
            </a:r>
          </a:p>
        </p:txBody>
      </p:sp>
      <p:sp>
        <p:nvSpPr>
          <p:cNvPr id="22" name="">
            <a:extLst xmlns:a="http://schemas.openxmlformats.org/drawingml/2006/main">
              <a:ext uri="{FF2B5EF4-FFF2-40B4-BE49-F238E27FC236}">
                <a16:creationId xmlns:a16="http://schemas.microsoft.com/office/drawing/2014/main" id="{21F8CA07-7A7A-4847-BE67-536883511CB1}"/>
              </a:ext>
            </a:extLst>
          </p:cNvPr>
          <p:cNvSpPr>
            <a:spLocks xmlns:a="http://schemas.openxmlformats.org/drawingml/2006/main" noGrp="1"/>
          </p:cNvSpPr>
          <p:nvPr/>
        </p:nvSpPr>
        <p:spPr>
          <a:xfrm xmlns:a="http://schemas.openxmlformats.org/drawingml/2006/main">
            <a:off x="9220200" y="3752850"/>
            <a:ext cx="28575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950" b="1" i="0">
                <a:solidFill>
                  <a:srgbClr val="98A5AA"/>
                </a:solidFill>
                <a:latin typeface="Malgun Gothic"/>
                <a:ea typeface="Malgun Gothic"/>
                <a:cs typeface="Malgun Gothic"/>
              </a:defRPr>
            </a:pPr>
            <a:r>
              <a:t>→</a:t>
            </a:r>
          </a:p>
        </p:txBody>
      </p:sp>
      <p:sp>
        <p:nvSpPr>
          <p:cNvPr id="23" name="">
            <a:extLst xmlns:a="http://schemas.openxmlformats.org/drawingml/2006/main">
              <a:ext uri="{FF2B5EF4-FFF2-40B4-BE49-F238E27FC236}">
                <a16:creationId xmlns:a16="http://schemas.microsoft.com/office/drawing/2014/main" id="{483CEB20-E74C-41A9-824B-53CDC0EF43D1}"/>
              </a:ext>
            </a:extLst>
          </p:cNvPr>
          <p:cNvSpPr>
            <a:spLocks xmlns:a="http://schemas.openxmlformats.org/drawingml/2006/main" noGrp="1"/>
          </p:cNvSpPr>
          <p:nvPr/>
        </p:nvSpPr>
        <p:spPr>
          <a:xfrm xmlns:a="http://schemas.openxmlformats.org/drawingml/2006/main">
            <a:off x="9544050" y="3067050"/>
            <a:ext cx="1905000" cy="1733550"/>
          </a:xfrm>
          <a:prstGeom xmlns:a="http://schemas.openxmlformats.org/drawingml/2006/main" prst="roundRect">
            <a:avLst>
              <a:gd name="adj" fmla="val 4396"/>
            </a:avLst>
          </a:prstGeom>
          <a:solidFill xmlns:a="http://schemas.openxmlformats.org/drawingml/2006/main">
            <a:srgbClr val="FFFDFC"/>
          </a:solidFill>
          <a:ln xmlns:a="http://schemas.openxmlformats.org/drawingml/2006/main" w="9525">
            <a:solidFill>
              <a:srgbClr val="D8D8D2"/>
            </a:solidFill>
            <a:prstDash val="solid"/>
          </a:ln>
        </p:spPr>
      </p:sp>
      <p:sp>
        <p:nvSpPr>
          <p:cNvPr id="24" name="">
            <a:extLst xmlns:a="http://schemas.openxmlformats.org/drawingml/2006/main">
              <a:ext uri="{FF2B5EF4-FFF2-40B4-BE49-F238E27FC236}">
                <a16:creationId xmlns:a16="http://schemas.microsoft.com/office/drawing/2014/main" id="{617376CD-7E7F-4FCE-80EE-0748811D746B}"/>
              </a:ext>
            </a:extLst>
          </p:cNvPr>
          <p:cNvSpPr>
            <a:spLocks xmlns:a="http://schemas.openxmlformats.org/drawingml/2006/main" noGrp="1"/>
          </p:cNvSpPr>
          <p:nvPr/>
        </p:nvSpPr>
        <p:spPr>
          <a:xfrm xmlns:a="http://schemas.openxmlformats.org/drawingml/2006/main">
            <a:off x="9715500" y="3267075"/>
            <a:ext cx="15621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1" i="0">
                <a:solidFill>
                  <a:srgbClr val="118C83"/>
                </a:solidFill>
                <a:latin typeface="Malgun Gothic"/>
                <a:ea typeface="Malgun Gothic"/>
                <a:cs typeface="Malgun Gothic"/>
              </a:defRPr>
            </a:pPr>
            <a:r>
              <a:t>행동</a:t>
            </a:r>
          </a:p>
        </p:txBody>
      </p:sp>
      <p:sp>
        <p:nvSpPr>
          <p:cNvPr id="25" name="">
            <a:extLst xmlns:a="http://schemas.openxmlformats.org/drawingml/2006/main">
              <a:ext uri="{FF2B5EF4-FFF2-40B4-BE49-F238E27FC236}">
                <a16:creationId xmlns:a16="http://schemas.microsoft.com/office/drawing/2014/main" id="{1416F51F-79A5-4225-BE8F-CC1BF1FA6080}"/>
              </a:ext>
            </a:extLst>
          </p:cNvPr>
          <p:cNvSpPr>
            <a:spLocks xmlns:a="http://schemas.openxmlformats.org/drawingml/2006/main" noGrp="1"/>
          </p:cNvSpPr>
          <p:nvPr/>
        </p:nvSpPr>
        <p:spPr>
          <a:xfrm xmlns:a="http://schemas.openxmlformats.org/drawingml/2006/main">
            <a:off x="9715500" y="3676650"/>
            <a:ext cx="1562100" cy="657225"/>
          </a:xfrm>
          <a:prstGeom xmlns:a="http://schemas.openxmlformats.org/drawingml/2006/main" prst="rect">
            <a:avLst/>
          </a:prstGeom>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575" b="1" i="0">
                <a:solidFill>
                  <a:srgbClr val="17262D"/>
                </a:solidFill>
                <a:latin typeface="Malgun Gothic"/>
                <a:ea typeface="Malgun Gothic"/>
                <a:cs typeface="Malgun Gothic"/>
              </a:defRPr>
            </a:pPr>
            <a:r>
              <a:t>위험 신호별
유지 활동 가설</a:t>
            </a:r>
          </a:p>
        </p:txBody>
      </p:sp>
      <p:sp>
        <p:nvSpPr>
          <p:cNvPr id="26" name="">
            <a:extLst xmlns:a="http://schemas.openxmlformats.org/drawingml/2006/main">
              <a:ext uri="{FF2B5EF4-FFF2-40B4-BE49-F238E27FC236}">
                <a16:creationId xmlns:a16="http://schemas.microsoft.com/office/drawing/2014/main" id="{FE506608-E239-4C31-A5A7-D37F9DC4679B}"/>
              </a:ext>
            </a:extLst>
          </p:cNvPr>
          <p:cNvSpPr>
            <a:spLocks xmlns:a="http://schemas.openxmlformats.org/drawingml/2006/main" noGrp="1"/>
          </p:cNvSpPr>
          <p:nvPr/>
        </p:nvSpPr>
        <p:spPr>
          <a:xfrm xmlns:a="http://schemas.openxmlformats.org/drawingml/2006/main">
            <a:off x="476250" y="5219700"/>
            <a:ext cx="11239500" cy="781050"/>
          </a:xfrm>
          <a:prstGeom xmlns:a="http://schemas.openxmlformats.org/drawingml/2006/main" prst="roundRect">
            <a:avLst>
              <a:gd name="adj" fmla="val 9756"/>
            </a:avLst>
          </a:prstGeom>
          <a:solidFill xmlns:a="http://schemas.openxmlformats.org/drawingml/2006/main">
            <a:srgbClr val="FDE8E1"/>
          </a:solidFill>
          <a:ln xmlns:a="http://schemas.openxmlformats.org/drawingml/2006/main" w="9525">
            <a:solidFill>
              <a:srgbClr val="FDE8E1"/>
            </a:solidFill>
            <a:prstDash val="solid"/>
          </a:ln>
        </p:spPr>
      </p:sp>
      <p:sp>
        <p:nvSpPr>
          <p:cNvPr id="27" name="">
            <a:extLst xmlns:a="http://schemas.openxmlformats.org/drawingml/2006/main">
              <a:ext uri="{FF2B5EF4-FFF2-40B4-BE49-F238E27FC236}">
                <a16:creationId xmlns:a16="http://schemas.microsoft.com/office/drawing/2014/main" id="{05CFEEAD-8CBD-44D5-977F-F38A8E8A38F5}"/>
              </a:ext>
            </a:extLst>
          </p:cNvPr>
          <p:cNvSpPr>
            <a:spLocks xmlns:a="http://schemas.openxmlformats.org/drawingml/2006/main" noGrp="1"/>
          </p:cNvSpPr>
          <p:nvPr/>
        </p:nvSpPr>
        <p:spPr>
          <a:xfrm xmlns:a="http://schemas.openxmlformats.org/drawingml/2006/main">
            <a:off x="723900" y="5419725"/>
            <a:ext cx="10477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i="0">
                <a:solidFill>
                  <a:srgbClr val="B94C3C"/>
                </a:solidFill>
                <a:latin typeface="Malgun Gothic"/>
                <a:ea typeface="Malgun Gothic"/>
                <a:cs typeface="Malgun Gothic"/>
              </a:defRPr>
            </a:pPr>
            <a:r>
              <a:t>책임 경계</a:t>
            </a:r>
          </a:p>
        </p:txBody>
      </p:sp>
      <p:sp>
        <p:nvSpPr>
          <p:cNvPr id="28" name="">
            <a:extLst xmlns:a="http://schemas.openxmlformats.org/drawingml/2006/main">
              <a:ext uri="{FF2B5EF4-FFF2-40B4-BE49-F238E27FC236}">
                <a16:creationId xmlns:a16="http://schemas.microsoft.com/office/drawing/2014/main" id="{1705912F-7EDE-4154-8591-8029A71DAF17}"/>
              </a:ext>
            </a:extLst>
          </p:cNvPr>
          <p:cNvSpPr>
            <a:spLocks xmlns:a="http://schemas.openxmlformats.org/drawingml/2006/main" noGrp="1"/>
          </p:cNvSpPr>
          <p:nvPr/>
        </p:nvSpPr>
        <p:spPr>
          <a:xfrm xmlns:a="http://schemas.openxmlformats.org/drawingml/2006/main">
            <a:off x="1752600" y="5381625"/>
            <a:ext cx="9667875" cy="342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i="0">
                <a:solidFill>
                  <a:srgbClr val="17262D"/>
                </a:solidFill>
                <a:latin typeface="Malgun Gothic"/>
                <a:ea typeface="Malgun Gothic"/>
                <a:cs typeface="Malgun Gothic"/>
              </a:defRPr>
            </a:pPr>
            <a:r>
              <a:t>앱은 행동 후보와 운영 선택지를 제시합니다. 실제 CRM 발송·할인 제공·고객 접촉·효과 검증은 조직이 결정합니다.</a:t>
            </a:r>
          </a:p>
        </p:txBody>
      </p:sp>
      <p:sp>
        <p:nvSpPr>
          <p:cNvPr id="29" name="">
            <a:extLst xmlns:a="http://schemas.openxmlformats.org/drawingml/2006/main">
              <a:ext uri="{FF2B5EF4-FFF2-40B4-BE49-F238E27FC236}">
                <a16:creationId xmlns:a16="http://schemas.microsoft.com/office/drawing/2014/main" id="{11649CD8-421B-40FC-9DC8-03D13B0773DE}"/>
              </a:ext>
            </a:extLst>
          </p:cNvPr>
          <p:cNvSpPr>
            <a:spLocks xmlns:a="http://schemas.openxmlformats.org/drawingml/2006/main" noGrp="1"/>
          </p:cNvSpPr>
          <p:nvPr/>
        </p:nvSpPr>
        <p:spPr>
          <a:xfrm xmlns:a="http://schemas.openxmlformats.org/drawingml/2006/main">
            <a:off x="476250" y="6486525"/>
            <a:ext cx="11239500" cy="9525"/>
          </a:xfrm>
          <a:prstGeom xmlns:a="http://schemas.openxmlformats.org/drawingml/2006/main" prst="rect">
            <a:avLst/>
          </a:prstGeom>
          <a:solidFill xmlns:a="http://schemas.openxmlformats.org/drawingml/2006/main">
            <a:srgbClr val="D8D8D2"/>
          </a:solidFill>
        </p:spPr>
      </p:sp>
      <p:sp>
        <p:nvSpPr>
          <p:cNvPr id="30" name="">
            <a:extLst xmlns:a="http://schemas.openxmlformats.org/drawingml/2006/main">
              <a:ext uri="{FF2B5EF4-FFF2-40B4-BE49-F238E27FC236}">
                <a16:creationId xmlns:a16="http://schemas.microsoft.com/office/drawing/2014/main" id="{6F0E2FAB-6CCB-4E2B-A5E1-D54E301EABF0}"/>
              </a:ext>
            </a:extLst>
          </p:cNvPr>
          <p:cNvSpPr>
            <a:spLocks xmlns:a="http://schemas.openxmlformats.org/drawingml/2006/main" noGrp="1"/>
          </p:cNvSpPr>
          <p:nvPr/>
        </p:nvSpPr>
        <p:spPr>
          <a:xfrm xmlns:a="http://schemas.openxmlformats.org/drawingml/2006/main">
            <a:off x="666750" y="6534150"/>
            <a:ext cx="9620250" cy="209550"/>
          </a:xfrm>
          <a:prstGeom xmlns:a="http://schemas.openxmlformats.org/drawingml/2006/main" prst="rect">
            <a:avLst/>
          </a:prstGeom>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825" b="0" i="0">
                <a:solidFill>
                  <a:srgbClr val="98A5AA"/>
                </a:solidFill>
                <a:latin typeface="Malgun Gothic"/>
                <a:ea typeface="Malgun Gothic"/>
                <a:cs typeface="Malgun Gothic"/>
              </a:defRPr>
            </a:pPr>
            <a:r>
              <a:t>근거 · docs/requirements.md · reports/presentation_evidence_pack_v2.md</a:t>
            </a:r>
          </a:p>
        </p:txBody>
      </p:sp>
      <p:sp>
        <p:nvSpPr>
          <p:cNvPr id="31" name="">
            <a:extLst xmlns:a="http://schemas.openxmlformats.org/drawingml/2006/main">
              <a:ext uri="{FF2B5EF4-FFF2-40B4-BE49-F238E27FC236}">
                <a16:creationId xmlns:a16="http://schemas.microsoft.com/office/drawing/2014/main" id="{F2FAF4F7-85B2-4E5D-88CF-EE4117164F33}"/>
              </a:ext>
            </a:extLst>
          </p:cNvPr>
          <p:cNvSpPr>
            <a:spLocks xmlns:a="http://schemas.openxmlformats.org/drawingml/2006/main" noGrp="1"/>
          </p:cNvSpPr>
          <p:nvPr/>
        </p:nvSpPr>
        <p:spPr>
          <a:xfrm xmlns:a="http://schemas.openxmlformats.org/drawingml/2006/main">
            <a:off x="11201400" y="6543675"/>
            <a:ext cx="5143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00" b="1" i="0">
                <a:solidFill>
                  <a:srgbClr val="607078"/>
                </a:solidFill>
                <a:latin typeface="Malgun Gothic"/>
                <a:ea typeface="Malgun Gothic"/>
                <a:cs typeface="Malgun Gothic"/>
              </a:defRPr>
            </a:pPr>
            <a:r>
              <a:t>02</a:t>
            </a:r>
          </a:p>
        </p:txBody>
      </p:sp>
    </p:spTree>
    <p:extLst>
      <p:ext uri="{BB962C8B-B14F-4D97-AF65-F5344CB8AC3E}">
        <p14:creationId xmlns:p14="http://schemas.microsoft.com/office/powerpoint/2010/main" val="73949648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6EF5A63C-8915-4FBD-89B3-CEDAB9D0ED7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6F3EE"/>
          </a:solidFill>
        </p:spPr>
      </p:sp>
      <p:sp>
        <p:nvSpPr>
          <p:cNvPr id="2" name="">
            <a:extLst xmlns:a="http://schemas.openxmlformats.org/drawingml/2006/main">
              <a:ext uri="{FF2B5EF4-FFF2-40B4-BE49-F238E27FC236}">
                <a16:creationId xmlns:a16="http://schemas.microsoft.com/office/drawing/2014/main" id="{8E0FD10E-AE3A-4AF9-841E-56E2C806DA48}"/>
              </a:ext>
            </a:extLst>
          </p:cNvPr>
          <p:cNvSpPr>
            <a:spLocks xmlns:a="http://schemas.openxmlformats.org/drawingml/2006/main" noGrp="1"/>
          </p:cNvSpPr>
          <p:nvPr/>
        </p:nvSpPr>
        <p:spPr>
          <a:xfrm xmlns:a="http://schemas.openxmlformats.org/drawingml/2006/main">
            <a:off x="476250" y="257175"/>
            <a:ext cx="40005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118C83"/>
                </a:solidFill>
                <a:latin typeface="Malgun Gothic"/>
                <a:ea typeface="Malgun Gothic"/>
                <a:cs typeface="Malgun Gothic"/>
              </a:defRPr>
            </a:pPr>
            <a:r>
              <a:t>02 · DATA</a:t>
            </a:r>
          </a:p>
        </p:txBody>
      </p:sp>
      <p:sp>
        <p:nvSpPr>
          <p:cNvPr id="3" name="">
            <a:extLst xmlns:a="http://schemas.openxmlformats.org/drawingml/2006/main">
              <a:ext uri="{FF2B5EF4-FFF2-40B4-BE49-F238E27FC236}">
                <a16:creationId xmlns:a16="http://schemas.microsoft.com/office/drawing/2014/main" id="{494E1ACF-6421-44C2-A7F8-6B9A8651B22E}"/>
              </a:ext>
            </a:extLst>
          </p:cNvPr>
          <p:cNvSpPr>
            <a:spLocks xmlns:a="http://schemas.openxmlformats.org/drawingml/2006/main" noGrp="1"/>
          </p:cNvSpPr>
          <p:nvPr/>
        </p:nvSpPr>
        <p:spPr>
          <a:xfrm xmlns:a="http://schemas.openxmlformats.org/drawingml/2006/main">
            <a:off x="476250" y="561975"/>
            <a:ext cx="11049000" cy="5429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850" b="1" i="0">
                <a:solidFill>
                  <a:srgbClr val="17262D"/>
                </a:solidFill>
                <a:latin typeface="Malgun Gothic"/>
                <a:ea typeface="Malgun Gothic"/>
                <a:cs typeface="Malgun Gothic"/>
              </a:defRPr>
            </a:pPr>
            <a:r>
              <a:t>데이터 규모는 충분하지만, 현실 효과는 아직 검증 전입니다</a:t>
            </a:r>
          </a:p>
        </p:txBody>
      </p:sp>
      <p:sp>
        <p:nvSpPr>
          <p:cNvPr id="4" name="">
            <a:extLst xmlns:a="http://schemas.openxmlformats.org/drawingml/2006/main">
              <a:ext uri="{FF2B5EF4-FFF2-40B4-BE49-F238E27FC236}">
                <a16:creationId xmlns:a16="http://schemas.microsoft.com/office/drawing/2014/main" id="{0C82A318-8CF9-4CC3-AFFF-F66040EAE229}"/>
              </a:ext>
            </a:extLst>
          </p:cNvPr>
          <p:cNvSpPr>
            <a:spLocks xmlns:a="http://schemas.openxmlformats.org/drawingml/2006/main" noGrp="1"/>
          </p:cNvSpPr>
          <p:nvPr/>
        </p:nvSpPr>
        <p:spPr>
          <a:xfrm xmlns:a="http://schemas.openxmlformats.org/drawingml/2006/main">
            <a:off x="476250" y="1200150"/>
            <a:ext cx="723900" cy="47625"/>
          </a:xfrm>
          <a:prstGeom xmlns:a="http://schemas.openxmlformats.org/drawingml/2006/main" prst="rect">
            <a:avLst/>
          </a:prstGeom>
          <a:solidFill xmlns:a="http://schemas.openxmlformats.org/drawingml/2006/main">
            <a:srgbClr val="F2674A"/>
          </a:solidFill>
        </p:spPr>
      </p:sp>
      <p:sp>
        <p:nvSpPr>
          <p:cNvPr id="5" name="">
            <a:extLst xmlns:a="http://schemas.openxmlformats.org/drawingml/2006/main">
              <a:ext uri="{FF2B5EF4-FFF2-40B4-BE49-F238E27FC236}">
                <a16:creationId xmlns:a16="http://schemas.microsoft.com/office/drawing/2014/main" id="{767725F2-449C-422F-990E-3991C80C0CF7}"/>
              </a:ext>
            </a:extLst>
          </p:cNvPr>
          <p:cNvSpPr>
            <a:spLocks xmlns:a="http://schemas.openxmlformats.org/drawingml/2006/main" noGrp="1"/>
          </p:cNvSpPr>
          <p:nvPr/>
        </p:nvSpPr>
        <p:spPr>
          <a:xfrm xmlns:a="http://schemas.openxmlformats.org/drawingml/2006/main">
            <a:off x="552450" y="1695450"/>
            <a:ext cx="38100" cy="838200"/>
          </a:xfrm>
          <a:prstGeom xmlns:a="http://schemas.openxmlformats.org/drawingml/2006/main" prst="rect">
            <a:avLst/>
          </a:prstGeom>
          <a:solidFill xmlns:a="http://schemas.openxmlformats.org/drawingml/2006/main">
            <a:srgbClr val="118C83"/>
          </a:solidFill>
        </p:spPr>
      </p:sp>
      <p:sp>
        <p:nvSpPr>
          <p:cNvPr id="6" name="">
            <a:extLst xmlns:a="http://schemas.openxmlformats.org/drawingml/2006/main">
              <a:ext uri="{FF2B5EF4-FFF2-40B4-BE49-F238E27FC236}">
                <a16:creationId xmlns:a16="http://schemas.microsoft.com/office/drawing/2014/main" id="{03449F2A-387C-49DB-855A-4D9583EFC3F6}"/>
              </a:ext>
            </a:extLst>
          </p:cNvPr>
          <p:cNvSpPr>
            <a:spLocks xmlns:a="http://schemas.openxmlformats.org/drawingml/2006/main" noGrp="1"/>
          </p:cNvSpPr>
          <p:nvPr/>
        </p:nvSpPr>
        <p:spPr>
          <a:xfrm xmlns:a="http://schemas.openxmlformats.org/drawingml/2006/main">
            <a:off x="723900" y="1714500"/>
            <a:ext cx="2114550" cy="3714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i="0">
                <a:solidFill>
                  <a:srgbClr val="17262D"/>
                </a:solidFill>
                <a:latin typeface="Malgun Gothic"/>
                <a:ea typeface="Malgun Gothic"/>
                <a:cs typeface="Malgun Gothic"/>
              </a:defRPr>
            </a:pPr>
            <a:r>
              <a:t>125,000</a:t>
            </a:r>
          </a:p>
        </p:txBody>
      </p:sp>
      <p:sp>
        <p:nvSpPr>
          <p:cNvPr id="7" name="">
            <a:extLst xmlns:a="http://schemas.openxmlformats.org/drawingml/2006/main">
              <a:ext uri="{FF2B5EF4-FFF2-40B4-BE49-F238E27FC236}">
                <a16:creationId xmlns:a16="http://schemas.microsoft.com/office/drawing/2014/main" id="{BE2E52F1-390F-4580-93EC-9396B7234088}"/>
              </a:ext>
            </a:extLst>
          </p:cNvPr>
          <p:cNvSpPr>
            <a:spLocks xmlns:a="http://schemas.openxmlformats.org/drawingml/2006/main" noGrp="1"/>
          </p:cNvSpPr>
          <p:nvPr/>
        </p:nvSpPr>
        <p:spPr>
          <a:xfrm xmlns:a="http://schemas.openxmlformats.org/drawingml/2006/main">
            <a:off x="723900" y="2124075"/>
            <a:ext cx="21145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607078"/>
                </a:solidFill>
                <a:latin typeface="Malgun Gothic"/>
                <a:ea typeface="Malgun Gothic"/>
                <a:cs typeface="Malgun Gothic"/>
              </a:defRPr>
            </a:pPr>
            <a:r>
              <a:t>학습 고객</a:t>
            </a:r>
          </a:p>
        </p:txBody>
      </p:sp>
      <p:sp>
        <p:nvSpPr>
          <p:cNvPr id="8" name="">
            <a:extLst xmlns:a="http://schemas.openxmlformats.org/drawingml/2006/main">
              <a:ext uri="{FF2B5EF4-FFF2-40B4-BE49-F238E27FC236}">
                <a16:creationId xmlns:a16="http://schemas.microsoft.com/office/drawing/2014/main" id="{8FDADBB4-FD9C-432C-AB97-3065C302B984}"/>
              </a:ext>
            </a:extLst>
          </p:cNvPr>
          <p:cNvSpPr>
            <a:spLocks xmlns:a="http://schemas.openxmlformats.org/drawingml/2006/main" noGrp="1"/>
          </p:cNvSpPr>
          <p:nvPr/>
        </p:nvSpPr>
        <p:spPr>
          <a:xfrm xmlns:a="http://schemas.openxmlformats.org/drawingml/2006/main">
            <a:off x="723900" y="2352675"/>
            <a:ext cx="2114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0" i="0">
                <a:solidFill>
                  <a:srgbClr val="98A5AA"/>
                </a:solidFill>
                <a:latin typeface="Malgun Gothic"/>
                <a:ea typeface="Malgun Gothic"/>
                <a:cs typeface="Malgun Gothic"/>
              </a:defRPr>
            </a:pPr>
            <a:r>
              <a:t>20 columns · target 포함</a:t>
            </a:r>
          </a:p>
        </p:txBody>
      </p:sp>
      <p:sp>
        <p:nvSpPr>
          <p:cNvPr id="9" name="">
            <a:extLst xmlns:a="http://schemas.openxmlformats.org/drawingml/2006/main">
              <a:ext uri="{FF2B5EF4-FFF2-40B4-BE49-F238E27FC236}">
                <a16:creationId xmlns:a16="http://schemas.microsoft.com/office/drawing/2014/main" id="{391ACCB6-11C0-4AE1-9E13-A303819318FF}"/>
              </a:ext>
            </a:extLst>
          </p:cNvPr>
          <p:cNvSpPr>
            <a:spLocks xmlns:a="http://schemas.openxmlformats.org/drawingml/2006/main" noGrp="1"/>
          </p:cNvSpPr>
          <p:nvPr/>
        </p:nvSpPr>
        <p:spPr>
          <a:xfrm xmlns:a="http://schemas.openxmlformats.org/drawingml/2006/main">
            <a:off x="3276600" y="1695450"/>
            <a:ext cx="38100" cy="838200"/>
          </a:xfrm>
          <a:prstGeom xmlns:a="http://schemas.openxmlformats.org/drawingml/2006/main" prst="rect">
            <a:avLst/>
          </a:prstGeom>
          <a:solidFill xmlns:a="http://schemas.openxmlformats.org/drawingml/2006/main">
            <a:srgbClr val="3A6EA5"/>
          </a:solidFill>
        </p:spPr>
      </p:sp>
      <p:sp>
        <p:nvSpPr>
          <p:cNvPr id="10" name="">
            <a:extLst xmlns:a="http://schemas.openxmlformats.org/drawingml/2006/main">
              <a:ext uri="{FF2B5EF4-FFF2-40B4-BE49-F238E27FC236}">
                <a16:creationId xmlns:a16="http://schemas.microsoft.com/office/drawing/2014/main" id="{73798A9A-92B1-46EB-8916-3A8946F7198D}"/>
              </a:ext>
            </a:extLst>
          </p:cNvPr>
          <p:cNvSpPr>
            <a:spLocks xmlns:a="http://schemas.openxmlformats.org/drawingml/2006/main" noGrp="1"/>
          </p:cNvSpPr>
          <p:nvPr/>
        </p:nvSpPr>
        <p:spPr>
          <a:xfrm xmlns:a="http://schemas.openxmlformats.org/drawingml/2006/main">
            <a:off x="3448050" y="1714500"/>
            <a:ext cx="2114550" cy="3714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i="0">
                <a:solidFill>
                  <a:srgbClr val="17262D"/>
                </a:solidFill>
                <a:latin typeface="Malgun Gothic"/>
                <a:ea typeface="Malgun Gothic"/>
                <a:cs typeface="Malgun Gothic"/>
              </a:defRPr>
            </a:pPr>
            <a:r>
              <a:t>75,000</a:t>
            </a:r>
          </a:p>
        </p:txBody>
      </p:sp>
      <p:sp>
        <p:nvSpPr>
          <p:cNvPr id="11" name="">
            <a:extLst xmlns:a="http://schemas.openxmlformats.org/drawingml/2006/main">
              <a:ext uri="{FF2B5EF4-FFF2-40B4-BE49-F238E27FC236}">
                <a16:creationId xmlns:a16="http://schemas.microsoft.com/office/drawing/2014/main" id="{0806C1C1-8767-4769-9538-ED9486F8F583}"/>
              </a:ext>
            </a:extLst>
          </p:cNvPr>
          <p:cNvSpPr>
            <a:spLocks xmlns:a="http://schemas.openxmlformats.org/drawingml/2006/main" noGrp="1"/>
          </p:cNvSpPr>
          <p:nvPr/>
        </p:nvSpPr>
        <p:spPr>
          <a:xfrm xmlns:a="http://schemas.openxmlformats.org/drawingml/2006/main">
            <a:off x="3448050" y="2124075"/>
            <a:ext cx="21145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607078"/>
                </a:solidFill>
                <a:latin typeface="Malgun Gothic"/>
                <a:ea typeface="Malgun Gothic"/>
                <a:cs typeface="Malgun Gothic"/>
              </a:defRPr>
            </a:pPr>
            <a:r>
              <a:t>예측 고객</a:t>
            </a:r>
          </a:p>
        </p:txBody>
      </p:sp>
      <p:sp>
        <p:nvSpPr>
          <p:cNvPr id="12" name="">
            <a:extLst xmlns:a="http://schemas.openxmlformats.org/drawingml/2006/main">
              <a:ext uri="{FF2B5EF4-FFF2-40B4-BE49-F238E27FC236}">
                <a16:creationId xmlns:a16="http://schemas.microsoft.com/office/drawing/2014/main" id="{60AF7684-D130-438D-A13C-C724BFB7B3E5}"/>
              </a:ext>
            </a:extLst>
          </p:cNvPr>
          <p:cNvSpPr>
            <a:spLocks xmlns:a="http://schemas.openxmlformats.org/drawingml/2006/main" noGrp="1"/>
          </p:cNvSpPr>
          <p:nvPr/>
        </p:nvSpPr>
        <p:spPr>
          <a:xfrm xmlns:a="http://schemas.openxmlformats.org/drawingml/2006/main">
            <a:off x="3448050" y="2352675"/>
            <a:ext cx="2114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0" i="0">
                <a:solidFill>
                  <a:srgbClr val="98A5AA"/>
                </a:solidFill>
                <a:latin typeface="Malgun Gothic"/>
                <a:ea typeface="Malgun Gothic"/>
                <a:cs typeface="Malgun Gothic"/>
              </a:defRPr>
            </a:pPr>
            <a:r>
              <a:t>19 columns · target 없음</a:t>
            </a:r>
          </a:p>
        </p:txBody>
      </p:sp>
      <p:sp>
        <p:nvSpPr>
          <p:cNvPr id="13" name="">
            <a:extLst xmlns:a="http://schemas.openxmlformats.org/drawingml/2006/main">
              <a:ext uri="{FF2B5EF4-FFF2-40B4-BE49-F238E27FC236}">
                <a16:creationId xmlns:a16="http://schemas.microsoft.com/office/drawing/2014/main" id="{B630C579-158E-426F-BB27-2FF26275FA72}"/>
              </a:ext>
            </a:extLst>
          </p:cNvPr>
          <p:cNvSpPr>
            <a:spLocks xmlns:a="http://schemas.openxmlformats.org/drawingml/2006/main" noGrp="1"/>
          </p:cNvSpPr>
          <p:nvPr/>
        </p:nvSpPr>
        <p:spPr>
          <a:xfrm xmlns:a="http://schemas.openxmlformats.org/drawingml/2006/main">
            <a:off x="6000750" y="1695450"/>
            <a:ext cx="38100" cy="838200"/>
          </a:xfrm>
          <a:prstGeom xmlns:a="http://schemas.openxmlformats.org/drawingml/2006/main" prst="rect">
            <a:avLst/>
          </a:prstGeom>
          <a:solidFill xmlns:a="http://schemas.openxmlformats.org/drawingml/2006/main">
            <a:srgbClr val="F2674A"/>
          </a:solidFill>
        </p:spPr>
      </p:sp>
      <p:sp>
        <p:nvSpPr>
          <p:cNvPr id="14" name="">
            <a:extLst xmlns:a="http://schemas.openxmlformats.org/drawingml/2006/main">
              <a:ext uri="{FF2B5EF4-FFF2-40B4-BE49-F238E27FC236}">
                <a16:creationId xmlns:a16="http://schemas.microsoft.com/office/drawing/2014/main" id="{B7FF1FBA-68E0-401D-8FFC-E797260D6F9C}"/>
              </a:ext>
            </a:extLst>
          </p:cNvPr>
          <p:cNvSpPr>
            <a:spLocks xmlns:a="http://schemas.openxmlformats.org/drawingml/2006/main" noGrp="1"/>
          </p:cNvSpPr>
          <p:nvPr/>
        </p:nvSpPr>
        <p:spPr>
          <a:xfrm xmlns:a="http://schemas.openxmlformats.org/drawingml/2006/main">
            <a:off x="6172200" y="1714500"/>
            <a:ext cx="2114550" cy="3714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i="0">
                <a:solidFill>
                  <a:srgbClr val="17262D"/>
                </a:solidFill>
                <a:latin typeface="Malgun Gothic"/>
                <a:ea typeface="Malgun Gothic"/>
                <a:cs typeface="Malgun Gothic"/>
              </a:defRPr>
            </a:pPr>
            <a:r>
              <a:t>51.34%</a:t>
            </a:r>
          </a:p>
        </p:txBody>
      </p:sp>
      <p:sp>
        <p:nvSpPr>
          <p:cNvPr id="15" name="">
            <a:extLst xmlns:a="http://schemas.openxmlformats.org/drawingml/2006/main">
              <a:ext uri="{FF2B5EF4-FFF2-40B4-BE49-F238E27FC236}">
                <a16:creationId xmlns:a16="http://schemas.microsoft.com/office/drawing/2014/main" id="{59C4262F-CE59-40D3-99C1-6F29DA048BF9}"/>
              </a:ext>
            </a:extLst>
          </p:cNvPr>
          <p:cNvSpPr>
            <a:spLocks xmlns:a="http://schemas.openxmlformats.org/drawingml/2006/main" noGrp="1"/>
          </p:cNvSpPr>
          <p:nvPr/>
        </p:nvSpPr>
        <p:spPr>
          <a:xfrm xmlns:a="http://schemas.openxmlformats.org/drawingml/2006/main">
            <a:off x="6172200" y="2124075"/>
            <a:ext cx="21145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607078"/>
                </a:solidFill>
                <a:latin typeface="Malgun Gothic"/>
                <a:ea typeface="Malgun Gothic"/>
                <a:cs typeface="Malgun Gothic"/>
              </a:defRPr>
            </a:pPr>
            <a:r>
              <a:t>학습 데이터 이탈률</a:t>
            </a:r>
          </a:p>
        </p:txBody>
      </p:sp>
      <p:sp>
        <p:nvSpPr>
          <p:cNvPr id="16" name="">
            <a:extLst xmlns:a="http://schemas.openxmlformats.org/drawingml/2006/main">
              <a:ext uri="{FF2B5EF4-FFF2-40B4-BE49-F238E27FC236}">
                <a16:creationId xmlns:a16="http://schemas.microsoft.com/office/drawing/2014/main" id="{655B958B-3972-4DA5-9682-D11CD98F5F6D}"/>
              </a:ext>
            </a:extLst>
          </p:cNvPr>
          <p:cNvSpPr>
            <a:spLocks xmlns:a="http://schemas.openxmlformats.org/drawingml/2006/main" noGrp="1"/>
          </p:cNvSpPr>
          <p:nvPr/>
        </p:nvSpPr>
        <p:spPr>
          <a:xfrm xmlns:a="http://schemas.openxmlformats.org/drawingml/2006/main">
            <a:off x="6172200" y="2352675"/>
            <a:ext cx="2114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0" i="0">
                <a:solidFill>
                  <a:srgbClr val="98A5AA"/>
                </a:solidFill>
                <a:latin typeface="Malgun Gothic"/>
                <a:ea typeface="Malgun Gothic"/>
                <a:cs typeface="Malgun Gothic"/>
              </a:defRPr>
            </a:pPr>
            <a:r>
              <a:t>심한 클래스 불균형 아님</a:t>
            </a:r>
          </a:p>
        </p:txBody>
      </p:sp>
      <p:sp>
        <p:nvSpPr>
          <p:cNvPr id="17" name="">
            <a:extLst xmlns:a="http://schemas.openxmlformats.org/drawingml/2006/main">
              <a:ext uri="{FF2B5EF4-FFF2-40B4-BE49-F238E27FC236}">
                <a16:creationId xmlns:a16="http://schemas.microsoft.com/office/drawing/2014/main" id="{AF7D53DA-D087-410A-8C92-77A124AB9518}"/>
              </a:ext>
            </a:extLst>
          </p:cNvPr>
          <p:cNvSpPr>
            <a:spLocks xmlns:a="http://schemas.openxmlformats.org/drawingml/2006/main" noGrp="1"/>
          </p:cNvSpPr>
          <p:nvPr/>
        </p:nvSpPr>
        <p:spPr>
          <a:xfrm xmlns:a="http://schemas.openxmlformats.org/drawingml/2006/main">
            <a:off x="8724900" y="1695450"/>
            <a:ext cx="38100" cy="838200"/>
          </a:xfrm>
          <a:prstGeom xmlns:a="http://schemas.openxmlformats.org/drawingml/2006/main" prst="rect">
            <a:avLst/>
          </a:prstGeom>
          <a:solidFill xmlns:a="http://schemas.openxmlformats.org/drawingml/2006/main">
            <a:srgbClr val="D79A36"/>
          </a:solidFill>
        </p:spPr>
      </p:sp>
      <p:sp>
        <p:nvSpPr>
          <p:cNvPr id="18" name="">
            <a:extLst xmlns:a="http://schemas.openxmlformats.org/drawingml/2006/main">
              <a:ext uri="{FF2B5EF4-FFF2-40B4-BE49-F238E27FC236}">
                <a16:creationId xmlns:a16="http://schemas.microsoft.com/office/drawing/2014/main" id="{ED2A66D1-A70A-4182-93C4-4C054224B0BD}"/>
              </a:ext>
            </a:extLst>
          </p:cNvPr>
          <p:cNvSpPr>
            <a:spLocks xmlns:a="http://schemas.openxmlformats.org/drawingml/2006/main" noGrp="1"/>
          </p:cNvSpPr>
          <p:nvPr/>
        </p:nvSpPr>
        <p:spPr>
          <a:xfrm xmlns:a="http://schemas.openxmlformats.org/drawingml/2006/main">
            <a:off x="8896350" y="1714500"/>
            <a:ext cx="2209800" cy="3714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i="0">
                <a:solidFill>
                  <a:srgbClr val="17262D"/>
                </a:solidFill>
                <a:latin typeface="Malgun Gothic"/>
                <a:ea typeface="Malgun Gothic"/>
                <a:cs typeface="Malgun Gothic"/>
              </a:defRPr>
            </a:pPr>
            <a:r>
              <a:t>0</a:t>
            </a:r>
          </a:p>
        </p:txBody>
      </p:sp>
      <p:sp>
        <p:nvSpPr>
          <p:cNvPr id="19" name="">
            <a:extLst xmlns:a="http://schemas.openxmlformats.org/drawingml/2006/main">
              <a:ext uri="{FF2B5EF4-FFF2-40B4-BE49-F238E27FC236}">
                <a16:creationId xmlns:a16="http://schemas.microsoft.com/office/drawing/2014/main" id="{E324C111-BADC-4495-896E-E38B22E1FF88}"/>
              </a:ext>
            </a:extLst>
          </p:cNvPr>
          <p:cNvSpPr>
            <a:spLocks xmlns:a="http://schemas.openxmlformats.org/drawingml/2006/main" noGrp="1"/>
          </p:cNvSpPr>
          <p:nvPr/>
        </p:nvSpPr>
        <p:spPr>
          <a:xfrm xmlns:a="http://schemas.openxmlformats.org/drawingml/2006/main">
            <a:off x="8896350" y="2124075"/>
            <a:ext cx="22098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607078"/>
                </a:solidFill>
                <a:latin typeface="Malgun Gothic"/>
                <a:ea typeface="Malgun Gothic"/>
                <a:cs typeface="Malgun Gothic"/>
              </a:defRPr>
            </a:pPr>
            <a:r>
              <a:t>결측·중복·ID 겹침</a:t>
            </a:r>
          </a:p>
        </p:txBody>
      </p:sp>
      <p:sp>
        <p:nvSpPr>
          <p:cNvPr id="20" name="">
            <a:extLst xmlns:a="http://schemas.openxmlformats.org/drawingml/2006/main">
              <a:ext uri="{FF2B5EF4-FFF2-40B4-BE49-F238E27FC236}">
                <a16:creationId xmlns:a16="http://schemas.microsoft.com/office/drawing/2014/main" id="{A45121DF-94D2-4660-9786-748969010495}"/>
              </a:ext>
            </a:extLst>
          </p:cNvPr>
          <p:cNvSpPr>
            <a:spLocks xmlns:a="http://schemas.openxmlformats.org/drawingml/2006/main" noGrp="1"/>
          </p:cNvSpPr>
          <p:nvPr/>
        </p:nvSpPr>
        <p:spPr>
          <a:xfrm xmlns:a="http://schemas.openxmlformats.org/drawingml/2006/main">
            <a:off x="8896350" y="2352675"/>
            <a:ext cx="22098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0" i="0">
                <a:solidFill>
                  <a:srgbClr val="98A5AA"/>
                </a:solidFill>
                <a:latin typeface="Malgun Gothic"/>
                <a:ea typeface="Malgun Gothic"/>
                <a:cs typeface="Malgun Gothic"/>
              </a:defRPr>
            </a:pPr>
            <a:r>
              <a:t>schema 검증 완료</a:t>
            </a:r>
          </a:p>
        </p:txBody>
      </p:sp>
      <p:sp>
        <p:nvSpPr>
          <p:cNvPr id="21" name="">
            <a:extLst xmlns:a="http://schemas.openxmlformats.org/drawingml/2006/main">
              <a:ext uri="{FF2B5EF4-FFF2-40B4-BE49-F238E27FC236}">
                <a16:creationId xmlns:a16="http://schemas.microsoft.com/office/drawing/2014/main" id="{95E716AA-27A4-4DF7-8758-A05F96448574}"/>
              </a:ext>
            </a:extLst>
          </p:cNvPr>
          <p:cNvSpPr>
            <a:spLocks xmlns:a="http://schemas.openxmlformats.org/drawingml/2006/main" noGrp="1"/>
          </p:cNvSpPr>
          <p:nvPr/>
        </p:nvSpPr>
        <p:spPr>
          <a:xfrm xmlns:a="http://schemas.openxmlformats.org/drawingml/2006/main">
            <a:off x="476250" y="3000375"/>
            <a:ext cx="5191125" cy="2781300"/>
          </a:xfrm>
          <a:prstGeom xmlns:a="http://schemas.openxmlformats.org/drawingml/2006/main" prst="roundRect">
            <a:avLst>
              <a:gd name="adj" fmla="val 2740"/>
            </a:avLst>
          </a:prstGeom>
          <a:solidFill xmlns:a="http://schemas.openxmlformats.org/drawingml/2006/main">
            <a:srgbClr val="FFFDFC"/>
          </a:solidFill>
          <a:ln xmlns:a="http://schemas.openxmlformats.org/drawingml/2006/main" w="9525">
            <a:solidFill>
              <a:srgbClr val="D8D8D2"/>
            </a:solidFill>
            <a:prstDash val="solid"/>
          </a:ln>
        </p:spPr>
      </p:sp>
      <p:sp>
        <p:nvSpPr>
          <p:cNvPr id="22" name="">
            <a:extLst xmlns:a="http://schemas.openxmlformats.org/drawingml/2006/main">
              <a:ext uri="{FF2B5EF4-FFF2-40B4-BE49-F238E27FC236}">
                <a16:creationId xmlns:a16="http://schemas.microsoft.com/office/drawing/2014/main" id="{2FB4ADC8-1788-485F-8D21-7A01F7E74D85}"/>
              </a:ext>
            </a:extLst>
          </p:cNvPr>
          <p:cNvSpPr>
            <a:spLocks xmlns:a="http://schemas.openxmlformats.org/drawingml/2006/main" noGrp="1"/>
          </p:cNvSpPr>
          <p:nvPr/>
        </p:nvSpPr>
        <p:spPr>
          <a:xfrm xmlns:a="http://schemas.openxmlformats.org/drawingml/2006/main">
            <a:off x="742950" y="3248025"/>
            <a:ext cx="447675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i="0">
                <a:solidFill>
                  <a:srgbClr val="17262D"/>
                </a:solidFill>
                <a:latin typeface="Malgun Gothic"/>
                <a:ea typeface="Malgun Gothic"/>
                <a:cs typeface="Malgun Gothic"/>
              </a:defRPr>
            </a:pPr>
            <a:r>
              <a:t>데이터가 말해주는 범위</a:t>
            </a:r>
          </a:p>
        </p:txBody>
      </p:sp>
      <p:sp>
        <p:nvSpPr>
          <p:cNvPr id="23" name="">
            <a:extLst xmlns:a="http://schemas.openxmlformats.org/drawingml/2006/main">
              <a:ext uri="{FF2B5EF4-FFF2-40B4-BE49-F238E27FC236}">
                <a16:creationId xmlns:a16="http://schemas.microsoft.com/office/drawing/2014/main" id="{24FF598B-DF4D-4A01-8E79-141F9E4E643A}"/>
              </a:ext>
            </a:extLst>
          </p:cNvPr>
          <p:cNvSpPr>
            <a:spLocks xmlns:a="http://schemas.openxmlformats.org/drawingml/2006/main" noGrp="1"/>
          </p:cNvSpPr>
          <p:nvPr/>
        </p:nvSpPr>
        <p:spPr>
          <a:xfrm xmlns:a="http://schemas.openxmlformats.org/drawingml/2006/main">
            <a:off x="742950" y="3800475"/>
            <a:ext cx="43815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607078"/>
                </a:solidFill>
                <a:latin typeface="Malgun Gothic"/>
                <a:ea typeface="Malgun Gothic"/>
                <a:cs typeface="Malgun Gothic"/>
              </a:defRPr>
            </a:pPr>
            <a:r>
              <a:t>• 고객별 구독 유형과 결제 방식
• 청취 시간·세션·곡 소비 행동
• 문의·일시정지·친구·플레이리스트 활동
• 제공된 churned 라벨과의 연관성</a:t>
            </a:r>
          </a:p>
        </p:txBody>
      </p:sp>
      <p:sp>
        <p:nvSpPr>
          <p:cNvPr id="24" name="">
            <a:extLst xmlns:a="http://schemas.openxmlformats.org/drawingml/2006/main">
              <a:ext uri="{FF2B5EF4-FFF2-40B4-BE49-F238E27FC236}">
                <a16:creationId xmlns:a16="http://schemas.microsoft.com/office/drawing/2014/main" id="{64DA1638-F75F-4691-AC65-439189EAE142}"/>
              </a:ext>
            </a:extLst>
          </p:cNvPr>
          <p:cNvSpPr>
            <a:spLocks xmlns:a="http://schemas.openxmlformats.org/drawingml/2006/main" noGrp="1"/>
          </p:cNvSpPr>
          <p:nvPr/>
        </p:nvSpPr>
        <p:spPr>
          <a:xfrm xmlns:a="http://schemas.openxmlformats.org/drawingml/2006/main">
            <a:off x="742950" y="5295900"/>
            <a:ext cx="2095500" cy="266700"/>
          </a:xfrm>
          <a:prstGeom xmlns:a="http://schemas.openxmlformats.org/drawingml/2006/main" prst="roundRect">
            <a:avLst>
              <a:gd name="adj" fmla="val 28571"/>
            </a:avLst>
          </a:prstGeom>
          <a:solidFill xmlns:a="http://schemas.openxmlformats.org/drawingml/2006/main">
            <a:srgbClr val="E3F3EF"/>
          </a:solidFill>
          <a:ln xmlns:a="http://schemas.openxmlformats.org/drawingml/2006/main" w="9525">
            <a:solidFill>
              <a:srgbClr val="E3F3EF"/>
            </a:solidFill>
            <a:prstDash val="solid"/>
          </a:ln>
        </p:spPr>
      </p:sp>
      <p:sp>
        <p:nvSpPr>
          <p:cNvPr id="25" name="">
            <a:extLst xmlns:a="http://schemas.openxmlformats.org/drawingml/2006/main">
              <a:ext uri="{FF2B5EF4-FFF2-40B4-BE49-F238E27FC236}">
                <a16:creationId xmlns:a16="http://schemas.microsoft.com/office/drawing/2014/main" id="{CC6083AA-6B09-4FE7-94E6-BE367DD31DD7}"/>
              </a:ext>
            </a:extLst>
          </p:cNvPr>
          <p:cNvSpPr>
            <a:spLocks xmlns:a="http://schemas.openxmlformats.org/drawingml/2006/main" noGrp="1"/>
          </p:cNvSpPr>
          <p:nvPr/>
        </p:nvSpPr>
        <p:spPr>
          <a:xfrm xmlns:a="http://schemas.openxmlformats.org/drawingml/2006/main">
            <a:off x="838200" y="5334000"/>
            <a:ext cx="190500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975" b="1" i="0">
                <a:solidFill>
                  <a:srgbClr val="118C83"/>
                </a:solidFill>
                <a:latin typeface="Malgun Gothic"/>
                <a:ea typeface="Malgun Gothic"/>
                <a:cs typeface="Malgun Gothic"/>
              </a:defRPr>
            </a:pPr>
            <a:r>
              <a:t>정형 데이터 · 고객 단위</a:t>
            </a:r>
          </a:p>
        </p:txBody>
      </p:sp>
      <p:sp>
        <p:nvSpPr>
          <p:cNvPr id="26" name="">
            <a:extLst xmlns:a="http://schemas.openxmlformats.org/drawingml/2006/main">
              <a:ext uri="{FF2B5EF4-FFF2-40B4-BE49-F238E27FC236}">
                <a16:creationId xmlns:a16="http://schemas.microsoft.com/office/drawing/2014/main" id="{9B6C955F-A58D-4432-83AD-237B8DE59A99}"/>
              </a:ext>
            </a:extLst>
          </p:cNvPr>
          <p:cNvSpPr>
            <a:spLocks xmlns:a="http://schemas.openxmlformats.org/drawingml/2006/main" noGrp="1"/>
          </p:cNvSpPr>
          <p:nvPr/>
        </p:nvSpPr>
        <p:spPr>
          <a:xfrm xmlns:a="http://schemas.openxmlformats.org/drawingml/2006/main">
            <a:off x="5953125" y="3000375"/>
            <a:ext cx="5762625" cy="2781300"/>
          </a:xfrm>
          <a:prstGeom xmlns:a="http://schemas.openxmlformats.org/drawingml/2006/main" prst="roundRect">
            <a:avLst>
              <a:gd name="adj" fmla="val 2740"/>
            </a:avLst>
          </a:prstGeom>
          <a:solidFill xmlns:a="http://schemas.openxmlformats.org/drawingml/2006/main">
            <a:srgbClr val="12313F"/>
          </a:solidFill>
          <a:ln xmlns:a="http://schemas.openxmlformats.org/drawingml/2006/main" w="9525">
            <a:solidFill>
              <a:srgbClr val="12313F"/>
            </a:solidFill>
            <a:prstDash val="solid"/>
          </a:ln>
        </p:spPr>
      </p:sp>
      <p:sp>
        <p:nvSpPr>
          <p:cNvPr id="27" name="">
            <a:extLst xmlns:a="http://schemas.openxmlformats.org/drawingml/2006/main">
              <a:ext uri="{FF2B5EF4-FFF2-40B4-BE49-F238E27FC236}">
                <a16:creationId xmlns:a16="http://schemas.microsoft.com/office/drawing/2014/main" id="{7860ABED-26A6-4937-A314-7DF5069CAD17}"/>
              </a:ext>
            </a:extLst>
          </p:cNvPr>
          <p:cNvSpPr>
            <a:spLocks xmlns:a="http://schemas.openxmlformats.org/drawingml/2006/main" noGrp="1"/>
          </p:cNvSpPr>
          <p:nvPr/>
        </p:nvSpPr>
        <p:spPr>
          <a:xfrm xmlns:a="http://schemas.openxmlformats.org/drawingml/2006/main">
            <a:off x="6238875" y="3248025"/>
            <a:ext cx="495300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i="0">
                <a:solidFill>
                  <a:srgbClr val="FFFFFF"/>
                </a:solidFill>
                <a:latin typeface="Malgun Gothic"/>
                <a:ea typeface="Malgun Gothic"/>
                <a:cs typeface="Malgun Gothic"/>
              </a:defRPr>
            </a:pPr>
            <a:r>
              <a:t>발표에서 숨기지 않는 한계</a:t>
            </a:r>
          </a:p>
        </p:txBody>
      </p:sp>
      <p:sp>
        <p:nvSpPr>
          <p:cNvPr id="28" name="">
            <a:extLst xmlns:a="http://schemas.openxmlformats.org/drawingml/2006/main">
              <a:ext uri="{FF2B5EF4-FFF2-40B4-BE49-F238E27FC236}">
                <a16:creationId xmlns:a16="http://schemas.microsoft.com/office/drawing/2014/main" id="{A7129DFE-5A82-40E5-AF6E-5DF6D5B23975}"/>
              </a:ext>
            </a:extLst>
          </p:cNvPr>
          <p:cNvSpPr>
            <a:spLocks xmlns:a="http://schemas.openxmlformats.org/drawingml/2006/main" noGrp="1"/>
          </p:cNvSpPr>
          <p:nvPr/>
        </p:nvSpPr>
        <p:spPr>
          <a:xfrm xmlns:a="http://schemas.openxmlformats.org/drawingml/2006/main">
            <a:off x="6238875" y="3781425"/>
            <a:ext cx="4953000" cy="1390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D3E0E4"/>
                </a:solidFill>
                <a:latin typeface="Malgun Gothic"/>
                <a:ea typeface="Malgun Gothic"/>
                <a:cs typeface="Malgun Gothic"/>
              </a:defRPr>
            </a:pPr>
            <a:r>
              <a:t>01  규칙 기반 합성 데이터 평가
02  예측 시점·이탈 horizon 미정의
03  외부 라벨 Holdout 없음
04  원인·캠페인 효과를 직접 증명하지 못함</a:t>
            </a:r>
          </a:p>
        </p:txBody>
      </p:sp>
      <p:sp>
        <p:nvSpPr>
          <p:cNvPr id="29" name="">
            <a:extLst xmlns:a="http://schemas.openxmlformats.org/drawingml/2006/main">
              <a:ext uri="{FF2B5EF4-FFF2-40B4-BE49-F238E27FC236}">
                <a16:creationId xmlns:a16="http://schemas.microsoft.com/office/drawing/2014/main" id="{BCAF8271-D1E0-44C3-8EEB-34333D4837F2}"/>
              </a:ext>
            </a:extLst>
          </p:cNvPr>
          <p:cNvSpPr>
            <a:spLocks xmlns:a="http://schemas.openxmlformats.org/drawingml/2006/main" noGrp="1"/>
          </p:cNvSpPr>
          <p:nvPr/>
        </p:nvSpPr>
        <p:spPr>
          <a:xfrm xmlns:a="http://schemas.openxmlformats.org/drawingml/2006/main">
            <a:off x="6238875" y="5334000"/>
            <a:ext cx="4953000" cy="2571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i="0">
                <a:solidFill>
                  <a:srgbClr val="F4A18D"/>
                </a:solidFill>
                <a:latin typeface="Malgun Gothic"/>
                <a:ea typeface="Malgun Gothic"/>
                <a:cs typeface="Malgun Gothic"/>
              </a:defRPr>
            </a:pPr>
            <a:r>
              <a:t>따라서 모든 운영 수치는 5-Fold OOF 내부 근거입니다.</a:t>
            </a:r>
          </a:p>
        </p:txBody>
      </p:sp>
      <p:sp>
        <p:nvSpPr>
          <p:cNvPr id="30" name="">
            <a:extLst xmlns:a="http://schemas.openxmlformats.org/drawingml/2006/main">
              <a:ext uri="{FF2B5EF4-FFF2-40B4-BE49-F238E27FC236}">
                <a16:creationId xmlns:a16="http://schemas.microsoft.com/office/drawing/2014/main" id="{425B1D99-0BD3-4E24-8040-B6128D2B1970}"/>
              </a:ext>
            </a:extLst>
          </p:cNvPr>
          <p:cNvSpPr>
            <a:spLocks xmlns:a="http://schemas.openxmlformats.org/drawingml/2006/main" noGrp="1"/>
          </p:cNvSpPr>
          <p:nvPr/>
        </p:nvSpPr>
        <p:spPr>
          <a:xfrm xmlns:a="http://schemas.openxmlformats.org/drawingml/2006/main">
            <a:off x="476250" y="6486525"/>
            <a:ext cx="11239500" cy="9525"/>
          </a:xfrm>
          <a:prstGeom xmlns:a="http://schemas.openxmlformats.org/drawingml/2006/main" prst="rect">
            <a:avLst/>
          </a:prstGeom>
          <a:solidFill xmlns:a="http://schemas.openxmlformats.org/drawingml/2006/main">
            <a:srgbClr val="D8D8D2"/>
          </a:solidFill>
        </p:spPr>
      </p:sp>
      <p:sp>
        <p:nvSpPr>
          <p:cNvPr id="31" name="">
            <a:extLst xmlns:a="http://schemas.openxmlformats.org/drawingml/2006/main">
              <a:ext uri="{FF2B5EF4-FFF2-40B4-BE49-F238E27FC236}">
                <a16:creationId xmlns:a16="http://schemas.microsoft.com/office/drawing/2014/main" id="{1A74DB5D-494F-4697-B017-82D472792BE5}"/>
              </a:ext>
            </a:extLst>
          </p:cNvPr>
          <p:cNvSpPr>
            <a:spLocks xmlns:a="http://schemas.openxmlformats.org/drawingml/2006/main" noGrp="1"/>
          </p:cNvSpPr>
          <p:nvPr/>
        </p:nvSpPr>
        <p:spPr>
          <a:xfrm xmlns:a="http://schemas.openxmlformats.org/drawingml/2006/main">
            <a:off x="666750" y="6534150"/>
            <a:ext cx="9620250" cy="209550"/>
          </a:xfrm>
          <a:prstGeom xmlns:a="http://schemas.openxmlformats.org/drawingml/2006/main" prst="rect">
            <a:avLst/>
          </a:prstGeom>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825" b="0" i="0">
                <a:solidFill>
                  <a:srgbClr val="98A5AA"/>
                </a:solidFill>
                <a:latin typeface="Malgun Gothic"/>
                <a:ea typeface="Malgun Gothic"/>
                <a:cs typeface="Malgun Gothic"/>
              </a:defRPr>
            </a:pPr>
            <a:r>
              <a:t>근거 · DATA_SOURCE.md · reports/source_repository_audit.md · data/train.csv · data/test.csv</a:t>
            </a:r>
          </a:p>
        </p:txBody>
      </p:sp>
      <p:sp>
        <p:nvSpPr>
          <p:cNvPr id="32" name="">
            <a:extLst xmlns:a="http://schemas.openxmlformats.org/drawingml/2006/main">
              <a:ext uri="{FF2B5EF4-FFF2-40B4-BE49-F238E27FC236}">
                <a16:creationId xmlns:a16="http://schemas.microsoft.com/office/drawing/2014/main" id="{BACB4C34-1541-41BF-A9F3-008F83B24CD3}"/>
              </a:ext>
            </a:extLst>
          </p:cNvPr>
          <p:cNvSpPr>
            <a:spLocks xmlns:a="http://schemas.openxmlformats.org/drawingml/2006/main" noGrp="1"/>
          </p:cNvSpPr>
          <p:nvPr/>
        </p:nvSpPr>
        <p:spPr>
          <a:xfrm xmlns:a="http://schemas.openxmlformats.org/drawingml/2006/main">
            <a:off x="11201400" y="6543675"/>
            <a:ext cx="5143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00" b="1" i="0">
                <a:solidFill>
                  <a:srgbClr val="607078"/>
                </a:solidFill>
                <a:latin typeface="Malgun Gothic"/>
                <a:ea typeface="Malgun Gothic"/>
                <a:cs typeface="Malgun Gothic"/>
              </a:defRPr>
            </a:pPr>
            <a:r>
              <a:t>03</a:t>
            </a:r>
          </a:p>
        </p:txBody>
      </p:sp>
    </p:spTree>
    <p:extLst>
      <p:ext uri="{BB962C8B-B14F-4D97-AF65-F5344CB8AC3E}">
        <p14:creationId xmlns:p14="http://schemas.microsoft.com/office/powerpoint/2010/main" val="53918897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BE6C36E-1065-4CAF-9B64-BB4D4C53FFD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6F3EE"/>
          </a:solidFill>
        </p:spPr>
      </p:sp>
      <p:sp>
        <p:nvSpPr>
          <p:cNvPr id="2" name="">
            <a:extLst xmlns:a="http://schemas.openxmlformats.org/drawingml/2006/main">
              <a:ext uri="{FF2B5EF4-FFF2-40B4-BE49-F238E27FC236}">
                <a16:creationId xmlns:a16="http://schemas.microsoft.com/office/drawing/2014/main" id="{2E4A1DD9-1D3F-4B96-83F3-6DF65B9C5B21}"/>
              </a:ext>
            </a:extLst>
          </p:cNvPr>
          <p:cNvSpPr>
            <a:spLocks xmlns:a="http://schemas.openxmlformats.org/drawingml/2006/main" noGrp="1"/>
          </p:cNvSpPr>
          <p:nvPr/>
        </p:nvSpPr>
        <p:spPr>
          <a:xfrm xmlns:a="http://schemas.openxmlformats.org/drawingml/2006/main">
            <a:off x="476250" y="257175"/>
            <a:ext cx="40005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118C83"/>
                </a:solidFill>
                <a:latin typeface="Malgun Gothic"/>
                <a:ea typeface="Malgun Gothic"/>
                <a:cs typeface="Malgun Gothic"/>
              </a:defRPr>
            </a:pPr>
            <a:r>
              <a:t>03 · CUSTOMER INSIGHT</a:t>
            </a:r>
          </a:p>
        </p:txBody>
      </p:sp>
      <p:sp>
        <p:nvSpPr>
          <p:cNvPr id="3" name="">
            <a:extLst xmlns:a="http://schemas.openxmlformats.org/drawingml/2006/main">
              <a:ext uri="{FF2B5EF4-FFF2-40B4-BE49-F238E27FC236}">
                <a16:creationId xmlns:a16="http://schemas.microsoft.com/office/drawing/2014/main" id="{5F0908DB-3B43-4C45-96DA-0333C652C30A}"/>
              </a:ext>
            </a:extLst>
          </p:cNvPr>
          <p:cNvSpPr>
            <a:spLocks xmlns:a="http://schemas.openxmlformats.org/drawingml/2006/main" noGrp="1"/>
          </p:cNvSpPr>
          <p:nvPr/>
        </p:nvSpPr>
        <p:spPr>
          <a:xfrm xmlns:a="http://schemas.openxmlformats.org/drawingml/2006/main">
            <a:off x="476250" y="561975"/>
            <a:ext cx="11049000" cy="5429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850" b="1" i="0">
                <a:solidFill>
                  <a:srgbClr val="17262D"/>
                </a:solidFill>
                <a:latin typeface="Malgun Gothic"/>
                <a:ea typeface="Malgun Gothic"/>
                <a:cs typeface="Malgun Gothic"/>
              </a:defRPr>
            </a:pPr>
            <a:r>
              <a:t>낮은 청취·Free·높은 문의는 서로 다른 이탈 위험 맥락을 보여줍니다</a:t>
            </a:r>
          </a:p>
        </p:txBody>
      </p:sp>
      <p:sp>
        <p:nvSpPr>
          <p:cNvPr id="4" name="">
            <a:extLst xmlns:a="http://schemas.openxmlformats.org/drawingml/2006/main">
              <a:ext uri="{FF2B5EF4-FFF2-40B4-BE49-F238E27FC236}">
                <a16:creationId xmlns:a16="http://schemas.microsoft.com/office/drawing/2014/main" id="{F9AFBB3D-FA76-4B4D-B14D-A197367E5712}"/>
              </a:ext>
            </a:extLst>
          </p:cNvPr>
          <p:cNvSpPr>
            <a:spLocks xmlns:a="http://schemas.openxmlformats.org/drawingml/2006/main" noGrp="1"/>
          </p:cNvSpPr>
          <p:nvPr/>
        </p:nvSpPr>
        <p:spPr>
          <a:xfrm xmlns:a="http://schemas.openxmlformats.org/drawingml/2006/main">
            <a:off x="476250" y="1200150"/>
            <a:ext cx="723900" cy="47625"/>
          </a:xfrm>
          <a:prstGeom xmlns:a="http://schemas.openxmlformats.org/drawingml/2006/main" prst="rect">
            <a:avLst/>
          </a:prstGeom>
          <a:solidFill xmlns:a="http://schemas.openxmlformats.org/drawingml/2006/main">
            <a:srgbClr val="F2674A"/>
          </a:solidFill>
        </p:spPr>
      </p:sp>
      <p:sp>
        <p:nvSpPr>
          <p:cNvPr id="5" name="">
            <a:extLst xmlns:a="http://schemas.openxmlformats.org/drawingml/2006/main">
              <a:ext uri="{FF2B5EF4-FFF2-40B4-BE49-F238E27FC236}">
                <a16:creationId xmlns:a16="http://schemas.microsoft.com/office/drawing/2014/main" id="{1A49F121-4EB0-46C9-81AD-739E3110479A}"/>
              </a:ext>
            </a:extLst>
          </p:cNvPr>
          <p:cNvSpPr>
            <a:spLocks xmlns:a="http://schemas.openxmlformats.org/drawingml/2006/main" noGrp="1"/>
          </p:cNvSpPr>
          <p:nvPr/>
        </p:nvSpPr>
        <p:spPr>
          <a:xfrm xmlns:a="http://schemas.openxmlformats.org/drawingml/2006/main">
            <a:off x="476250" y="1562100"/>
            <a:ext cx="5219700" cy="3390900"/>
          </a:xfrm>
          <a:prstGeom xmlns:a="http://schemas.openxmlformats.org/drawingml/2006/main" prst="roundRect">
            <a:avLst>
              <a:gd name="adj" fmla="val 2247"/>
            </a:avLst>
          </a:prstGeom>
          <a:solidFill xmlns:a="http://schemas.openxmlformats.org/drawingml/2006/main">
            <a:srgbClr val="FFFDFC"/>
          </a:solidFill>
          <a:ln xmlns:a="http://schemas.openxmlformats.org/drawingml/2006/main" w="9525">
            <a:solidFill>
              <a:srgbClr val="D8D8D2"/>
            </a:solidFill>
            <a:prstDash val="solid"/>
          </a:ln>
        </p:spPr>
      </p:sp>
      <p:sp>
        <p:nvSpPr>
          <p:cNvPr id="6" name="">
            <a:extLst xmlns:a="http://schemas.openxmlformats.org/drawingml/2006/main">
              <a:ext uri="{FF2B5EF4-FFF2-40B4-BE49-F238E27FC236}">
                <a16:creationId xmlns:a16="http://schemas.microsoft.com/office/drawing/2014/main" id="{FD2AD609-BA59-4C15-8C7E-FB9EB8449787}"/>
              </a:ext>
            </a:extLst>
          </p:cNvPr>
          <p:cNvSpPr>
            <a:spLocks xmlns:a="http://schemas.openxmlformats.org/drawingml/2006/main" noGrp="1"/>
          </p:cNvSpPr>
          <p:nvPr/>
        </p:nvSpPr>
        <p:spPr>
          <a:xfrm xmlns:a="http://schemas.openxmlformats.org/drawingml/2006/main">
            <a:off x="5924550" y="1562100"/>
            <a:ext cx="5791200" cy="3390900"/>
          </a:xfrm>
          <a:prstGeom xmlns:a="http://schemas.openxmlformats.org/drawingml/2006/main" prst="roundRect">
            <a:avLst>
              <a:gd name="adj" fmla="val 2247"/>
            </a:avLst>
          </a:prstGeom>
          <a:solidFill xmlns:a="http://schemas.openxmlformats.org/drawingml/2006/main">
            <a:srgbClr val="FFFDFC"/>
          </a:solidFill>
          <a:ln xmlns:a="http://schemas.openxmlformats.org/drawingml/2006/main" w="9525">
            <a:solidFill>
              <a:srgbClr val="D8D8D2"/>
            </a:solidFill>
            <a:prstDash val="solid"/>
          </a:ln>
        </p:spPr>
      </p:sp>
      <p:sp>
        <p:nvSpPr>
          <p:cNvPr id="7" name="">
            <a:extLst xmlns:a="http://schemas.openxmlformats.org/drawingml/2006/main">
              <a:ext uri="{FF2B5EF4-FFF2-40B4-BE49-F238E27FC236}">
                <a16:creationId xmlns:a16="http://schemas.microsoft.com/office/drawing/2014/main" id="{8B013B1F-64CB-4294-B2C6-465BFF414100}"/>
              </a:ext>
            </a:extLst>
          </p:cNvPr>
          <p:cNvSpPr>
            <a:spLocks xmlns:a="http://schemas.openxmlformats.org/drawingml/2006/main" noGrp="1"/>
          </p:cNvSpPr>
          <p:nvPr/>
        </p:nvSpPr>
        <p:spPr>
          <a:xfrm xmlns:a="http://schemas.openxmlformats.org/drawingml/2006/main">
            <a:off x="666750" y="1695450"/>
            <a:ext cx="47625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1" i="0">
                <a:solidFill>
                  <a:srgbClr val="17262D"/>
                </a:solidFill>
                <a:latin typeface="Malgun Gothic"/>
                <a:ea typeface="Malgun Gothic"/>
                <a:cs typeface="Malgun Gothic"/>
              </a:defRPr>
            </a:pPr>
            <a:r>
              <a:t>행동량이 줄수록 위험이 높아지는가?</a:t>
            </a:r>
          </a:p>
        </p:txBody>
      </p:sp>
      <p:sp>
        <p:nvSpPr>
          <p:cNvPr id="8" name="">
            <a:extLst xmlns:a="http://schemas.openxmlformats.org/drawingml/2006/main">
              <a:ext uri="{FF2B5EF4-FFF2-40B4-BE49-F238E27FC236}">
                <a16:creationId xmlns:a16="http://schemas.microsoft.com/office/drawing/2014/main" id="{EAB053A1-A896-4381-BCEF-94CC4BDB6DD4}"/>
              </a:ext>
            </a:extLst>
          </p:cNvPr>
          <p:cNvSpPr>
            <a:spLocks xmlns:a="http://schemas.openxmlformats.org/drawingml/2006/main" noGrp="1"/>
          </p:cNvSpPr>
          <p:nvPr/>
        </p:nvSpPr>
        <p:spPr>
          <a:xfrm xmlns:a="http://schemas.openxmlformats.org/drawingml/2006/main">
            <a:off x="6115050" y="1695450"/>
            <a:ext cx="53149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1" i="0">
                <a:solidFill>
                  <a:srgbClr val="17262D"/>
                </a:solidFill>
                <a:latin typeface="Malgun Gothic"/>
                <a:ea typeface="Malgun Gothic"/>
                <a:cs typeface="Malgun Gothic"/>
              </a:defRPr>
            </a:pPr>
            <a:r>
              <a:t>구독 유형과 문의 수준은 어떤 맥락을 만드는가?</a:t>
            </a:r>
          </a:p>
        </p:txBody>
      </p:sp>
      <p:sp>
        <p:nvSpPr>
          <p:cNvPr id="9" name="">
            <a:extLst xmlns:a="http://schemas.openxmlformats.org/drawingml/2006/main">
              <a:ext uri="{FF2B5EF4-FFF2-40B4-BE49-F238E27FC236}">
                <a16:creationId xmlns:a16="http://schemas.microsoft.com/office/drawing/2014/main" id="{5D53F2A8-9E07-4BB6-A683-3430040EC72A}"/>
              </a:ext>
            </a:extLst>
          </p:cNvPr>
          <p:cNvSpPr>
            <a:spLocks xmlns:a="http://schemas.openxmlformats.org/drawingml/2006/main" noGrp="1"/>
          </p:cNvSpPr>
          <p:nvPr/>
        </p:nvSpPr>
        <p:spPr>
          <a:xfrm xmlns:a="http://schemas.openxmlformats.org/drawingml/2006/main">
            <a:off x="476250" y="5181600"/>
            <a:ext cx="11239500" cy="838200"/>
          </a:xfrm>
          <a:prstGeom xmlns:a="http://schemas.openxmlformats.org/drawingml/2006/main" prst="roundRect">
            <a:avLst>
              <a:gd name="adj" fmla="val 9091"/>
            </a:avLst>
          </a:prstGeom>
          <a:solidFill xmlns:a="http://schemas.openxmlformats.org/drawingml/2006/main">
            <a:srgbClr val="ECEAE5"/>
          </a:solidFill>
          <a:ln xmlns:a="http://schemas.openxmlformats.org/drawingml/2006/main" w="9525">
            <a:solidFill>
              <a:srgbClr val="ECEAE5"/>
            </a:solidFill>
            <a:prstDash val="solid"/>
          </a:ln>
        </p:spPr>
      </p:sp>
      <p:sp>
        <p:nvSpPr>
          <p:cNvPr id="10" name="">
            <a:extLst xmlns:a="http://schemas.openxmlformats.org/drawingml/2006/main">
              <a:ext uri="{FF2B5EF4-FFF2-40B4-BE49-F238E27FC236}">
                <a16:creationId xmlns:a16="http://schemas.microsoft.com/office/drawing/2014/main" id="{9BD633AA-E193-451C-B252-1E4A24617BA3}"/>
              </a:ext>
            </a:extLst>
          </p:cNvPr>
          <p:cNvSpPr>
            <a:spLocks xmlns:a="http://schemas.openxmlformats.org/drawingml/2006/main" noGrp="1"/>
          </p:cNvSpPr>
          <p:nvPr/>
        </p:nvSpPr>
        <p:spPr>
          <a:xfrm xmlns:a="http://schemas.openxmlformats.org/drawingml/2006/main">
            <a:off x="685800" y="5410200"/>
            <a:ext cx="647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118C83"/>
                </a:solidFill>
                <a:latin typeface="Malgun Gothic"/>
                <a:ea typeface="Malgun Gothic"/>
                <a:cs typeface="Malgun Gothic"/>
              </a:defRPr>
            </a:pPr>
            <a:r>
              <a:t>해석</a:t>
            </a:r>
          </a:p>
        </p:txBody>
      </p:sp>
      <p:sp>
        <p:nvSpPr>
          <p:cNvPr id="11" name="">
            <a:extLst xmlns:a="http://schemas.openxmlformats.org/drawingml/2006/main">
              <a:ext uri="{FF2B5EF4-FFF2-40B4-BE49-F238E27FC236}">
                <a16:creationId xmlns:a16="http://schemas.microsoft.com/office/drawing/2014/main" id="{ECC2C58F-67AB-4B21-95DD-2310BFEA0CCB}"/>
              </a:ext>
            </a:extLst>
          </p:cNvPr>
          <p:cNvSpPr>
            <a:spLocks xmlns:a="http://schemas.openxmlformats.org/drawingml/2006/main" noGrp="1"/>
          </p:cNvSpPr>
          <p:nvPr/>
        </p:nvSpPr>
        <p:spPr>
          <a:xfrm xmlns:a="http://schemas.openxmlformats.org/drawingml/2006/main">
            <a:off x="1352550" y="5381625"/>
            <a:ext cx="9953625" cy="2571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i="0">
                <a:solidFill>
                  <a:srgbClr val="17262D"/>
                </a:solidFill>
                <a:latin typeface="Malgun Gothic"/>
                <a:ea typeface="Malgun Gothic"/>
                <a:cs typeface="Malgun Gothic"/>
              </a:defRPr>
            </a:pPr>
            <a:r>
              <a:t>weekly_hours 상관 -0.302 · Free 이탈률 79.41% · Premium 33.91% · 문의 High 74.33% · Low 28.92%</a:t>
            </a:r>
          </a:p>
        </p:txBody>
      </p:sp>
      <p:sp>
        <p:nvSpPr>
          <p:cNvPr id="12" name="">
            <a:extLst xmlns:a="http://schemas.openxmlformats.org/drawingml/2006/main">
              <a:ext uri="{FF2B5EF4-FFF2-40B4-BE49-F238E27FC236}">
                <a16:creationId xmlns:a16="http://schemas.microsoft.com/office/drawing/2014/main" id="{C251EC1D-B07F-41BD-AB27-F019FC47EC54}"/>
              </a:ext>
            </a:extLst>
          </p:cNvPr>
          <p:cNvSpPr>
            <a:spLocks xmlns:a="http://schemas.openxmlformats.org/drawingml/2006/main" noGrp="1"/>
          </p:cNvSpPr>
          <p:nvPr/>
        </p:nvSpPr>
        <p:spPr>
          <a:xfrm xmlns:a="http://schemas.openxmlformats.org/drawingml/2006/main">
            <a:off x="1352550" y="5695950"/>
            <a:ext cx="9953625" cy="2190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607078"/>
                </a:solidFill>
                <a:latin typeface="Malgun Gothic"/>
                <a:ea typeface="Malgun Gothic"/>
                <a:cs typeface="Malgun Gothic"/>
              </a:defRPr>
            </a:pPr>
            <a:r>
              <a:t>상관은 인과가 아닙니다. 서비스 회복·재활성화·혜택 인지 가설로 연결해 별도 실험해야 합니다.</a:t>
            </a:r>
          </a:p>
        </p:txBody>
      </p:sp>
      <p:sp>
        <p:nvSpPr>
          <p:cNvPr id="13" name="">
            <a:extLst xmlns:a="http://schemas.openxmlformats.org/drawingml/2006/main">
              <a:ext uri="{FF2B5EF4-FFF2-40B4-BE49-F238E27FC236}">
                <a16:creationId xmlns:a16="http://schemas.microsoft.com/office/drawing/2014/main" id="{D5F8616D-2467-4166-8591-5D9753DC1E84}"/>
              </a:ext>
            </a:extLst>
          </p:cNvPr>
          <p:cNvSpPr>
            <a:spLocks xmlns:a="http://schemas.openxmlformats.org/drawingml/2006/main" noGrp="1"/>
          </p:cNvSpPr>
          <p:nvPr/>
        </p:nvSpPr>
        <p:spPr>
          <a:xfrm xmlns:a="http://schemas.openxmlformats.org/drawingml/2006/main">
            <a:off x="476250" y="6486525"/>
            <a:ext cx="11239500" cy="9525"/>
          </a:xfrm>
          <a:prstGeom xmlns:a="http://schemas.openxmlformats.org/drawingml/2006/main" prst="rect">
            <a:avLst/>
          </a:prstGeom>
          <a:solidFill xmlns:a="http://schemas.openxmlformats.org/drawingml/2006/main">
            <a:srgbClr val="D8D8D2"/>
          </a:solidFill>
        </p:spPr>
      </p:sp>
      <p:sp>
        <p:nvSpPr>
          <p:cNvPr id="14" name="">
            <a:extLst xmlns:a="http://schemas.openxmlformats.org/drawingml/2006/main">
              <a:ext uri="{FF2B5EF4-FFF2-40B4-BE49-F238E27FC236}">
                <a16:creationId xmlns:a16="http://schemas.microsoft.com/office/drawing/2014/main" id="{94911094-441A-4CEC-A3B0-BD9135FA7CF6}"/>
              </a:ext>
            </a:extLst>
          </p:cNvPr>
          <p:cNvSpPr>
            <a:spLocks xmlns:a="http://schemas.openxmlformats.org/drawingml/2006/main" noGrp="1"/>
          </p:cNvSpPr>
          <p:nvPr/>
        </p:nvSpPr>
        <p:spPr>
          <a:xfrm xmlns:a="http://schemas.openxmlformats.org/drawingml/2006/main">
            <a:off x="666750" y="6534150"/>
            <a:ext cx="9620250" cy="209550"/>
          </a:xfrm>
          <a:prstGeom xmlns:a="http://schemas.openxmlformats.org/drawingml/2006/main" prst="rect">
            <a:avLst/>
          </a:prstGeom>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825" b="0" i="0">
                <a:solidFill>
                  <a:srgbClr val="98A5AA"/>
                </a:solidFill>
                <a:latin typeface="Malgun Gothic"/>
                <a:ea typeface="Malgun Gothic"/>
                <a:cs typeface="Malgun Gothic"/>
              </a:defRPr>
            </a:pPr>
            <a:r>
              <a:t>근거 · eda_insight/02_weekly_hours_steps.png · presentation_v3/20_categorical_churn_associations.csv</a:t>
            </a:r>
          </a:p>
        </p:txBody>
      </p:sp>
      <p:sp>
        <p:nvSpPr>
          <p:cNvPr id="15" name="">
            <a:extLst xmlns:a="http://schemas.openxmlformats.org/drawingml/2006/main">
              <a:ext uri="{FF2B5EF4-FFF2-40B4-BE49-F238E27FC236}">
                <a16:creationId xmlns:a16="http://schemas.microsoft.com/office/drawing/2014/main" id="{1C670E58-CDE4-47E7-BE87-A5CF7AF09B8D}"/>
              </a:ext>
            </a:extLst>
          </p:cNvPr>
          <p:cNvSpPr>
            <a:spLocks xmlns:a="http://schemas.openxmlformats.org/drawingml/2006/main" noGrp="1"/>
          </p:cNvSpPr>
          <p:nvPr/>
        </p:nvSpPr>
        <p:spPr>
          <a:xfrm xmlns:a="http://schemas.openxmlformats.org/drawingml/2006/main">
            <a:off x="11201400" y="6543675"/>
            <a:ext cx="5143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00" b="1" i="0">
                <a:solidFill>
                  <a:srgbClr val="607078"/>
                </a:solidFill>
                <a:latin typeface="Malgun Gothic"/>
                <a:ea typeface="Malgun Gothic"/>
                <a:cs typeface="Malgun Gothic"/>
              </a:defRPr>
            </a:pPr>
            <a:r>
              <a:t>04</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e7b200ecdd654b21"/>
          <a:stretch xmlns:a="http://schemas.openxmlformats.org/drawingml/2006/main"/>
        </p:blipFill>
        <p:spPr>
          <a:xfrm xmlns:a="http://schemas.openxmlformats.org/drawingml/2006/main">
            <a:off x="657225" y="2149475"/>
            <a:ext cx="4857750" cy="2482850"/>
          </a:xfrm>
          <a:prstGeom xmlns:a="http://schemas.openxmlformats.org/drawingml/2006/main" prst="rect">
            <a:avLst/>
          </a:prstGeom>
        </p:spPr>
      </p:pic>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16588698041d4b54"/>
          <a:stretch xmlns:a="http://schemas.openxmlformats.org/drawingml/2006/main"/>
        </p:blipFill>
        <p:spPr>
          <a:xfrm xmlns:a="http://schemas.openxmlformats.org/drawingml/2006/main">
            <a:off x="6105525" y="2118896"/>
            <a:ext cx="5429250" cy="2544009"/>
          </a:xfrm>
          <a:prstGeom xmlns:a="http://schemas.openxmlformats.org/drawingml/2006/main" prst="rect">
            <a:avLst/>
          </a:prstGeom>
        </p:spPr>
      </p:pic>
    </p:spTree>
    <p:extLst>
      <p:ext uri="{BB962C8B-B14F-4D97-AF65-F5344CB8AC3E}">
        <p14:creationId xmlns:p14="http://schemas.microsoft.com/office/powerpoint/2010/main" val="58923939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CF734D8-3DB8-4FB3-A822-EBA5F66AE21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6F3EE"/>
          </a:solidFill>
        </p:spPr>
      </p:sp>
      <p:sp>
        <p:nvSpPr>
          <p:cNvPr id="2" name="">
            <a:extLst xmlns:a="http://schemas.openxmlformats.org/drawingml/2006/main">
              <a:ext uri="{FF2B5EF4-FFF2-40B4-BE49-F238E27FC236}">
                <a16:creationId xmlns:a16="http://schemas.microsoft.com/office/drawing/2014/main" id="{4C3ADC80-A2E9-47E4-AA96-8447E742C7D1}"/>
              </a:ext>
            </a:extLst>
          </p:cNvPr>
          <p:cNvSpPr>
            <a:spLocks xmlns:a="http://schemas.openxmlformats.org/drawingml/2006/main" noGrp="1"/>
          </p:cNvSpPr>
          <p:nvPr/>
        </p:nvSpPr>
        <p:spPr>
          <a:xfrm xmlns:a="http://schemas.openxmlformats.org/drawingml/2006/main">
            <a:off x="476250" y="257175"/>
            <a:ext cx="40005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118C83"/>
                </a:solidFill>
                <a:latin typeface="Malgun Gothic"/>
                <a:ea typeface="Malgun Gothic"/>
                <a:cs typeface="Malgun Gothic"/>
              </a:defRPr>
            </a:pPr>
            <a:r>
              <a:t>04 · PREPROCESSING</a:t>
            </a:r>
          </a:p>
        </p:txBody>
      </p:sp>
      <p:sp>
        <p:nvSpPr>
          <p:cNvPr id="3" name="">
            <a:extLst xmlns:a="http://schemas.openxmlformats.org/drawingml/2006/main">
              <a:ext uri="{FF2B5EF4-FFF2-40B4-BE49-F238E27FC236}">
                <a16:creationId xmlns:a16="http://schemas.microsoft.com/office/drawing/2014/main" id="{63046016-4D36-4771-8BCF-A73ECCF07761}"/>
              </a:ext>
            </a:extLst>
          </p:cNvPr>
          <p:cNvSpPr>
            <a:spLocks xmlns:a="http://schemas.openxmlformats.org/drawingml/2006/main" noGrp="1"/>
          </p:cNvSpPr>
          <p:nvPr/>
        </p:nvSpPr>
        <p:spPr>
          <a:xfrm xmlns:a="http://schemas.openxmlformats.org/drawingml/2006/main">
            <a:off x="476250" y="561975"/>
            <a:ext cx="11049000" cy="5429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850" b="1" i="0">
                <a:solidFill>
                  <a:srgbClr val="17262D"/>
                </a:solidFill>
                <a:latin typeface="Malgun Gothic"/>
                <a:ea typeface="Malgun Gothic"/>
                <a:cs typeface="Malgun Gothic"/>
              </a:defRPr>
            </a:pPr>
            <a:r>
              <a:t>OOF 개선이 확인된 전처리만 남겼습니다</a:t>
            </a:r>
          </a:p>
        </p:txBody>
      </p:sp>
      <p:sp>
        <p:nvSpPr>
          <p:cNvPr id="4" name="">
            <a:extLst xmlns:a="http://schemas.openxmlformats.org/drawingml/2006/main">
              <a:ext uri="{FF2B5EF4-FFF2-40B4-BE49-F238E27FC236}">
                <a16:creationId xmlns:a16="http://schemas.microsoft.com/office/drawing/2014/main" id="{EE9019DB-DB33-4523-A3DD-CF37DDF8445A}"/>
              </a:ext>
            </a:extLst>
          </p:cNvPr>
          <p:cNvSpPr>
            <a:spLocks xmlns:a="http://schemas.openxmlformats.org/drawingml/2006/main" noGrp="1"/>
          </p:cNvSpPr>
          <p:nvPr/>
        </p:nvSpPr>
        <p:spPr>
          <a:xfrm xmlns:a="http://schemas.openxmlformats.org/drawingml/2006/main">
            <a:off x="476250" y="1200150"/>
            <a:ext cx="723900" cy="47625"/>
          </a:xfrm>
          <a:prstGeom xmlns:a="http://schemas.openxmlformats.org/drawingml/2006/main" prst="rect">
            <a:avLst/>
          </a:prstGeom>
          <a:solidFill xmlns:a="http://schemas.openxmlformats.org/drawingml/2006/main">
            <a:srgbClr val="F2674A"/>
          </a:solidFill>
        </p:spPr>
      </p:sp>
      <p:sp>
        <p:nvSpPr>
          <p:cNvPr id="5" name="">
            <a:extLst xmlns:a="http://schemas.openxmlformats.org/drawingml/2006/main">
              <a:ext uri="{FF2B5EF4-FFF2-40B4-BE49-F238E27FC236}">
                <a16:creationId xmlns:a16="http://schemas.microsoft.com/office/drawing/2014/main" id="{FD97FB6D-B53C-434F-87A9-4E00CF109375}"/>
              </a:ext>
            </a:extLst>
          </p:cNvPr>
          <p:cNvSpPr>
            <a:spLocks xmlns:a="http://schemas.openxmlformats.org/drawingml/2006/main" noGrp="1"/>
          </p:cNvSpPr>
          <p:nvPr/>
        </p:nvSpPr>
        <p:spPr>
          <a:xfrm xmlns:a="http://schemas.openxmlformats.org/drawingml/2006/main">
            <a:off x="476250" y="1562100"/>
            <a:ext cx="7543800" cy="4343400"/>
          </a:xfrm>
          <a:prstGeom xmlns:a="http://schemas.openxmlformats.org/drawingml/2006/main" prst="roundRect">
            <a:avLst>
              <a:gd name="adj" fmla="val 1754"/>
            </a:avLst>
          </a:prstGeom>
          <a:solidFill xmlns:a="http://schemas.openxmlformats.org/drawingml/2006/main">
            <a:srgbClr val="FFFDFC"/>
          </a:solidFill>
          <a:ln xmlns:a="http://schemas.openxmlformats.org/drawingml/2006/main" w="9525">
            <a:solidFill>
              <a:srgbClr val="D8D8D2"/>
            </a:solidFill>
            <a:prstDash val="solid"/>
          </a:ln>
        </p:spPr>
      </p:sp>
      <p:sp>
        <p:nvSpPr>
          <p:cNvPr id="6" name="">
            <a:extLst xmlns:a="http://schemas.openxmlformats.org/drawingml/2006/main">
              <a:ext uri="{FF2B5EF4-FFF2-40B4-BE49-F238E27FC236}">
                <a16:creationId xmlns:a16="http://schemas.microsoft.com/office/drawing/2014/main" id="{C9C8CB36-291D-4C6C-9EDA-FFD346F68C57}"/>
              </a:ext>
            </a:extLst>
          </p:cNvPr>
          <p:cNvSpPr>
            <a:spLocks xmlns:a="http://schemas.openxmlformats.org/drawingml/2006/main" noGrp="1"/>
          </p:cNvSpPr>
          <p:nvPr/>
        </p:nvSpPr>
        <p:spPr>
          <a:xfrm xmlns:a="http://schemas.openxmlformats.org/drawingml/2006/main">
            <a:off x="8286750" y="1562100"/>
            <a:ext cx="3429000" cy="4343400"/>
          </a:xfrm>
          <a:prstGeom xmlns:a="http://schemas.openxmlformats.org/drawingml/2006/main" prst="roundRect">
            <a:avLst>
              <a:gd name="adj" fmla="val 2222"/>
            </a:avLst>
          </a:prstGeom>
          <a:solidFill xmlns:a="http://schemas.openxmlformats.org/drawingml/2006/main">
            <a:srgbClr val="12313F"/>
          </a:solidFill>
          <a:ln xmlns:a="http://schemas.openxmlformats.org/drawingml/2006/main" w="9525">
            <a:solidFill>
              <a:srgbClr val="12313F"/>
            </a:solidFill>
            <a:prstDash val="solid"/>
          </a:ln>
        </p:spPr>
      </p:sp>
      <p:sp>
        <p:nvSpPr>
          <p:cNvPr id="7" name="">
            <a:extLst xmlns:a="http://schemas.openxmlformats.org/drawingml/2006/main">
              <a:ext uri="{FF2B5EF4-FFF2-40B4-BE49-F238E27FC236}">
                <a16:creationId xmlns:a16="http://schemas.microsoft.com/office/drawing/2014/main" id="{9C8399AF-CDC8-47A7-AFC6-E8028DABF8B4}"/>
              </a:ext>
            </a:extLst>
          </p:cNvPr>
          <p:cNvSpPr>
            <a:spLocks xmlns:a="http://schemas.openxmlformats.org/drawingml/2006/main" noGrp="1"/>
          </p:cNvSpPr>
          <p:nvPr/>
        </p:nvSpPr>
        <p:spPr>
          <a:xfrm xmlns:a="http://schemas.openxmlformats.org/drawingml/2006/main">
            <a:off x="8572500" y="1847850"/>
            <a:ext cx="8001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i="0">
                <a:solidFill>
                  <a:srgbClr val="78D0C6"/>
                </a:solidFill>
                <a:latin typeface="Malgun Gothic"/>
                <a:ea typeface="Malgun Gothic"/>
                <a:cs typeface="Malgun Gothic"/>
              </a:defRPr>
            </a:pPr>
            <a:r>
              <a:t>채택</a:t>
            </a:r>
          </a:p>
        </p:txBody>
      </p:sp>
      <p:sp>
        <p:nvSpPr>
          <p:cNvPr id="8" name="">
            <a:extLst xmlns:a="http://schemas.openxmlformats.org/drawingml/2006/main">
              <a:ext uri="{FF2B5EF4-FFF2-40B4-BE49-F238E27FC236}">
                <a16:creationId xmlns:a16="http://schemas.microsoft.com/office/drawing/2014/main" id="{96D594DD-F597-49DF-A11D-9910FEF100EE}"/>
              </a:ext>
            </a:extLst>
          </p:cNvPr>
          <p:cNvSpPr>
            <a:spLocks xmlns:a="http://schemas.openxmlformats.org/drawingml/2006/main" noGrp="1"/>
          </p:cNvSpPr>
          <p:nvPr/>
        </p:nvSpPr>
        <p:spPr>
          <a:xfrm xmlns:a="http://schemas.openxmlformats.org/drawingml/2006/main">
            <a:off x="8572500" y="2181225"/>
            <a:ext cx="2667000" cy="342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025" b="1" i="0">
                <a:solidFill>
                  <a:srgbClr val="FFFFFF"/>
                </a:solidFill>
                <a:latin typeface="Malgun Gothic"/>
                <a:ea typeface="Malgun Gothic"/>
                <a:cs typeface="Malgun Gothic"/>
              </a:defRPr>
            </a:pPr>
            <a:r>
              <a:t>log_numeric</a:t>
            </a:r>
          </a:p>
        </p:txBody>
      </p:sp>
      <p:sp>
        <p:nvSpPr>
          <p:cNvPr id="9" name="">
            <a:extLst xmlns:a="http://schemas.openxmlformats.org/drawingml/2006/main">
              <a:ext uri="{FF2B5EF4-FFF2-40B4-BE49-F238E27FC236}">
                <a16:creationId xmlns:a16="http://schemas.microsoft.com/office/drawing/2014/main" id="{50B6B539-4172-4B29-B2C6-50AD1B5DD7DD}"/>
              </a:ext>
            </a:extLst>
          </p:cNvPr>
          <p:cNvSpPr>
            <a:spLocks xmlns:a="http://schemas.openxmlformats.org/drawingml/2006/main" noGrp="1"/>
          </p:cNvSpPr>
          <p:nvPr/>
        </p:nvSpPr>
        <p:spPr>
          <a:xfrm xmlns:a="http://schemas.openxmlformats.org/drawingml/2006/main">
            <a:off x="8572500" y="2686050"/>
            <a:ext cx="2667000" cy="8477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1" i="0">
                <a:solidFill>
                  <a:srgbClr val="D3E0E4"/>
                </a:solidFill>
                <a:latin typeface="Malgun Gothic"/>
                <a:ea typeface="Malgun Gothic"/>
                <a:cs typeface="Malgun Gothic"/>
              </a:defRPr>
            </a:pPr>
            <a:r>
              <a:t>Logistic PR-AUC
0.899495 → 0.906293
(+0.006798)</a:t>
            </a:r>
          </a:p>
        </p:txBody>
      </p:sp>
      <p:sp>
        <p:nvSpPr>
          <p:cNvPr id="10" name="">
            <a:extLst xmlns:a="http://schemas.openxmlformats.org/drawingml/2006/main">
              <a:ext uri="{FF2B5EF4-FFF2-40B4-BE49-F238E27FC236}">
                <a16:creationId xmlns:a16="http://schemas.microsoft.com/office/drawing/2014/main" id="{85108B86-A7ED-4CFD-9AD9-40F6FF8E87A7}"/>
              </a:ext>
            </a:extLst>
          </p:cNvPr>
          <p:cNvSpPr>
            <a:spLocks xmlns:a="http://schemas.openxmlformats.org/drawingml/2006/main" noGrp="1"/>
          </p:cNvSpPr>
          <p:nvPr/>
        </p:nvSpPr>
        <p:spPr>
          <a:xfrm xmlns:a="http://schemas.openxmlformats.org/drawingml/2006/main">
            <a:off x="8572500" y="3762375"/>
            <a:ext cx="2667000" cy="9525"/>
          </a:xfrm>
          <a:prstGeom xmlns:a="http://schemas.openxmlformats.org/drawingml/2006/main" prst="rect">
            <a:avLst/>
          </a:prstGeom>
          <a:solidFill xmlns:a="http://schemas.openxmlformats.org/drawingml/2006/main">
            <a:srgbClr val="426473"/>
          </a:solidFill>
        </p:spPr>
      </p:sp>
      <p:sp>
        <p:nvSpPr>
          <p:cNvPr id="11" name="">
            <a:extLst xmlns:a="http://schemas.openxmlformats.org/drawingml/2006/main">
              <a:ext uri="{FF2B5EF4-FFF2-40B4-BE49-F238E27FC236}">
                <a16:creationId xmlns:a16="http://schemas.microsoft.com/office/drawing/2014/main" id="{7332ED76-F820-4F43-9E83-AF44C6EC0321}"/>
              </a:ext>
            </a:extLst>
          </p:cNvPr>
          <p:cNvSpPr>
            <a:spLocks xmlns:a="http://schemas.openxmlformats.org/drawingml/2006/main" noGrp="1"/>
          </p:cNvSpPr>
          <p:nvPr/>
        </p:nvSpPr>
        <p:spPr>
          <a:xfrm xmlns:a="http://schemas.openxmlformats.org/drawingml/2006/main">
            <a:off x="8572500" y="4000500"/>
            <a:ext cx="8001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i="0">
                <a:solidFill>
                  <a:srgbClr val="F4A18D"/>
                </a:solidFill>
                <a:latin typeface="Malgun Gothic"/>
                <a:ea typeface="Malgun Gothic"/>
                <a:cs typeface="Malgun Gothic"/>
              </a:defRPr>
            </a:pPr>
            <a:r>
              <a:t>제외</a:t>
            </a:r>
          </a:p>
        </p:txBody>
      </p:sp>
      <p:sp>
        <p:nvSpPr>
          <p:cNvPr id="12" name="">
            <a:extLst xmlns:a="http://schemas.openxmlformats.org/drawingml/2006/main">
              <a:ext uri="{FF2B5EF4-FFF2-40B4-BE49-F238E27FC236}">
                <a16:creationId xmlns:a16="http://schemas.microsoft.com/office/drawing/2014/main" id="{6C977A76-8658-4A22-94AB-E773DB00D9E7}"/>
              </a:ext>
            </a:extLst>
          </p:cNvPr>
          <p:cNvSpPr>
            <a:spLocks xmlns:a="http://schemas.openxmlformats.org/drawingml/2006/main" noGrp="1"/>
          </p:cNvSpPr>
          <p:nvPr/>
        </p:nvSpPr>
        <p:spPr>
          <a:xfrm xmlns:a="http://schemas.openxmlformats.org/drawingml/2006/main">
            <a:off x="8572500" y="4352925"/>
            <a:ext cx="2667000" cy="628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i="0">
                <a:solidFill>
                  <a:srgbClr val="D3E0E4"/>
                </a:solidFill>
                <a:latin typeface="Malgun Gothic"/>
                <a:ea typeface="Malgun Gothic"/>
                <a:cs typeface="Malgun Gothic"/>
              </a:defRPr>
            </a:pPr>
            <a:r>
              <a:t>interaction  +0.000142
ratio / pruning  ≈ 0 또는 음수</a:t>
            </a:r>
          </a:p>
        </p:txBody>
      </p:sp>
      <p:sp>
        <p:nvSpPr>
          <p:cNvPr id="13" name="">
            <a:extLst xmlns:a="http://schemas.openxmlformats.org/drawingml/2006/main">
              <a:ext uri="{FF2B5EF4-FFF2-40B4-BE49-F238E27FC236}">
                <a16:creationId xmlns:a16="http://schemas.microsoft.com/office/drawing/2014/main" id="{620F706A-BCF7-4648-883F-25A11F47A06E}"/>
              </a:ext>
            </a:extLst>
          </p:cNvPr>
          <p:cNvSpPr>
            <a:spLocks xmlns:a="http://schemas.openxmlformats.org/drawingml/2006/main" noGrp="1"/>
          </p:cNvSpPr>
          <p:nvPr/>
        </p:nvSpPr>
        <p:spPr>
          <a:xfrm xmlns:a="http://schemas.openxmlformats.org/drawingml/2006/main">
            <a:off x="8572500" y="5257800"/>
            <a:ext cx="2667000" cy="4286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i="0">
                <a:solidFill>
                  <a:srgbClr val="BFD0D6"/>
                </a:solidFill>
                <a:latin typeface="Malgun Gothic"/>
                <a:ea typeface="Malgun Gothic"/>
                <a:cs typeface="Malgun Gothic"/>
              </a:defRPr>
            </a:pPr>
            <a:r>
              <a:t>CatBoost raw→log 차이는 +0.000089
전처리 효과를 과장하지 않습니다.</a:t>
            </a:r>
          </a:p>
        </p:txBody>
      </p:sp>
      <p:sp>
        <p:nvSpPr>
          <p:cNvPr id="14" name="">
            <a:extLst xmlns:a="http://schemas.openxmlformats.org/drawingml/2006/main">
              <a:ext uri="{FF2B5EF4-FFF2-40B4-BE49-F238E27FC236}">
                <a16:creationId xmlns:a16="http://schemas.microsoft.com/office/drawing/2014/main" id="{B98E3370-7D3D-4C61-90AD-EA48861D4679}"/>
              </a:ext>
            </a:extLst>
          </p:cNvPr>
          <p:cNvSpPr>
            <a:spLocks xmlns:a="http://schemas.openxmlformats.org/drawingml/2006/main" noGrp="1"/>
          </p:cNvSpPr>
          <p:nvPr/>
        </p:nvSpPr>
        <p:spPr>
          <a:xfrm xmlns:a="http://schemas.openxmlformats.org/drawingml/2006/main">
            <a:off x="476250" y="6486525"/>
            <a:ext cx="11239500" cy="9525"/>
          </a:xfrm>
          <a:prstGeom xmlns:a="http://schemas.openxmlformats.org/drawingml/2006/main" prst="rect">
            <a:avLst/>
          </a:prstGeom>
          <a:solidFill xmlns:a="http://schemas.openxmlformats.org/drawingml/2006/main">
            <a:srgbClr val="D8D8D2"/>
          </a:solidFill>
        </p:spPr>
      </p:sp>
      <p:sp>
        <p:nvSpPr>
          <p:cNvPr id="15" name="">
            <a:extLst xmlns:a="http://schemas.openxmlformats.org/drawingml/2006/main">
              <a:ext uri="{FF2B5EF4-FFF2-40B4-BE49-F238E27FC236}">
                <a16:creationId xmlns:a16="http://schemas.microsoft.com/office/drawing/2014/main" id="{3D492408-25ED-411C-9808-06D66B7528AE}"/>
              </a:ext>
            </a:extLst>
          </p:cNvPr>
          <p:cNvSpPr>
            <a:spLocks xmlns:a="http://schemas.openxmlformats.org/drawingml/2006/main" noGrp="1"/>
          </p:cNvSpPr>
          <p:nvPr/>
        </p:nvSpPr>
        <p:spPr>
          <a:xfrm xmlns:a="http://schemas.openxmlformats.org/drawingml/2006/main">
            <a:off x="666750" y="6534150"/>
            <a:ext cx="9620250" cy="209550"/>
          </a:xfrm>
          <a:prstGeom xmlns:a="http://schemas.openxmlformats.org/drawingml/2006/main" prst="rect">
            <a:avLst/>
          </a:prstGeom>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825" b="0" i="0">
                <a:solidFill>
                  <a:srgbClr val="98A5AA"/>
                </a:solidFill>
                <a:latin typeface="Malgun Gothic"/>
                <a:ea typeface="Malgun Gothic"/>
                <a:cs typeface="Malgun Gothic"/>
              </a:defRPr>
            </a:pPr>
            <a:r>
              <a:t>근거 · artifacts/presentation_v3/03_adopted_rejected_experiments.csv · feature_selection_summary.csv</a:t>
            </a:r>
          </a:p>
        </p:txBody>
      </p:sp>
      <p:sp>
        <p:nvSpPr>
          <p:cNvPr id="16" name="">
            <a:extLst xmlns:a="http://schemas.openxmlformats.org/drawingml/2006/main">
              <a:ext uri="{FF2B5EF4-FFF2-40B4-BE49-F238E27FC236}">
                <a16:creationId xmlns:a16="http://schemas.microsoft.com/office/drawing/2014/main" id="{C3925A1E-B97F-41EA-9681-F0AF485DCB92}"/>
              </a:ext>
            </a:extLst>
          </p:cNvPr>
          <p:cNvSpPr>
            <a:spLocks xmlns:a="http://schemas.openxmlformats.org/drawingml/2006/main" noGrp="1"/>
          </p:cNvSpPr>
          <p:nvPr/>
        </p:nvSpPr>
        <p:spPr>
          <a:xfrm xmlns:a="http://schemas.openxmlformats.org/drawingml/2006/main">
            <a:off x="11201400" y="6543675"/>
            <a:ext cx="5143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00" b="1" i="0">
                <a:solidFill>
                  <a:srgbClr val="607078"/>
                </a:solidFill>
                <a:latin typeface="Malgun Gothic"/>
                <a:ea typeface="Malgun Gothic"/>
                <a:cs typeface="Malgun Gothic"/>
              </a:defRPr>
            </a:pPr>
            <a:r>
              <a:t>05</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f0ba180de4344a7c"/>
          <a:stretch xmlns:a="http://schemas.openxmlformats.org/drawingml/2006/main"/>
        </p:blipFill>
        <p:spPr>
          <a:xfrm xmlns:a="http://schemas.openxmlformats.org/drawingml/2006/main">
            <a:off x="666750" y="1833452"/>
            <a:ext cx="7162800" cy="3762595"/>
          </a:xfrm>
          <a:prstGeom xmlns:a="http://schemas.openxmlformats.org/drawingml/2006/main" prst="rect">
            <a:avLst/>
          </a:prstGeom>
        </p:spPr>
      </p:pic>
    </p:spTree>
    <p:extLst>
      <p:ext uri="{BB962C8B-B14F-4D97-AF65-F5344CB8AC3E}">
        <p14:creationId xmlns:p14="http://schemas.microsoft.com/office/powerpoint/2010/main" val="813078118"/>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F976F4EB-54D1-4C76-8BAF-8AAA2AFD446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6F3EE"/>
          </a:solidFill>
        </p:spPr>
      </p:sp>
      <p:sp>
        <p:nvSpPr>
          <p:cNvPr id="2" name="">
            <a:extLst xmlns:a="http://schemas.openxmlformats.org/drawingml/2006/main">
              <a:ext uri="{FF2B5EF4-FFF2-40B4-BE49-F238E27FC236}">
                <a16:creationId xmlns:a16="http://schemas.microsoft.com/office/drawing/2014/main" id="{F224AA60-70BB-4CD7-96DB-FEC389F307FB}"/>
              </a:ext>
            </a:extLst>
          </p:cNvPr>
          <p:cNvSpPr>
            <a:spLocks xmlns:a="http://schemas.openxmlformats.org/drawingml/2006/main" noGrp="1"/>
          </p:cNvSpPr>
          <p:nvPr/>
        </p:nvSpPr>
        <p:spPr>
          <a:xfrm xmlns:a="http://schemas.openxmlformats.org/drawingml/2006/main">
            <a:off x="476250" y="257175"/>
            <a:ext cx="40005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118C83"/>
                </a:solidFill>
                <a:latin typeface="Malgun Gothic"/>
                <a:ea typeface="Malgun Gothic"/>
                <a:cs typeface="Malgun Gothic"/>
              </a:defRPr>
            </a:pPr>
            <a:r>
              <a:t>05 · VALIDATION</a:t>
            </a:r>
          </a:p>
        </p:txBody>
      </p:sp>
      <p:sp>
        <p:nvSpPr>
          <p:cNvPr id="3" name="">
            <a:extLst xmlns:a="http://schemas.openxmlformats.org/drawingml/2006/main">
              <a:ext uri="{FF2B5EF4-FFF2-40B4-BE49-F238E27FC236}">
                <a16:creationId xmlns:a16="http://schemas.microsoft.com/office/drawing/2014/main" id="{11B36B5A-67DF-4DF6-8E51-B1128E102594}"/>
              </a:ext>
            </a:extLst>
          </p:cNvPr>
          <p:cNvSpPr>
            <a:spLocks xmlns:a="http://schemas.openxmlformats.org/drawingml/2006/main" noGrp="1"/>
          </p:cNvSpPr>
          <p:nvPr/>
        </p:nvSpPr>
        <p:spPr>
          <a:xfrm xmlns:a="http://schemas.openxmlformats.org/drawingml/2006/main">
            <a:off x="476250" y="561975"/>
            <a:ext cx="11049000" cy="5429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850" b="1" i="0">
                <a:solidFill>
                  <a:srgbClr val="17262D"/>
                </a:solidFill>
                <a:latin typeface="Malgun Gothic"/>
                <a:ea typeface="Malgun Gothic"/>
                <a:cs typeface="Malgun Gothic"/>
              </a:defRPr>
            </a:pPr>
            <a:r>
              <a:t>같은 Feature·같은 Fold로 비교해 개선 원인을 분리했습니다</a:t>
            </a:r>
          </a:p>
        </p:txBody>
      </p:sp>
      <p:sp>
        <p:nvSpPr>
          <p:cNvPr id="4" name="">
            <a:extLst xmlns:a="http://schemas.openxmlformats.org/drawingml/2006/main">
              <a:ext uri="{FF2B5EF4-FFF2-40B4-BE49-F238E27FC236}">
                <a16:creationId xmlns:a16="http://schemas.microsoft.com/office/drawing/2014/main" id="{125A79D9-224D-4475-AAE3-8B783D3F51E9}"/>
              </a:ext>
            </a:extLst>
          </p:cNvPr>
          <p:cNvSpPr>
            <a:spLocks xmlns:a="http://schemas.openxmlformats.org/drawingml/2006/main" noGrp="1"/>
          </p:cNvSpPr>
          <p:nvPr/>
        </p:nvSpPr>
        <p:spPr>
          <a:xfrm xmlns:a="http://schemas.openxmlformats.org/drawingml/2006/main">
            <a:off x="476250" y="1200150"/>
            <a:ext cx="723900" cy="47625"/>
          </a:xfrm>
          <a:prstGeom xmlns:a="http://schemas.openxmlformats.org/drawingml/2006/main" prst="rect">
            <a:avLst/>
          </a:prstGeom>
          <a:solidFill xmlns:a="http://schemas.openxmlformats.org/drawingml/2006/main">
            <a:srgbClr val="F2674A"/>
          </a:solidFill>
        </p:spPr>
      </p:sp>
      <p:sp>
        <p:nvSpPr>
          <p:cNvPr id="5" name="">
            <a:extLst xmlns:a="http://schemas.openxmlformats.org/drawingml/2006/main">
              <a:ext uri="{FF2B5EF4-FFF2-40B4-BE49-F238E27FC236}">
                <a16:creationId xmlns:a16="http://schemas.microsoft.com/office/drawing/2014/main" id="{52C116E9-6785-4202-9069-93A80630D3AB}"/>
              </a:ext>
            </a:extLst>
          </p:cNvPr>
          <p:cNvSpPr>
            <a:spLocks xmlns:a="http://schemas.openxmlformats.org/drawingml/2006/main" noGrp="1"/>
          </p:cNvSpPr>
          <p:nvPr/>
        </p:nvSpPr>
        <p:spPr>
          <a:xfrm xmlns:a="http://schemas.openxmlformats.org/drawingml/2006/main">
            <a:off x="476250" y="1600200"/>
            <a:ext cx="11239500" cy="2305050"/>
          </a:xfrm>
          <a:prstGeom xmlns:a="http://schemas.openxmlformats.org/drawingml/2006/main" prst="roundRect">
            <a:avLst>
              <a:gd name="adj" fmla="val 3306"/>
            </a:avLst>
          </a:prstGeom>
          <a:solidFill xmlns:a="http://schemas.openxmlformats.org/drawingml/2006/main">
            <a:srgbClr val="FFFDFC"/>
          </a:solidFill>
          <a:ln xmlns:a="http://schemas.openxmlformats.org/drawingml/2006/main" w="9525">
            <a:solidFill>
              <a:srgbClr val="D8D8D2"/>
            </a:solidFill>
            <a:prstDash val="solid"/>
          </a:ln>
        </p:spPr>
      </p:sp>
      <p:sp>
        <p:nvSpPr>
          <p:cNvPr id="6" name="">
            <a:extLst xmlns:a="http://schemas.openxmlformats.org/drawingml/2006/main">
              <a:ext uri="{FF2B5EF4-FFF2-40B4-BE49-F238E27FC236}">
                <a16:creationId xmlns:a16="http://schemas.microsoft.com/office/drawing/2014/main" id="{DA09C8E3-B8CC-40E4-A993-8C916A9D3EE7}"/>
              </a:ext>
            </a:extLst>
          </p:cNvPr>
          <p:cNvSpPr>
            <a:spLocks xmlns:a="http://schemas.openxmlformats.org/drawingml/2006/main" noGrp="1"/>
          </p:cNvSpPr>
          <p:nvPr/>
        </p:nvSpPr>
        <p:spPr>
          <a:xfrm xmlns:a="http://schemas.openxmlformats.org/drawingml/2006/main">
            <a:off x="685800" y="1857375"/>
            <a:ext cx="5715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118C83"/>
                </a:solidFill>
                <a:latin typeface="Malgun Gothic"/>
                <a:ea typeface="Malgun Gothic"/>
                <a:cs typeface="Malgun Gothic"/>
              </a:defRPr>
            </a:pPr>
            <a:r>
              <a:t>01</a:t>
            </a:r>
          </a:p>
        </p:txBody>
      </p:sp>
      <p:sp>
        <p:nvSpPr>
          <p:cNvPr id="7" name="">
            <a:extLst xmlns:a="http://schemas.openxmlformats.org/drawingml/2006/main">
              <a:ext uri="{FF2B5EF4-FFF2-40B4-BE49-F238E27FC236}">
                <a16:creationId xmlns:a16="http://schemas.microsoft.com/office/drawing/2014/main" id="{ACC20DDD-ACB9-4480-A62B-3A10C794D209}"/>
              </a:ext>
            </a:extLst>
          </p:cNvPr>
          <p:cNvSpPr>
            <a:spLocks xmlns:a="http://schemas.openxmlformats.org/drawingml/2006/main" noGrp="1"/>
          </p:cNvSpPr>
          <p:nvPr/>
        </p:nvSpPr>
        <p:spPr>
          <a:xfrm xmlns:a="http://schemas.openxmlformats.org/drawingml/2006/main">
            <a:off x="685800" y="2200275"/>
            <a:ext cx="2114550" cy="285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7262D"/>
                </a:solidFill>
                <a:latin typeface="Malgun Gothic"/>
                <a:ea typeface="Malgun Gothic"/>
                <a:cs typeface="Malgun Gothic"/>
              </a:defRPr>
            </a:pPr>
            <a:r>
              <a:t>동일 입력</a:t>
            </a:r>
          </a:p>
        </p:txBody>
      </p:sp>
      <p:sp>
        <p:nvSpPr>
          <p:cNvPr id="8" name="">
            <a:extLst xmlns:a="http://schemas.openxmlformats.org/drawingml/2006/main">
              <a:ext uri="{FF2B5EF4-FFF2-40B4-BE49-F238E27FC236}">
                <a16:creationId xmlns:a16="http://schemas.microsoft.com/office/drawing/2014/main" id="{2C7F130F-6F4A-469D-AD63-EBA76FE1B7A9}"/>
              </a:ext>
            </a:extLst>
          </p:cNvPr>
          <p:cNvSpPr>
            <a:spLocks xmlns:a="http://schemas.openxmlformats.org/drawingml/2006/main" noGrp="1"/>
          </p:cNvSpPr>
          <p:nvPr/>
        </p:nvSpPr>
        <p:spPr>
          <a:xfrm xmlns:a="http://schemas.openxmlformats.org/drawingml/2006/main">
            <a:off x="685800" y="2647950"/>
            <a:ext cx="2114550" cy="590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0" i="0">
                <a:solidFill>
                  <a:srgbClr val="607078"/>
                </a:solidFill>
                <a:latin typeface="Malgun Gothic"/>
                <a:ea typeface="Malgun Gothic"/>
                <a:cs typeface="Malgun Gothic"/>
              </a:defRPr>
            </a:pPr>
            <a:r>
              <a:t>log_numeric
19개 원본 컬럼 기반</a:t>
            </a:r>
          </a:p>
        </p:txBody>
      </p:sp>
      <p:sp>
        <p:nvSpPr>
          <p:cNvPr id="9" name="">
            <a:extLst xmlns:a="http://schemas.openxmlformats.org/drawingml/2006/main">
              <a:ext uri="{FF2B5EF4-FFF2-40B4-BE49-F238E27FC236}">
                <a16:creationId xmlns:a16="http://schemas.microsoft.com/office/drawing/2014/main" id="{1D2DFF17-1E16-4626-B2C3-0D1CB69D6A5C}"/>
              </a:ext>
            </a:extLst>
          </p:cNvPr>
          <p:cNvSpPr>
            <a:spLocks xmlns:a="http://schemas.openxmlformats.org/drawingml/2006/main" noGrp="1"/>
          </p:cNvSpPr>
          <p:nvPr/>
        </p:nvSpPr>
        <p:spPr>
          <a:xfrm xmlns:a="http://schemas.openxmlformats.org/drawingml/2006/main">
            <a:off x="2838450" y="2409825"/>
            <a:ext cx="400050" cy="342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875" b="1" i="0">
                <a:solidFill>
                  <a:srgbClr val="98A5AA"/>
                </a:solidFill>
                <a:latin typeface="Malgun Gothic"/>
                <a:ea typeface="Malgun Gothic"/>
                <a:cs typeface="Malgun Gothic"/>
              </a:defRPr>
            </a:pPr>
            <a:r>
              <a:t>→</a:t>
            </a:r>
          </a:p>
        </p:txBody>
      </p:sp>
      <p:sp>
        <p:nvSpPr>
          <p:cNvPr id="10" name="">
            <a:extLst xmlns:a="http://schemas.openxmlformats.org/drawingml/2006/main">
              <a:ext uri="{FF2B5EF4-FFF2-40B4-BE49-F238E27FC236}">
                <a16:creationId xmlns:a16="http://schemas.microsoft.com/office/drawing/2014/main" id="{E990CFE5-C6AA-44B0-BF7F-3D01934755B6}"/>
              </a:ext>
            </a:extLst>
          </p:cNvPr>
          <p:cNvSpPr>
            <a:spLocks xmlns:a="http://schemas.openxmlformats.org/drawingml/2006/main" noGrp="1"/>
          </p:cNvSpPr>
          <p:nvPr/>
        </p:nvSpPr>
        <p:spPr>
          <a:xfrm xmlns:a="http://schemas.openxmlformats.org/drawingml/2006/main">
            <a:off x="3409950" y="1857375"/>
            <a:ext cx="5715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3A6EA5"/>
                </a:solidFill>
                <a:latin typeface="Malgun Gothic"/>
                <a:ea typeface="Malgun Gothic"/>
                <a:cs typeface="Malgun Gothic"/>
              </a:defRPr>
            </a:pPr>
            <a:r>
              <a:t>02</a:t>
            </a:r>
          </a:p>
        </p:txBody>
      </p:sp>
      <p:sp>
        <p:nvSpPr>
          <p:cNvPr id="11" name="">
            <a:extLst xmlns:a="http://schemas.openxmlformats.org/drawingml/2006/main">
              <a:ext uri="{FF2B5EF4-FFF2-40B4-BE49-F238E27FC236}">
                <a16:creationId xmlns:a16="http://schemas.microsoft.com/office/drawing/2014/main" id="{72F80C9E-C955-445E-B26E-34345A370C37}"/>
              </a:ext>
            </a:extLst>
          </p:cNvPr>
          <p:cNvSpPr>
            <a:spLocks xmlns:a="http://schemas.openxmlformats.org/drawingml/2006/main" noGrp="1"/>
          </p:cNvSpPr>
          <p:nvPr/>
        </p:nvSpPr>
        <p:spPr>
          <a:xfrm xmlns:a="http://schemas.openxmlformats.org/drawingml/2006/main">
            <a:off x="3409950" y="2200275"/>
            <a:ext cx="2114550" cy="285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7262D"/>
                </a:solidFill>
                <a:latin typeface="Malgun Gothic"/>
                <a:ea typeface="Malgun Gothic"/>
                <a:cs typeface="Malgun Gothic"/>
              </a:defRPr>
            </a:pPr>
            <a:r>
              <a:t>고정 5-Fold</a:t>
            </a:r>
          </a:p>
        </p:txBody>
      </p:sp>
      <p:sp>
        <p:nvSpPr>
          <p:cNvPr id="12" name="">
            <a:extLst xmlns:a="http://schemas.openxmlformats.org/drawingml/2006/main">
              <a:ext uri="{FF2B5EF4-FFF2-40B4-BE49-F238E27FC236}">
                <a16:creationId xmlns:a16="http://schemas.microsoft.com/office/drawing/2014/main" id="{38922CBE-56DA-4503-AC3F-C739004361F8}"/>
              </a:ext>
            </a:extLst>
          </p:cNvPr>
          <p:cNvSpPr>
            <a:spLocks xmlns:a="http://schemas.openxmlformats.org/drawingml/2006/main" noGrp="1"/>
          </p:cNvSpPr>
          <p:nvPr/>
        </p:nvSpPr>
        <p:spPr>
          <a:xfrm xmlns:a="http://schemas.openxmlformats.org/drawingml/2006/main">
            <a:off x="3409950" y="2647950"/>
            <a:ext cx="2114550" cy="590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0" i="0">
                <a:solidFill>
                  <a:srgbClr val="607078"/>
                </a:solidFill>
                <a:latin typeface="Malgun Gothic"/>
                <a:ea typeface="Malgun Gothic"/>
                <a:cs typeface="Malgun Gothic"/>
              </a:defRPr>
            </a:pPr>
            <a:r>
              <a:t>같은 fold assignment
모든 후보에 재사용</a:t>
            </a:r>
          </a:p>
        </p:txBody>
      </p:sp>
      <p:sp>
        <p:nvSpPr>
          <p:cNvPr id="13" name="">
            <a:extLst xmlns:a="http://schemas.openxmlformats.org/drawingml/2006/main">
              <a:ext uri="{FF2B5EF4-FFF2-40B4-BE49-F238E27FC236}">
                <a16:creationId xmlns:a16="http://schemas.microsoft.com/office/drawing/2014/main" id="{B1AE06C7-24C1-4F2F-A3DE-467C6EB50D3D}"/>
              </a:ext>
            </a:extLst>
          </p:cNvPr>
          <p:cNvSpPr>
            <a:spLocks xmlns:a="http://schemas.openxmlformats.org/drawingml/2006/main" noGrp="1"/>
          </p:cNvSpPr>
          <p:nvPr/>
        </p:nvSpPr>
        <p:spPr>
          <a:xfrm xmlns:a="http://schemas.openxmlformats.org/drawingml/2006/main">
            <a:off x="5562600" y="2409825"/>
            <a:ext cx="400050" cy="342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875" b="1" i="0">
                <a:solidFill>
                  <a:srgbClr val="98A5AA"/>
                </a:solidFill>
                <a:latin typeface="Malgun Gothic"/>
                <a:ea typeface="Malgun Gothic"/>
                <a:cs typeface="Malgun Gothic"/>
              </a:defRPr>
            </a:pPr>
            <a:r>
              <a:t>→</a:t>
            </a:r>
          </a:p>
        </p:txBody>
      </p:sp>
      <p:sp>
        <p:nvSpPr>
          <p:cNvPr id="14" name="">
            <a:extLst xmlns:a="http://schemas.openxmlformats.org/drawingml/2006/main">
              <a:ext uri="{FF2B5EF4-FFF2-40B4-BE49-F238E27FC236}">
                <a16:creationId xmlns:a16="http://schemas.microsoft.com/office/drawing/2014/main" id="{2980C2AC-6C00-4415-8A90-E24412AC6852}"/>
              </a:ext>
            </a:extLst>
          </p:cNvPr>
          <p:cNvSpPr>
            <a:spLocks xmlns:a="http://schemas.openxmlformats.org/drawingml/2006/main" noGrp="1"/>
          </p:cNvSpPr>
          <p:nvPr/>
        </p:nvSpPr>
        <p:spPr>
          <a:xfrm xmlns:a="http://schemas.openxmlformats.org/drawingml/2006/main">
            <a:off x="6134100" y="1857375"/>
            <a:ext cx="5715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F2674A"/>
                </a:solidFill>
                <a:latin typeface="Malgun Gothic"/>
                <a:ea typeface="Malgun Gothic"/>
                <a:cs typeface="Malgun Gothic"/>
              </a:defRPr>
            </a:pPr>
            <a:r>
              <a:t>03</a:t>
            </a:r>
          </a:p>
        </p:txBody>
      </p:sp>
      <p:sp>
        <p:nvSpPr>
          <p:cNvPr id="15" name="">
            <a:extLst xmlns:a="http://schemas.openxmlformats.org/drawingml/2006/main">
              <a:ext uri="{FF2B5EF4-FFF2-40B4-BE49-F238E27FC236}">
                <a16:creationId xmlns:a16="http://schemas.microsoft.com/office/drawing/2014/main" id="{7018A391-528E-4785-B17F-85E8AC173F28}"/>
              </a:ext>
            </a:extLst>
          </p:cNvPr>
          <p:cNvSpPr>
            <a:spLocks xmlns:a="http://schemas.openxmlformats.org/drawingml/2006/main" noGrp="1"/>
          </p:cNvSpPr>
          <p:nvPr/>
        </p:nvSpPr>
        <p:spPr>
          <a:xfrm xmlns:a="http://schemas.openxmlformats.org/drawingml/2006/main">
            <a:off x="6134100" y="2200275"/>
            <a:ext cx="2114550" cy="285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7262D"/>
                </a:solidFill>
                <a:latin typeface="Malgun Gothic"/>
                <a:ea typeface="Malgun Gothic"/>
                <a:cs typeface="Malgun Gothic"/>
              </a:defRPr>
            </a:pPr>
            <a:r>
              <a:t>Fold 내부 Fit</a:t>
            </a:r>
          </a:p>
        </p:txBody>
      </p:sp>
      <p:sp>
        <p:nvSpPr>
          <p:cNvPr id="16" name="">
            <a:extLst xmlns:a="http://schemas.openxmlformats.org/drawingml/2006/main">
              <a:ext uri="{FF2B5EF4-FFF2-40B4-BE49-F238E27FC236}">
                <a16:creationId xmlns:a16="http://schemas.microsoft.com/office/drawing/2014/main" id="{A55166D8-5595-4AD7-9676-8637161DC578}"/>
              </a:ext>
            </a:extLst>
          </p:cNvPr>
          <p:cNvSpPr>
            <a:spLocks xmlns:a="http://schemas.openxmlformats.org/drawingml/2006/main" noGrp="1"/>
          </p:cNvSpPr>
          <p:nvPr/>
        </p:nvSpPr>
        <p:spPr>
          <a:xfrm xmlns:a="http://schemas.openxmlformats.org/drawingml/2006/main">
            <a:off x="6134100" y="2647950"/>
            <a:ext cx="2114550" cy="590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0" i="0">
                <a:solidFill>
                  <a:srgbClr val="607078"/>
                </a:solidFill>
                <a:latin typeface="Malgun Gothic"/>
                <a:ea typeface="Malgun Gothic"/>
                <a:cs typeface="Malgun Gothic"/>
              </a:defRPr>
            </a:pPr>
            <a:r>
              <a:t>전처리·인코딩·모델을
학습 fold에서만 적합</a:t>
            </a:r>
          </a:p>
        </p:txBody>
      </p:sp>
      <p:sp>
        <p:nvSpPr>
          <p:cNvPr id="17" name="">
            <a:extLst xmlns:a="http://schemas.openxmlformats.org/drawingml/2006/main">
              <a:ext uri="{FF2B5EF4-FFF2-40B4-BE49-F238E27FC236}">
                <a16:creationId xmlns:a16="http://schemas.microsoft.com/office/drawing/2014/main" id="{AFBA6619-6015-4131-A9B1-DBB0B996D796}"/>
              </a:ext>
            </a:extLst>
          </p:cNvPr>
          <p:cNvSpPr>
            <a:spLocks xmlns:a="http://schemas.openxmlformats.org/drawingml/2006/main" noGrp="1"/>
          </p:cNvSpPr>
          <p:nvPr/>
        </p:nvSpPr>
        <p:spPr>
          <a:xfrm xmlns:a="http://schemas.openxmlformats.org/drawingml/2006/main">
            <a:off x="8286750" y="2409825"/>
            <a:ext cx="400050" cy="342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875" b="1" i="0">
                <a:solidFill>
                  <a:srgbClr val="98A5AA"/>
                </a:solidFill>
                <a:latin typeface="Malgun Gothic"/>
                <a:ea typeface="Malgun Gothic"/>
                <a:cs typeface="Malgun Gothic"/>
              </a:defRPr>
            </a:pPr>
            <a:r>
              <a:t>→</a:t>
            </a:r>
          </a:p>
        </p:txBody>
      </p:sp>
      <p:sp>
        <p:nvSpPr>
          <p:cNvPr id="18" name="">
            <a:extLst xmlns:a="http://schemas.openxmlformats.org/drawingml/2006/main">
              <a:ext uri="{FF2B5EF4-FFF2-40B4-BE49-F238E27FC236}">
                <a16:creationId xmlns:a16="http://schemas.microsoft.com/office/drawing/2014/main" id="{460C3057-C993-4E6E-B111-3D29D545B5E0}"/>
              </a:ext>
            </a:extLst>
          </p:cNvPr>
          <p:cNvSpPr>
            <a:spLocks xmlns:a="http://schemas.openxmlformats.org/drawingml/2006/main" noGrp="1"/>
          </p:cNvSpPr>
          <p:nvPr/>
        </p:nvSpPr>
        <p:spPr>
          <a:xfrm xmlns:a="http://schemas.openxmlformats.org/drawingml/2006/main">
            <a:off x="8858250" y="1857375"/>
            <a:ext cx="5715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D79A36"/>
                </a:solidFill>
                <a:latin typeface="Malgun Gothic"/>
                <a:ea typeface="Malgun Gothic"/>
                <a:cs typeface="Malgun Gothic"/>
              </a:defRPr>
            </a:pPr>
            <a:r>
              <a:t>04</a:t>
            </a:r>
          </a:p>
        </p:txBody>
      </p:sp>
      <p:sp>
        <p:nvSpPr>
          <p:cNvPr id="19" name="">
            <a:extLst xmlns:a="http://schemas.openxmlformats.org/drawingml/2006/main">
              <a:ext uri="{FF2B5EF4-FFF2-40B4-BE49-F238E27FC236}">
                <a16:creationId xmlns:a16="http://schemas.microsoft.com/office/drawing/2014/main" id="{C86CB849-6F30-4679-9BA2-8DB5B0CCD5EB}"/>
              </a:ext>
            </a:extLst>
          </p:cNvPr>
          <p:cNvSpPr>
            <a:spLocks xmlns:a="http://schemas.openxmlformats.org/drawingml/2006/main" noGrp="1"/>
          </p:cNvSpPr>
          <p:nvPr/>
        </p:nvSpPr>
        <p:spPr>
          <a:xfrm xmlns:a="http://schemas.openxmlformats.org/drawingml/2006/main">
            <a:off x="8858250" y="2200275"/>
            <a:ext cx="2114550" cy="285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7262D"/>
                </a:solidFill>
                <a:latin typeface="Malgun Gothic"/>
                <a:ea typeface="Malgun Gothic"/>
                <a:cs typeface="Malgun Gothic"/>
              </a:defRPr>
            </a:pPr>
            <a:r>
              <a:t>OOF 평가</a:t>
            </a:r>
          </a:p>
        </p:txBody>
      </p:sp>
      <p:sp>
        <p:nvSpPr>
          <p:cNvPr id="20" name="">
            <a:extLst xmlns:a="http://schemas.openxmlformats.org/drawingml/2006/main">
              <a:ext uri="{FF2B5EF4-FFF2-40B4-BE49-F238E27FC236}">
                <a16:creationId xmlns:a16="http://schemas.microsoft.com/office/drawing/2014/main" id="{52E71826-C8E0-4140-AB41-0983396D9EDB}"/>
              </a:ext>
            </a:extLst>
          </p:cNvPr>
          <p:cNvSpPr>
            <a:spLocks xmlns:a="http://schemas.openxmlformats.org/drawingml/2006/main" noGrp="1"/>
          </p:cNvSpPr>
          <p:nvPr/>
        </p:nvSpPr>
        <p:spPr>
          <a:xfrm xmlns:a="http://schemas.openxmlformats.org/drawingml/2006/main">
            <a:off x="8858250" y="2647950"/>
            <a:ext cx="2114550" cy="590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0" i="0">
                <a:solidFill>
                  <a:srgbClr val="607078"/>
                </a:solidFill>
                <a:latin typeface="Malgun Gothic"/>
                <a:ea typeface="Malgun Gothic"/>
                <a:cs typeface="Malgun Gothic"/>
              </a:defRPr>
            </a:pPr>
            <a:r>
              <a:t>한 번도 학습에 쓰지 않은
예측만 합쳐 비교</a:t>
            </a:r>
          </a:p>
        </p:txBody>
      </p:sp>
      <p:sp>
        <p:nvSpPr>
          <p:cNvPr id="21" name="">
            <a:extLst xmlns:a="http://schemas.openxmlformats.org/drawingml/2006/main">
              <a:ext uri="{FF2B5EF4-FFF2-40B4-BE49-F238E27FC236}">
                <a16:creationId xmlns:a16="http://schemas.microsoft.com/office/drawing/2014/main" id="{5A101484-AFFF-41EE-85B7-2842C47DAFEC}"/>
              </a:ext>
            </a:extLst>
          </p:cNvPr>
          <p:cNvSpPr>
            <a:spLocks xmlns:a="http://schemas.openxmlformats.org/drawingml/2006/main" noGrp="1"/>
          </p:cNvSpPr>
          <p:nvPr/>
        </p:nvSpPr>
        <p:spPr>
          <a:xfrm xmlns:a="http://schemas.openxmlformats.org/drawingml/2006/main">
            <a:off x="476250" y="4324350"/>
            <a:ext cx="21907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1" i="0">
                <a:solidFill>
                  <a:srgbClr val="17262D"/>
                </a:solidFill>
                <a:latin typeface="Malgun Gothic"/>
                <a:ea typeface="Malgun Gothic"/>
                <a:cs typeface="Malgun Gothic"/>
              </a:defRPr>
            </a:pPr>
            <a:r>
              <a:t>강사 요구 지표</a:t>
            </a:r>
          </a:p>
        </p:txBody>
      </p:sp>
      <p:sp>
        <p:nvSpPr>
          <p:cNvPr id="22" name="">
            <a:extLst xmlns:a="http://schemas.openxmlformats.org/drawingml/2006/main">
              <a:ext uri="{FF2B5EF4-FFF2-40B4-BE49-F238E27FC236}">
                <a16:creationId xmlns:a16="http://schemas.microsoft.com/office/drawing/2014/main" id="{F481C1CF-8D82-4DE7-8FCD-590E4456B1FF}"/>
              </a:ext>
            </a:extLst>
          </p:cNvPr>
          <p:cNvSpPr>
            <a:spLocks xmlns:a="http://schemas.openxmlformats.org/drawingml/2006/main" noGrp="1"/>
          </p:cNvSpPr>
          <p:nvPr/>
        </p:nvSpPr>
        <p:spPr>
          <a:xfrm xmlns:a="http://schemas.openxmlformats.org/drawingml/2006/main">
            <a:off x="476250" y="4752975"/>
            <a:ext cx="11239500" cy="981075"/>
          </a:xfrm>
          <a:prstGeom xmlns:a="http://schemas.openxmlformats.org/drawingml/2006/main" prst="roundRect">
            <a:avLst>
              <a:gd name="adj" fmla="val 7767"/>
            </a:avLst>
          </a:prstGeom>
          <a:solidFill xmlns:a="http://schemas.openxmlformats.org/drawingml/2006/main">
            <a:srgbClr val="12313F"/>
          </a:solidFill>
          <a:ln xmlns:a="http://schemas.openxmlformats.org/drawingml/2006/main" w="9525">
            <a:solidFill>
              <a:srgbClr val="12313F"/>
            </a:solidFill>
            <a:prstDash val="solid"/>
          </a:ln>
        </p:spPr>
      </p:sp>
      <p:sp>
        <p:nvSpPr>
          <p:cNvPr id="23" name="">
            <a:extLst xmlns:a="http://schemas.openxmlformats.org/drawingml/2006/main">
              <a:ext uri="{FF2B5EF4-FFF2-40B4-BE49-F238E27FC236}">
                <a16:creationId xmlns:a16="http://schemas.microsoft.com/office/drawing/2014/main" id="{3458B9D7-980C-407B-95D0-DE653F7E22EA}"/>
              </a:ext>
            </a:extLst>
          </p:cNvPr>
          <p:cNvSpPr>
            <a:spLocks xmlns:a="http://schemas.openxmlformats.org/drawingml/2006/main" noGrp="1"/>
          </p:cNvSpPr>
          <p:nvPr/>
        </p:nvSpPr>
        <p:spPr>
          <a:xfrm xmlns:a="http://schemas.openxmlformats.org/drawingml/2006/main">
            <a:off x="800100" y="4972050"/>
            <a:ext cx="1619250" cy="2381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350" b="1" i="0">
                <a:solidFill>
                  <a:srgbClr val="FFFFFF"/>
                </a:solidFill>
                <a:latin typeface="Malgun Gothic"/>
                <a:ea typeface="Malgun Gothic"/>
                <a:cs typeface="Malgun Gothic"/>
              </a:defRPr>
            </a:pPr>
            <a:r>
              <a:t>PR-AUC</a:t>
            </a:r>
          </a:p>
        </p:txBody>
      </p:sp>
      <p:sp>
        <p:nvSpPr>
          <p:cNvPr id="24" name="">
            <a:extLst xmlns:a="http://schemas.openxmlformats.org/drawingml/2006/main">
              <a:ext uri="{FF2B5EF4-FFF2-40B4-BE49-F238E27FC236}">
                <a16:creationId xmlns:a16="http://schemas.microsoft.com/office/drawing/2014/main" id="{6D1F18E9-E88C-4FC7-9FE6-21E9FC6A14A9}"/>
              </a:ext>
            </a:extLst>
          </p:cNvPr>
          <p:cNvSpPr>
            <a:spLocks xmlns:a="http://schemas.openxmlformats.org/drawingml/2006/main" noGrp="1"/>
          </p:cNvSpPr>
          <p:nvPr/>
        </p:nvSpPr>
        <p:spPr>
          <a:xfrm xmlns:a="http://schemas.openxmlformats.org/drawingml/2006/main">
            <a:off x="800100" y="53149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i="0">
                <a:solidFill>
                  <a:srgbClr val="BFD0D6"/>
                </a:solidFill>
                <a:latin typeface="Malgun Gothic"/>
                <a:ea typeface="Malgun Gothic"/>
                <a:cs typeface="Malgun Gothic"/>
              </a:defRPr>
            </a:pPr>
            <a:r>
              <a:t>순위 품질</a:t>
            </a:r>
          </a:p>
        </p:txBody>
      </p:sp>
      <p:sp>
        <p:nvSpPr>
          <p:cNvPr id="25" name="">
            <a:extLst xmlns:a="http://schemas.openxmlformats.org/drawingml/2006/main">
              <a:ext uri="{FF2B5EF4-FFF2-40B4-BE49-F238E27FC236}">
                <a16:creationId xmlns:a16="http://schemas.microsoft.com/office/drawing/2014/main" id="{4E24AF73-E9D0-4A2C-AADC-B5ED5D599FC7}"/>
              </a:ext>
            </a:extLst>
          </p:cNvPr>
          <p:cNvSpPr>
            <a:spLocks xmlns:a="http://schemas.openxmlformats.org/drawingml/2006/main" noGrp="1"/>
          </p:cNvSpPr>
          <p:nvPr/>
        </p:nvSpPr>
        <p:spPr>
          <a:xfrm xmlns:a="http://schemas.openxmlformats.org/drawingml/2006/main">
            <a:off x="2381250" y="4972050"/>
            <a:ext cx="1619250" cy="2381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350" b="1" i="0">
                <a:solidFill>
                  <a:srgbClr val="FFFFFF"/>
                </a:solidFill>
                <a:latin typeface="Malgun Gothic"/>
                <a:ea typeface="Malgun Gothic"/>
                <a:cs typeface="Malgun Gothic"/>
              </a:defRPr>
            </a:pPr>
            <a:r>
              <a:t>ROC-AUC</a:t>
            </a:r>
          </a:p>
        </p:txBody>
      </p:sp>
      <p:sp>
        <p:nvSpPr>
          <p:cNvPr id="26" name="">
            <a:extLst xmlns:a="http://schemas.openxmlformats.org/drawingml/2006/main">
              <a:ext uri="{FF2B5EF4-FFF2-40B4-BE49-F238E27FC236}">
                <a16:creationId xmlns:a16="http://schemas.microsoft.com/office/drawing/2014/main" id="{FF6C18CB-C9F5-418B-9CFA-7E9D1E88A736}"/>
              </a:ext>
            </a:extLst>
          </p:cNvPr>
          <p:cNvSpPr>
            <a:spLocks xmlns:a="http://schemas.openxmlformats.org/drawingml/2006/main" noGrp="1"/>
          </p:cNvSpPr>
          <p:nvPr/>
        </p:nvSpPr>
        <p:spPr>
          <a:xfrm xmlns:a="http://schemas.openxmlformats.org/drawingml/2006/main">
            <a:off x="2381250" y="53149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i="0">
                <a:solidFill>
                  <a:srgbClr val="BFD0D6"/>
                </a:solidFill>
                <a:latin typeface="Malgun Gothic"/>
                <a:ea typeface="Malgun Gothic"/>
                <a:cs typeface="Malgun Gothic"/>
              </a:defRPr>
            </a:pPr>
            <a:r>
              <a:t>분리 능력</a:t>
            </a:r>
          </a:p>
        </p:txBody>
      </p:sp>
      <p:sp>
        <p:nvSpPr>
          <p:cNvPr id="27" name="">
            <a:extLst xmlns:a="http://schemas.openxmlformats.org/drawingml/2006/main">
              <a:ext uri="{FF2B5EF4-FFF2-40B4-BE49-F238E27FC236}">
                <a16:creationId xmlns:a16="http://schemas.microsoft.com/office/drawing/2014/main" id="{B3FC1ED4-019F-43CB-BC3F-E8120C29426C}"/>
              </a:ext>
            </a:extLst>
          </p:cNvPr>
          <p:cNvSpPr>
            <a:spLocks xmlns:a="http://schemas.openxmlformats.org/drawingml/2006/main" noGrp="1"/>
          </p:cNvSpPr>
          <p:nvPr/>
        </p:nvSpPr>
        <p:spPr>
          <a:xfrm xmlns:a="http://schemas.openxmlformats.org/drawingml/2006/main">
            <a:off x="4152900" y="4972050"/>
            <a:ext cx="1619250" cy="2381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350" b="1" i="0">
                <a:solidFill>
                  <a:srgbClr val="FFFFFF"/>
                </a:solidFill>
                <a:latin typeface="Malgun Gothic"/>
                <a:ea typeface="Malgun Gothic"/>
                <a:cs typeface="Malgun Gothic"/>
              </a:defRPr>
            </a:pPr>
            <a:r>
              <a:t>Recall · FN</a:t>
            </a:r>
          </a:p>
        </p:txBody>
      </p:sp>
      <p:sp>
        <p:nvSpPr>
          <p:cNvPr id="28" name="">
            <a:extLst xmlns:a="http://schemas.openxmlformats.org/drawingml/2006/main">
              <a:ext uri="{FF2B5EF4-FFF2-40B4-BE49-F238E27FC236}">
                <a16:creationId xmlns:a16="http://schemas.microsoft.com/office/drawing/2014/main" id="{1DCFC8BF-E0FD-4271-A458-71C67B351592}"/>
              </a:ext>
            </a:extLst>
          </p:cNvPr>
          <p:cNvSpPr>
            <a:spLocks xmlns:a="http://schemas.openxmlformats.org/drawingml/2006/main" noGrp="1"/>
          </p:cNvSpPr>
          <p:nvPr/>
        </p:nvSpPr>
        <p:spPr>
          <a:xfrm xmlns:a="http://schemas.openxmlformats.org/drawingml/2006/main">
            <a:off x="4152900" y="53149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i="0">
                <a:solidFill>
                  <a:srgbClr val="BFD0D6"/>
                </a:solidFill>
                <a:latin typeface="Malgun Gothic"/>
                <a:ea typeface="Malgun Gothic"/>
                <a:cs typeface="Malgun Gothic"/>
              </a:defRPr>
            </a:pPr>
            <a:r>
              <a:t>이탈 누락</a:t>
            </a:r>
          </a:p>
        </p:txBody>
      </p:sp>
      <p:sp>
        <p:nvSpPr>
          <p:cNvPr id="29" name="">
            <a:extLst xmlns:a="http://schemas.openxmlformats.org/drawingml/2006/main">
              <a:ext uri="{FF2B5EF4-FFF2-40B4-BE49-F238E27FC236}">
                <a16:creationId xmlns:a16="http://schemas.microsoft.com/office/drawing/2014/main" id="{5120A0BB-7F49-411C-BAFF-BBFF62607EC8}"/>
              </a:ext>
            </a:extLst>
          </p:cNvPr>
          <p:cNvSpPr>
            <a:spLocks xmlns:a="http://schemas.openxmlformats.org/drawingml/2006/main" noGrp="1"/>
          </p:cNvSpPr>
          <p:nvPr/>
        </p:nvSpPr>
        <p:spPr>
          <a:xfrm xmlns:a="http://schemas.openxmlformats.org/drawingml/2006/main">
            <a:off x="6153150" y="4972050"/>
            <a:ext cx="1619250" cy="2381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350" b="1" i="0">
                <a:solidFill>
                  <a:srgbClr val="FFFFFF"/>
                </a:solidFill>
                <a:latin typeface="Malgun Gothic"/>
                <a:ea typeface="Malgun Gothic"/>
                <a:cs typeface="Malgun Gothic"/>
              </a:defRPr>
            </a:pPr>
            <a:r>
              <a:t>Precision · FP</a:t>
            </a:r>
          </a:p>
        </p:txBody>
      </p:sp>
      <p:sp>
        <p:nvSpPr>
          <p:cNvPr id="30" name="">
            <a:extLst xmlns:a="http://schemas.openxmlformats.org/drawingml/2006/main">
              <a:ext uri="{FF2B5EF4-FFF2-40B4-BE49-F238E27FC236}">
                <a16:creationId xmlns:a16="http://schemas.microsoft.com/office/drawing/2014/main" id="{D5561849-D4F4-4AA9-9950-7AF7EDD010A3}"/>
              </a:ext>
            </a:extLst>
          </p:cNvPr>
          <p:cNvSpPr>
            <a:spLocks xmlns:a="http://schemas.openxmlformats.org/drawingml/2006/main" noGrp="1"/>
          </p:cNvSpPr>
          <p:nvPr/>
        </p:nvSpPr>
        <p:spPr>
          <a:xfrm xmlns:a="http://schemas.openxmlformats.org/drawingml/2006/main">
            <a:off x="6153150" y="53149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i="0">
                <a:solidFill>
                  <a:srgbClr val="BFD0D6"/>
                </a:solidFill>
                <a:latin typeface="Malgun Gothic"/>
                <a:ea typeface="Malgun Gothic"/>
                <a:cs typeface="Malgun Gothic"/>
              </a:defRPr>
            </a:pPr>
            <a:r>
              <a:t>접촉 낭비</a:t>
            </a:r>
          </a:p>
        </p:txBody>
      </p:sp>
      <p:sp>
        <p:nvSpPr>
          <p:cNvPr id="31" name="">
            <a:extLst xmlns:a="http://schemas.openxmlformats.org/drawingml/2006/main">
              <a:ext uri="{FF2B5EF4-FFF2-40B4-BE49-F238E27FC236}">
                <a16:creationId xmlns:a16="http://schemas.microsoft.com/office/drawing/2014/main" id="{66D5D692-4D93-419A-A154-1201F5D94794}"/>
              </a:ext>
            </a:extLst>
          </p:cNvPr>
          <p:cNvSpPr>
            <a:spLocks xmlns:a="http://schemas.openxmlformats.org/drawingml/2006/main" noGrp="1"/>
          </p:cNvSpPr>
          <p:nvPr/>
        </p:nvSpPr>
        <p:spPr>
          <a:xfrm xmlns:a="http://schemas.openxmlformats.org/drawingml/2006/main">
            <a:off x="8229600" y="4972050"/>
            <a:ext cx="1619250" cy="2381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350" b="1" i="0">
                <a:solidFill>
                  <a:srgbClr val="FFFFFF"/>
                </a:solidFill>
                <a:latin typeface="Malgun Gothic"/>
                <a:ea typeface="Malgun Gothic"/>
                <a:cs typeface="Malgun Gothic"/>
              </a:defRPr>
            </a:pPr>
            <a:r>
              <a:t>F1</a:t>
            </a:r>
          </a:p>
        </p:txBody>
      </p:sp>
      <p:sp>
        <p:nvSpPr>
          <p:cNvPr id="32" name="">
            <a:extLst xmlns:a="http://schemas.openxmlformats.org/drawingml/2006/main">
              <a:ext uri="{FF2B5EF4-FFF2-40B4-BE49-F238E27FC236}">
                <a16:creationId xmlns:a16="http://schemas.microsoft.com/office/drawing/2014/main" id="{B8C963F7-4886-412D-B4B7-820D7A2A9153}"/>
              </a:ext>
            </a:extLst>
          </p:cNvPr>
          <p:cNvSpPr>
            <a:spLocks xmlns:a="http://schemas.openxmlformats.org/drawingml/2006/main" noGrp="1"/>
          </p:cNvSpPr>
          <p:nvPr/>
        </p:nvSpPr>
        <p:spPr>
          <a:xfrm xmlns:a="http://schemas.openxmlformats.org/drawingml/2006/main">
            <a:off x="8229600" y="53149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i="0">
                <a:solidFill>
                  <a:srgbClr val="BFD0D6"/>
                </a:solidFill>
                <a:latin typeface="Malgun Gothic"/>
                <a:ea typeface="Malgun Gothic"/>
                <a:cs typeface="Malgun Gothic"/>
              </a:defRPr>
            </a:pPr>
            <a:r>
              <a:t>균형 시나리오</a:t>
            </a:r>
          </a:p>
        </p:txBody>
      </p:sp>
      <p:sp>
        <p:nvSpPr>
          <p:cNvPr id="33" name="">
            <a:extLst xmlns:a="http://schemas.openxmlformats.org/drawingml/2006/main">
              <a:ext uri="{FF2B5EF4-FFF2-40B4-BE49-F238E27FC236}">
                <a16:creationId xmlns:a16="http://schemas.microsoft.com/office/drawing/2014/main" id="{37EBA8A8-0BC3-4FE0-892C-AA7A7009C6E0}"/>
              </a:ext>
            </a:extLst>
          </p:cNvPr>
          <p:cNvSpPr>
            <a:spLocks xmlns:a="http://schemas.openxmlformats.org/drawingml/2006/main" noGrp="1"/>
          </p:cNvSpPr>
          <p:nvPr/>
        </p:nvSpPr>
        <p:spPr>
          <a:xfrm xmlns:a="http://schemas.openxmlformats.org/drawingml/2006/main">
            <a:off x="9544050" y="4972050"/>
            <a:ext cx="1619250" cy="2381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350" b="1" i="0">
                <a:solidFill>
                  <a:srgbClr val="FFFFFF"/>
                </a:solidFill>
                <a:latin typeface="Malgun Gothic"/>
                <a:ea typeface="Malgun Gothic"/>
                <a:cs typeface="Malgun Gothic"/>
              </a:defRPr>
            </a:pPr>
            <a:r>
              <a:t>대상 고객 수</a:t>
            </a:r>
          </a:p>
        </p:txBody>
      </p:sp>
      <p:sp>
        <p:nvSpPr>
          <p:cNvPr id="34" name="">
            <a:extLst xmlns:a="http://schemas.openxmlformats.org/drawingml/2006/main">
              <a:ext uri="{FF2B5EF4-FFF2-40B4-BE49-F238E27FC236}">
                <a16:creationId xmlns:a16="http://schemas.microsoft.com/office/drawing/2014/main" id="{8F74D67C-24FE-46A3-B676-3CCDCAD93758}"/>
              </a:ext>
            </a:extLst>
          </p:cNvPr>
          <p:cNvSpPr>
            <a:spLocks xmlns:a="http://schemas.openxmlformats.org/drawingml/2006/main" noGrp="1"/>
          </p:cNvSpPr>
          <p:nvPr/>
        </p:nvSpPr>
        <p:spPr>
          <a:xfrm xmlns:a="http://schemas.openxmlformats.org/drawingml/2006/main">
            <a:off x="9544050" y="53149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i="0">
                <a:solidFill>
                  <a:srgbClr val="BFD0D6"/>
                </a:solidFill>
                <a:latin typeface="Malgun Gothic"/>
                <a:ea typeface="Malgun Gothic"/>
                <a:cs typeface="Malgun Gothic"/>
              </a:defRPr>
            </a:pPr>
            <a:r>
              <a:t>운영 용량</a:t>
            </a:r>
          </a:p>
        </p:txBody>
      </p:sp>
      <p:sp>
        <p:nvSpPr>
          <p:cNvPr id="35" name="">
            <a:extLst xmlns:a="http://schemas.openxmlformats.org/drawingml/2006/main">
              <a:ext uri="{FF2B5EF4-FFF2-40B4-BE49-F238E27FC236}">
                <a16:creationId xmlns:a16="http://schemas.microsoft.com/office/drawing/2014/main" id="{029C0BC6-4472-43F1-906C-8F47D0B86A97}"/>
              </a:ext>
            </a:extLst>
          </p:cNvPr>
          <p:cNvSpPr>
            <a:spLocks xmlns:a="http://schemas.openxmlformats.org/drawingml/2006/main" noGrp="1"/>
          </p:cNvSpPr>
          <p:nvPr/>
        </p:nvSpPr>
        <p:spPr>
          <a:xfrm xmlns:a="http://schemas.openxmlformats.org/drawingml/2006/main">
            <a:off x="476250" y="6486525"/>
            <a:ext cx="11239500" cy="9525"/>
          </a:xfrm>
          <a:prstGeom xmlns:a="http://schemas.openxmlformats.org/drawingml/2006/main" prst="rect">
            <a:avLst/>
          </a:prstGeom>
          <a:solidFill xmlns:a="http://schemas.openxmlformats.org/drawingml/2006/main">
            <a:srgbClr val="D8D8D2"/>
          </a:solidFill>
        </p:spPr>
      </p:sp>
      <p:sp>
        <p:nvSpPr>
          <p:cNvPr id="36" name="">
            <a:extLst xmlns:a="http://schemas.openxmlformats.org/drawingml/2006/main">
              <a:ext uri="{FF2B5EF4-FFF2-40B4-BE49-F238E27FC236}">
                <a16:creationId xmlns:a16="http://schemas.microsoft.com/office/drawing/2014/main" id="{136A6BDF-7B1E-4E37-9672-CCF5746BAA99}"/>
              </a:ext>
            </a:extLst>
          </p:cNvPr>
          <p:cNvSpPr>
            <a:spLocks xmlns:a="http://schemas.openxmlformats.org/drawingml/2006/main" noGrp="1"/>
          </p:cNvSpPr>
          <p:nvPr/>
        </p:nvSpPr>
        <p:spPr>
          <a:xfrm xmlns:a="http://schemas.openxmlformats.org/drawingml/2006/main">
            <a:off x="666750" y="6534150"/>
            <a:ext cx="9620250" cy="209550"/>
          </a:xfrm>
          <a:prstGeom xmlns:a="http://schemas.openxmlformats.org/drawingml/2006/main" prst="rect">
            <a:avLst/>
          </a:prstGeom>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825" b="0" i="0">
                <a:solidFill>
                  <a:srgbClr val="98A5AA"/>
                </a:solidFill>
                <a:latin typeface="Malgun Gothic"/>
                <a:ea typeface="Malgun Gothic"/>
                <a:cs typeface="Malgun Gothic"/>
              </a:defRPr>
            </a:pPr>
            <a:r>
              <a:t>근거 · run_config.json · cv_fold_assignments.csv</a:t>
            </a:r>
          </a:p>
        </p:txBody>
      </p:sp>
      <p:sp>
        <p:nvSpPr>
          <p:cNvPr id="37" name="">
            <a:extLst xmlns:a="http://schemas.openxmlformats.org/drawingml/2006/main">
              <a:ext uri="{FF2B5EF4-FFF2-40B4-BE49-F238E27FC236}">
                <a16:creationId xmlns:a16="http://schemas.microsoft.com/office/drawing/2014/main" id="{8DC990A3-22B9-4224-B53F-A8AAFC36C732}"/>
              </a:ext>
            </a:extLst>
          </p:cNvPr>
          <p:cNvSpPr>
            <a:spLocks xmlns:a="http://schemas.openxmlformats.org/drawingml/2006/main" noGrp="1"/>
          </p:cNvSpPr>
          <p:nvPr/>
        </p:nvSpPr>
        <p:spPr>
          <a:xfrm xmlns:a="http://schemas.openxmlformats.org/drawingml/2006/main">
            <a:off x="11201400" y="6543675"/>
            <a:ext cx="5143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00" b="1" i="0">
                <a:solidFill>
                  <a:srgbClr val="607078"/>
                </a:solidFill>
                <a:latin typeface="Malgun Gothic"/>
                <a:ea typeface="Malgun Gothic"/>
                <a:cs typeface="Malgun Gothic"/>
              </a:defRPr>
            </a:pPr>
            <a:r>
              <a:t>06</a:t>
            </a:r>
          </a:p>
        </p:txBody>
      </p:sp>
    </p:spTree>
    <p:extLst>
      <p:ext uri="{BB962C8B-B14F-4D97-AF65-F5344CB8AC3E}">
        <p14:creationId xmlns:p14="http://schemas.microsoft.com/office/powerpoint/2010/main" val="142825741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5FB59523-EA08-45DC-8D2F-223351BE2F9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6F3EE"/>
          </a:solidFill>
        </p:spPr>
      </p:sp>
      <p:sp>
        <p:nvSpPr>
          <p:cNvPr id="2" name="">
            <a:extLst xmlns:a="http://schemas.openxmlformats.org/drawingml/2006/main">
              <a:ext uri="{FF2B5EF4-FFF2-40B4-BE49-F238E27FC236}">
                <a16:creationId xmlns:a16="http://schemas.microsoft.com/office/drawing/2014/main" id="{F6B4B843-19DC-4F43-A21F-62F13D057094}"/>
              </a:ext>
            </a:extLst>
          </p:cNvPr>
          <p:cNvSpPr>
            <a:spLocks xmlns:a="http://schemas.openxmlformats.org/drawingml/2006/main" noGrp="1"/>
          </p:cNvSpPr>
          <p:nvPr/>
        </p:nvSpPr>
        <p:spPr>
          <a:xfrm xmlns:a="http://schemas.openxmlformats.org/drawingml/2006/main">
            <a:off x="476250" y="257175"/>
            <a:ext cx="40005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118C83"/>
                </a:solidFill>
                <a:latin typeface="Malgun Gothic"/>
                <a:ea typeface="Malgun Gothic"/>
                <a:cs typeface="Malgun Gothic"/>
              </a:defRPr>
            </a:pPr>
            <a:r>
              <a:t>06 · MODEL COMPARISON</a:t>
            </a:r>
          </a:p>
        </p:txBody>
      </p:sp>
      <p:sp>
        <p:nvSpPr>
          <p:cNvPr id="3" name="">
            <a:extLst xmlns:a="http://schemas.openxmlformats.org/drawingml/2006/main">
              <a:ext uri="{FF2B5EF4-FFF2-40B4-BE49-F238E27FC236}">
                <a16:creationId xmlns:a16="http://schemas.microsoft.com/office/drawing/2014/main" id="{D29202E4-D0E1-4124-B4F8-5141A6BAC0AE}"/>
              </a:ext>
            </a:extLst>
          </p:cNvPr>
          <p:cNvSpPr>
            <a:spLocks xmlns:a="http://schemas.openxmlformats.org/drawingml/2006/main" noGrp="1"/>
          </p:cNvSpPr>
          <p:nvPr/>
        </p:nvSpPr>
        <p:spPr>
          <a:xfrm xmlns:a="http://schemas.openxmlformats.org/drawingml/2006/main">
            <a:off x="476250" y="561975"/>
            <a:ext cx="11049000" cy="542925"/>
          </a:xfrm>
          <a:prstGeom xmlns:a="http://schemas.openxmlformats.org/drawingml/2006/main" prst="rect">
            <a:avLst/>
          </a:prstGeom>
        </p:spPr>
        <p:txBody>
          <a:bodyPr xmlns:a="http://schemas.openxmlformats.org/drawingml/2006/main" wrap="square" lIns="0" tIns="0" rIns="0" bIns="0" anchor="t">
            <a:normAutofit fontScale="88141"/>
          </a:bodyPr>
          <a:lstStyle xmlns:a="http://schemas.openxmlformats.org/drawingml/2006/main"/>
          <a:p xmlns:a="http://schemas.openxmlformats.org/drawingml/2006/main">
            <a:pPr algn="l">
              <a:defRPr sz="2850" b="1" i="0">
                <a:solidFill>
                  <a:srgbClr val="17262D"/>
                </a:solidFill>
                <a:latin typeface="Malgun Gothic"/>
                <a:ea typeface="Malgun Gothic"/>
                <a:cs typeface="Malgun Gothic"/>
              </a:defRPr>
            </a:pPr>
            <a:r>
              <a:t>8개 모델을 동일 조건에서 비교하자 Tree Boosting 계열이 상위권이었습니다</a:t>
            </a:r>
          </a:p>
        </p:txBody>
      </p:sp>
      <p:sp>
        <p:nvSpPr>
          <p:cNvPr id="4" name="">
            <a:extLst xmlns:a="http://schemas.openxmlformats.org/drawingml/2006/main">
              <a:ext uri="{FF2B5EF4-FFF2-40B4-BE49-F238E27FC236}">
                <a16:creationId xmlns:a16="http://schemas.microsoft.com/office/drawing/2014/main" id="{DDAFCFFB-05C8-4D90-BCE5-F179555CE052}"/>
              </a:ext>
            </a:extLst>
          </p:cNvPr>
          <p:cNvSpPr>
            <a:spLocks xmlns:a="http://schemas.openxmlformats.org/drawingml/2006/main" noGrp="1"/>
          </p:cNvSpPr>
          <p:nvPr/>
        </p:nvSpPr>
        <p:spPr>
          <a:xfrm xmlns:a="http://schemas.openxmlformats.org/drawingml/2006/main">
            <a:off x="476250" y="1200150"/>
            <a:ext cx="723900" cy="47625"/>
          </a:xfrm>
          <a:prstGeom xmlns:a="http://schemas.openxmlformats.org/drawingml/2006/main" prst="rect">
            <a:avLst/>
          </a:prstGeom>
          <a:solidFill xmlns:a="http://schemas.openxmlformats.org/drawingml/2006/main">
            <a:srgbClr val="F2674A"/>
          </a:solidFill>
        </p:spPr>
      </p:sp>
      <p:sp>
        <p:nvSpPr>
          <p:cNvPr id="5" name="">
            <a:extLst xmlns:a="http://schemas.openxmlformats.org/drawingml/2006/main">
              <a:ext uri="{FF2B5EF4-FFF2-40B4-BE49-F238E27FC236}">
                <a16:creationId xmlns:a16="http://schemas.microsoft.com/office/drawing/2014/main" id="{84B72EAD-B71E-47DB-8DF3-13FE9ABADBBF}"/>
              </a:ext>
            </a:extLst>
          </p:cNvPr>
          <p:cNvSpPr>
            <a:spLocks xmlns:a="http://schemas.openxmlformats.org/drawingml/2006/main" noGrp="1"/>
          </p:cNvSpPr>
          <p:nvPr/>
        </p:nvSpPr>
        <p:spPr>
          <a:xfrm xmlns:a="http://schemas.openxmlformats.org/drawingml/2006/main">
            <a:off x="476250" y="1562100"/>
            <a:ext cx="8001000" cy="4400550"/>
          </a:xfrm>
          <a:prstGeom xmlns:a="http://schemas.openxmlformats.org/drawingml/2006/main" prst="roundRect">
            <a:avLst>
              <a:gd name="adj" fmla="val 1732"/>
            </a:avLst>
          </a:prstGeom>
          <a:solidFill xmlns:a="http://schemas.openxmlformats.org/drawingml/2006/main">
            <a:srgbClr val="FFFDFC"/>
          </a:solidFill>
          <a:ln xmlns:a="http://schemas.openxmlformats.org/drawingml/2006/main" w="9525">
            <a:solidFill>
              <a:srgbClr val="D8D8D2"/>
            </a:solidFill>
            <a:prstDash val="solid"/>
          </a:ln>
        </p:spPr>
      </p:sp>
      <p:sp>
        <p:nvSpPr>
          <p:cNvPr id="6" name="">
            <a:extLst xmlns:a="http://schemas.openxmlformats.org/drawingml/2006/main">
              <a:ext uri="{FF2B5EF4-FFF2-40B4-BE49-F238E27FC236}">
                <a16:creationId xmlns:a16="http://schemas.microsoft.com/office/drawing/2014/main" id="{9115FD58-AE6F-413F-B688-B4228492324F}"/>
              </a:ext>
            </a:extLst>
          </p:cNvPr>
          <p:cNvSpPr>
            <a:spLocks xmlns:a="http://schemas.openxmlformats.org/drawingml/2006/main" noGrp="1"/>
          </p:cNvSpPr>
          <p:nvPr/>
        </p:nvSpPr>
        <p:spPr>
          <a:xfrm xmlns:a="http://schemas.openxmlformats.org/drawingml/2006/main">
            <a:off x="8705850" y="1562100"/>
            <a:ext cx="3009900" cy="4400550"/>
          </a:xfrm>
          <a:prstGeom xmlns:a="http://schemas.openxmlformats.org/drawingml/2006/main" prst="roundRect">
            <a:avLst>
              <a:gd name="adj" fmla="val 2532"/>
            </a:avLst>
          </a:prstGeom>
          <a:solidFill xmlns:a="http://schemas.openxmlformats.org/drawingml/2006/main">
            <a:srgbClr val="ECEAE5"/>
          </a:solidFill>
          <a:ln xmlns:a="http://schemas.openxmlformats.org/drawingml/2006/main" w="9525">
            <a:solidFill>
              <a:srgbClr val="ECEAE5"/>
            </a:solidFill>
            <a:prstDash val="solid"/>
          </a:ln>
        </p:spPr>
      </p:sp>
      <p:sp>
        <p:nvSpPr>
          <p:cNvPr id="7" name="">
            <a:extLst xmlns:a="http://schemas.openxmlformats.org/drawingml/2006/main">
              <a:ext uri="{FF2B5EF4-FFF2-40B4-BE49-F238E27FC236}">
                <a16:creationId xmlns:a16="http://schemas.microsoft.com/office/drawing/2014/main" id="{0642B056-6CBF-434E-9349-198F8080D4B9}"/>
              </a:ext>
            </a:extLst>
          </p:cNvPr>
          <p:cNvSpPr>
            <a:spLocks xmlns:a="http://schemas.openxmlformats.org/drawingml/2006/main" noGrp="1"/>
          </p:cNvSpPr>
          <p:nvPr/>
        </p:nvSpPr>
        <p:spPr>
          <a:xfrm xmlns:a="http://schemas.openxmlformats.org/drawingml/2006/main">
            <a:off x="8953500" y="1847850"/>
            <a:ext cx="25146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7262D"/>
                </a:solidFill>
                <a:latin typeface="Malgun Gothic"/>
                <a:ea typeface="Malgun Gothic"/>
                <a:cs typeface="Malgun Gothic"/>
              </a:defRPr>
            </a:pPr>
            <a:r>
              <a:t>OOF PR-AUC 상위 3개</a:t>
            </a:r>
          </a:p>
        </p:txBody>
      </p:sp>
      <p:sp>
        <p:nvSpPr>
          <p:cNvPr id="8" name="">
            <a:extLst xmlns:a="http://schemas.openxmlformats.org/drawingml/2006/main">
              <a:ext uri="{FF2B5EF4-FFF2-40B4-BE49-F238E27FC236}">
                <a16:creationId xmlns:a16="http://schemas.microsoft.com/office/drawing/2014/main" id="{0C55C943-13B5-46F5-998F-D444C102B71D}"/>
              </a:ext>
            </a:extLst>
          </p:cNvPr>
          <p:cNvSpPr>
            <a:spLocks xmlns:a="http://schemas.openxmlformats.org/drawingml/2006/main" noGrp="1"/>
          </p:cNvSpPr>
          <p:nvPr/>
        </p:nvSpPr>
        <p:spPr>
          <a:xfrm xmlns:a="http://schemas.openxmlformats.org/drawingml/2006/main">
            <a:off x="8972550" y="2390775"/>
            <a:ext cx="323850" cy="304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1" i="0">
                <a:solidFill>
                  <a:srgbClr val="F2674A"/>
                </a:solidFill>
                <a:latin typeface="Malgun Gothic"/>
                <a:ea typeface="Malgun Gothic"/>
                <a:cs typeface="Malgun Gothic"/>
              </a:defRPr>
            </a:pPr>
            <a:r>
              <a:t>1</a:t>
            </a:r>
          </a:p>
        </p:txBody>
      </p:sp>
      <p:sp>
        <p:nvSpPr>
          <p:cNvPr id="9" name="">
            <a:extLst xmlns:a="http://schemas.openxmlformats.org/drawingml/2006/main">
              <a:ext uri="{FF2B5EF4-FFF2-40B4-BE49-F238E27FC236}">
                <a16:creationId xmlns:a16="http://schemas.microsoft.com/office/drawing/2014/main" id="{78B456BF-CD1F-47D6-9FE1-0338F57D570D}"/>
              </a:ext>
            </a:extLst>
          </p:cNvPr>
          <p:cNvSpPr>
            <a:spLocks xmlns:a="http://schemas.openxmlformats.org/drawingml/2006/main" noGrp="1"/>
          </p:cNvSpPr>
          <p:nvPr/>
        </p:nvSpPr>
        <p:spPr>
          <a:xfrm xmlns:a="http://schemas.openxmlformats.org/drawingml/2006/main">
            <a:off x="9363075" y="2390775"/>
            <a:ext cx="1104900" cy="285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7262D"/>
                </a:solidFill>
                <a:latin typeface="Malgun Gothic"/>
                <a:ea typeface="Malgun Gothic"/>
                <a:cs typeface="Malgun Gothic"/>
              </a:defRPr>
            </a:pPr>
            <a:r>
              <a:t>CatBoost</a:t>
            </a:r>
          </a:p>
        </p:txBody>
      </p:sp>
      <p:sp>
        <p:nvSpPr>
          <p:cNvPr id="10" name="">
            <a:extLst xmlns:a="http://schemas.openxmlformats.org/drawingml/2006/main">
              <a:ext uri="{FF2B5EF4-FFF2-40B4-BE49-F238E27FC236}">
                <a16:creationId xmlns:a16="http://schemas.microsoft.com/office/drawing/2014/main" id="{58B90693-2A04-4065-916C-0984B434D611}"/>
              </a:ext>
            </a:extLst>
          </p:cNvPr>
          <p:cNvSpPr>
            <a:spLocks xmlns:a="http://schemas.openxmlformats.org/drawingml/2006/main" noGrp="1"/>
          </p:cNvSpPr>
          <p:nvPr/>
        </p:nvSpPr>
        <p:spPr>
          <a:xfrm xmlns:a="http://schemas.openxmlformats.org/drawingml/2006/main">
            <a:off x="10420350" y="2390775"/>
            <a:ext cx="1047750" cy="285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500" b="1" i="0">
                <a:solidFill>
                  <a:srgbClr val="F2674A"/>
                </a:solidFill>
                <a:latin typeface="Malgun Gothic"/>
                <a:ea typeface="Malgun Gothic"/>
                <a:cs typeface="Malgun Gothic"/>
              </a:defRPr>
            </a:pPr>
            <a:r>
              <a:t>0.947622</a:t>
            </a:r>
          </a:p>
        </p:txBody>
      </p:sp>
      <p:sp>
        <p:nvSpPr>
          <p:cNvPr id="11" name="">
            <a:extLst xmlns:a="http://schemas.openxmlformats.org/drawingml/2006/main">
              <a:ext uri="{FF2B5EF4-FFF2-40B4-BE49-F238E27FC236}">
                <a16:creationId xmlns:a16="http://schemas.microsoft.com/office/drawing/2014/main" id="{F081322C-2D79-4C66-87A7-8632720B79B0}"/>
              </a:ext>
            </a:extLst>
          </p:cNvPr>
          <p:cNvSpPr>
            <a:spLocks xmlns:a="http://schemas.openxmlformats.org/drawingml/2006/main" noGrp="1"/>
          </p:cNvSpPr>
          <p:nvPr/>
        </p:nvSpPr>
        <p:spPr>
          <a:xfrm xmlns:a="http://schemas.openxmlformats.org/drawingml/2006/main">
            <a:off x="8972550" y="2952750"/>
            <a:ext cx="323850" cy="304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1" i="0">
                <a:solidFill>
                  <a:srgbClr val="118C83"/>
                </a:solidFill>
                <a:latin typeface="Malgun Gothic"/>
                <a:ea typeface="Malgun Gothic"/>
                <a:cs typeface="Malgun Gothic"/>
              </a:defRPr>
            </a:pPr>
            <a:r>
              <a:t>2</a:t>
            </a:r>
          </a:p>
        </p:txBody>
      </p:sp>
      <p:sp>
        <p:nvSpPr>
          <p:cNvPr id="12" name="">
            <a:extLst xmlns:a="http://schemas.openxmlformats.org/drawingml/2006/main">
              <a:ext uri="{FF2B5EF4-FFF2-40B4-BE49-F238E27FC236}">
                <a16:creationId xmlns:a16="http://schemas.microsoft.com/office/drawing/2014/main" id="{B6119ED7-22EA-4C0E-91E2-EECF60C20CF0}"/>
              </a:ext>
            </a:extLst>
          </p:cNvPr>
          <p:cNvSpPr>
            <a:spLocks xmlns:a="http://schemas.openxmlformats.org/drawingml/2006/main" noGrp="1"/>
          </p:cNvSpPr>
          <p:nvPr/>
        </p:nvSpPr>
        <p:spPr>
          <a:xfrm xmlns:a="http://schemas.openxmlformats.org/drawingml/2006/main">
            <a:off x="9363075" y="2952750"/>
            <a:ext cx="1104900" cy="285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7262D"/>
                </a:solidFill>
                <a:latin typeface="Malgun Gothic"/>
                <a:ea typeface="Malgun Gothic"/>
                <a:cs typeface="Malgun Gothic"/>
              </a:defRPr>
            </a:pPr>
            <a:r>
              <a:t>LightGBM</a:t>
            </a:r>
          </a:p>
        </p:txBody>
      </p:sp>
      <p:sp>
        <p:nvSpPr>
          <p:cNvPr id="13" name="">
            <a:extLst xmlns:a="http://schemas.openxmlformats.org/drawingml/2006/main">
              <a:ext uri="{FF2B5EF4-FFF2-40B4-BE49-F238E27FC236}">
                <a16:creationId xmlns:a16="http://schemas.microsoft.com/office/drawing/2014/main" id="{98BB538D-1D46-4CD5-921A-F56D50BD6154}"/>
              </a:ext>
            </a:extLst>
          </p:cNvPr>
          <p:cNvSpPr>
            <a:spLocks xmlns:a="http://schemas.openxmlformats.org/drawingml/2006/main" noGrp="1"/>
          </p:cNvSpPr>
          <p:nvPr/>
        </p:nvSpPr>
        <p:spPr>
          <a:xfrm xmlns:a="http://schemas.openxmlformats.org/drawingml/2006/main">
            <a:off x="10420350" y="2952750"/>
            <a:ext cx="1047750" cy="285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500" b="1" i="0">
                <a:solidFill>
                  <a:srgbClr val="118C83"/>
                </a:solidFill>
                <a:latin typeface="Malgun Gothic"/>
                <a:ea typeface="Malgun Gothic"/>
                <a:cs typeface="Malgun Gothic"/>
              </a:defRPr>
            </a:pPr>
            <a:r>
              <a:t>0.947534</a:t>
            </a:r>
          </a:p>
        </p:txBody>
      </p:sp>
      <p:sp>
        <p:nvSpPr>
          <p:cNvPr id="14" name="">
            <a:extLst xmlns:a="http://schemas.openxmlformats.org/drawingml/2006/main">
              <a:ext uri="{FF2B5EF4-FFF2-40B4-BE49-F238E27FC236}">
                <a16:creationId xmlns:a16="http://schemas.microsoft.com/office/drawing/2014/main" id="{767FEAB2-7210-498B-891C-31C49732610F}"/>
              </a:ext>
            </a:extLst>
          </p:cNvPr>
          <p:cNvSpPr>
            <a:spLocks xmlns:a="http://schemas.openxmlformats.org/drawingml/2006/main" noGrp="1"/>
          </p:cNvSpPr>
          <p:nvPr/>
        </p:nvSpPr>
        <p:spPr>
          <a:xfrm xmlns:a="http://schemas.openxmlformats.org/drawingml/2006/main">
            <a:off x="8972550" y="3514725"/>
            <a:ext cx="323850" cy="304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1" i="0">
                <a:solidFill>
                  <a:srgbClr val="3A6EA5"/>
                </a:solidFill>
                <a:latin typeface="Malgun Gothic"/>
                <a:ea typeface="Malgun Gothic"/>
                <a:cs typeface="Malgun Gothic"/>
              </a:defRPr>
            </a:pPr>
            <a:r>
              <a:t>3</a:t>
            </a:r>
          </a:p>
        </p:txBody>
      </p:sp>
      <p:sp>
        <p:nvSpPr>
          <p:cNvPr id="15" name="">
            <a:extLst xmlns:a="http://schemas.openxmlformats.org/drawingml/2006/main">
              <a:ext uri="{FF2B5EF4-FFF2-40B4-BE49-F238E27FC236}">
                <a16:creationId xmlns:a16="http://schemas.microsoft.com/office/drawing/2014/main" id="{E0FEA89C-1BDA-4498-8F5C-051DACB2359E}"/>
              </a:ext>
            </a:extLst>
          </p:cNvPr>
          <p:cNvSpPr>
            <a:spLocks xmlns:a="http://schemas.openxmlformats.org/drawingml/2006/main" noGrp="1"/>
          </p:cNvSpPr>
          <p:nvPr/>
        </p:nvSpPr>
        <p:spPr>
          <a:xfrm xmlns:a="http://schemas.openxmlformats.org/drawingml/2006/main">
            <a:off x="9363075" y="3514725"/>
            <a:ext cx="1104900" cy="285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7262D"/>
                </a:solidFill>
                <a:latin typeface="Malgun Gothic"/>
                <a:ea typeface="Malgun Gothic"/>
                <a:cs typeface="Malgun Gothic"/>
              </a:defRPr>
            </a:pPr>
            <a:r>
              <a:t>XGBoost</a:t>
            </a:r>
          </a:p>
        </p:txBody>
      </p:sp>
      <p:sp>
        <p:nvSpPr>
          <p:cNvPr id="16" name="">
            <a:extLst xmlns:a="http://schemas.openxmlformats.org/drawingml/2006/main">
              <a:ext uri="{FF2B5EF4-FFF2-40B4-BE49-F238E27FC236}">
                <a16:creationId xmlns:a16="http://schemas.microsoft.com/office/drawing/2014/main" id="{B282C7ED-02CF-4FB3-9D32-1C45F6C0F88B}"/>
              </a:ext>
            </a:extLst>
          </p:cNvPr>
          <p:cNvSpPr>
            <a:spLocks xmlns:a="http://schemas.openxmlformats.org/drawingml/2006/main" noGrp="1"/>
          </p:cNvSpPr>
          <p:nvPr/>
        </p:nvSpPr>
        <p:spPr>
          <a:xfrm xmlns:a="http://schemas.openxmlformats.org/drawingml/2006/main">
            <a:off x="10420350" y="3514725"/>
            <a:ext cx="1047750" cy="285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500" b="1" i="0">
                <a:solidFill>
                  <a:srgbClr val="3A6EA5"/>
                </a:solidFill>
                <a:latin typeface="Malgun Gothic"/>
                <a:ea typeface="Malgun Gothic"/>
                <a:cs typeface="Malgun Gothic"/>
              </a:defRPr>
            </a:pPr>
            <a:r>
              <a:t>0.947052</a:t>
            </a:r>
          </a:p>
        </p:txBody>
      </p:sp>
      <p:sp>
        <p:nvSpPr>
          <p:cNvPr id="17" name="">
            <a:extLst xmlns:a="http://schemas.openxmlformats.org/drawingml/2006/main">
              <a:ext uri="{FF2B5EF4-FFF2-40B4-BE49-F238E27FC236}">
                <a16:creationId xmlns:a16="http://schemas.microsoft.com/office/drawing/2014/main" id="{59AD01A1-89D1-4841-8199-AC920CAE0E8A}"/>
              </a:ext>
            </a:extLst>
          </p:cNvPr>
          <p:cNvSpPr>
            <a:spLocks xmlns:a="http://schemas.openxmlformats.org/drawingml/2006/main" noGrp="1"/>
          </p:cNvSpPr>
          <p:nvPr/>
        </p:nvSpPr>
        <p:spPr>
          <a:xfrm xmlns:a="http://schemas.openxmlformats.org/drawingml/2006/main">
            <a:off x="8953500" y="4067175"/>
            <a:ext cx="2514600" cy="9525"/>
          </a:xfrm>
          <a:prstGeom xmlns:a="http://schemas.openxmlformats.org/drawingml/2006/main" prst="rect">
            <a:avLst/>
          </a:prstGeom>
          <a:solidFill xmlns:a="http://schemas.openxmlformats.org/drawingml/2006/main">
            <a:srgbClr val="D8D8D2"/>
          </a:solidFill>
        </p:spPr>
      </p:sp>
      <p:sp>
        <p:nvSpPr>
          <p:cNvPr id="18" name="">
            <a:extLst xmlns:a="http://schemas.openxmlformats.org/drawingml/2006/main">
              <a:ext uri="{FF2B5EF4-FFF2-40B4-BE49-F238E27FC236}">
                <a16:creationId xmlns:a16="http://schemas.microsoft.com/office/drawing/2014/main" id="{C1E5947C-FE8A-463F-B5C9-6061A70C8B92}"/>
              </a:ext>
            </a:extLst>
          </p:cNvPr>
          <p:cNvSpPr>
            <a:spLocks xmlns:a="http://schemas.openxmlformats.org/drawingml/2006/main" noGrp="1"/>
          </p:cNvSpPr>
          <p:nvPr/>
        </p:nvSpPr>
        <p:spPr>
          <a:xfrm xmlns:a="http://schemas.openxmlformats.org/drawingml/2006/main">
            <a:off x="8953500" y="4333875"/>
            <a:ext cx="2514600" cy="552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i="0">
                <a:solidFill>
                  <a:srgbClr val="607078"/>
                </a:solidFill>
                <a:latin typeface="Malgun Gothic"/>
                <a:ea typeface="Malgun Gothic"/>
                <a:cs typeface="Malgun Gothic"/>
              </a:defRPr>
            </a:pPr>
            <a:r>
              <a:t>Logistic 0.906293
Dummy 0.513386</a:t>
            </a:r>
          </a:p>
        </p:txBody>
      </p:sp>
      <p:sp>
        <p:nvSpPr>
          <p:cNvPr id="19" name="">
            <a:extLst xmlns:a="http://schemas.openxmlformats.org/drawingml/2006/main">
              <a:ext uri="{FF2B5EF4-FFF2-40B4-BE49-F238E27FC236}">
                <a16:creationId xmlns:a16="http://schemas.microsoft.com/office/drawing/2014/main" id="{31A82211-BF28-4997-991E-ABC0590EE925}"/>
              </a:ext>
            </a:extLst>
          </p:cNvPr>
          <p:cNvSpPr>
            <a:spLocks xmlns:a="http://schemas.openxmlformats.org/drawingml/2006/main" noGrp="1"/>
          </p:cNvSpPr>
          <p:nvPr/>
        </p:nvSpPr>
        <p:spPr>
          <a:xfrm xmlns:a="http://schemas.openxmlformats.org/drawingml/2006/main">
            <a:off x="8953500" y="5153025"/>
            <a:ext cx="2514600" cy="5048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i="0">
                <a:solidFill>
                  <a:srgbClr val="17262D"/>
                </a:solidFill>
                <a:latin typeface="Malgun Gothic"/>
                <a:ea typeface="Malgun Gothic"/>
                <a:cs typeface="Malgun Gothic"/>
              </a:defRPr>
            </a:pPr>
            <a:r>
              <a:t>비선형 관계를 포착한 모델이
Linear baseline을 약 0.041p 개선</a:t>
            </a:r>
          </a:p>
        </p:txBody>
      </p:sp>
      <p:sp>
        <p:nvSpPr>
          <p:cNvPr id="20" name="">
            <a:extLst xmlns:a="http://schemas.openxmlformats.org/drawingml/2006/main">
              <a:ext uri="{FF2B5EF4-FFF2-40B4-BE49-F238E27FC236}">
                <a16:creationId xmlns:a16="http://schemas.microsoft.com/office/drawing/2014/main" id="{7636676B-CA2D-4D07-993D-12D9B7BCBE21}"/>
              </a:ext>
            </a:extLst>
          </p:cNvPr>
          <p:cNvSpPr>
            <a:spLocks xmlns:a="http://schemas.openxmlformats.org/drawingml/2006/main" noGrp="1"/>
          </p:cNvSpPr>
          <p:nvPr/>
        </p:nvSpPr>
        <p:spPr>
          <a:xfrm xmlns:a="http://schemas.openxmlformats.org/drawingml/2006/main">
            <a:off x="476250" y="6486525"/>
            <a:ext cx="11239500" cy="9525"/>
          </a:xfrm>
          <a:prstGeom xmlns:a="http://schemas.openxmlformats.org/drawingml/2006/main" prst="rect">
            <a:avLst/>
          </a:prstGeom>
          <a:solidFill xmlns:a="http://schemas.openxmlformats.org/drawingml/2006/main">
            <a:srgbClr val="D8D8D2"/>
          </a:solidFill>
        </p:spPr>
      </p:sp>
      <p:sp>
        <p:nvSpPr>
          <p:cNvPr id="21" name="">
            <a:extLst xmlns:a="http://schemas.openxmlformats.org/drawingml/2006/main">
              <a:ext uri="{FF2B5EF4-FFF2-40B4-BE49-F238E27FC236}">
                <a16:creationId xmlns:a16="http://schemas.microsoft.com/office/drawing/2014/main" id="{5FEA9959-47DF-4319-87CA-59FE6A5CC737}"/>
              </a:ext>
            </a:extLst>
          </p:cNvPr>
          <p:cNvSpPr>
            <a:spLocks xmlns:a="http://schemas.openxmlformats.org/drawingml/2006/main" noGrp="1"/>
          </p:cNvSpPr>
          <p:nvPr/>
        </p:nvSpPr>
        <p:spPr>
          <a:xfrm xmlns:a="http://schemas.openxmlformats.org/drawingml/2006/main">
            <a:off x="666750" y="6534150"/>
            <a:ext cx="9620250" cy="209550"/>
          </a:xfrm>
          <a:prstGeom xmlns:a="http://schemas.openxmlformats.org/drawingml/2006/main" prst="rect">
            <a:avLst/>
          </a:prstGeom>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825" b="0" i="0">
                <a:solidFill>
                  <a:srgbClr val="98A5AA"/>
                </a:solidFill>
                <a:latin typeface="Malgun Gothic"/>
                <a:ea typeface="Malgun Gothic"/>
                <a:cs typeface="Malgun Gothic"/>
              </a:defRPr>
            </a:pPr>
            <a:r>
              <a:t>근거 · artifacts/presentation_v3/04_eight_model_fair_comparison.csv · model_comparison_fair.csv</a:t>
            </a:r>
          </a:p>
        </p:txBody>
      </p:sp>
      <p:sp>
        <p:nvSpPr>
          <p:cNvPr id="22" name="">
            <a:extLst xmlns:a="http://schemas.openxmlformats.org/drawingml/2006/main">
              <a:ext uri="{FF2B5EF4-FFF2-40B4-BE49-F238E27FC236}">
                <a16:creationId xmlns:a16="http://schemas.microsoft.com/office/drawing/2014/main" id="{02A8F17B-3A0C-47D0-9784-72ED75ACD80C}"/>
              </a:ext>
            </a:extLst>
          </p:cNvPr>
          <p:cNvSpPr>
            <a:spLocks xmlns:a="http://schemas.openxmlformats.org/drawingml/2006/main" noGrp="1"/>
          </p:cNvSpPr>
          <p:nvPr/>
        </p:nvSpPr>
        <p:spPr>
          <a:xfrm xmlns:a="http://schemas.openxmlformats.org/drawingml/2006/main">
            <a:off x="11201400" y="6543675"/>
            <a:ext cx="5143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00" b="1" i="0">
                <a:solidFill>
                  <a:srgbClr val="607078"/>
                </a:solidFill>
                <a:latin typeface="Malgun Gothic"/>
                <a:ea typeface="Malgun Gothic"/>
                <a:cs typeface="Malgun Gothic"/>
              </a:defRPr>
            </a:pPr>
            <a:r>
              <a:t>07</a:t>
            </a:r>
          </a:p>
        </p:txBody>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b18c59667f6e4310"/>
          <a:stretch xmlns:a="http://schemas.openxmlformats.org/drawingml/2006/main"/>
        </p:blipFill>
        <p:spPr>
          <a:xfrm xmlns:a="http://schemas.openxmlformats.org/drawingml/2006/main">
            <a:off x="1059122" y="1809750"/>
            <a:ext cx="6835257" cy="3905250"/>
          </a:xfrm>
          <a:prstGeom xmlns:a="http://schemas.openxmlformats.org/drawingml/2006/main" prst="rect">
            <a:avLst/>
          </a:prstGeom>
        </p:spPr>
      </p:pic>
    </p:spTree>
    <p:extLst>
      <p:ext uri="{BB962C8B-B14F-4D97-AF65-F5344CB8AC3E}">
        <p14:creationId xmlns:p14="http://schemas.microsoft.com/office/powerpoint/2010/main" val="152100262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149BC7FA-304C-440E-823C-269491E69DF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6F3EE"/>
          </a:solidFill>
        </p:spPr>
      </p:sp>
      <p:sp>
        <p:nvSpPr>
          <p:cNvPr id="2" name="">
            <a:extLst xmlns:a="http://schemas.openxmlformats.org/drawingml/2006/main">
              <a:ext uri="{FF2B5EF4-FFF2-40B4-BE49-F238E27FC236}">
                <a16:creationId xmlns:a16="http://schemas.microsoft.com/office/drawing/2014/main" id="{DAE03B7E-D384-4DE4-8EF5-6D287EEFEDBA}"/>
              </a:ext>
            </a:extLst>
          </p:cNvPr>
          <p:cNvSpPr>
            <a:spLocks xmlns:a="http://schemas.openxmlformats.org/drawingml/2006/main" noGrp="1"/>
          </p:cNvSpPr>
          <p:nvPr/>
        </p:nvSpPr>
        <p:spPr>
          <a:xfrm xmlns:a="http://schemas.openxmlformats.org/drawingml/2006/main">
            <a:off x="476250" y="257175"/>
            <a:ext cx="40005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118C83"/>
                </a:solidFill>
                <a:latin typeface="Malgun Gothic"/>
                <a:ea typeface="Malgun Gothic"/>
                <a:cs typeface="Malgun Gothic"/>
              </a:defRPr>
            </a:pPr>
            <a:r>
              <a:t>07 · EXPERIMENT JOURNEY</a:t>
            </a:r>
          </a:p>
        </p:txBody>
      </p:sp>
      <p:sp>
        <p:nvSpPr>
          <p:cNvPr id="3" name="">
            <a:extLst xmlns:a="http://schemas.openxmlformats.org/drawingml/2006/main">
              <a:ext uri="{FF2B5EF4-FFF2-40B4-BE49-F238E27FC236}">
                <a16:creationId xmlns:a16="http://schemas.microsoft.com/office/drawing/2014/main" id="{C1AD8FC2-CD3F-40AE-B7D0-21FC0AF01ED0}"/>
              </a:ext>
            </a:extLst>
          </p:cNvPr>
          <p:cNvSpPr>
            <a:spLocks xmlns:a="http://schemas.openxmlformats.org/drawingml/2006/main" noGrp="1"/>
          </p:cNvSpPr>
          <p:nvPr/>
        </p:nvSpPr>
        <p:spPr>
          <a:xfrm xmlns:a="http://schemas.openxmlformats.org/drawingml/2006/main">
            <a:off x="476250" y="561975"/>
            <a:ext cx="11049000" cy="5429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850" b="1" i="0">
                <a:solidFill>
                  <a:srgbClr val="17262D"/>
                </a:solidFill>
                <a:latin typeface="Malgun Gothic"/>
                <a:ea typeface="Malgun Gothic"/>
                <a:cs typeface="Malgun Gothic"/>
              </a:defRPr>
            </a:pPr>
            <a:r>
              <a:t>Baseline부터 최종 후보까지 성공과 실패를 추적했습니다</a:t>
            </a:r>
          </a:p>
        </p:txBody>
      </p:sp>
      <p:sp>
        <p:nvSpPr>
          <p:cNvPr id="4" name="">
            <a:extLst xmlns:a="http://schemas.openxmlformats.org/drawingml/2006/main">
              <a:ext uri="{FF2B5EF4-FFF2-40B4-BE49-F238E27FC236}">
                <a16:creationId xmlns:a16="http://schemas.microsoft.com/office/drawing/2014/main" id="{593D5B91-9780-40F3-9391-EB806413D3DA}"/>
              </a:ext>
            </a:extLst>
          </p:cNvPr>
          <p:cNvSpPr>
            <a:spLocks xmlns:a="http://schemas.openxmlformats.org/drawingml/2006/main" noGrp="1"/>
          </p:cNvSpPr>
          <p:nvPr/>
        </p:nvSpPr>
        <p:spPr>
          <a:xfrm xmlns:a="http://schemas.openxmlformats.org/drawingml/2006/main">
            <a:off x="476250" y="1200150"/>
            <a:ext cx="723900" cy="47625"/>
          </a:xfrm>
          <a:prstGeom xmlns:a="http://schemas.openxmlformats.org/drawingml/2006/main" prst="rect">
            <a:avLst/>
          </a:prstGeom>
          <a:solidFill xmlns:a="http://schemas.openxmlformats.org/drawingml/2006/main">
            <a:srgbClr val="F2674A"/>
          </a:solidFill>
        </p:spPr>
      </p:sp>
      <p:sp>
        <p:nvSpPr>
          <p:cNvPr id="5" name="">
            <a:extLst xmlns:a="http://schemas.openxmlformats.org/drawingml/2006/main">
              <a:ext uri="{FF2B5EF4-FFF2-40B4-BE49-F238E27FC236}">
                <a16:creationId xmlns:a16="http://schemas.microsoft.com/office/drawing/2014/main" id="{67223F2A-5F5E-4D32-B033-A02242B35F99}"/>
              </a:ext>
            </a:extLst>
          </p:cNvPr>
          <p:cNvSpPr>
            <a:spLocks xmlns:a="http://schemas.openxmlformats.org/drawingml/2006/main" noGrp="1"/>
          </p:cNvSpPr>
          <p:nvPr/>
        </p:nvSpPr>
        <p:spPr>
          <a:xfrm xmlns:a="http://schemas.openxmlformats.org/drawingml/2006/main">
            <a:off x="476250" y="1562100"/>
            <a:ext cx="7667625" cy="4400550"/>
          </a:xfrm>
          <a:prstGeom xmlns:a="http://schemas.openxmlformats.org/drawingml/2006/main" prst="roundRect">
            <a:avLst>
              <a:gd name="adj" fmla="val 1732"/>
            </a:avLst>
          </a:prstGeom>
          <a:solidFill xmlns:a="http://schemas.openxmlformats.org/drawingml/2006/main">
            <a:srgbClr val="FFFDFC"/>
          </a:solidFill>
          <a:ln xmlns:a="http://schemas.openxmlformats.org/drawingml/2006/main" w="9525">
            <a:solidFill>
              <a:srgbClr val="D8D8D2"/>
            </a:solidFill>
            <a:prstDash val="solid"/>
          </a:ln>
        </p:spPr>
      </p:sp>
      <p:sp>
        <p:nvSpPr>
          <p:cNvPr id="6" name="">
            <a:extLst xmlns:a="http://schemas.openxmlformats.org/drawingml/2006/main">
              <a:ext uri="{FF2B5EF4-FFF2-40B4-BE49-F238E27FC236}">
                <a16:creationId xmlns:a16="http://schemas.microsoft.com/office/drawing/2014/main" id="{5EE88A0A-C17B-4B69-9AA5-C9ABE97D55FB}"/>
              </a:ext>
            </a:extLst>
          </p:cNvPr>
          <p:cNvSpPr>
            <a:spLocks xmlns:a="http://schemas.openxmlformats.org/drawingml/2006/main" noGrp="1"/>
          </p:cNvSpPr>
          <p:nvPr/>
        </p:nvSpPr>
        <p:spPr>
          <a:xfrm xmlns:a="http://schemas.openxmlformats.org/drawingml/2006/main">
            <a:off x="8420100" y="1562100"/>
            <a:ext cx="3295650" cy="4400550"/>
          </a:xfrm>
          <a:prstGeom xmlns:a="http://schemas.openxmlformats.org/drawingml/2006/main" prst="roundRect">
            <a:avLst>
              <a:gd name="adj" fmla="val 2312"/>
            </a:avLst>
          </a:prstGeom>
          <a:solidFill xmlns:a="http://schemas.openxmlformats.org/drawingml/2006/main">
            <a:srgbClr val="12313F"/>
          </a:solidFill>
          <a:ln xmlns:a="http://schemas.openxmlformats.org/drawingml/2006/main" w="9525">
            <a:solidFill>
              <a:srgbClr val="12313F"/>
            </a:solidFill>
            <a:prstDash val="solid"/>
          </a:ln>
        </p:spPr>
      </p:sp>
      <p:sp>
        <p:nvSpPr>
          <p:cNvPr id="7" name="">
            <a:extLst xmlns:a="http://schemas.openxmlformats.org/drawingml/2006/main">
              <a:ext uri="{FF2B5EF4-FFF2-40B4-BE49-F238E27FC236}">
                <a16:creationId xmlns:a16="http://schemas.microsoft.com/office/drawing/2014/main" id="{AE4D1984-FD32-4395-9E6B-4734FC279840}"/>
              </a:ext>
            </a:extLst>
          </p:cNvPr>
          <p:cNvSpPr>
            <a:spLocks xmlns:a="http://schemas.openxmlformats.org/drawingml/2006/main" noGrp="1"/>
          </p:cNvSpPr>
          <p:nvPr/>
        </p:nvSpPr>
        <p:spPr>
          <a:xfrm xmlns:a="http://schemas.openxmlformats.org/drawingml/2006/main">
            <a:off x="8686800" y="1847850"/>
            <a:ext cx="27622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78D0C6"/>
                </a:solidFill>
                <a:latin typeface="Malgun Gothic"/>
                <a:ea typeface="Malgun Gothic"/>
                <a:cs typeface="Malgun Gothic"/>
              </a:defRPr>
            </a:pPr>
            <a:r>
              <a:t>Top-3 튜닝 전후</a:t>
            </a:r>
          </a:p>
        </p:txBody>
      </p:sp>
      <p:sp>
        <p:nvSpPr>
          <p:cNvPr id="8" name="">
            <a:extLst xmlns:a="http://schemas.openxmlformats.org/drawingml/2006/main">
              <a:ext uri="{FF2B5EF4-FFF2-40B4-BE49-F238E27FC236}">
                <a16:creationId xmlns:a16="http://schemas.microsoft.com/office/drawing/2014/main" id="{AFBBE356-E34C-4A8D-ABB3-A7A8423F9286}"/>
              </a:ext>
            </a:extLst>
          </p:cNvPr>
          <p:cNvSpPr>
            <a:spLocks xmlns:a="http://schemas.openxmlformats.org/drawingml/2006/main" noGrp="1"/>
          </p:cNvSpPr>
          <p:nvPr/>
        </p:nvSpPr>
        <p:spPr>
          <a:xfrm xmlns:a="http://schemas.openxmlformats.org/drawingml/2006/main">
            <a:off x="8686800" y="21717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8FB0BC"/>
                </a:solidFill>
                <a:latin typeface="Malgun Gothic"/>
                <a:ea typeface="Malgun Gothic"/>
                <a:cs typeface="Malgun Gothic"/>
              </a:defRPr>
            </a:pPr>
            <a:r>
              <a:t>MODEL</a:t>
            </a:r>
          </a:p>
        </p:txBody>
      </p:sp>
      <p:sp>
        <p:nvSpPr>
          <p:cNvPr id="9" name="">
            <a:extLst xmlns:a="http://schemas.openxmlformats.org/drawingml/2006/main">
              <a:ext uri="{FF2B5EF4-FFF2-40B4-BE49-F238E27FC236}">
                <a16:creationId xmlns:a16="http://schemas.microsoft.com/office/drawing/2014/main" id="{BC06487E-DC5D-4A3C-9014-A76C77F60B07}"/>
              </a:ext>
            </a:extLst>
          </p:cNvPr>
          <p:cNvSpPr>
            <a:spLocks xmlns:a="http://schemas.openxmlformats.org/drawingml/2006/main" noGrp="1"/>
          </p:cNvSpPr>
          <p:nvPr/>
        </p:nvSpPr>
        <p:spPr>
          <a:xfrm xmlns:a="http://schemas.openxmlformats.org/drawingml/2006/main">
            <a:off x="9277350" y="2171700"/>
            <a:ext cx="6858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8FB0BC"/>
                </a:solidFill>
                <a:latin typeface="Malgun Gothic"/>
                <a:ea typeface="Malgun Gothic"/>
                <a:cs typeface="Malgun Gothic"/>
              </a:defRPr>
            </a:pPr>
            <a:r>
              <a:t>BASE</a:t>
            </a:r>
          </a:p>
        </p:txBody>
      </p:sp>
      <p:sp>
        <p:nvSpPr>
          <p:cNvPr id="10" name="">
            <a:extLst xmlns:a="http://schemas.openxmlformats.org/drawingml/2006/main">
              <a:ext uri="{FF2B5EF4-FFF2-40B4-BE49-F238E27FC236}">
                <a16:creationId xmlns:a16="http://schemas.microsoft.com/office/drawing/2014/main" id="{C18935DB-48A6-4955-A886-C736BBC1387D}"/>
              </a:ext>
            </a:extLst>
          </p:cNvPr>
          <p:cNvSpPr>
            <a:spLocks xmlns:a="http://schemas.openxmlformats.org/drawingml/2006/main" noGrp="1"/>
          </p:cNvSpPr>
          <p:nvPr/>
        </p:nvSpPr>
        <p:spPr>
          <a:xfrm xmlns:a="http://schemas.openxmlformats.org/drawingml/2006/main">
            <a:off x="9963150" y="2171700"/>
            <a:ext cx="7429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8FB0BC"/>
                </a:solidFill>
                <a:latin typeface="Malgun Gothic"/>
                <a:ea typeface="Malgun Gothic"/>
                <a:cs typeface="Malgun Gothic"/>
              </a:defRPr>
            </a:pPr>
            <a:r>
              <a:t>SEARCH</a:t>
            </a:r>
          </a:p>
        </p:txBody>
      </p:sp>
      <p:sp>
        <p:nvSpPr>
          <p:cNvPr id="11" name="">
            <a:extLst xmlns:a="http://schemas.openxmlformats.org/drawingml/2006/main">
              <a:ext uri="{FF2B5EF4-FFF2-40B4-BE49-F238E27FC236}">
                <a16:creationId xmlns:a16="http://schemas.microsoft.com/office/drawing/2014/main" id="{D049873E-2DC8-4DB9-9212-4554DB158014}"/>
              </a:ext>
            </a:extLst>
          </p:cNvPr>
          <p:cNvSpPr>
            <a:spLocks xmlns:a="http://schemas.openxmlformats.org/drawingml/2006/main" noGrp="1"/>
          </p:cNvSpPr>
          <p:nvPr/>
        </p:nvSpPr>
        <p:spPr>
          <a:xfrm xmlns:a="http://schemas.openxmlformats.org/drawingml/2006/main">
            <a:off x="10706100" y="2171700"/>
            <a:ext cx="7429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8FB0BC"/>
                </a:solidFill>
                <a:latin typeface="Malgun Gothic"/>
                <a:ea typeface="Malgun Gothic"/>
                <a:cs typeface="Malgun Gothic"/>
              </a:defRPr>
            </a:pPr>
            <a:r>
              <a:t>FINE</a:t>
            </a:r>
          </a:p>
        </p:txBody>
      </p:sp>
      <p:sp>
        <p:nvSpPr>
          <p:cNvPr id="12" name="">
            <a:extLst xmlns:a="http://schemas.openxmlformats.org/drawingml/2006/main">
              <a:ext uri="{FF2B5EF4-FFF2-40B4-BE49-F238E27FC236}">
                <a16:creationId xmlns:a16="http://schemas.microsoft.com/office/drawing/2014/main" id="{7D038B73-4A66-40FF-895B-4EEBDA735B9D}"/>
              </a:ext>
            </a:extLst>
          </p:cNvPr>
          <p:cNvSpPr>
            <a:spLocks xmlns:a="http://schemas.openxmlformats.org/drawingml/2006/main" noGrp="1"/>
          </p:cNvSpPr>
          <p:nvPr/>
        </p:nvSpPr>
        <p:spPr>
          <a:xfrm xmlns:a="http://schemas.openxmlformats.org/drawingml/2006/main">
            <a:off x="8686800" y="2457450"/>
            <a:ext cx="590550" cy="2190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F4A18D"/>
                </a:solidFill>
                <a:latin typeface="Malgun Gothic"/>
                <a:ea typeface="Malgun Gothic"/>
                <a:cs typeface="Malgun Gothic"/>
              </a:defRPr>
            </a:pPr>
            <a:r>
              <a:t>Cat</a:t>
            </a:r>
          </a:p>
        </p:txBody>
      </p:sp>
      <p:sp>
        <p:nvSpPr>
          <p:cNvPr id="13" name="">
            <a:extLst xmlns:a="http://schemas.openxmlformats.org/drawingml/2006/main">
              <a:ext uri="{FF2B5EF4-FFF2-40B4-BE49-F238E27FC236}">
                <a16:creationId xmlns:a16="http://schemas.microsoft.com/office/drawing/2014/main" id="{374D1F44-ABE8-4065-A4AB-E4DFE5B53921}"/>
              </a:ext>
            </a:extLst>
          </p:cNvPr>
          <p:cNvSpPr>
            <a:spLocks xmlns:a="http://schemas.openxmlformats.org/drawingml/2006/main" noGrp="1"/>
          </p:cNvSpPr>
          <p:nvPr/>
        </p:nvSpPr>
        <p:spPr>
          <a:xfrm xmlns:a="http://schemas.openxmlformats.org/drawingml/2006/main">
            <a:off x="9277350" y="2457450"/>
            <a:ext cx="685800" cy="2190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0" i="0">
                <a:solidFill>
                  <a:srgbClr val="FFFFFF"/>
                </a:solidFill>
                <a:latin typeface="Malgun Gothic"/>
                <a:ea typeface="Malgun Gothic"/>
                <a:cs typeface="Malgun Gothic"/>
              </a:defRPr>
            </a:pPr>
            <a:r>
              <a:t>0.94762</a:t>
            </a:r>
          </a:p>
        </p:txBody>
      </p:sp>
      <p:sp>
        <p:nvSpPr>
          <p:cNvPr id="14" name="">
            <a:extLst xmlns:a="http://schemas.openxmlformats.org/drawingml/2006/main">
              <a:ext uri="{FF2B5EF4-FFF2-40B4-BE49-F238E27FC236}">
                <a16:creationId xmlns:a16="http://schemas.microsoft.com/office/drawing/2014/main" id="{D178EB88-77ED-44D2-BA4F-CD8D06679D09}"/>
              </a:ext>
            </a:extLst>
          </p:cNvPr>
          <p:cNvSpPr>
            <a:spLocks xmlns:a="http://schemas.openxmlformats.org/drawingml/2006/main" noGrp="1"/>
          </p:cNvSpPr>
          <p:nvPr/>
        </p:nvSpPr>
        <p:spPr>
          <a:xfrm xmlns:a="http://schemas.openxmlformats.org/drawingml/2006/main">
            <a:off x="9963150" y="2457450"/>
            <a:ext cx="742950" cy="2190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0" i="0">
                <a:solidFill>
                  <a:srgbClr val="FFFFFF"/>
                </a:solidFill>
                <a:latin typeface="Malgun Gothic"/>
                <a:ea typeface="Malgun Gothic"/>
                <a:cs typeface="Malgun Gothic"/>
              </a:defRPr>
            </a:pPr>
            <a:r>
              <a:t>0.94800</a:t>
            </a:r>
          </a:p>
        </p:txBody>
      </p:sp>
      <p:sp>
        <p:nvSpPr>
          <p:cNvPr id="15" name="">
            <a:extLst xmlns:a="http://schemas.openxmlformats.org/drawingml/2006/main">
              <a:ext uri="{FF2B5EF4-FFF2-40B4-BE49-F238E27FC236}">
                <a16:creationId xmlns:a16="http://schemas.microsoft.com/office/drawing/2014/main" id="{0B78BB21-4AE4-4F88-85EA-044A58547858}"/>
              </a:ext>
            </a:extLst>
          </p:cNvPr>
          <p:cNvSpPr>
            <a:spLocks xmlns:a="http://schemas.openxmlformats.org/drawingml/2006/main" noGrp="1"/>
          </p:cNvSpPr>
          <p:nvPr/>
        </p:nvSpPr>
        <p:spPr>
          <a:xfrm xmlns:a="http://schemas.openxmlformats.org/drawingml/2006/main">
            <a:off x="10706100" y="2457450"/>
            <a:ext cx="742950" cy="2190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1" i="0">
                <a:solidFill>
                  <a:srgbClr val="FFFFFF"/>
                </a:solidFill>
                <a:latin typeface="Malgun Gothic"/>
                <a:ea typeface="Malgun Gothic"/>
                <a:cs typeface="Malgun Gothic"/>
              </a:defRPr>
            </a:pPr>
            <a:r>
              <a:t>0.94790</a:t>
            </a:r>
          </a:p>
        </p:txBody>
      </p:sp>
      <p:sp>
        <p:nvSpPr>
          <p:cNvPr id="16" name="">
            <a:extLst xmlns:a="http://schemas.openxmlformats.org/drawingml/2006/main">
              <a:ext uri="{FF2B5EF4-FFF2-40B4-BE49-F238E27FC236}">
                <a16:creationId xmlns:a16="http://schemas.microsoft.com/office/drawing/2014/main" id="{8FD24A96-8B9B-43D0-B044-03C828FCC86B}"/>
              </a:ext>
            </a:extLst>
          </p:cNvPr>
          <p:cNvSpPr>
            <a:spLocks xmlns:a="http://schemas.openxmlformats.org/drawingml/2006/main" noGrp="1"/>
          </p:cNvSpPr>
          <p:nvPr/>
        </p:nvSpPr>
        <p:spPr>
          <a:xfrm xmlns:a="http://schemas.openxmlformats.org/drawingml/2006/main">
            <a:off x="8686800" y="2876550"/>
            <a:ext cx="590550" cy="2190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78D0C6"/>
                </a:solidFill>
                <a:latin typeface="Malgun Gothic"/>
                <a:ea typeface="Malgun Gothic"/>
                <a:cs typeface="Malgun Gothic"/>
              </a:defRPr>
            </a:pPr>
            <a:r>
              <a:t>LGB</a:t>
            </a:r>
          </a:p>
        </p:txBody>
      </p:sp>
      <p:sp>
        <p:nvSpPr>
          <p:cNvPr id="17" name="">
            <a:extLst xmlns:a="http://schemas.openxmlformats.org/drawingml/2006/main">
              <a:ext uri="{FF2B5EF4-FFF2-40B4-BE49-F238E27FC236}">
                <a16:creationId xmlns:a16="http://schemas.microsoft.com/office/drawing/2014/main" id="{00A75CD0-E79F-42E8-BB75-1C214DA328C5}"/>
              </a:ext>
            </a:extLst>
          </p:cNvPr>
          <p:cNvSpPr>
            <a:spLocks xmlns:a="http://schemas.openxmlformats.org/drawingml/2006/main" noGrp="1"/>
          </p:cNvSpPr>
          <p:nvPr/>
        </p:nvSpPr>
        <p:spPr>
          <a:xfrm xmlns:a="http://schemas.openxmlformats.org/drawingml/2006/main">
            <a:off x="9277350" y="2876550"/>
            <a:ext cx="685800" cy="2190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0" i="0">
                <a:solidFill>
                  <a:srgbClr val="FFFFFF"/>
                </a:solidFill>
                <a:latin typeface="Malgun Gothic"/>
                <a:ea typeface="Malgun Gothic"/>
                <a:cs typeface="Malgun Gothic"/>
              </a:defRPr>
            </a:pPr>
            <a:r>
              <a:t>0.94753</a:t>
            </a:r>
          </a:p>
        </p:txBody>
      </p:sp>
      <p:sp>
        <p:nvSpPr>
          <p:cNvPr id="18" name="">
            <a:extLst xmlns:a="http://schemas.openxmlformats.org/drawingml/2006/main">
              <a:ext uri="{FF2B5EF4-FFF2-40B4-BE49-F238E27FC236}">
                <a16:creationId xmlns:a16="http://schemas.microsoft.com/office/drawing/2014/main" id="{C1861824-96B3-4FA9-8702-40B612E07412}"/>
              </a:ext>
            </a:extLst>
          </p:cNvPr>
          <p:cNvSpPr>
            <a:spLocks xmlns:a="http://schemas.openxmlformats.org/drawingml/2006/main" noGrp="1"/>
          </p:cNvSpPr>
          <p:nvPr/>
        </p:nvSpPr>
        <p:spPr>
          <a:xfrm xmlns:a="http://schemas.openxmlformats.org/drawingml/2006/main">
            <a:off x="9963150" y="2876550"/>
            <a:ext cx="742950" cy="2190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0" i="0">
                <a:solidFill>
                  <a:srgbClr val="FFFFFF"/>
                </a:solidFill>
                <a:latin typeface="Malgun Gothic"/>
                <a:ea typeface="Malgun Gothic"/>
                <a:cs typeface="Malgun Gothic"/>
              </a:defRPr>
            </a:pPr>
            <a:r>
              <a:t>0.94771</a:t>
            </a:r>
          </a:p>
        </p:txBody>
      </p:sp>
      <p:sp>
        <p:nvSpPr>
          <p:cNvPr id="19" name="">
            <a:extLst xmlns:a="http://schemas.openxmlformats.org/drawingml/2006/main">
              <a:ext uri="{FF2B5EF4-FFF2-40B4-BE49-F238E27FC236}">
                <a16:creationId xmlns:a16="http://schemas.microsoft.com/office/drawing/2014/main" id="{D63BA21F-F979-45E7-8E74-78AC36F9971D}"/>
              </a:ext>
            </a:extLst>
          </p:cNvPr>
          <p:cNvSpPr>
            <a:spLocks xmlns:a="http://schemas.openxmlformats.org/drawingml/2006/main" noGrp="1"/>
          </p:cNvSpPr>
          <p:nvPr/>
        </p:nvSpPr>
        <p:spPr>
          <a:xfrm xmlns:a="http://schemas.openxmlformats.org/drawingml/2006/main">
            <a:off x="10706100" y="2876550"/>
            <a:ext cx="742950" cy="2190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1" i="0">
                <a:solidFill>
                  <a:srgbClr val="FFFFFF"/>
                </a:solidFill>
                <a:latin typeface="Malgun Gothic"/>
                <a:ea typeface="Malgun Gothic"/>
                <a:cs typeface="Malgun Gothic"/>
              </a:defRPr>
            </a:pPr>
            <a:r>
              <a:t>0.94779</a:t>
            </a:r>
          </a:p>
        </p:txBody>
      </p:sp>
      <p:sp>
        <p:nvSpPr>
          <p:cNvPr id="20" name="">
            <a:extLst xmlns:a="http://schemas.openxmlformats.org/drawingml/2006/main">
              <a:ext uri="{FF2B5EF4-FFF2-40B4-BE49-F238E27FC236}">
                <a16:creationId xmlns:a16="http://schemas.microsoft.com/office/drawing/2014/main" id="{DD1EA6AF-A6D3-47F6-BE98-8098CC412B31}"/>
              </a:ext>
            </a:extLst>
          </p:cNvPr>
          <p:cNvSpPr>
            <a:spLocks xmlns:a="http://schemas.openxmlformats.org/drawingml/2006/main" noGrp="1"/>
          </p:cNvSpPr>
          <p:nvPr/>
        </p:nvSpPr>
        <p:spPr>
          <a:xfrm xmlns:a="http://schemas.openxmlformats.org/drawingml/2006/main">
            <a:off x="8686800" y="3295650"/>
            <a:ext cx="590550" cy="2190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8CB9E8"/>
                </a:solidFill>
                <a:latin typeface="Malgun Gothic"/>
                <a:ea typeface="Malgun Gothic"/>
                <a:cs typeface="Malgun Gothic"/>
              </a:defRPr>
            </a:pPr>
            <a:r>
              <a:t>XGB</a:t>
            </a:r>
          </a:p>
        </p:txBody>
      </p:sp>
      <p:sp>
        <p:nvSpPr>
          <p:cNvPr id="21" name="">
            <a:extLst xmlns:a="http://schemas.openxmlformats.org/drawingml/2006/main">
              <a:ext uri="{FF2B5EF4-FFF2-40B4-BE49-F238E27FC236}">
                <a16:creationId xmlns:a16="http://schemas.microsoft.com/office/drawing/2014/main" id="{FF7844BF-A69E-4A08-AC55-0FCB0A1E6D3E}"/>
              </a:ext>
            </a:extLst>
          </p:cNvPr>
          <p:cNvSpPr>
            <a:spLocks xmlns:a="http://schemas.openxmlformats.org/drawingml/2006/main" noGrp="1"/>
          </p:cNvSpPr>
          <p:nvPr/>
        </p:nvSpPr>
        <p:spPr>
          <a:xfrm xmlns:a="http://schemas.openxmlformats.org/drawingml/2006/main">
            <a:off x="9277350" y="3295650"/>
            <a:ext cx="685800" cy="2190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0" i="0">
                <a:solidFill>
                  <a:srgbClr val="FFFFFF"/>
                </a:solidFill>
                <a:latin typeface="Malgun Gothic"/>
                <a:ea typeface="Malgun Gothic"/>
                <a:cs typeface="Malgun Gothic"/>
              </a:defRPr>
            </a:pPr>
            <a:r>
              <a:t>0.94705</a:t>
            </a:r>
          </a:p>
        </p:txBody>
      </p:sp>
      <p:sp>
        <p:nvSpPr>
          <p:cNvPr id="22" name="">
            <a:extLst xmlns:a="http://schemas.openxmlformats.org/drawingml/2006/main">
              <a:ext uri="{FF2B5EF4-FFF2-40B4-BE49-F238E27FC236}">
                <a16:creationId xmlns:a16="http://schemas.microsoft.com/office/drawing/2014/main" id="{1B931241-89DD-49B9-A87A-1D87893CEFF5}"/>
              </a:ext>
            </a:extLst>
          </p:cNvPr>
          <p:cNvSpPr>
            <a:spLocks xmlns:a="http://schemas.openxmlformats.org/drawingml/2006/main" noGrp="1"/>
          </p:cNvSpPr>
          <p:nvPr/>
        </p:nvSpPr>
        <p:spPr>
          <a:xfrm xmlns:a="http://schemas.openxmlformats.org/drawingml/2006/main">
            <a:off x="9963150" y="3295650"/>
            <a:ext cx="742950" cy="2190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0" i="0">
                <a:solidFill>
                  <a:srgbClr val="FFFFFF"/>
                </a:solidFill>
                <a:latin typeface="Malgun Gothic"/>
                <a:ea typeface="Malgun Gothic"/>
                <a:cs typeface="Malgun Gothic"/>
              </a:defRPr>
            </a:pPr>
            <a:r>
              <a:t>0.94783</a:t>
            </a:r>
          </a:p>
        </p:txBody>
      </p:sp>
      <p:sp>
        <p:nvSpPr>
          <p:cNvPr id="23" name="">
            <a:extLst xmlns:a="http://schemas.openxmlformats.org/drawingml/2006/main">
              <a:ext uri="{FF2B5EF4-FFF2-40B4-BE49-F238E27FC236}">
                <a16:creationId xmlns:a16="http://schemas.microsoft.com/office/drawing/2014/main" id="{FA67A721-A067-49B4-9D28-21DF294EEC5F}"/>
              </a:ext>
            </a:extLst>
          </p:cNvPr>
          <p:cNvSpPr>
            <a:spLocks xmlns:a="http://schemas.openxmlformats.org/drawingml/2006/main" noGrp="1"/>
          </p:cNvSpPr>
          <p:nvPr/>
        </p:nvSpPr>
        <p:spPr>
          <a:xfrm xmlns:a="http://schemas.openxmlformats.org/drawingml/2006/main">
            <a:off x="10706100" y="3295650"/>
            <a:ext cx="742950" cy="2190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1" i="0">
                <a:solidFill>
                  <a:srgbClr val="FFFFFF"/>
                </a:solidFill>
                <a:latin typeface="Malgun Gothic"/>
                <a:ea typeface="Malgun Gothic"/>
                <a:cs typeface="Malgun Gothic"/>
              </a:defRPr>
            </a:pPr>
            <a:r>
              <a:t>0.94777</a:t>
            </a:r>
          </a:p>
        </p:txBody>
      </p:sp>
      <p:sp>
        <p:nvSpPr>
          <p:cNvPr id="24" name="">
            <a:extLst xmlns:a="http://schemas.openxmlformats.org/drawingml/2006/main">
              <a:ext uri="{FF2B5EF4-FFF2-40B4-BE49-F238E27FC236}">
                <a16:creationId xmlns:a16="http://schemas.microsoft.com/office/drawing/2014/main" id="{B66C585F-30E7-4621-9ABB-2478B7B73BD9}"/>
              </a:ext>
            </a:extLst>
          </p:cNvPr>
          <p:cNvSpPr>
            <a:spLocks xmlns:a="http://schemas.openxmlformats.org/drawingml/2006/main" noGrp="1"/>
          </p:cNvSpPr>
          <p:nvPr/>
        </p:nvSpPr>
        <p:spPr>
          <a:xfrm xmlns:a="http://schemas.openxmlformats.org/drawingml/2006/main">
            <a:off x="8686800" y="3781425"/>
            <a:ext cx="2762250" cy="9525"/>
          </a:xfrm>
          <a:prstGeom xmlns:a="http://schemas.openxmlformats.org/drawingml/2006/main" prst="rect">
            <a:avLst/>
          </a:prstGeom>
          <a:solidFill xmlns:a="http://schemas.openxmlformats.org/drawingml/2006/main">
            <a:srgbClr val="426473"/>
          </a:solidFill>
        </p:spPr>
      </p:sp>
      <p:sp>
        <p:nvSpPr>
          <p:cNvPr id="25" name="">
            <a:extLst xmlns:a="http://schemas.openxmlformats.org/drawingml/2006/main">
              <a:ext uri="{FF2B5EF4-FFF2-40B4-BE49-F238E27FC236}">
                <a16:creationId xmlns:a16="http://schemas.microsoft.com/office/drawing/2014/main" id="{4F787124-83B1-47E5-B27E-AD88E4B026EF}"/>
              </a:ext>
            </a:extLst>
          </p:cNvPr>
          <p:cNvSpPr>
            <a:spLocks xmlns:a="http://schemas.openxmlformats.org/drawingml/2006/main" noGrp="1"/>
          </p:cNvSpPr>
          <p:nvPr/>
        </p:nvSpPr>
        <p:spPr>
          <a:xfrm xmlns:a="http://schemas.openxmlformats.org/drawingml/2006/main">
            <a:off x="8686800" y="4010025"/>
            <a:ext cx="9525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78D0C6"/>
                </a:solidFill>
                <a:latin typeface="Malgun Gothic"/>
                <a:ea typeface="Malgun Gothic"/>
                <a:cs typeface="Malgun Gothic"/>
              </a:defRPr>
            </a:pPr>
            <a:r>
              <a:t>누적 개선</a:t>
            </a:r>
          </a:p>
        </p:txBody>
      </p:sp>
      <p:sp>
        <p:nvSpPr>
          <p:cNvPr id="26" name="">
            <a:extLst xmlns:a="http://schemas.openxmlformats.org/drawingml/2006/main">
              <a:ext uri="{FF2B5EF4-FFF2-40B4-BE49-F238E27FC236}">
                <a16:creationId xmlns:a16="http://schemas.microsoft.com/office/drawing/2014/main" id="{FC8FD39C-5917-4644-8D74-0D456CAF0DC6}"/>
              </a:ext>
            </a:extLst>
          </p:cNvPr>
          <p:cNvSpPr>
            <a:spLocks xmlns:a="http://schemas.openxmlformats.org/drawingml/2006/main" noGrp="1"/>
          </p:cNvSpPr>
          <p:nvPr/>
        </p:nvSpPr>
        <p:spPr>
          <a:xfrm xmlns:a="http://schemas.openxmlformats.org/drawingml/2006/main">
            <a:off x="9715500" y="3933825"/>
            <a:ext cx="173355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875" b="1" i="0">
                <a:solidFill>
                  <a:srgbClr val="FFFFFF"/>
                </a:solidFill>
                <a:latin typeface="Malgun Gothic"/>
                <a:ea typeface="Malgun Gothic"/>
                <a:cs typeface="Malgun Gothic"/>
              </a:defRPr>
            </a:pPr>
            <a:r>
              <a:t>+0.048402</a:t>
            </a:r>
          </a:p>
        </p:txBody>
      </p:sp>
      <p:sp>
        <p:nvSpPr>
          <p:cNvPr id="27" name="">
            <a:extLst xmlns:a="http://schemas.openxmlformats.org/drawingml/2006/main">
              <a:ext uri="{FF2B5EF4-FFF2-40B4-BE49-F238E27FC236}">
                <a16:creationId xmlns:a16="http://schemas.microsoft.com/office/drawing/2014/main" id="{8CAD2106-7E97-4FC9-B5C3-F5188DA3F369}"/>
              </a:ext>
            </a:extLst>
          </p:cNvPr>
          <p:cNvSpPr>
            <a:spLocks xmlns:a="http://schemas.openxmlformats.org/drawingml/2006/main" noGrp="1"/>
          </p:cNvSpPr>
          <p:nvPr/>
        </p:nvSpPr>
        <p:spPr>
          <a:xfrm xmlns:a="http://schemas.openxmlformats.org/drawingml/2006/main">
            <a:off x="8686800" y="4305300"/>
            <a:ext cx="276225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i="0">
                <a:solidFill>
                  <a:srgbClr val="D3E0E4"/>
                </a:solidFill>
                <a:latin typeface="Malgun Gothic"/>
                <a:ea typeface="Malgun Gothic"/>
                <a:cs typeface="Malgun Gothic"/>
              </a:defRPr>
            </a:pPr>
            <a:r>
              <a:t>Raw Logistic → CatBoost OOF</a:t>
            </a:r>
          </a:p>
        </p:txBody>
      </p:sp>
      <p:sp>
        <p:nvSpPr>
          <p:cNvPr id="28" name="">
            <a:extLst xmlns:a="http://schemas.openxmlformats.org/drawingml/2006/main">
              <a:ext uri="{FF2B5EF4-FFF2-40B4-BE49-F238E27FC236}">
                <a16:creationId xmlns:a16="http://schemas.microsoft.com/office/drawing/2014/main" id="{E48FEDFF-737F-4311-85E5-F35CF946BED0}"/>
              </a:ext>
            </a:extLst>
          </p:cNvPr>
          <p:cNvSpPr>
            <a:spLocks xmlns:a="http://schemas.openxmlformats.org/drawingml/2006/main" noGrp="1"/>
          </p:cNvSpPr>
          <p:nvPr/>
        </p:nvSpPr>
        <p:spPr>
          <a:xfrm xmlns:a="http://schemas.openxmlformats.org/drawingml/2006/main">
            <a:off x="8686800" y="4743450"/>
            <a:ext cx="5715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78D0C6"/>
                </a:solidFill>
                <a:latin typeface="Malgun Gothic"/>
                <a:ea typeface="Malgun Gothic"/>
                <a:cs typeface="Malgun Gothic"/>
              </a:defRPr>
            </a:pPr>
            <a:r>
              <a:t>채택</a:t>
            </a:r>
          </a:p>
        </p:txBody>
      </p:sp>
      <p:sp>
        <p:nvSpPr>
          <p:cNvPr id="29" name="">
            <a:extLst xmlns:a="http://schemas.openxmlformats.org/drawingml/2006/main">
              <a:ext uri="{FF2B5EF4-FFF2-40B4-BE49-F238E27FC236}">
                <a16:creationId xmlns:a16="http://schemas.microsoft.com/office/drawing/2014/main" id="{09690FC8-5043-404C-BAAB-CFC6FE76F81C}"/>
              </a:ext>
            </a:extLst>
          </p:cNvPr>
          <p:cNvSpPr>
            <a:spLocks xmlns:a="http://schemas.openxmlformats.org/drawingml/2006/main" noGrp="1"/>
          </p:cNvSpPr>
          <p:nvPr/>
        </p:nvSpPr>
        <p:spPr>
          <a:xfrm xmlns:a="http://schemas.openxmlformats.org/drawingml/2006/main">
            <a:off x="9239250" y="4714875"/>
            <a:ext cx="220980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0" i="0">
                <a:solidFill>
                  <a:srgbClr val="D3E0E4"/>
                </a:solidFill>
                <a:latin typeface="Malgun Gothic"/>
                <a:ea typeface="Malgun Gothic"/>
                <a:cs typeface="Malgun Gothic"/>
              </a:defRPr>
            </a:pPr>
            <a:r>
              <a:t>log_numeric · 제한 탐색 · Top-3 정밀 검증</a:t>
            </a:r>
          </a:p>
        </p:txBody>
      </p:sp>
      <p:sp>
        <p:nvSpPr>
          <p:cNvPr id="30" name="">
            <a:extLst xmlns:a="http://schemas.openxmlformats.org/drawingml/2006/main">
              <a:ext uri="{FF2B5EF4-FFF2-40B4-BE49-F238E27FC236}">
                <a16:creationId xmlns:a16="http://schemas.microsoft.com/office/drawing/2014/main" id="{6541D8C5-20F5-4282-9FE3-9353EB6234CC}"/>
              </a:ext>
            </a:extLst>
          </p:cNvPr>
          <p:cNvSpPr>
            <a:spLocks xmlns:a="http://schemas.openxmlformats.org/drawingml/2006/main" noGrp="1"/>
          </p:cNvSpPr>
          <p:nvPr/>
        </p:nvSpPr>
        <p:spPr>
          <a:xfrm xmlns:a="http://schemas.openxmlformats.org/drawingml/2006/main">
            <a:off x="8686800" y="5219700"/>
            <a:ext cx="5715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F4A18D"/>
                </a:solidFill>
                <a:latin typeface="Malgun Gothic"/>
                <a:ea typeface="Malgun Gothic"/>
                <a:cs typeface="Malgun Gothic"/>
              </a:defRPr>
            </a:pPr>
            <a:r>
              <a:t>제외</a:t>
            </a:r>
          </a:p>
        </p:txBody>
      </p:sp>
      <p:sp>
        <p:nvSpPr>
          <p:cNvPr id="31" name="">
            <a:extLst xmlns:a="http://schemas.openxmlformats.org/drawingml/2006/main">
              <a:ext uri="{FF2B5EF4-FFF2-40B4-BE49-F238E27FC236}">
                <a16:creationId xmlns:a16="http://schemas.microsoft.com/office/drawing/2014/main" id="{0A192BE8-D749-4174-B098-AB01E1BB875E}"/>
              </a:ext>
            </a:extLst>
          </p:cNvPr>
          <p:cNvSpPr>
            <a:spLocks xmlns:a="http://schemas.openxmlformats.org/drawingml/2006/main" noGrp="1"/>
          </p:cNvSpPr>
          <p:nvPr/>
        </p:nvSpPr>
        <p:spPr>
          <a:xfrm xmlns:a="http://schemas.openxmlformats.org/drawingml/2006/main">
            <a:off x="9239250" y="5191125"/>
            <a:ext cx="220980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0" i="0">
                <a:solidFill>
                  <a:srgbClr val="D3E0E4"/>
                </a:solidFill>
                <a:latin typeface="Malgun Gothic"/>
                <a:ea typeface="Malgun Gothic"/>
                <a:cs typeface="Malgun Gothic"/>
              </a:defRPr>
            </a:pPr>
            <a:r>
              <a:t>상호작용/ratio · GB 탐색 -0.000793</a:t>
            </a:r>
          </a:p>
        </p:txBody>
      </p:sp>
      <p:sp>
        <p:nvSpPr>
          <p:cNvPr id="32" name="">
            <a:extLst xmlns:a="http://schemas.openxmlformats.org/drawingml/2006/main">
              <a:ext uri="{FF2B5EF4-FFF2-40B4-BE49-F238E27FC236}">
                <a16:creationId xmlns:a16="http://schemas.microsoft.com/office/drawing/2014/main" id="{E3EB7610-0D5C-43A8-A366-BFE2DF179764}"/>
              </a:ext>
            </a:extLst>
          </p:cNvPr>
          <p:cNvSpPr>
            <a:spLocks xmlns:a="http://schemas.openxmlformats.org/drawingml/2006/main" noGrp="1"/>
          </p:cNvSpPr>
          <p:nvPr/>
        </p:nvSpPr>
        <p:spPr>
          <a:xfrm xmlns:a="http://schemas.openxmlformats.org/drawingml/2006/main">
            <a:off x="476250" y="6486525"/>
            <a:ext cx="11239500" cy="9525"/>
          </a:xfrm>
          <a:prstGeom xmlns:a="http://schemas.openxmlformats.org/drawingml/2006/main" prst="rect">
            <a:avLst/>
          </a:prstGeom>
          <a:solidFill xmlns:a="http://schemas.openxmlformats.org/drawingml/2006/main">
            <a:srgbClr val="D8D8D2"/>
          </a:solidFill>
        </p:spPr>
      </p:sp>
      <p:sp>
        <p:nvSpPr>
          <p:cNvPr id="33" name="">
            <a:extLst xmlns:a="http://schemas.openxmlformats.org/drawingml/2006/main">
              <a:ext uri="{FF2B5EF4-FFF2-40B4-BE49-F238E27FC236}">
                <a16:creationId xmlns:a16="http://schemas.microsoft.com/office/drawing/2014/main" id="{FF20A0CE-5317-4FD2-854D-E6EDA37301C5}"/>
              </a:ext>
            </a:extLst>
          </p:cNvPr>
          <p:cNvSpPr>
            <a:spLocks xmlns:a="http://schemas.openxmlformats.org/drawingml/2006/main" noGrp="1"/>
          </p:cNvSpPr>
          <p:nvPr/>
        </p:nvSpPr>
        <p:spPr>
          <a:xfrm xmlns:a="http://schemas.openxmlformats.org/drawingml/2006/main">
            <a:off x="666750" y="6534150"/>
            <a:ext cx="9620250" cy="209550"/>
          </a:xfrm>
          <a:prstGeom xmlns:a="http://schemas.openxmlformats.org/drawingml/2006/main" prst="rect">
            <a:avLst/>
          </a:prstGeom>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825" b="0" i="0">
                <a:solidFill>
                  <a:srgbClr val="98A5AA"/>
                </a:solidFill>
                <a:latin typeface="Malgun Gothic"/>
                <a:ea typeface="Malgun Gothic"/>
                <a:cs typeface="Malgun Gothic"/>
              </a:defRPr>
            </a:pPr>
            <a:r>
              <a:t>근거 · performance_progression.csv · search_before_after.csv</a:t>
            </a:r>
          </a:p>
        </p:txBody>
      </p:sp>
      <p:sp>
        <p:nvSpPr>
          <p:cNvPr id="34" name="">
            <a:extLst xmlns:a="http://schemas.openxmlformats.org/drawingml/2006/main">
              <a:ext uri="{FF2B5EF4-FFF2-40B4-BE49-F238E27FC236}">
                <a16:creationId xmlns:a16="http://schemas.microsoft.com/office/drawing/2014/main" id="{C67793B2-56C8-4393-A665-A5CA383A3F55}"/>
              </a:ext>
            </a:extLst>
          </p:cNvPr>
          <p:cNvSpPr>
            <a:spLocks xmlns:a="http://schemas.openxmlformats.org/drawingml/2006/main" noGrp="1"/>
          </p:cNvSpPr>
          <p:nvPr/>
        </p:nvSpPr>
        <p:spPr>
          <a:xfrm xmlns:a="http://schemas.openxmlformats.org/drawingml/2006/main">
            <a:off x="11201400" y="6543675"/>
            <a:ext cx="5143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00" b="1" i="0">
                <a:solidFill>
                  <a:srgbClr val="607078"/>
                </a:solidFill>
                <a:latin typeface="Malgun Gothic"/>
                <a:ea typeface="Malgun Gothic"/>
                <a:cs typeface="Malgun Gothic"/>
              </a:defRPr>
            </a:pPr>
            <a:r>
              <a:t>08</a:t>
            </a:r>
          </a:p>
        </p:txBody>
      </p:sp>
      <p:pic>
        <p:nvPicPr>
          <p:cNvPr id="70" name=""/>
          <p:cNvPicPr>
            <a:picLocks xmlns:a="http://schemas.openxmlformats.org/drawingml/2006/main" noChangeAspect="1"/>
          </p:cNvPicPr>
          <p:nvPr/>
        </p:nvPicPr>
        <p:blipFill>
          <a:blip xmlns:r="http://schemas.openxmlformats.org/officeDocument/2006/relationships" xmlns:a="http://schemas.openxmlformats.org/drawingml/2006/main" r:embed="Rf388b04899014715"/>
          <a:stretch xmlns:a="http://schemas.openxmlformats.org/drawingml/2006/main"/>
        </p:blipFill>
        <p:spPr>
          <a:xfrm xmlns:a="http://schemas.openxmlformats.org/drawingml/2006/main">
            <a:off x="666750" y="1846279"/>
            <a:ext cx="7286625" cy="3832191"/>
          </a:xfrm>
          <a:prstGeom xmlns:a="http://schemas.openxmlformats.org/drawingml/2006/main" prst="rect">
            <a:avLst/>
          </a:prstGeom>
        </p:spPr>
      </p:pic>
    </p:spTree>
    <p:extLst>
      <p:ext uri="{BB962C8B-B14F-4D97-AF65-F5344CB8AC3E}">
        <p14:creationId xmlns:p14="http://schemas.microsoft.com/office/powerpoint/2010/main" val="788008770"/>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51917A63-A420-4FAA-BF14-0963F1B68D2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6F3EE"/>
          </a:solidFill>
        </p:spPr>
      </p:sp>
      <p:sp>
        <p:nvSpPr>
          <p:cNvPr id="2" name="">
            <a:extLst xmlns:a="http://schemas.openxmlformats.org/drawingml/2006/main">
              <a:ext uri="{FF2B5EF4-FFF2-40B4-BE49-F238E27FC236}">
                <a16:creationId xmlns:a16="http://schemas.microsoft.com/office/drawing/2014/main" id="{6E922A3E-B0F8-4826-8832-DC40AECEBB21}"/>
              </a:ext>
            </a:extLst>
          </p:cNvPr>
          <p:cNvSpPr>
            <a:spLocks xmlns:a="http://schemas.openxmlformats.org/drawingml/2006/main" noGrp="1"/>
          </p:cNvSpPr>
          <p:nvPr/>
        </p:nvSpPr>
        <p:spPr>
          <a:xfrm xmlns:a="http://schemas.openxmlformats.org/drawingml/2006/main">
            <a:off x="476250" y="257175"/>
            <a:ext cx="40005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118C83"/>
                </a:solidFill>
                <a:latin typeface="Malgun Gothic"/>
                <a:ea typeface="Malgun Gothic"/>
                <a:cs typeface="Malgun Gothic"/>
              </a:defRPr>
            </a:pPr>
            <a:r>
              <a:t>08 · FINAL MODEL</a:t>
            </a:r>
          </a:p>
        </p:txBody>
      </p:sp>
      <p:sp>
        <p:nvSpPr>
          <p:cNvPr id="3" name="">
            <a:extLst xmlns:a="http://schemas.openxmlformats.org/drawingml/2006/main">
              <a:ext uri="{FF2B5EF4-FFF2-40B4-BE49-F238E27FC236}">
                <a16:creationId xmlns:a16="http://schemas.microsoft.com/office/drawing/2014/main" id="{51A60EF4-C2ED-41DB-92E8-1D1E3D8F1A4A}"/>
              </a:ext>
            </a:extLst>
          </p:cNvPr>
          <p:cNvSpPr>
            <a:spLocks xmlns:a="http://schemas.openxmlformats.org/drawingml/2006/main" noGrp="1"/>
          </p:cNvSpPr>
          <p:nvPr/>
        </p:nvSpPr>
        <p:spPr>
          <a:xfrm xmlns:a="http://schemas.openxmlformats.org/drawingml/2006/main">
            <a:off x="476250" y="561975"/>
            <a:ext cx="11049000" cy="5429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850" b="1" i="0">
                <a:solidFill>
                  <a:srgbClr val="17262D"/>
                </a:solidFill>
                <a:latin typeface="Malgun Gothic"/>
                <a:ea typeface="Malgun Gothic"/>
                <a:cs typeface="Malgun Gothic"/>
              </a:defRPr>
            </a:pPr>
            <a:r>
              <a:t>CatBoost는 ‘조건부 최종 후보’입니다</a:t>
            </a:r>
          </a:p>
        </p:txBody>
      </p:sp>
      <p:sp>
        <p:nvSpPr>
          <p:cNvPr id="4" name="">
            <a:extLst xmlns:a="http://schemas.openxmlformats.org/drawingml/2006/main">
              <a:ext uri="{FF2B5EF4-FFF2-40B4-BE49-F238E27FC236}">
                <a16:creationId xmlns:a16="http://schemas.microsoft.com/office/drawing/2014/main" id="{73571452-3BC9-4F4C-AEEA-2F6E93E7D331}"/>
              </a:ext>
            </a:extLst>
          </p:cNvPr>
          <p:cNvSpPr>
            <a:spLocks xmlns:a="http://schemas.openxmlformats.org/drawingml/2006/main" noGrp="1"/>
          </p:cNvSpPr>
          <p:nvPr/>
        </p:nvSpPr>
        <p:spPr>
          <a:xfrm xmlns:a="http://schemas.openxmlformats.org/drawingml/2006/main">
            <a:off x="476250" y="1200150"/>
            <a:ext cx="723900" cy="47625"/>
          </a:xfrm>
          <a:prstGeom xmlns:a="http://schemas.openxmlformats.org/drawingml/2006/main" prst="rect">
            <a:avLst/>
          </a:prstGeom>
          <a:solidFill xmlns:a="http://schemas.openxmlformats.org/drawingml/2006/main">
            <a:srgbClr val="F2674A"/>
          </a:solidFill>
        </p:spPr>
      </p:sp>
      <p:sp>
        <p:nvSpPr>
          <p:cNvPr id="5" name="">
            <a:extLst xmlns:a="http://schemas.openxmlformats.org/drawingml/2006/main">
              <a:ext uri="{FF2B5EF4-FFF2-40B4-BE49-F238E27FC236}">
                <a16:creationId xmlns:a16="http://schemas.microsoft.com/office/drawing/2014/main" id="{6FC5373A-E015-4366-A1EF-8E86F59E73CD}"/>
              </a:ext>
            </a:extLst>
          </p:cNvPr>
          <p:cNvSpPr>
            <a:spLocks xmlns:a="http://schemas.openxmlformats.org/drawingml/2006/main" noGrp="1"/>
          </p:cNvSpPr>
          <p:nvPr/>
        </p:nvSpPr>
        <p:spPr>
          <a:xfrm xmlns:a="http://schemas.openxmlformats.org/drawingml/2006/main">
            <a:off x="476250" y="1562100"/>
            <a:ext cx="6191250" cy="3352800"/>
          </a:xfrm>
          <a:prstGeom xmlns:a="http://schemas.openxmlformats.org/drawingml/2006/main" prst="roundRect">
            <a:avLst>
              <a:gd name="adj" fmla="val 2273"/>
            </a:avLst>
          </a:prstGeom>
          <a:solidFill xmlns:a="http://schemas.openxmlformats.org/drawingml/2006/main">
            <a:srgbClr val="FFFDFC"/>
          </a:solidFill>
          <a:ln xmlns:a="http://schemas.openxmlformats.org/drawingml/2006/main" w="9525">
            <a:solidFill>
              <a:srgbClr val="D8D8D2"/>
            </a:solidFill>
            <a:prstDash val="solid"/>
          </a:ln>
        </p:spPr>
      </p:sp>
      <p:sp>
        <p:nvSpPr>
          <p:cNvPr id="6" name="">
            <a:extLst xmlns:a="http://schemas.openxmlformats.org/drawingml/2006/main">
              <a:ext uri="{FF2B5EF4-FFF2-40B4-BE49-F238E27FC236}">
                <a16:creationId xmlns:a16="http://schemas.microsoft.com/office/drawing/2014/main" id="{79B742A2-D8EB-41D0-8966-B57E10B82323}"/>
              </a:ext>
            </a:extLst>
          </p:cNvPr>
          <p:cNvSpPr>
            <a:spLocks xmlns:a="http://schemas.openxmlformats.org/drawingml/2006/main" noGrp="1"/>
          </p:cNvSpPr>
          <p:nvPr/>
        </p:nvSpPr>
        <p:spPr>
          <a:xfrm xmlns:a="http://schemas.openxmlformats.org/drawingml/2006/main">
            <a:off x="6953250" y="1562100"/>
            <a:ext cx="4762500" cy="3352800"/>
          </a:xfrm>
          <a:prstGeom xmlns:a="http://schemas.openxmlformats.org/drawingml/2006/main" prst="roundRect">
            <a:avLst>
              <a:gd name="adj" fmla="val 2273"/>
            </a:avLst>
          </a:prstGeom>
          <a:solidFill xmlns:a="http://schemas.openxmlformats.org/drawingml/2006/main">
            <a:srgbClr val="FFFDFC"/>
          </a:solidFill>
          <a:ln xmlns:a="http://schemas.openxmlformats.org/drawingml/2006/main" w="9525">
            <a:solidFill>
              <a:srgbClr val="D8D8D2"/>
            </a:solidFill>
            <a:prstDash val="solid"/>
          </a:ln>
        </p:spPr>
      </p:sp>
      <p:sp>
        <p:nvSpPr>
          <p:cNvPr id="7" name="">
            <a:extLst xmlns:a="http://schemas.openxmlformats.org/drawingml/2006/main">
              <a:ext uri="{FF2B5EF4-FFF2-40B4-BE49-F238E27FC236}">
                <a16:creationId xmlns:a16="http://schemas.microsoft.com/office/drawing/2014/main" id="{B3A3BD65-C9A3-4BB9-B582-DF8E7D4D23DA}"/>
              </a:ext>
            </a:extLst>
          </p:cNvPr>
          <p:cNvSpPr>
            <a:spLocks xmlns:a="http://schemas.openxmlformats.org/drawingml/2006/main" noGrp="1"/>
          </p:cNvSpPr>
          <p:nvPr/>
        </p:nvSpPr>
        <p:spPr>
          <a:xfrm xmlns:a="http://schemas.openxmlformats.org/drawingml/2006/main">
            <a:off x="7219950" y="1809750"/>
            <a:ext cx="40957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1" i="0">
                <a:solidFill>
                  <a:srgbClr val="17262D"/>
                </a:solidFill>
                <a:latin typeface="Malgun Gothic"/>
                <a:ea typeface="Malgun Gothic"/>
                <a:cs typeface="Malgun Gothic"/>
              </a:defRPr>
            </a:pPr>
            <a:r>
              <a:t>Top-3 의사결정표</a:t>
            </a:r>
          </a:p>
        </p:txBody>
      </p:sp>
      <p:sp>
        <p:nvSpPr>
          <p:cNvPr id="8" name="">
            <a:extLst xmlns:a="http://schemas.openxmlformats.org/drawingml/2006/main">
              <a:ext uri="{FF2B5EF4-FFF2-40B4-BE49-F238E27FC236}">
                <a16:creationId xmlns:a16="http://schemas.microsoft.com/office/drawing/2014/main" id="{139CB249-1376-4766-80C2-27441DD3DFFB}"/>
              </a:ext>
            </a:extLst>
          </p:cNvPr>
          <p:cNvSpPr>
            <a:spLocks xmlns:a="http://schemas.openxmlformats.org/drawingml/2006/main" noGrp="1"/>
          </p:cNvSpPr>
          <p:nvPr/>
        </p:nvSpPr>
        <p:spPr>
          <a:xfrm xmlns:a="http://schemas.openxmlformats.org/drawingml/2006/main">
            <a:off x="7219950" y="2266950"/>
            <a:ext cx="10668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607078"/>
                </a:solidFill>
                <a:latin typeface="Malgun Gothic"/>
                <a:ea typeface="Malgun Gothic"/>
                <a:cs typeface="Malgun Gothic"/>
              </a:defRPr>
            </a:pPr>
            <a:r>
              <a:t>모델</a:t>
            </a:r>
          </a:p>
        </p:txBody>
      </p:sp>
      <p:sp>
        <p:nvSpPr>
          <p:cNvPr id="9" name="">
            <a:extLst xmlns:a="http://schemas.openxmlformats.org/drawingml/2006/main">
              <a:ext uri="{FF2B5EF4-FFF2-40B4-BE49-F238E27FC236}">
                <a16:creationId xmlns:a16="http://schemas.microsoft.com/office/drawing/2014/main" id="{A0F12902-B175-436B-B215-875D17FC9711}"/>
              </a:ext>
            </a:extLst>
          </p:cNvPr>
          <p:cNvSpPr>
            <a:spLocks xmlns:a="http://schemas.openxmlformats.org/drawingml/2006/main" noGrp="1"/>
          </p:cNvSpPr>
          <p:nvPr/>
        </p:nvSpPr>
        <p:spPr>
          <a:xfrm xmlns:a="http://schemas.openxmlformats.org/drawingml/2006/main">
            <a:off x="8496300" y="2266950"/>
            <a:ext cx="12001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i="0">
                <a:solidFill>
                  <a:srgbClr val="607078"/>
                </a:solidFill>
                <a:latin typeface="Malgun Gothic"/>
                <a:ea typeface="Malgun Gothic"/>
                <a:cs typeface="Malgun Gothic"/>
              </a:defRPr>
            </a:pPr>
            <a:r>
              <a:t>OOF PR-AUC</a:t>
            </a:r>
          </a:p>
        </p:txBody>
      </p:sp>
      <p:sp>
        <p:nvSpPr>
          <p:cNvPr id="10" name="">
            <a:extLst xmlns:a="http://schemas.openxmlformats.org/drawingml/2006/main">
              <a:ext uri="{FF2B5EF4-FFF2-40B4-BE49-F238E27FC236}">
                <a16:creationId xmlns:a16="http://schemas.microsoft.com/office/drawing/2014/main" id="{096D026E-8C7B-458A-92CC-9C031F6E5B3E}"/>
              </a:ext>
            </a:extLst>
          </p:cNvPr>
          <p:cNvSpPr>
            <a:spLocks xmlns:a="http://schemas.openxmlformats.org/drawingml/2006/main" noGrp="1"/>
          </p:cNvSpPr>
          <p:nvPr/>
        </p:nvSpPr>
        <p:spPr>
          <a:xfrm xmlns:a="http://schemas.openxmlformats.org/drawingml/2006/main">
            <a:off x="9810750" y="2266950"/>
            <a:ext cx="14287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i="0">
                <a:solidFill>
                  <a:srgbClr val="607078"/>
                </a:solidFill>
                <a:latin typeface="Malgun Gothic"/>
                <a:ea typeface="Malgun Gothic"/>
                <a:cs typeface="Malgun Gothic"/>
              </a:defRPr>
            </a:pPr>
            <a:r>
              <a:t>Recall@0.50</a:t>
            </a:r>
          </a:p>
        </p:txBody>
      </p:sp>
      <p:sp>
        <p:nvSpPr>
          <p:cNvPr id="11" name="">
            <a:extLst xmlns:a="http://schemas.openxmlformats.org/drawingml/2006/main">
              <a:ext uri="{FF2B5EF4-FFF2-40B4-BE49-F238E27FC236}">
                <a16:creationId xmlns:a16="http://schemas.microsoft.com/office/drawing/2014/main" id="{6AD26009-590D-4144-ADDE-ED2D994E1BB1}"/>
              </a:ext>
            </a:extLst>
          </p:cNvPr>
          <p:cNvSpPr>
            <a:spLocks xmlns:a="http://schemas.openxmlformats.org/drawingml/2006/main" noGrp="1"/>
          </p:cNvSpPr>
          <p:nvPr/>
        </p:nvSpPr>
        <p:spPr>
          <a:xfrm xmlns:a="http://schemas.openxmlformats.org/drawingml/2006/main">
            <a:off x="7219950" y="3000375"/>
            <a:ext cx="4019550" cy="9525"/>
          </a:xfrm>
          <a:prstGeom xmlns:a="http://schemas.openxmlformats.org/drawingml/2006/main" prst="rect">
            <a:avLst/>
          </a:prstGeom>
          <a:solidFill xmlns:a="http://schemas.openxmlformats.org/drawingml/2006/main">
            <a:srgbClr val="D8D8D2"/>
          </a:solidFill>
        </p:spPr>
      </p:sp>
      <p:sp>
        <p:nvSpPr>
          <p:cNvPr id="12" name="">
            <a:extLst xmlns:a="http://schemas.openxmlformats.org/drawingml/2006/main">
              <a:ext uri="{FF2B5EF4-FFF2-40B4-BE49-F238E27FC236}">
                <a16:creationId xmlns:a16="http://schemas.microsoft.com/office/drawing/2014/main" id="{97B6A1E2-1501-4981-8D1C-7AF891BCBC49}"/>
              </a:ext>
            </a:extLst>
          </p:cNvPr>
          <p:cNvSpPr>
            <a:spLocks xmlns:a="http://schemas.openxmlformats.org/drawingml/2006/main" noGrp="1"/>
          </p:cNvSpPr>
          <p:nvPr/>
        </p:nvSpPr>
        <p:spPr>
          <a:xfrm xmlns:a="http://schemas.openxmlformats.org/drawingml/2006/main">
            <a:off x="7219950" y="2667000"/>
            <a:ext cx="12192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1" i="0">
                <a:solidFill>
                  <a:srgbClr val="F2674A"/>
                </a:solidFill>
                <a:latin typeface="Malgun Gothic"/>
                <a:ea typeface="Malgun Gothic"/>
                <a:cs typeface="Malgun Gothic"/>
              </a:defRPr>
            </a:pPr>
            <a:r>
              <a:t>CatBoost</a:t>
            </a:r>
          </a:p>
        </p:txBody>
      </p:sp>
      <p:sp>
        <p:nvSpPr>
          <p:cNvPr id="13" name="">
            <a:extLst xmlns:a="http://schemas.openxmlformats.org/drawingml/2006/main">
              <a:ext uri="{FF2B5EF4-FFF2-40B4-BE49-F238E27FC236}">
                <a16:creationId xmlns:a16="http://schemas.microsoft.com/office/drawing/2014/main" id="{3D53EE08-A75D-475D-A9D7-4042A02FDA13}"/>
              </a:ext>
            </a:extLst>
          </p:cNvPr>
          <p:cNvSpPr>
            <a:spLocks xmlns:a="http://schemas.openxmlformats.org/drawingml/2006/main" noGrp="1"/>
          </p:cNvSpPr>
          <p:nvPr/>
        </p:nvSpPr>
        <p:spPr>
          <a:xfrm xmlns:a="http://schemas.openxmlformats.org/drawingml/2006/main">
            <a:off x="8496300" y="2667000"/>
            <a:ext cx="12001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425" b="1" i="0">
                <a:solidFill>
                  <a:srgbClr val="17262D"/>
                </a:solidFill>
                <a:latin typeface="Malgun Gothic"/>
                <a:ea typeface="Malgun Gothic"/>
                <a:cs typeface="Malgun Gothic"/>
              </a:defRPr>
            </a:pPr>
            <a:r>
              <a:t>0.947897</a:t>
            </a:r>
          </a:p>
        </p:txBody>
      </p:sp>
      <p:sp>
        <p:nvSpPr>
          <p:cNvPr id="14" name="">
            <a:extLst xmlns:a="http://schemas.openxmlformats.org/drawingml/2006/main">
              <a:ext uri="{FF2B5EF4-FFF2-40B4-BE49-F238E27FC236}">
                <a16:creationId xmlns:a16="http://schemas.microsoft.com/office/drawing/2014/main" id="{22418C3F-AE5B-4096-BC49-953F375C5E01}"/>
              </a:ext>
            </a:extLst>
          </p:cNvPr>
          <p:cNvSpPr>
            <a:spLocks xmlns:a="http://schemas.openxmlformats.org/drawingml/2006/main" noGrp="1"/>
          </p:cNvSpPr>
          <p:nvPr/>
        </p:nvSpPr>
        <p:spPr>
          <a:xfrm xmlns:a="http://schemas.openxmlformats.org/drawingml/2006/main">
            <a:off x="9810750" y="2667000"/>
            <a:ext cx="14287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425" b="0" i="0">
                <a:solidFill>
                  <a:srgbClr val="17262D"/>
                </a:solidFill>
                <a:latin typeface="Malgun Gothic"/>
                <a:ea typeface="Malgun Gothic"/>
                <a:cs typeface="Malgun Gothic"/>
              </a:defRPr>
            </a:pPr>
            <a:r>
              <a:t>0.836382</a:t>
            </a:r>
          </a:p>
        </p:txBody>
      </p:sp>
      <p:sp>
        <p:nvSpPr>
          <p:cNvPr id="15" name="">
            <a:extLst xmlns:a="http://schemas.openxmlformats.org/drawingml/2006/main">
              <a:ext uri="{FF2B5EF4-FFF2-40B4-BE49-F238E27FC236}">
                <a16:creationId xmlns:a16="http://schemas.microsoft.com/office/drawing/2014/main" id="{8A815DBF-2D58-4FCE-9C02-26EA76DCA32B}"/>
              </a:ext>
            </a:extLst>
          </p:cNvPr>
          <p:cNvSpPr>
            <a:spLocks xmlns:a="http://schemas.openxmlformats.org/drawingml/2006/main" noGrp="1"/>
          </p:cNvSpPr>
          <p:nvPr/>
        </p:nvSpPr>
        <p:spPr>
          <a:xfrm xmlns:a="http://schemas.openxmlformats.org/drawingml/2006/main">
            <a:off x="7219950" y="3448050"/>
            <a:ext cx="4019550" cy="9525"/>
          </a:xfrm>
          <a:prstGeom xmlns:a="http://schemas.openxmlformats.org/drawingml/2006/main" prst="rect">
            <a:avLst/>
          </a:prstGeom>
          <a:solidFill xmlns:a="http://schemas.openxmlformats.org/drawingml/2006/main">
            <a:srgbClr val="D8D8D2"/>
          </a:solidFill>
        </p:spPr>
      </p:sp>
      <p:sp>
        <p:nvSpPr>
          <p:cNvPr id="16" name="">
            <a:extLst xmlns:a="http://schemas.openxmlformats.org/drawingml/2006/main">
              <a:ext uri="{FF2B5EF4-FFF2-40B4-BE49-F238E27FC236}">
                <a16:creationId xmlns:a16="http://schemas.microsoft.com/office/drawing/2014/main" id="{67A9BB17-E675-40EB-B36B-E163D83671A7}"/>
              </a:ext>
            </a:extLst>
          </p:cNvPr>
          <p:cNvSpPr>
            <a:spLocks xmlns:a="http://schemas.openxmlformats.org/drawingml/2006/main" noGrp="1"/>
          </p:cNvSpPr>
          <p:nvPr/>
        </p:nvSpPr>
        <p:spPr>
          <a:xfrm xmlns:a="http://schemas.openxmlformats.org/drawingml/2006/main">
            <a:off x="7219950" y="3114675"/>
            <a:ext cx="12192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1" i="0">
                <a:solidFill>
                  <a:srgbClr val="118C83"/>
                </a:solidFill>
                <a:latin typeface="Malgun Gothic"/>
                <a:ea typeface="Malgun Gothic"/>
                <a:cs typeface="Malgun Gothic"/>
              </a:defRPr>
            </a:pPr>
            <a:r>
              <a:t>LightGBM</a:t>
            </a:r>
          </a:p>
        </p:txBody>
      </p:sp>
      <p:sp>
        <p:nvSpPr>
          <p:cNvPr id="17" name="">
            <a:extLst xmlns:a="http://schemas.openxmlformats.org/drawingml/2006/main">
              <a:ext uri="{FF2B5EF4-FFF2-40B4-BE49-F238E27FC236}">
                <a16:creationId xmlns:a16="http://schemas.microsoft.com/office/drawing/2014/main" id="{B978672D-491B-4FC8-A1E7-50796491DEC7}"/>
              </a:ext>
            </a:extLst>
          </p:cNvPr>
          <p:cNvSpPr>
            <a:spLocks xmlns:a="http://schemas.openxmlformats.org/drawingml/2006/main" noGrp="1"/>
          </p:cNvSpPr>
          <p:nvPr/>
        </p:nvSpPr>
        <p:spPr>
          <a:xfrm xmlns:a="http://schemas.openxmlformats.org/drawingml/2006/main">
            <a:off x="8496300" y="3114675"/>
            <a:ext cx="12001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425" b="1" i="0">
                <a:solidFill>
                  <a:srgbClr val="17262D"/>
                </a:solidFill>
                <a:latin typeface="Malgun Gothic"/>
                <a:ea typeface="Malgun Gothic"/>
                <a:cs typeface="Malgun Gothic"/>
              </a:defRPr>
            </a:pPr>
            <a:r>
              <a:t>0.947790</a:t>
            </a:r>
          </a:p>
        </p:txBody>
      </p:sp>
      <p:sp>
        <p:nvSpPr>
          <p:cNvPr id="18" name="">
            <a:extLst xmlns:a="http://schemas.openxmlformats.org/drawingml/2006/main">
              <a:ext uri="{FF2B5EF4-FFF2-40B4-BE49-F238E27FC236}">
                <a16:creationId xmlns:a16="http://schemas.microsoft.com/office/drawing/2014/main" id="{75240A5E-7BC9-41F2-9D07-AD00A7D752D0}"/>
              </a:ext>
            </a:extLst>
          </p:cNvPr>
          <p:cNvSpPr>
            <a:spLocks xmlns:a="http://schemas.openxmlformats.org/drawingml/2006/main" noGrp="1"/>
          </p:cNvSpPr>
          <p:nvPr/>
        </p:nvSpPr>
        <p:spPr>
          <a:xfrm xmlns:a="http://schemas.openxmlformats.org/drawingml/2006/main">
            <a:off x="9810750" y="3114675"/>
            <a:ext cx="14287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425" b="0" i="0">
                <a:solidFill>
                  <a:srgbClr val="17262D"/>
                </a:solidFill>
                <a:latin typeface="Malgun Gothic"/>
                <a:ea typeface="Malgun Gothic"/>
                <a:cs typeface="Malgun Gothic"/>
              </a:defRPr>
            </a:pPr>
            <a:r>
              <a:t>0.859850</a:t>
            </a:r>
          </a:p>
        </p:txBody>
      </p:sp>
      <p:sp>
        <p:nvSpPr>
          <p:cNvPr id="19" name="">
            <a:extLst xmlns:a="http://schemas.openxmlformats.org/drawingml/2006/main">
              <a:ext uri="{FF2B5EF4-FFF2-40B4-BE49-F238E27FC236}">
                <a16:creationId xmlns:a16="http://schemas.microsoft.com/office/drawing/2014/main" id="{A189A027-8843-4931-A6CB-66165EECF16E}"/>
              </a:ext>
            </a:extLst>
          </p:cNvPr>
          <p:cNvSpPr>
            <a:spLocks xmlns:a="http://schemas.openxmlformats.org/drawingml/2006/main" noGrp="1"/>
          </p:cNvSpPr>
          <p:nvPr/>
        </p:nvSpPr>
        <p:spPr>
          <a:xfrm xmlns:a="http://schemas.openxmlformats.org/drawingml/2006/main">
            <a:off x="7219950" y="3895725"/>
            <a:ext cx="4019550" cy="9525"/>
          </a:xfrm>
          <a:prstGeom xmlns:a="http://schemas.openxmlformats.org/drawingml/2006/main" prst="rect">
            <a:avLst/>
          </a:prstGeom>
          <a:solidFill xmlns:a="http://schemas.openxmlformats.org/drawingml/2006/main">
            <a:srgbClr val="D8D8D2"/>
          </a:solidFill>
        </p:spPr>
      </p:sp>
      <p:sp>
        <p:nvSpPr>
          <p:cNvPr id="20" name="">
            <a:extLst xmlns:a="http://schemas.openxmlformats.org/drawingml/2006/main">
              <a:ext uri="{FF2B5EF4-FFF2-40B4-BE49-F238E27FC236}">
                <a16:creationId xmlns:a16="http://schemas.microsoft.com/office/drawing/2014/main" id="{E910B35E-EBE6-416B-B1F5-F6705BDBB221}"/>
              </a:ext>
            </a:extLst>
          </p:cNvPr>
          <p:cNvSpPr>
            <a:spLocks xmlns:a="http://schemas.openxmlformats.org/drawingml/2006/main" noGrp="1"/>
          </p:cNvSpPr>
          <p:nvPr/>
        </p:nvSpPr>
        <p:spPr>
          <a:xfrm xmlns:a="http://schemas.openxmlformats.org/drawingml/2006/main">
            <a:off x="7219950" y="3562350"/>
            <a:ext cx="12192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1" i="0">
                <a:solidFill>
                  <a:srgbClr val="3A6EA5"/>
                </a:solidFill>
                <a:latin typeface="Malgun Gothic"/>
                <a:ea typeface="Malgun Gothic"/>
                <a:cs typeface="Malgun Gothic"/>
              </a:defRPr>
            </a:pPr>
            <a:r>
              <a:t>XGBoost</a:t>
            </a:r>
          </a:p>
        </p:txBody>
      </p:sp>
      <p:sp>
        <p:nvSpPr>
          <p:cNvPr id="21" name="">
            <a:extLst xmlns:a="http://schemas.openxmlformats.org/drawingml/2006/main">
              <a:ext uri="{FF2B5EF4-FFF2-40B4-BE49-F238E27FC236}">
                <a16:creationId xmlns:a16="http://schemas.microsoft.com/office/drawing/2014/main" id="{D014B647-7723-4ED2-841C-883B0E0F9D81}"/>
              </a:ext>
            </a:extLst>
          </p:cNvPr>
          <p:cNvSpPr>
            <a:spLocks xmlns:a="http://schemas.openxmlformats.org/drawingml/2006/main" noGrp="1"/>
          </p:cNvSpPr>
          <p:nvPr/>
        </p:nvSpPr>
        <p:spPr>
          <a:xfrm xmlns:a="http://schemas.openxmlformats.org/drawingml/2006/main">
            <a:off x="8496300" y="3562350"/>
            <a:ext cx="12001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425" b="1" i="0">
                <a:solidFill>
                  <a:srgbClr val="17262D"/>
                </a:solidFill>
                <a:latin typeface="Malgun Gothic"/>
                <a:ea typeface="Malgun Gothic"/>
                <a:cs typeface="Malgun Gothic"/>
              </a:defRPr>
            </a:pPr>
            <a:r>
              <a:t>0.947765</a:t>
            </a:r>
          </a:p>
        </p:txBody>
      </p:sp>
      <p:sp>
        <p:nvSpPr>
          <p:cNvPr id="22" name="">
            <a:extLst xmlns:a="http://schemas.openxmlformats.org/drawingml/2006/main">
              <a:ext uri="{FF2B5EF4-FFF2-40B4-BE49-F238E27FC236}">
                <a16:creationId xmlns:a16="http://schemas.microsoft.com/office/drawing/2014/main" id="{48698003-B647-4BFE-BABF-35681BC0BE5D}"/>
              </a:ext>
            </a:extLst>
          </p:cNvPr>
          <p:cNvSpPr>
            <a:spLocks xmlns:a="http://schemas.openxmlformats.org/drawingml/2006/main" noGrp="1"/>
          </p:cNvSpPr>
          <p:nvPr/>
        </p:nvSpPr>
        <p:spPr>
          <a:xfrm xmlns:a="http://schemas.openxmlformats.org/drawingml/2006/main">
            <a:off x="9810750" y="3562350"/>
            <a:ext cx="14287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425" b="0" i="0">
                <a:solidFill>
                  <a:srgbClr val="17262D"/>
                </a:solidFill>
                <a:latin typeface="Malgun Gothic"/>
                <a:ea typeface="Malgun Gothic"/>
                <a:cs typeface="Malgun Gothic"/>
              </a:defRPr>
            </a:pPr>
            <a:r>
              <a:t>0.844283</a:t>
            </a:r>
          </a:p>
        </p:txBody>
      </p:sp>
      <p:sp>
        <p:nvSpPr>
          <p:cNvPr id="23" name="">
            <a:extLst xmlns:a="http://schemas.openxmlformats.org/drawingml/2006/main">
              <a:ext uri="{FF2B5EF4-FFF2-40B4-BE49-F238E27FC236}">
                <a16:creationId xmlns:a16="http://schemas.microsoft.com/office/drawing/2014/main" id="{94D822D1-3A74-4BDF-B3FB-0BFB230512E1}"/>
              </a:ext>
            </a:extLst>
          </p:cNvPr>
          <p:cNvSpPr>
            <a:spLocks xmlns:a="http://schemas.openxmlformats.org/drawingml/2006/main" noGrp="1"/>
          </p:cNvSpPr>
          <p:nvPr/>
        </p:nvSpPr>
        <p:spPr>
          <a:xfrm xmlns:a="http://schemas.openxmlformats.org/drawingml/2006/main">
            <a:off x="7219950" y="4181475"/>
            <a:ext cx="9525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118C83"/>
                </a:solidFill>
                <a:latin typeface="Malgun Gothic"/>
                <a:ea typeface="Malgun Gothic"/>
                <a:cs typeface="Malgun Gothic"/>
              </a:defRPr>
            </a:pPr>
            <a:r>
              <a:t>선정 이유</a:t>
            </a:r>
          </a:p>
        </p:txBody>
      </p:sp>
      <p:sp>
        <p:nvSpPr>
          <p:cNvPr id="24" name="">
            <a:extLst xmlns:a="http://schemas.openxmlformats.org/drawingml/2006/main">
              <a:ext uri="{FF2B5EF4-FFF2-40B4-BE49-F238E27FC236}">
                <a16:creationId xmlns:a16="http://schemas.microsoft.com/office/drawing/2014/main" id="{A6909FC8-E040-46E1-AE10-33574D15ECA5}"/>
              </a:ext>
            </a:extLst>
          </p:cNvPr>
          <p:cNvSpPr>
            <a:spLocks xmlns:a="http://schemas.openxmlformats.org/drawingml/2006/main" noGrp="1"/>
          </p:cNvSpPr>
          <p:nvPr/>
        </p:nvSpPr>
        <p:spPr>
          <a:xfrm xmlns:a="http://schemas.openxmlformats.org/drawingml/2006/main">
            <a:off x="8172450" y="4143375"/>
            <a:ext cx="30670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17262D"/>
                </a:solidFill>
                <a:latin typeface="Malgun Gothic"/>
                <a:ea typeface="Malgun Gothic"/>
                <a:cs typeface="Malgun Gothic"/>
              </a:defRPr>
            </a:pPr>
            <a:r>
              <a:t>근소한 PR-AUC 우위 · 5개 seed 평균 0.947880 · std 0.000061 · 저장/재로딩 검증</a:t>
            </a:r>
          </a:p>
        </p:txBody>
      </p:sp>
      <p:sp>
        <p:nvSpPr>
          <p:cNvPr id="25" name="">
            <a:extLst xmlns:a="http://schemas.openxmlformats.org/drawingml/2006/main">
              <a:ext uri="{FF2B5EF4-FFF2-40B4-BE49-F238E27FC236}">
                <a16:creationId xmlns:a16="http://schemas.microsoft.com/office/drawing/2014/main" id="{1EB8D993-BE16-4FEB-8B6C-D568EAE28F45}"/>
              </a:ext>
            </a:extLst>
          </p:cNvPr>
          <p:cNvSpPr>
            <a:spLocks xmlns:a="http://schemas.openxmlformats.org/drawingml/2006/main" noGrp="1"/>
          </p:cNvSpPr>
          <p:nvPr/>
        </p:nvSpPr>
        <p:spPr>
          <a:xfrm xmlns:a="http://schemas.openxmlformats.org/drawingml/2006/main">
            <a:off x="476250" y="5153025"/>
            <a:ext cx="11239500" cy="857250"/>
          </a:xfrm>
          <a:prstGeom xmlns:a="http://schemas.openxmlformats.org/drawingml/2006/main" prst="roundRect">
            <a:avLst>
              <a:gd name="adj" fmla="val 8889"/>
            </a:avLst>
          </a:prstGeom>
          <a:solidFill xmlns:a="http://schemas.openxmlformats.org/drawingml/2006/main">
            <a:srgbClr val="FDE8E1"/>
          </a:solidFill>
          <a:ln xmlns:a="http://schemas.openxmlformats.org/drawingml/2006/main" w="9525">
            <a:solidFill>
              <a:srgbClr val="FDE8E1"/>
            </a:solidFill>
            <a:prstDash val="solid"/>
          </a:ln>
        </p:spPr>
      </p:sp>
      <p:sp>
        <p:nvSpPr>
          <p:cNvPr id="26" name="">
            <a:extLst xmlns:a="http://schemas.openxmlformats.org/drawingml/2006/main">
              <a:ext uri="{FF2B5EF4-FFF2-40B4-BE49-F238E27FC236}">
                <a16:creationId xmlns:a16="http://schemas.microsoft.com/office/drawing/2014/main" id="{0B157E43-D18C-49DE-92A4-0465FE836D72}"/>
              </a:ext>
            </a:extLst>
          </p:cNvPr>
          <p:cNvSpPr>
            <a:spLocks xmlns:a="http://schemas.openxmlformats.org/drawingml/2006/main" noGrp="1"/>
          </p:cNvSpPr>
          <p:nvPr/>
        </p:nvSpPr>
        <p:spPr>
          <a:xfrm xmlns:a="http://schemas.openxmlformats.org/drawingml/2006/main">
            <a:off x="723900" y="5353050"/>
            <a:ext cx="1219200" cy="2190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i="0">
                <a:solidFill>
                  <a:srgbClr val="B94C3C"/>
                </a:solidFill>
                <a:latin typeface="Malgun Gothic"/>
                <a:ea typeface="Malgun Gothic"/>
                <a:cs typeface="Malgun Gothic"/>
              </a:defRPr>
            </a:pPr>
            <a:r>
              <a:t>중요한 판단</a:t>
            </a:r>
          </a:p>
        </p:txBody>
      </p:sp>
      <p:sp>
        <p:nvSpPr>
          <p:cNvPr id="27" name="">
            <a:extLst xmlns:a="http://schemas.openxmlformats.org/drawingml/2006/main">
              <a:ext uri="{FF2B5EF4-FFF2-40B4-BE49-F238E27FC236}">
                <a16:creationId xmlns:a16="http://schemas.microsoft.com/office/drawing/2014/main" id="{30FD95E7-BD01-442C-ACE6-0CD3902479B3}"/>
              </a:ext>
            </a:extLst>
          </p:cNvPr>
          <p:cNvSpPr>
            <a:spLocks xmlns:a="http://schemas.openxmlformats.org/drawingml/2006/main" noGrp="1"/>
          </p:cNvSpPr>
          <p:nvPr/>
        </p:nvSpPr>
        <p:spPr>
          <a:xfrm xmlns:a="http://schemas.openxmlformats.org/drawingml/2006/main">
            <a:off x="1971675" y="5324475"/>
            <a:ext cx="9353550" cy="2952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1" i="0">
                <a:solidFill>
                  <a:srgbClr val="17262D"/>
                </a:solidFill>
                <a:latin typeface="Malgun Gothic"/>
                <a:ea typeface="Malgun Gothic"/>
                <a:cs typeface="Malgun Gothic"/>
              </a:defRPr>
            </a:pPr>
            <a:r>
              <a:t>Bootstrap 신뢰구간은 겹칩니다. Recall·Calibration을 더 중시하면 LightGBM이 선택될 수 있습니다.</a:t>
            </a:r>
          </a:p>
        </p:txBody>
      </p:sp>
      <p:sp>
        <p:nvSpPr>
          <p:cNvPr id="28" name="">
            <a:extLst xmlns:a="http://schemas.openxmlformats.org/drawingml/2006/main">
              <a:ext uri="{FF2B5EF4-FFF2-40B4-BE49-F238E27FC236}">
                <a16:creationId xmlns:a16="http://schemas.microsoft.com/office/drawing/2014/main" id="{30B21E74-924D-41CA-A743-5D3E0EEF4BCC}"/>
              </a:ext>
            </a:extLst>
          </p:cNvPr>
          <p:cNvSpPr>
            <a:spLocks xmlns:a="http://schemas.openxmlformats.org/drawingml/2006/main" noGrp="1"/>
          </p:cNvSpPr>
          <p:nvPr/>
        </p:nvSpPr>
        <p:spPr>
          <a:xfrm xmlns:a="http://schemas.openxmlformats.org/drawingml/2006/main">
            <a:off x="1971675" y="5657850"/>
            <a:ext cx="935355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607078"/>
                </a:solidFill>
                <a:latin typeface="Malgun Gothic"/>
                <a:ea typeface="Malgun Gothic"/>
                <a:cs typeface="Malgun Gothic"/>
              </a:defRPr>
            </a:pPr>
            <a:r>
              <a:t>최종 선택은 사업 비용과 Threshold가 결정하며 Holdout을 본 뒤 모델을 다시 고르지 않습니다.</a:t>
            </a:r>
          </a:p>
        </p:txBody>
      </p:sp>
      <p:sp>
        <p:nvSpPr>
          <p:cNvPr id="29" name="">
            <a:extLst xmlns:a="http://schemas.openxmlformats.org/drawingml/2006/main">
              <a:ext uri="{FF2B5EF4-FFF2-40B4-BE49-F238E27FC236}">
                <a16:creationId xmlns:a16="http://schemas.microsoft.com/office/drawing/2014/main" id="{C445EFAF-F23A-4B48-9D91-E7F7A5AA0E32}"/>
              </a:ext>
            </a:extLst>
          </p:cNvPr>
          <p:cNvSpPr>
            <a:spLocks xmlns:a="http://schemas.openxmlformats.org/drawingml/2006/main" noGrp="1"/>
          </p:cNvSpPr>
          <p:nvPr/>
        </p:nvSpPr>
        <p:spPr>
          <a:xfrm xmlns:a="http://schemas.openxmlformats.org/drawingml/2006/main">
            <a:off x="476250" y="6486525"/>
            <a:ext cx="11239500" cy="9525"/>
          </a:xfrm>
          <a:prstGeom xmlns:a="http://schemas.openxmlformats.org/drawingml/2006/main" prst="rect">
            <a:avLst/>
          </a:prstGeom>
          <a:solidFill xmlns:a="http://schemas.openxmlformats.org/drawingml/2006/main">
            <a:srgbClr val="D8D8D2"/>
          </a:solidFill>
        </p:spPr>
      </p:sp>
      <p:sp>
        <p:nvSpPr>
          <p:cNvPr id="30" name="">
            <a:extLst xmlns:a="http://schemas.openxmlformats.org/drawingml/2006/main">
              <a:ext uri="{FF2B5EF4-FFF2-40B4-BE49-F238E27FC236}">
                <a16:creationId xmlns:a16="http://schemas.microsoft.com/office/drawing/2014/main" id="{97E48954-FFF6-4272-8963-9DF50E58B2D3}"/>
              </a:ext>
            </a:extLst>
          </p:cNvPr>
          <p:cNvSpPr>
            <a:spLocks xmlns:a="http://schemas.openxmlformats.org/drawingml/2006/main" noGrp="1"/>
          </p:cNvSpPr>
          <p:nvPr/>
        </p:nvSpPr>
        <p:spPr>
          <a:xfrm xmlns:a="http://schemas.openxmlformats.org/drawingml/2006/main">
            <a:off x="666750" y="6534150"/>
            <a:ext cx="9620250" cy="209550"/>
          </a:xfrm>
          <a:prstGeom xmlns:a="http://schemas.openxmlformats.org/drawingml/2006/main" prst="rect">
            <a:avLst/>
          </a:prstGeom>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825" b="0" i="0">
                <a:solidFill>
                  <a:srgbClr val="98A5AA"/>
                </a:solidFill>
                <a:latin typeface="Malgun Gothic"/>
                <a:ea typeface="Malgun Gothic"/>
                <a:cs typeface="Malgun Gothic"/>
              </a:defRPr>
            </a:pPr>
            <a:r>
              <a:t>근거 · artifacts/presentation_v3/08_bootstrap_confidence_intervals.csv · 07_seed_stability.csv</a:t>
            </a:r>
          </a:p>
        </p:txBody>
      </p:sp>
      <p:sp>
        <p:nvSpPr>
          <p:cNvPr id="31" name="">
            <a:extLst xmlns:a="http://schemas.openxmlformats.org/drawingml/2006/main">
              <a:ext uri="{FF2B5EF4-FFF2-40B4-BE49-F238E27FC236}">
                <a16:creationId xmlns:a16="http://schemas.microsoft.com/office/drawing/2014/main" id="{F6C73517-7008-4166-A683-650DDDF799D4}"/>
              </a:ext>
            </a:extLst>
          </p:cNvPr>
          <p:cNvSpPr>
            <a:spLocks xmlns:a="http://schemas.openxmlformats.org/drawingml/2006/main" noGrp="1"/>
          </p:cNvSpPr>
          <p:nvPr/>
        </p:nvSpPr>
        <p:spPr>
          <a:xfrm xmlns:a="http://schemas.openxmlformats.org/drawingml/2006/main">
            <a:off x="11201400" y="6543675"/>
            <a:ext cx="5143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00" b="1" i="0">
                <a:solidFill>
                  <a:srgbClr val="607078"/>
                </a:solidFill>
                <a:latin typeface="Malgun Gothic"/>
                <a:ea typeface="Malgun Gothic"/>
                <a:cs typeface="Malgun Gothic"/>
              </a:defRPr>
            </a:pPr>
            <a:r>
              <a:t>09</a:t>
            </a:r>
          </a:p>
        </p:txBody>
      </p:sp>
      <p:pic>
        <p:nvPicPr>
          <p:cNvPr id="64" name=""/>
          <p:cNvPicPr>
            <a:picLocks xmlns:a="http://schemas.openxmlformats.org/drawingml/2006/main" noChangeAspect="1"/>
          </p:cNvPicPr>
          <p:nvPr/>
        </p:nvPicPr>
        <p:blipFill>
          <a:blip xmlns:r="http://schemas.openxmlformats.org/officeDocument/2006/relationships" xmlns:a="http://schemas.openxmlformats.org/drawingml/2006/main" r:embed="R58aad54fc8934111"/>
          <a:stretch xmlns:a="http://schemas.openxmlformats.org/drawingml/2006/main"/>
        </p:blipFill>
        <p:spPr>
          <a:xfrm xmlns:a="http://schemas.openxmlformats.org/drawingml/2006/main">
            <a:off x="665358" y="1809750"/>
            <a:ext cx="5813034" cy="2857500"/>
          </a:xfrm>
          <a:prstGeom xmlns:a="http://schemas.openxmlformats.org/drawingml/2006/main" prst="rect">
            <a:avLst/>
          </a:prstGeom>
        </p:spPr>
      </p:pic>
    </p:spTree>
    <p:extLst>
      <p:ext uri="{BB962C8B-B14F-4D97-AF65-F5344CB8AC3E}">
        <p14:creationId xmlns:p14="http://schemas.microsoft.com/office/powerpoint/2010/main" val="1996109572"/>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8E46B390-1715-4EEA-9A22-94A10237000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313F"/>
          </a:solidFill>
        </p:spPr>
      </p:sp>
      <p:sp>
        <p:nvSpPr>
          <p:cNvPr id="2" name="">
            <a:extLst xmlns:a="http://schemas.openxmlformats.org/drawingml/2006/main">
              <a:ext uri="{FF2B5EF4-FFF2-40B4-BE49-F238E27FC236}">
                <a16:creationId xmlns:a16="http://schemas.microsoft.com/office/drawing/2014/main" id="{FD986313-5E75-41AA-A543-C94E56A805B5}"/>
              </a:ext>
            </a:extLst>
          </p:cNvPr>
          <p:cNvSpPr>
            <a:spLocks xmlns:a="http://schemas.openxmlformats.org/drawingml/2006/main" noGrp="1"/>
          </p:cNvSpPr>
          <p:nvPr/>
        </p:nvSpPr>
        <p:spPr>
          <a:xfrm xmlns:a="http://schemas.openxmlformats.org/drawingml/2006/main">
            <a:off x="476250" y="257175"/>
            <a:ext cx="40005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78D0C6"/>
                </a:solidFill>
                <a:latin typeface="Malgun Gothic"/>
                <a:ea typeface="Malgun Gothic"/>
                <a:cs typeface="Malgun Gothic"/>
              </a:defRPr>
            </a:pPr>
            <a:r>
              <a:t>09 · MODEL PERSISTENCE</a:t>
            </a:r>
          </a:p>
        </p:txBody>
      </p:sp>
      <p:sp>
        <p:nvSpPr>
          <p:cNvPr id="3" name="">
            <a:extLst xmlns:a="http://schemas.openxmlformats.org/drawingml/2006/main">
              <a:ext uri="{FF2B5EF4-FFF2-40B4-BE49-F238E27FC236}">
                <a16:creationId xmlns:a16="http://schemas.microsoft.com/office/drawing/2014/main" id="{CEA4DED4-2652-4D8A-8A50-558F1C70F3EC}"/>
              </a:ext>
            </a:extLst>
          </p:cNvPr>
          <p:cNvSpPr>
            <a:spLocks xmlns:a="http://schemas.openxmlformats.org/drawingml/2006/main" noGrp="1"/>
          </p:cNvSpPr>
          <p:nvPr/>
        </p:nvSpPr>
        <p:spPr>
          <a:xfrm xmlns:a="http://schemas.openxmlformats.org/drawingml/2006/main">
            <a:off x="476250" y="561975"/>
            <a:ext cx="11049000" cy="542925"/>
          </a:xfrm>
          <a:prstGeom xmlns:a="http://schemas.openxmlformats.org/drawingml/2006/main" prst="rect">
            <a:avLst/>
          </a:prstGeom>
        </p:spPr>
        <p:txBody>
          <a:bodyPr xmlns:a="http://schemas.openxmlformats.org/drawingml/2006/main" wrap="square" lIns="0" tIns="0" rIns="0" bIns="0" anchor="t">
            <a:normAutofit fontScale="92335"/>
          </a:bodyPr>
          <a:lstStyle xmlns:a="http://schemas.openxmlformats.org/drawingml/2006/main"/>
          <a:p xmlns:a="http://schemas.openxmlformats.org/drawingml/2006/main">
            <a:pPr algn="l">
              <a:defRPr sz="2850" b="1" i="0">
                <a:solidFill>
                  <a:srgbClr val="FFFFFF"/>
                </a:solidFill>
                <a:latin typeface="Malgun Gothic"/>
                <a:ea typeface="Malgun Gothic"/>
                <a:cs typeface="Malgun Gothic"/>
              </a:defRPr>
            </a:pPr>
            <a:r>
              <a:t>학습 결과를 저장하고, 같은 모델이 앱에서 다시 로드되는지 검증했습니다</a:t>
            </a:r>
          </a:p>
        </p:txBody>
      </p:sp>
      <p:sp>
        <p:nvSpPr>
          <p:cNvPr id="4" name="">
            <a:extLst xmlns:a="http://schemas.openxmlformats.org/drawingml/2006/main">
              <a:ext uri="{FF2B5EF4-FFF2-40B4-BE49-F238E27FC236}">
                <a16:creationId xmlns:a16="http://schemas.microsoft.com/office/drawing/2014/main" id="{CA46675C-941B-4A8D-A3E1-6D2B2EA98D92}"/>
              </a:ext>
            </a:extLst>
          </p:cNvPr>
          <p:cNvSpPr>
            <a:spLocks xmlns:a="http://schemas.openxmlformats.org/drawingml/2006/main" noGrp="1"/>
          </p:cNvSpPr>
          <p:nvPr/>
        </p:nvSpPr>
        <p:spPr>
          <a:xfrm xmlns:a="http://schemas.openxmlformats.org/drawingml/2006/main">
            <a:off x="476250" y="1200150"/>
            <a:ext cx="723900" cy="47625"/>
          </a:xfrm>
          <a:prstGeom xmlns:a="http://schemas.openxmlformats.org/drawingml/2006/main" prst="rect">
            <a:avLst/>
          </a:prstGeom>
          <a:solidFill xmlns:a="http://schemas.openxmlformats.org/drawingml/2006/main">
            <a:srgbClr val="F2674A"/>
          </a:solidFill>
        </p:spPr>
      </p:sp>
      <p:sp>
        <p:nvSpPr>
          <p:cNvPr id="5" name="">
            <a:extLst xmlns:a="http://schemas.openxmlformats.org/drawingml/2006/main">
              <a:ext uri="{FF2B5EF4-FFF2-40B4-BE49-F238E27FC236}">
                <a16:creationId xmlns:a16="http://schemas.microsoft.com/office/drawing/2014/main" id="{FA37C3AE-4A23-4996-ABC4-4EE47FFFE740}"/>
              </a:ext>
            </a:extLst>
          </p:cNvPr>
          <p:cNvSpPr>
            <a:spLocks xmlns:a="http://schemas.openxmlformats.org/drawingml/2006/main" noGrp="1"/>
          </p:cNvSpPr>
          <p:nvPr/>
        </p:nvSpPr>
        <p:spPr>
          <a:xfrm xmlns:a="http://schemas.openxmlformats.org/drawingml/2006/main">
            <a:off x="533400" y="1809750"/>
            <a:ext cx="2400300" cy="1962150"/>
          </a:xfrm>
          <a:prstGeom xmlns:a="http://schemas.openxmlformats.org/drawingml/2006/main" prst="roundRect">
            <a:avLst>
              <a:gd name="adj" fmla="val 3883"/>
            </a:avLst>
          </a:prstGeom>
          <a:solidFill xmlns:a="http://schemas.openxmlformats.org/drawingml/2006/main">
            <a:srgbClr val="193C4B"/>
          </a:solidFill>
          <a:ln xmlns:a="http://schemas.openxmlformats.org/drawingml/2006/main" w="9525">
            <a:solidFill>
              <a:srgbClr val="315664"/>
            </a:solidFill>
            <a:prstDash val="solid"/>
          </a:ln>
        </p:spPr>
      </p:sp>
      <p:sp>
        <p:nvSpPr>
          <p:cNvPr id="6" name="">
            <a:extLst xmlns:a="http://schemas.openxmlformats.org/drawingml/2006/main">
              <a:ext uri="{FF2B5EF4-FFF2-40B4-BE49-F238E27FC236}">
                <a16:creationId xmlns:a16="http://schemas.microsoft.com/office/drawing/2014/main" id="{2C8916CB-CE98-4E94-A84F-34A4EA4E27B0}"/>
              </a:ext>
            </a:extLst>
          </p:cNvPr>
          <p:cNvSpPr>
            <a:spLocks xmlns:a="http://schemas.openxmlformats.org/drawingml/2006/main" noGrp="1"/>
          </p:cNvSpPr>
          <p:nvPr/>
        </p:nvSpPr>
        <p:spPr>
          <a:xfrm xmlns:a="http://schemas.openxmlformats.org/drawingml/2006/main">
            <a:off x="742950" y="2028825"/>
            <a:ext cx="4953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i="0">
                <a:solidFill>
                  <a:srgbClr val="78D0C6"/>
                </a:solidFill>
                <a:latin typeface="Malgun Gothic"/>
                <a:ea typeface="Malgun Gothic"/>
                <a:cs typeface="Malgun Gothic"/>
              </a:defRPr>
            </a:pPr>
            <a:r>
              <a:t>01</a:t>
            </a:r>
          </a:p>
        </p:txBody>
      </p:sp>
      <p:sp>
        <p:nvSpPr>
          <p:cNvPr id="7" name="">
            <a:extLst xmlns:a="http://schemas.openxmlformats.org/drawingml/2006/main">
              <a:ext uri="{FF2B5EF4-FFF2-40B4-BE49-F238E27FC236}">
                <a16:creationId xmlns:a16="http://schemas.microsoft.com/office/drawing/2014/main" id="{FB94A79C-5F6A-45BB-81C5-148603174714}"/>
              </a:ext>
            </a:extLst>
          </p:cNvPr>
          <p:cNvSpPr>
            <a:spLocks xmlns:a="http://schemas.openxmlformats.org/drawingml/2006/main" noGrp="1"/>
          </p:cNvSpPr>
          <p:nvPr/>
        </p:nvSpPr>
        <p:spPr>
          <a:xfrm xmlns:a="http://schemas.openxmlformats.org/drawingml/2006/main">
            <a:off x="742950" y="2447925"/>
            <a:ext cx="1981200" cy="304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FFFFFF"/>
                </a:solidFill>
                <a:latin typeface="Malgun Gothic"/>
                <a:ea typeface="Malgun Gothic"/>
                <a:cs typeface="Malgun Gothic"/>
              </a:defRPr>
            </a:pPr>
            <a:r>
              <a:t>고정 Pipeline</a:t>
            </a:r>
          </a:p>
        </p:txBody>
      </p:sp>
      <p:sp>
        <p:nvSpPr>
          <p:cNvPr id="8" name="">
            <a:extLst xmlns:a="http://schemas.openxmlformats.org/drawingml/2006/main">
              <a:ext uri="{FF2B5EF4-FFF2-40B4-BE49-F238E27FC236}">
                <a16:creationId xmlns:a16="http://schemas.microsoft.com/office/drawing/2014/main" id="{68F5B3B3-4188-481F-8D67-E85A03582CBA}"/>
              </a:ext>
            </a:extLst>
          </p:cNvPr>
          <p:cNvSpPr>
            <a:spLocks xmlns:a="http://schemas.openxmlformats.org/drawingml/2006/main" noGrp="1"/>
          </p:cNvSpPr>
          <p:nvPr/>
        </p:nvSpPr>
        <p:spPr>
          <a:xfrm xmlns:a="http://schemas.openxmlformats.org/drawingml/2006/main">
            <a:off x="742950" y="2943225"/>
            <a:ext cx="1981200" cy="5429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C7D8DE"/>
                </a:solidFill>
                <a:latin typeface="Malgun Gothic"/>
                <a:ea typeface="Malgun Gothic"/>
                <a:cs typeface="Malgun Gothic"/>
              </a:defRPr>
            </a:pPr>
            <a:r>
              <a:t>log_numeric
CatBoost fine candidate</a:t>
            </a:r>
          </a:p>
        </p:txBody>
      </p:sp>
      <p:sp>
        <p:nvSpPr>
          <p:cNvPr id="9" name="">
            <a:extLst xmlns:a="http://schemas.openxmlformats.org/drawingml/2006/main">
              <a:ext uri="{FF2B5EF4-FFF2-40B4-BE49-F238E27FC236}">
                <a16:creationId xmlns:a16="http://schemas.microsoft.com/office/drawing/2014/main" id="{955A6D30-B85D-4029-9B61-F737D3672A65}"/>
              </a:ext>
            </a:extLst>
          </p:cNvPr>
          <p:cNvSpPr>
            <a:spLocks xmlns:a="http://schemas.openxmlformats.org/drawingml/2006/main" noGrp="1"/>
          </p:cNvSpPr>
          <p:nvPr/>
        </p:nvSpPr>
        <p:spPr>
          <a:xfrm xmlns:a="http://schemas.openxmlformats.org/drawingml/2006/main">
            <a:off x="2990850" y="2619375"/>
            <a:ext cx="3238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025" b="1" i="0">
                <a:solidFill>
                  <a:srgbClr val="6F929E"/>
                </a:solidFill>
                <a:latin typeface="Malgun Gothic"/>
                <a:ea typeface="Malgun Gothic"/>
                <a:cs typeface="Malgun Gothic"/>
              </a:defRPr>
            </a:pPr>
            <a:r>
              <a:t>→</a:t>
            </a:r>
          </a:p>
        </p:txBody>
      </p:sp>
      <p:sp>
        <p:nvSpPr>
          <p:cNvPr id="10" name="">
            <a:extLst xmlns:a="http://schemas.openxmlformats.org/drawingml/2006/main">
              <a:ext uri="{FF2B5EF4-FFF2-40B4-BE49-F238E27FC236}">
                <a16:creationId xmlns:a16="http://schemas.microsoft.com/office/drawing/2014/main" id="{063BF09C-0457-4CC3-8DBA-2890CA0E1CA5}"/>
              </a:ext>
            </a:extLst>
          </p:cNvPr>
          <p:cNvSpPr>
            <a:spLocks xmlns:a="http://schemas.openxmlformats.org/drawingml/2006/main" noGrp="1"/>
          </p:cNvSpPr>
          <p:nvPr/>
        </p:nvSpPr>
        <p:spPr>
          <a:xfrm xmlns:a="http://schemas.openxmlformats.org/drawingml/2006/main">
            <a:off x="3390900" y="1809750"/>
            <a:ext cx="2400300" cy="1962150"/>
          </a:xfrm>
          <a:prstGeom xmlns:a="http://schemas.openxmlformats.org/drawingml/2006/main" prst="roundRect">
            <a:avLst>
              <a:gd name="adj" fmla="val 3883"/>
            </a:avLst>
          </a:prstGeom>
          <a:solidFill xmlns:a="http://schemas.openxmlformats.org/drawingml/2006/main">
            <a:srgbClr val="193C4B"/>
          </a:solidFill>
          <a:ln xmlns:a="http://schemas.openxmlformats.org/drawingml/2006/main" w="9525">
            <a:solidFill>
              <a:srgbClr val="315664"/>
            </a:solidFill>
            <a:prstDash val="solid"/>
          </a:ln>
        </p:spPr>
      </p:sp>
      <p:sp>
        <p:nvSpPr>
          <p:cNvPr id="11" name="">
            <a:extLst xmlns:a="http://schemas.openxmlformats.org/drawingml/2006/main">
              <a:ext uri="{FF2B5EF4-FFF2-40B4-BE49-F238E27FC236}">
                <a16:creationId xmlns:a16="http://schemas.microsoft.com/office/drawing/2014/main" id="{BDBF92E7-D143-40A5-A9EE-F518D3890946}"/>
              </a:ext>
            </a:extLst>
          </p:cNvPr>
          <p:cNvSpPr>
            <a:spLocks xmlns:a="http://schemas.openxmlformats.org/drawingml/2006/main" noGrp="1"/>
          </p:cNvSpPr>
          <p:nvPr/>
        </p:nvSpPr>
        <p:spPr>
          <a:xfrm xmlns:a="http://schemas.openxmlformats.org/drawingml/2006/main">
            <a:off x="3600450" y="2028825"/>
            <a:ext cx="4953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i="0">
                <a:solidFill>
                  <a:srgbClr val="78D0C6"/>
                </a:solidFill>
                <a:latin typeface="Malgun Gothic"/>
                <a:ea typeface="Malgun Gothic"/>
                <a:cs typeface="Malgun Gothic"/>
              </a:defRPr>
            </a:pPr>
            <a:r>
              <a:t>02</a:t>
            </a:r>
          </a:p>
        </p:txBody>
      </p:sp>
      <p:sp>
        <p:nvSpPr>
          <p:cNvPr id="12" name="">
            <a:extLst xmlns:a="http://schemas.openxmlformats.org/drawingml/2006/main">
              <a:ext uri="{FF2B5EF4-FFF2-40B4-BE49-F238E27FC236}">
                <a16:creationId xmlns:a16="http://schemas.microsoft.com/office/drawing/2014/main" id="{7B53214D-A566-417C-8FED-16FF4B817B34}"/>
              </a:ext>
            </a:extLst>
          </p:cNvPr>
          <p:cNvSpPr>
            <a:spLocks xmlns:a="http://schemas.openxmlformats.org/drawingml/2006/main" noGrp="1"/>
          </p:cNvSpPr>
          <p:nvPr/>
        </p:nvSpPr>
        <p:spPr>
          <a:xfrm xmlns:a="http://schemas.openxmlformats.org/drawingml/2006/main">
            <a:off x="3600450" y="2447925"/>
            <a:ext cx="1981200" cy="304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FFFFFF"/>
                </a:solidFill>
                <a:latin typeface="Malgun Gothic"/>
                <a:ea typeface="Malgun Gothic"/>
                <a:cs typeface="Malgun Gothic"/>
              </a:defRPr>
            </a:pPr>
            <a:r>
              <a:t>Artifact 저장</a:t>
            </a:r>
          </a:p>
        </p:txBody>
      </p:sp>
      <p:sp>
        <p:nvSpPr>
          <p:cNvPr id="13" name="">
            <a:extLst xmlns:a="http://schemas.openxmlformats.org/drawingml/2006/main">
              <a:ext uri="{FF2B5EF4-FFF2-40B4-BE49-F238E27FC236}">
                <a16:creationId xmlns:a16="http://schemas.microsoft.com/office/drawing/2014/main" id="{478A5D1A-CDDB-4DC0-A08B-0D0EEE59EC1E}"/>
              </a:ext>
            </a:extLst>
          </p:cNvPr>
          <p:cNvSpPr>
            <a:spLocks xmlns:a="http://schemas.openxmlformats.org/drawingml/2006/main" noGrp="1"/>
          </p:cNvSpPr>
          <p:nvPr/>
        </p:nvSpPr>
        <p:spPr>
          <a:xfrm xmlns:a="http://schemas.openxmlformats.org/drawingml/2006/main">
            <a:off x="3600450" y="2943225"/>
            <a:ext cx="1981200" cy="5429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C7D8DE"/>
                </a:solidFill>
                <a:latin typeface="Malgun Gothic"/>
                <a:ea typeface="Malgun Gothic"/>
                <a:cs typeface="Malgun Gothic"/>
              </a:defRPr>
            </a:pPr>
            <a:r>
              <a:t>music_churn_pipeline.joblib
metadata.json</a:t>
            </a:r>
          </a:p>
        </p:txBody>
      </p:sp>
      <p:sp>
        <p:nvSpPr>
          <p:cNvPr id="14" name="">
            <a:extLst xmlns:a="http://schemas.openxmlformats.org/drawingml/2006/main">
              <a:ext uri="{FF2B5EF4-FFF2-40B4-BE49-F238E27FC236}">
                <a16:creationId xmlns:a16="http://schemas.microsoft.com/office/drawing/2014/main" id="{E15BB302-38D5-49D1-A870-F08E35AF8702}"/>
              </a:ext>
            </a:extLst>
          </p:cNvPr>
          <p:cNvSpPr>
            <a:spLocks xmlns:a="http://schemas.openxmlformats.org/drawingml/2006/main" noGrp="1"/>
          </p:cNvSpPr>
          <p:nvPr/>
        </p:nvSpPr>
        <p:spPr>
          <a:xfrm xmlns:a="http://schemas.openxmlformats.org/drawingml/2006/main">
            <a:off x="5848350" y="2619375"/>
            <a:ext cx="3238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025" b="1" i="0">
                <a:solidFill>
                  <a:srgbClr val="6F929E"/>
                </a:solidFill>
                <a:latin typeface="Malgun Gothic"/>
                <a:ea typeface="Malgun Gothic"/>
                <a:cs typeface="Malgun Gothic"/>
              </a:defRPr>
            </a:pPr>
            <a:r>
              <a:t>→</a:t>
            </a:r>
          </a:p>
        </p:txBody>
      </p:sp>
      <p:sp>
        <p:nvSpPr>
          <p:cNvPr id="15" name="">
            <a:extLst xmlns:a="http://schemas.openxmlformats.org/drawingml/2006/main">
              <a:ext uri="{FF2B5EF4-FFF2-40B4-BE49-F238E27FC236}">
                <a16:creationId xmlns:a16="http://schemas.microsoft.com/office/drawing/2014/main" id="{35D5FE0C-24DB-4053-B937-27421CE5BFEF}"/>
              </a:ext>
            </a:extLst>
          </p:cNvPr>
          <p:cNvSpPr>
            <a:spLocks xmlns:a="http://schemas.openxmlformats.org/drawingml/2006/main" noGrp="1"/>
          </p:cNvSpPr>
          <p:nvPr/>
        </p:nvSpPr>
        <p:spPr>
          <a:xfrm xmlns:a="http://schemas.openxmlformats.org/drawingml/2006/main">
            <a:off x="6248400" y="1809750"/>
            <a:ext cx="2400300" cy="1962150"/>
          </a:xfrm>
          <a:prstGeom xmlns:a="http://schemas.openxmlformats.org/drawingml/2006/main" prst="roundRect">
            <a:avLst>
              <a:gd name="adj" fmla="val 3883"/>
            </a:avLst>
          </a:prstGeom>
          <a:solidFill xmlns:a="http://schemas.openxmlformats.org/drawingml/2006/main">
            <a:srgbClr val="193C4B"/>
          </a:solidFill>
          <a:ln xmlns:a="http://schemas.openxmlformats.org/drawingml/2006/main" w="9525">
            <a:solidFill>
              <a:srgbClr val="315664"/>
            </a:solidFill>
            <a:prstDash val="solid"/>
          </a:ln>
        </p:spPr>
      </p:sp>
      <p:sp>
        <p:nvSpPr>
          <p:cNvPr id="16" name="">
            <a:extLst xmlns:a="http://schemas.openxmlformats.org/drawingml/2006/main">
              <a:ext uri="{FF2B5EF4-FFF2-40B4-BE49-F238E27FC236}">
                <a16:creationId xmlns:a16="http://schemas.microsoft.com/office/drawing/2014/main" id="{3E0814AE-FF9C-4F4E-8A32-83C6A2D9AFFD}"/>
              </a:ext>
            </a:extLst>
          </p:cNvPr>
          <p:cNvSpPr>
            <a:spLocks xmlns:a="http://schemas.openxmlformats.org/drawingml/2006/main" noGrp="1"/>
          </p:cNvSpPr>
          <p:nvPr/>
        </p:nvSpPr>
        <p:spPr>
          <a:xfrm xmlns:a="http://schemas.openxmlformats.org/drawingml/2006/main">
            <a:off x="6457950" y="2028825"/>
            <a:ext cx="4953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i="0">
                <a:solidFill>
                  <a:srgbClr val="78D0C6"/>
                </a:solidFill>
                <a:latin typeface="Malgun Gothic"/>
                <a:ea typeface="Malgun Gothic"/>
                <a:cs typeface="Malgun Gothic"/>
              </a:defRPr>
            </a:pPr>
            <a:r>
              <a:t>03</a:t>
            </a:r>
          </a:p>
        </p:txBody>
      </p:sp>
      <p:sp>
        <p:nvSpPr>
          <p:cNvPr id="17" name="">
            <a:extLst xmlns:a="http://schemas.openxmlformats.org/drawingml/2006/main">
              <a:ext uri="{FF2B5EF4-FFF2-40B4-BE49-F238E27FC236}">
                <a16:creationId xmlns:a16="http://schemas.microsoft.com/office/drawing/2014/main" id="{383520C8-F082-48CD-8DB3-C5DE32E14CB3}"/>
              </a:ext>
            </a:extLst>
          </p:cNvPr>
          <p:cNvSpPr>
            <a:spLocks xmlns:a="http://schemas.openxmlformats.org/drawingml/2006/main" noGrp="1"/>
          </p:cNvSpPr>
          <p:nvPr/>
        </p:nvSpPr>
        <p:spPr>
          <a:xfrm xmlns:a="http://schemas.openxmlformats.org/drawingml/2006/main">
            <a:off x="6457950" y="2447925"/>
            <a:ext cx="1981200" cy="304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FFFFFF"/>
                </a:solidFill>
                <a:latin typeface="Malgun Gothic"/>
                <a:ea typeface="Malgun Gothic"/>
                <a:cs typeface="Malgun Gothic"/>
              </a:defRPr>
            </a:pPr>
            <a:r>
              <a:t>무결성 검증</a:t>
            </a:r>
          </a:p>
        </p:txBody>
      </p:sp>
      <p:sp>
        <p:nvSpPr>
          <p:cNvPr id="18" name="">
            <a:extLst xmlns:a="http://schemas.openxmlformats.org/drawingml/2006/main">
              <a:ext uri="{FF2B5EF4-FFF2-40B4-BE49-F238E27FC236}">
                <a16:creationId xmlns:a16="http://schemas.microsoft.com/office/drawing/2014/main" id="{C1F43399-32FF-4C9F-B478-62CD6FF4A54B}"/>
              </a:ext>
            </a:extLst>
          </p:cNvPr>
          <p:cNvSpPr>
            <a:spLocks xmlns:a="http://schemas.openxmlformats.org/drawingml/2006/main" noGrp="1"/>
          </p:cNvSpPr>
          <p:nvPr/>
        </p:nvSpPr>
        <p:spPr>
          <a:xfrm xmlns:a="http://schemas.openxmlformats.org/drawingml/2006/main">
            <a:off x="6457950" y="2943225"/>
            <a:ext cx="1981200" cy="5429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C7D8DE"/>
                </a:solidFill>
                <a:latin typeface="Malgun Gothic"/>
                <a:ea typeface="Malgun Gothic"/>
                <a:cs typeface="Malgun Gothic"/>
              </a:defRPr>
            </a:pPr>
            <a:r>
              <a:t>SHA-256 일치
reload_verified = true</a:t>
            </a:r>
          </a:p>
        </p:txBody>
      </p:sp>
      <p:sp>
        <p:nvSpPr>
          <p:cNvPr id="19" name="">
            <a:extLst xmlns:a="http://schemas.openxmlformats.org/drawingml/2006/main">
              <a:ext uri="{FF2B5EF4-FFF2-40B4-BE49-F238E27FC236}">
                <a16:creationId xmlns:a16="http://schemas.microsoft.com/office/drawing/2014/main" id="{745FA04F-BF7C-433B-909F-2976E3C51C24}"/>
              </a:ext>
            </a:extLst>
          </p:cNvPr>
          <p:cNvSpPr>
            <a:spLocks xmlns:a="http://schemas.openxmlformats.org/drawingml/2006/main" noGrp="1"/>
          </p:cNvSpPr>
          <p:nvPr/>
        </p:nvSpPr>
        <p:spPr>
          <a:xfrm xmlns:a="http://schemas.openxmlformats.org/drawingml/2006/main">
            <a:off x="8705850" y="2619375"/>
            <a:ext cx="3238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025" b="1" i="0">
                <a:solidFill>
                  <a:srgbClr val="6F929E"/>
                </a:solidFill>
                <a:latin typeface="Malgun Gothic"/>
                <a:ea typeface="Malgun Gothic"/>
                <a:cs typeface="Malgun Gothic"/>
              </a:defRPr>
            </a:pPr>
            <a:r>
              <a:t>→</a:t>
            </a:r>
          </a:p>
        </p:txBody>
      </p:sp>
      <p:sp>
        <p:nvSpPr>
          <p:cNvPr id="20" name="">
            <a:extLst xmlns:a="http://schemas.openxmlformats.org/drawingml/2006/main">
              <a:ext uri="{FF2B5EF4-FFF2-40B4-BE49-F238E27FC236}">
                <a16:creationId xmlns:a16="http://schemas.microsoft.com/office/drawing/2014/main" id="{7689D976-7AC1-484E-B863-CB9AFB851E84}"/>
              </a:ext>
            </a:extLst>
          </p:cNvPr>
          <p:cNvSpPr>
            <a:spLocks xmlns:a="http://schemas.openxmlformats.org/drawingml/2006/main" noGrp="1"/>
          </p:cNvSpPr>
          <p:nvPr/>
        </p:nvSpPr>
        <p:spPr>
          <a:xfrm xmlns:a="http://schemas.openxmlformats.org/drawingml/2006/main">
            <a:off x="9105900" y="1809750"/>
            <a:ext cx="2400300" cy="1962150"/>
          </a:xfrm>
          <a:prstGeom xmlns:a="http://schemas.openxmlformats.org/drawingml/2006/main" prst="roundRect">
            <a:avLst>
              <a:gd name="adj" fmla="val 3883"/>
            </a:avLst>
          </a:prstGeom>
          <a:solidFill xmlns:a="http://schemas.openxmlformats.org/drawingml/2006/main">
            <a:srgbClr val="214E5E"/>
          </a:solidFill>
          <a:ln xmlns:a="http://schemas.openxmlformats.org/drawingml/2006/main" w="9525">
            <a:solidFill>
              <a:srgbClr val="4A7887"/>
            </a:solidFill>
            <a:prstDash val="solid"/>
          </a:ln>
        </p:spPr>
      </p:sp>
      <p:sp>
        <p:nvSpPr>
          <p:cNvPr id="21" name="">
            <a:extLst xmlns:a="http://schemas.openxmlformats.org/drawingml/2006/main">
              <a:ext uri="{FF2B5EF4-FFF2-40B4-BE49-F238E27FC236}">
                <a16:creationId xmlns:a16="http://schemas.microsoft.com/office/drawing/2014/main" id="{D89A34FD-7C14-460C-A948-74320F5B7668}"/>
              </a:ext>
            </a:extLst>
          </p:cNvPr>
          <p:cNvSpPr>
            <a:spLocks xmlns:a="http://schemas.openxmlformats.org/drawingml/2006/main" noGrp="1"/>
          </p:cNvSpPr>
          <p:nvPr/>
        </p:nvSpPr>
        <p:spPr>
          <a:xfrm xmlns:a="http://schemas.openxmlformats.org/drawingml/2006/main">
            <a:off x="9315450" y="2028825"/>
            <a:ext cx="4953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i="0">
                <a:solidFill>
                  <a:srgbClr val="78D0C6"/>
                </a:solidFill>
                <a:latin typeface="Malgun Gothic"/>
                <a:ea typeface="Malgun Gothic"/>
                <a:cs typeface="Malgun Gothic"/>
              </a:defRPr>
            </a:pPr>
            <a:r>
              <a:t>04</a:t>
            </a:r>
          </a:p>
        </p:txBody>
      </p:sp>
      <p:sp>
        <p:nvSpPr>
          <p:cNvPr id="22" name="">
            <a:extLst xmlns:a="http://schemas.openxmlformats.org/drawingml/2006/main">
              <a:ext uri="{FF2B5EF4-FFF2-40B4-BE49-F238E27FC236}">
                <a16:creationId xmlns:a16="http://schemas.microsoft.com/office/drawing/2014/main" id="{DB1719C9-BC02-4B8A-ABDD-2409019A1252}"/>
              </a:ext>
            </a:extLst>
          </p:cNvPr>
          <p:cNvSpPr>
            <a:spLocks xmlns:a="http://schemas.openxmlformats.org/drawingml/2006/main" noGrp="1"/>
          </p:cNvSpPr>
          <p:nvPr/>
        </p:nvSpPr>
        <p:spPr>
          <a:xfrm xmlns:a="http://schemas.openxmlformats.org/drawingml/2006/main">
            <a:off x="9315450" y="2447925"/>
            <a:ext cx="1981200" cy="304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FFFFFF"/>
                </a:solidFill>
                <a:latin typeface="Malgun Gothic"/>
                <a:ea typeface="Malgun Gothic"/>
                <a:cs typeface="Malgun Gothic"/>
              </a:defRPr>
            </a:pPr>
            <a:r>
              <a:t>Streamlit 사용</a:t>
            </a:r>
          </a:p>
        </p:txBody>
      </p:sp>
      <p:sp>
        <p:nvSpPr>
          <p:cNvPr id="23" name="">
            <a:extLst xmlns:a="http://schemas.openxmlformats.org/drawingml/2006/main">
              <a:ext uri="{FF2B5EF4-FFF2-40B4-BE49-F238E27FC236}">
                <a16:creationId xmlns:a16="http://schemas.microsoft.com/office/drawing/2014/main" id="{59CD9CF6-57C2-4061-8F22-AABE42349BE3}"/>
              </a:ext>
            </a:extLst>
          </p:cNvPr>
          <p:cNvSpPr>
            <a:spLocks xmlns:a="http://schemas.openxmlformats.org/drawingml/2006/main" noGrp="1"/>
          </p:cNvSpPr>
          <p:nvPr/>
        </p:nvSpPr>
        <p:spPr>
          <a:xfrm xmlns:a="http://schemas.openxmlformats.org/drawingml/2006/main">
            <a:off x="9315450" y="2943225"/>
            <a:ext cx="1981200" cy="5429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C7D8DE"/>
                </a:solidFill>
                <a:latin typeface="Malgun Gothic"/>
                <a:ea typeface="Malgun Gothic"/>
                <a:cs typeface="Malgun Gothic"/>
              </a:defRPr>
            </a:pPr>
            <a:r>
              <a:t>app/streamlit_app.py
동일 artifact 로드</a:t>
            </a:r>
          </a:p>
        </p:txBody>
      </p:sp>
      <p:sp>
        <p:nvSpPr>
          <p:cNvPr id="24" name="">
            <a:extLst xmlns:a="http://schemas.openxmlformats.org/drawingml/2006/main">
              <a:ext uri="{FF2B5EF4-FFF2-40B4-BE49-F238E27FC236}">
                <a16:creationId xmlns:a16="http://schemas.microsoft.com/office/drawing/2014/main" id="{8E714EE3-D63B-4A00-AE26-BD24BC7BA1FB}"/>
              </a:ext>
            </a:extLst>
          </p:cNvPr>
          <p:cNvSpPr>
            <a:spLocks xmlns:a="http://schemas.openxmlformats.org/drawingml/2006/main" noGrp="1"/>
          </p:cNvSpPr>
          <p:nvPr/>
        </p:nvSpPr>
        <p:spPr>
          <a:xfrm xmlns:a="http://schemas.openxmlformats.org/drawingml/2006/main">
            <a:off x="533400" y="4133850"/>
            <a:ext cx="10972800" cy="1466850"/>
          </a:xfrm>
          <a:prstGeom xmlns:a="http://schemas.openxmlformats.org/drawingml/2006/main" prst="roundRect">
            <a:avLst>
              <a:gd name="adj" fmla="val 5195"/>
            </a:avLst>
          </a:prstGeom>
          <a:solidFill xmlns:a="http://schemas.openxmlformats.org/drawingml/2006/main">
            <a:srgbClr val="F6F3EE"/>
          </a:solidFill>
          <a:ln xmlns:a="http://schemas.openxmlformats.org/drawingml/2006/main" w="9525">
            <a:solidFill>
              <a:srgbClr val="F6F3EE"/>
            </a:solidFill>
            <a:prstDash val="solid"/>
          </a:ln>
        </p:spPr>
      </p:sp>
      <p:sp>
        <p:nvSpPr>
          <p:cNvPr id="25" name="">
            <a:extLst xmlns:a="http://schemas.openxmlformats.org/drawingml/2006/main">
              <a:ext uri="{FF2B5EF4-FFF2-40B4-BE49-F238E27FC236}">
                <a16:creationId xmlns:a16="http://schemas.microsoft.com/office/drawing/2014/main" id="{B552EE7B-29EE-4811-A4C8-19A370635508}"/>
              </a:ext>
            </a:extLst>
          </p:cNvPr>
          <p:cNvSpPr>
            <a:spLocks xmlns:a="http://schemas.openxmlformats.org/drawingml/2006/main" noGrp="1"/>
          </p:cNvSpPr>
          <p:nvPr/>
        </p:nvSpPr>
        <p:spPr>
          <a:xfrm xmlns:a="http://schemas.openxmlformats.org/drawingml/2006/main">
            <a:off x="781050" y="4362450"/>
            <a:ext cx="781050" cy="2190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i="0">
                <a:solidFill>
                  <a:srgbClr val="118C83"/>
                </a:solidFill>
                <a:latin typeface="Malgun Gothic"/>
                <a:ea typeface="Malgun Gothic"/>
                <a:cs typeface="Malgun Gothic"/>
              </a:defRPr>
            </a:pPr>
            <a:r>
              <a:t>RUN</a:t>
            </a:r>
          </a:p>
        </p:txBody>
      </p:sp>
      <p:sp>
        <p:nvSpPr>
          <p:cNvPr id="26" name="">
            <a:extLst xmlns:a="http://schemas.openxmlformats.org/drawingml/2006/main">
              <a:ext uri="{FF2B5EF4-FFF2-40B4-BE49-F238E27FC236}">
                <a16:creationId xmlns:a16="http://schemas.microsoft.com/office/drawing/2014/main" id="{288B29A3-8198-4533-B6AB-204C42889692}"/>
              </a:ext>
            </a:extLst>
          </p:cNvPr>
          <p:cNvSpPr>
            <a:spLocks xmlns:a="http://schemas.openxmlformats.org/drawingml/2006/main" noGrp="1"/>
          </p:cNvSpPr>
          <p:nvPr/>
        </p:nvSpPr>
        <p:spPr>
          <a:xfrm xmlns:a="http://schemas.openxmlformats.org/drawingml/2006/main">
            <a:off x="1619250" y="4333875"/>
            <a:ext cx="3048000" cy="285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7262D"/>
                </a:solidFill>
                <a:latin typeface="Malgun Gothic"/>
                <a:ea typeface="Malgun Gothic"/>
                <a:cs typeface="Malgun Gothic"/>
              </a:defRPr>
            </a:pPr>
            <a:r>
              <a:t>20260721_full_fair_v1</a:t>
            </a:r>
          </a:p>
        </p:txBody>
      </p:sp>
      <p:sp>
        <p:nvSpPr>
          <p:cNvPr id="27" name="">
            <a:extLst xmlns:a="http://schemas.openxmlformats.org/drawingml/2006/main">
              <a:ext uri="{FF2B5EF4-FFF2-40B4-BE49-F238E27FC236}">
                <a16:creationId xmlns:a16="http://schemas.microsoft.com/office/drawing/2014/main" id="{F4248C1A-F216-43FC-BADC-280ED4AD4D83}"/>
              </a:ext>
            </a:extLst>
          </p:cNvPr>
          <p:cNvSpPr>
            <a:spLocks xmlns:a="http://schemas.openxmlformats.org/drawingml/2006/main" noGrp="1"/>
          </p:cNvSpPr>
          <p:nvPr/>
        </p:nvSpPr>
        <p:spPr>
          <a:xfrm xmlns:a="http://schemas.openxmlformats.org/drawingml/2006/main">
            <a:off x="4981575" y="4362450"/>
            <a:ext cx="781050" cy="2190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i="0">
                <a:solidFill>
                  <a:srgbClr val="118C83"/>
                </a:solidFill>
                <a:latin typeface="Malgun Gothic"/>
                <a:ea typeface="Malgun Gothic"/>
                <a:cs typeface="Malgun Gothic"/>
              </a:defRPr>
            </a:pPr>
            <a:r>
              <a:t>MODEL</a:t>
            </a:r>
          </a:p>
        </p:txBody>
      </p:sp>
      <p:sp>
        <p:nvSpPr>
          <p:cNvPr id="28" name="">
            <a:extLst xmlns:a="http://schemas.openxmlformats.org/drawingml/2006/main">
              <a:ext uri="{FF2B5EF4-FFF2-40B4-BE49-F238E27FC236}">
                <a16:creationId xmlns:a16="http://schemas.microsoft.com/office/drawing/2014/main" id="{34FFDCAA-31B6-4E8E-9CFE-A06B09FE9C84}"/>
              </a:ext>
            </a:extLst>
          </p:cNvPr>
          <p:cNvSpPr>
            <a:spLocks xmlns:a="http://schemas.openxmlformats.org/drawingml/2006/main" noGrp="1"/>
          </p:cNvSpPr>
          <p:nvPr/>
        </p:nvSpPr>
        <p:spPr>
          <a:xfrm xmlns:a="http://schemas.openxmlformats.org/drawingml/2006/main">
            <a:off x="5829300" y="4333875"/>
            <a:ext cx="3000375" cy="285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7262D"/>
                </a:solidFill>
                <a:latin typeface="Malgun Gothic"/>
                <a:ea typeface="Malgun Gothic"/>
                <a:cs typeface="Malgun Gothic"/>
              </a:defRPr>
            </a:pPr>
            <a:r>
              <a:t>CatBoost · five_fold_oof</a:t>
            </a:r>
          </a:p>
        </p:txBody>
      </p:sp>
      <p:sp>
        <p:nvSpPr>
          <p:cNvPr id="29" name="">
            <a:extLst xmlns:a="http://schemas.openxmlformats.org/drawingml/2006/main">
              <a:ext uri="{FF2B5EF4-FFF2-40B4-BE49-F238E27FC236}">
                <a16:creationId xmlns:a16="http://schemas.microsoft.com/office/drawing/2014/main" id="{542E7BEF-738A-4889-988A-452B4BA7FB36}"/>
              </a:ext>
            </a:extLst>
          </p:cNvPr>
          <p:cNvSpPr>
            <a:spLocks xmlns:a="http://schemas.openxmlformats.org/drawingml/2006/main" noGrp="1"/>
          </p:cNvSpPr>
          <p:nvPr/>
        </p:nvSpPr>
        <p:spPr>
          <a:xfrm xmlns:a="http://schemas.openxmlformats.org/drawingml/2006/main">
            <a:off x="8896350" y="4362450"/>
            <a:ext cx="781050" cy="2190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i="0">
                <a:solidFill>
                  <a:srgbClr val="118C83"/>
                </a:solidFill>
                <a:latin typeface="Malgun Gothic"/>
                <a:ea typeface="Malgun Gothic"/>
                <a:cs typeface="Malgun Gothic"/>
              </a:defRPr>
            </a:pPr>
            <a:r>
              <a:t>STATUS</a:t>
            </a:r>
          </a:p>
        </p:txBody>
      </p:sp>
      <p:sp>
        <p:nvSpPr>
          <p:cNvPr id="30" name="">
            <a:extLst xmlns:a="http://schemas.openxmlformats.org/drawingml/2006/main">
              <a:ext uri="{FF2B5EF4-FFF2-40B4-BE49-F238E27FC236}">
                <a16:creationId xmlns:a16="http://schemas.microsoft.com/office/drawing/2014/main" id="{751ECE6C-2641-4125-AB4A-FF7F640159AA}"/>
              </a:ext>
            </a:extLst>
          </p:cNvPr>
          <p:cNvSpPr>
            <a:spLocks xmlns:a="http://schemas.openxmlformats.org/drawingml/2006/main" noGrp="1"/>
          </p:cNvSpPr>
          <p:nvPr/>
        </p:nvSpPr>
        <p:spPr>
          <a:xfrm xmlns:a="http://schemas.openxmlformats.org/drawingml/2006/main">
            <a:off x="9696450" y="4333875"/>
            <a:ext cx="1562100" cy="285750"/>
          </a:xfrm>
          <a:prstGeom xmlns:a="http://schemas.openxmlformats.org/drawingml/2006/main" prst="rect">
            <a:avLst/>
          </a:prstGeom>
        </p:spPr>
        <p:txBody>
          <a:bodyPr xmlns:a="http://schemas.openxmlformats.org/drawingml/2006/main" wrap="square" lIns="0" tIns="0" rIns="0" bIns="0" anchor="t">
            <a:normAutofit fontScale="80353"/>
          </a:bodyPr>
          <a:lstStyle xmlns:a="http://schemas.openxmlformats.org/drawingml/2006/main"/>
          <a:p xmlns:a="http://schemas.openxmlformats.org/drawingml/2006/main">
            <a:pPr algn="r">
              <a:defRPr sz="1350" b="1" i="0">
                <a:solidFill>
                  <a:srgbClr val="17262D"/>
                </a:solidFill>
                <a:latin typeface="Malgun Gothic"/>
                <a:ea typeface="Malgun Gothic"/>
                <a:cs typeface="Malgun Gothic"/>
              </a:defRPr>
            </a:pPr>
            <a:r>
              <a:t>LOCAL APP PROMOTED</a:t>
            </a:r>
          </a:p>
        </p:txBody>
      </p:sp>
      <p:sp>
        <p:nvSpPr>
          <p:cNvPr id="31" name="">
            <a:extLst xmlns:a="http://schemas.openxmlformats.org/drawingml/2006/main">
              <a:ext uri="{FF2B5EF4-FFF2-40B4-BE49-F238E27FC236}">
                <a16:creationId xmlns:a16="http://schemas.microsoft.com/office/drawing/2014/main" id="{1072928B-7292-4F02-BD1E-85EB3608331D}"/>
              </a:ext>
            </a:extLst>
          </p:cNvPr>
          <p:cNvSpPr>
            <a:spLocks xmlns:a="http://schemas.openxmlformats.org/drawingml/2006/main" noGrp="1"/>
          </p:cNvSpPr>
          <p:nvPr/>
        </p:nvSpPr>
        <p:spPr>
          <a:xfrm xmlns:a="http://schemas.openxmlformats.org/drawingml/2006/main">
            <a:off x="781050" y="4781550"/>
            <a:ext cx="10477500" cy="9525"/>
          </a:xfrm>
          <a:prstGeom xmlns:a="http://schemas.openxmlformats.org/drawingml/2006/main" prst="rect">
            <a:avLst/>
          </a:prstGeom>
          <a:solidFill xmlns:a="http://schemas.openxmlformats.org/drawingml/2006/main">
            <a:srgbClr val="D8D8D2"/>
          </a:solidFill>
        </p:spPr>
      </p:sp>
      <p:sp>
        <p:nvSpPr>
          <p:cNvPr id="32" name="">
            <a:extLst xmlns:a="http://schemas.openxmlformats.org/drawingml/2006/main">
              <a:ext uri="{FF2B5EF4-FFF2-40B4-BE49-F238E27FC236}">
                <a16:creationId xmlns:a16="http://schemas.microsoft.com/office/drawing/2014/main" id="{94E9EC06-8A9A-4AE7-9886-3C162E88698E}"/>
              </a:ext>
            </a:extLst>
          </p:cNvPr>
          <p:cNvSpPr>
            <a:spLocks xmlns:a="http://schemas.openxmlformats.org/drawingml/2006/main" noGrp="1"/>
          </p:cNvSpPr>
          <p:nvPr/>
        </p:nvSpPr>
        <p:spPr>
          <a:xfrm xmlns:a="http://schemas.openxmlformats.org/drawingml/2006/main">
            <a:off x="781050" y="5000625"/>
            <a:ext cx="9144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i="0">
                <a:solidFill>
                  <a:srgbClr val="F2674A"/>
                </a:solidFill>
                <a:latin typeface="Malgun Gothic"/>
                <a:ea typeface="Malgun Gothic"/>
                <a:cs typeface="Malgun Gothic"/>
              </a:defRPr>
            </a:pPr>
            <a:r>
              <a:t>SHA-256</a:t>
            </a:r>
          </a:p>
        </p:txBody>
      </p:sp>
      <p:sp>
        <p:nvSpPr>
          <p:cNvPr id="33" name="">
            <a:extLst xmlns:a="http://schemas.openxmlformats.org/drawingml/2006/main">
              <a:ext uri="{FF2B5EF4-FFF2-40B4-BE49-F238E27FC236}">
                <a16:creationId xmlns:a16="http://schemas.microsoft.com/office/drawing/2014/main" id="{42EFAC17-2CFF-4A69-B444-2DF393E8D330}"/>
              </a:ext>
            </a:extLst>
          </p:cNvPr>
          <p:cNvSpPr>
            <a:spLocks xmlns:a="http://schemas.openxmlformats.org/drawingml/2006/main" noGrp="1"/>
          </p:cNvSpPr>
          <p:nvPr/>
        </p:nvSpPr>
        <p:spPr>
          <a:xfrm xmlns:a="http://schemas.openxmlformats.org/drawingml/2006/main">
            <a:off x="1714500" y="4981575"/>
            <a:ext cx="95440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0" i="0">
                <a:solidFill>
                  <a:srgbClr val="17262D"/>
                </a:solidFill>
                <a:latin typeface="Consolas"/>
                <a:ea typeface="Consolas"/>
                <a:cs typeface="Consolas"/>
              </a:defRPr>
            </a:pPr>
            <a:r>
              <a:t>fc35ca91e9242dbc0e914db9f0dfc9e994024a5d4cc8d0d770d12321989a7d0e</a:t>
            </a:r>
          </a:p>
        </p:txBody>
      </p:sp>
      <p:sp>
        <p:nvSpPr>
          <p:cNvPr id="34" name="">
            <a:extLst xmlns:a="http://schemas.openxmlformats.org/drawingml/2006/main">
              <a:ext uri="{FF2B5EF4-FFF2-40B4-BE49-F238E27FC236}">
                <a16:creationId xmlns:a16="http://schemas.microsoft.com/office/drawing/2014/main" id="{D1D1132D-D0FB-4F07-B402-05EDE61A6AED}"/>
              </a:ext>
            </a:extLst>
          </p:cNvPr>
          <p:cNvSpPr>
            <a:spLocks xmlns:a="http://schemas.openxmlformats.org/drawingml/2006/main" noGrp="1"/>
          </p:cNvSpPr>
          <p:nvPr/>
        </p:nvSpPr>
        <p:spPr>
          <a:xfrm xmlns:a="http://schemas.openxmlformats.org/drawingml/2006/main">
            <a:off x="781050" y="5314950"/>
            <a:ext cx="40005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i="0">
                <a:solidFill>
                  <a:srgbClr val="607078"/>
                </a:solidFill>
                <a:latin typeface="Consolas"/>
                <a:ea typeface="Consolas"/>
                <a:cs typeface="Consolas"/>
              </a:defRPr>
            </a:pPr>
            <a:r>
              <a:t>fresh_process_reload_verified = true</a:t>
            </a:r>
          </a:p>
        </p:txBody>
      </p:sp>
      <p:sp>
        <p:nvSpPr>
          <p:cNvPr id="35" name="">
            <a:extLst xmlns:a="http://schemas.openxmlformats.org/drawingml/2006/main">
              <a:ext uri="{FF2B5EF4-FFF2-40B4-BE49-F238E27FC236}">
                <a16:creationId xmlns:a16="http://schemas.microsoft.com/office/drawing/2014/main" id="{B3E5FE26-9803-4D98-8404-477CB81493AC}"/>
              </a:ext>
            </a:extLst>
          </p:cNvPr>
          <p:cNvSpPr>
            <a:spLocks xmlns:a="http://schemas.openxmlformats.org/drawingml/2006/main" noGrp="1"/>
          </p:cNvSpPr>
          <p:nvPr/>
        </p:nvSpPr>
        <p:spPr>
          <a:xfrm xmlns:a="http://schemas.openxmlformats.org/drawingml/2006/main">
            <a:off x="476250" y="6486525"/>
            <a:ext cx="11239500" cy="9525"/>
          </a:xfrm>
          <a:prstGeom xmlns:a="http://schemas.openxmlformats.org/drawingml/2006/main" prst="rect">
            <a:avLst/>
          </a:prstGeom>
          <a:solidFill xmlns:a="http://schemas.openxmlformats.org/drawingml/2006/main">
            <a:srgbClr val="D8D8D2"/>
          </a:solidFill>
        </p:spPr>
      </p:sp>
      <p:sp>
        <p:nvSpPr>
          <p:cNvPr id="36" name="">
            <a:extLst xmlns:a="http://schemas.openxmlformats.org/drawingml/2006/main">
              <a:ext uri="{FF2B5EF4-FFF2-40B4-BE49-F238E27FC236}">
                <a16:creationId xmlns:a16="http://schemas.microsoft.com/office/drawing/2014/main" id="{A5F709CF-6480-4E0F-9C56-5B85EFFF9204}"/>
              </a:ext>
            </a:extLst>
          </p:cNvPr>
          <p:cNvSpPr>
            <a:spLocks xmlns:a="http://schemas.openxmlformats.org/drawingml/2006/main" noGrp="1"/>
          </p:cNvSpPr>
          <p:nvPr/>
        </p:nvSpPr>
        <p:spPr>
          <a:xfrm xmlns:a="http://schemas.openxmlformats.org/drawingml/2006/main">
            <a:off x="666750" y="6534150"/>
            <a:ext cx="9620250" cy="209550"/>
          </a:xfrm>
          <a:prstGeom xmlns:a="http://schemas.openxmlformats.org/drawingml/2006/main" prst="rect">
            <a:avLst/>
          </a:prstGeom>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825" b="0" i="0">
                <a:solidFill>
                  <a:srgbClr val="98A5AA"/>
                </a:solidFill>
                <a:latin typeface="Malgun Gothic"/>
                <a:ea typeface="Malgun Gothic"/>
                <a:cs typeface="Malgun Gothic"/>
              </a:defRPr>
            </a:pPr>
            <a:r>
              <a:t>근거 · artifacts/model/metadata.json · artifacts/model/music_churn_pipeline.joblib · app/streamlit_app.py</a:t>
            </a:r>
          </a:p>
        </p:txBody>
      </p:sp>
      <p:sp>
        <p:nvSpPr>
          <p:cNvPr id="37" name="">
            <a:extLst xmlns:a="http://schemas.openxmlformats.org/drawingml/2006/main">
              <a:ext uri="{FF2B5EF4-FFF2-40B4-BE49-F238E27FC236}">
                <a16:creationId xmlns:a16="http://schemas.microsoft.com/office/drawing/2014/main" id="{92770459-8A3C-4FFC-AA3F-63EFA258A8A5}"/>
              </a:ext>
            </a:extLst>
          </p:cNvPr>
          <p:cNvSpPr>
            <a:spLocks xmlns:a="http://schemas.openxmlformats.org/drawingml/2006/main" noGrp="1"/>
          </p:cNvSpPr>
          <p:nvPr/>
        </p:nvSpPr>
        <p:spPr>
          <a:xfrm xmlns:a="http://schemas.openxmlformats.org/drawingml/2006/main">
            <a:off x="11201400" y="6543675"/>
            <a:ext cx="5143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00" b="1" i="0">
                <a:solidFill>
                  <a:srgbClr val="607078"/>
                </a:solidFill>
                <a:latin typeface="Malgun Gothic"/>
                <a:ea typeface="Malgun Gothic"/>
                <a:cs typeface="Malgun Gothic"/>
              </a:defRPr>
            </a:pPr>
            <a:r>
              <a:t>10</a:t>
            </a:r>
          </a:p>
        </p:txBody>
      </p:sp>
    </p:spTree>
    <p:extLst>
      <p:ext uri="{BB962C8B-B14F-4D97-AF65-F5344CB8AC3E}">
        <p14:creationId xmlns:p14="http://schemas.microsoft.com/office/powerpoint/2010/main" val="1503933442"/>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D67CA76-FCDA-4EC0-B5E3-9C5446853B6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6F3EE"/>
          </a:solidFill>
        </p:spPr>
      </p:sp>
      <p:sp>
        <p:nvSpPr>
          <p:cNvPr id="2" name="">
            <a:extLst xmlns:a="http://schemas.openxmlformats.org/drawingml/2006/main">
              <a:ext uri="{FF2B5EF4-FFF2-40B4-BE49-F238E27FC236}">
                <a16:creationId xmlns:a16="http://schemas.microsoft.com/office/drawing/2014/main" id="{7488DF6D-D21B-47AD-A283-664C85B0D7E3}"/>
              </a:ext>
            </a:extLst>
          </p:cNvPr>
          <p:cNvSpPr>
            <a:spLocks xmlns:a="http://schemas.openxmlformats.org/drawingml/2006/main" noGrp="1"/>
          </p:cNvSpPr>
          <p:nvPr/>
        </p:nvSpPr>
        <p:spPr>
          <a:xfrm xmlns:a="http://schemas.openxmlformats.org/drawingml/2006/main">
            <a:off x="476250" y="257175"/>
            <a:ext cx="40005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118C83"/>
                </a:solidFill>
                <a:latin typeface="Malgun Gothic"/>
                <a:ea typeface="Malgun Gothic"/>
                <a:cs typeface="Malgun Gothic"/>
              </a:defRPr>
            </a:pPr>
            <a:r>
              <a:t>10 · STREAMLIT DEMO</a:t>
            </a:r>
          </a:p>
        </p:txBody>
      </p:sp>
      <p:sp>
        <p:nvSpPr>
          <p:cNvPr id="3" name="">
            <a:extLst xmlns:a="http://schemas.openxmlformats.org/drawingml/2006/main">
              <a:ext uri="{FF2B5EF4-FFF2-40B4-BE49-F238E27FC236}">
                <a16:creationId xmlns:a16="http://schemas.microsoft.com/office/drawing/2014/main" id="{630611D9-22D1-46D8-88DE-A11E8E0F8DA1}"/>
              </a:ext>
            </a:extLst>
          </p:cNvPr>
          <p:cNvSpPr>
            <a:spLocks xmlns:a="http://schemas.openxmlformats.org/drawingml/2006/main" noGrp="1"/>
          </p:cNvSpPr>
          <p:nvPr/>
        </p:nvSpPr>
        <p:spPr>
          <a:xfrm xmlns:a="http://schemas.openxmlformats.org/drawingml/2006/main">
            <a:off x="476250" y="561975"/>
            <a:ext cx="11049000" cy="542925"/>
          </a:xfrm>
          <a:prstGeom xmlns:a="http://schemas.openxmlformats.org/drawingml/2006/main" prst="rect">
            <a:avLst/>
          </a:prstGeom>
        </p:spPr>
        <p:txBody>
          <a:bodyPr xmlns:a="http://schemas.openxmlformats.org/drawingml/2006/main" wrap="square" lIns="0" tIns="0" rIns="0" bIns="0" anchor="t">
            <a:normAutofit fontScale="89696"/>
          </a:bodyPr>
          <a:lstStyle xmlns:a="http://schemas.openxmlformats.org/drawingml/2006/main"/>
          <a:p xmlns:a="http://schemas.openxmlformats.org/drawingml/2006/main">
            <a:pPr algn="l">
              <a:defRPr sz="2850" b="1" i="0">
                <a:solidFill>
                  <a:srgbClr val="17262D"/>
                </a:solidFill>
                <a:latin typeface="Malgun Gothic"/>
                <a:ea typeface="Malgun Gothic"/>
                <a:cs typeface="Malgun Gothic"/>
              </a:defRPr>
            </a:pPr>
            <a:r>
              <a:t>저장 모델의 근거와 프로젝트 논리를 6개 화면에서 다시 확인할 수 있습니다</a:t>
            </a:r>
          </a:p>
        </p:txBody>
      </p:sp>
      <p:sp>
        <p:nvSpPr>
          <p:cNvPr id="4" name="">
            <a:extLst xmlns:a="http://schemas.openxmlformats.org/drawingml/2006/main">
              <a:ext uri="{FF2B5EF4-FFF2-40B4-BE49-F238E27FC236}">
                <a16:creationId xmlns:a16="http://schemas.microsoft.com/office/drawing/2014/main" id="{A257FF3E-036F-48B2-8FE8-CA4027F990A7}"/>
              </a:ext>
            </a:extLst>
          </p:cNvPr>
          <p:cNvSpPr>
            <a:spLocks xmlns:a="http://schemas.openxmlformats.org/drawingml/2006/main" noGrp="1"/>
          </p:cNvSpPr>
          <p:nvPr/>
        </p:nvSpPr>
        <p:spPr>
          <a:xfrm xmlns:a="http://schemas.openxmlformats.org/drawingml/2006/main">
            <a:off x="476250" y="1200150"/>
            <a:ext cx="723900" cy="47625"/>
          </a:xfrm>
          <a:prstGeom xmlns:a="http://schemas.openxmlformats.org/drawingml/2006/main" prst="rect">
            <a:avLst/>
          </a:prstGeom>
          <a:solidFill xmlns:a="http://schemas.openxmlformats.org/drawingml/2006/main">
            <a:srgbClr val="F2674A"/>
          </a:solidFill>
        </p:spPr>
      </p:sp>
      <p:sp>
        <p:nvSpPr>
          <p:cNvPr id="5" name="">
            <a:extLst xmlns:a="http://schemas.openxmlformats.org/drawingml/2006/main">
              <a:ext uri="{FF2B5EF4-FFF2-40B4-BE49-F238E27FC236}">
                <a16:creationId xmlns:a16="http://schemas.microsoft.com/office/drawing/2014/main" id="{F1E80055-8EE7-463D-8C19-EFD07CF09A96}"/>
              </a:ext>
            </a:extLst>
          </p:cNvPr>
          <p:cNvSpPr>
            <a:spLocks xmlns:a="http://schemas.openxmlformats.org/drawingml/2006/main" noGrp="1"/>
          </p:cNvSpPr>
          <p:nvPr/>
        </p:nvSpPr>
        <p:spPr>
          <a:xfrm xmlns:a="http://schemas.openxmlformats.org/drawingml/2006/main">
            <a:off x="476250" y="1562100"/>
            <a:ext cx="5334000" cy="3686175"/>
          </a:xfrm>
          <a:prstGeom xmlns:a="http://schemas.openxmlformats.org/drawingml/2006/main" prst="roundRect">
            <a:avLst>
              <a:gd name="adj" fmla="val 2067"/>
            </a:avLst>
          </a:prstGeom>
          <a:solidFill xmlns:a="http://schemas.openxmlformats.org/drawingml/2006/main">
            <a:srgbClr val="FFFDFC"/>
          </a:solidFill>
          <a:ln xmlns:a="http://schemas.openxmlformats.org/drawingml/2006/main" w="9525">
            <a:solidFill>
              <a:srgbClr val="D8D8D2"/>
            </a:solidFill>
            <a:prstDash val="solid"/>
          </a:ln>
        </p:spPr>
      </p:sp>
      <p:sp>
        <p:nvSpPr>
          <p:cNvPr id="6" name="">
            <a:extLst xmlns:a="http://schemas.openxmlformats.org/drawingml/2006/main">
              <a:ext uri="{FF2B5EF4-FFF2-40B4-BE49-F238E27FC236}">
                <a16:creationId xmlns:a16="http://schemas.microsoft.com/office/drawing/2014/main" id="{BE0C687F-8E1B-4E73-BC7B-52860D11BA63}"/>
              </a:ext>
            </a:extLst>
          </p:cNvPr>
          <p:cNvSpPr>
            <a:spLocks xmlns:a="http://schemas.openxmlformats.org/drawingml/2006/main" noGrp="1"/>
          </p:cNvSpPr>
          <p:nvPr/>
        </p:nvSpPr>
        <p:spPr>
          <a:xfrm xmlns:a="http://schemas.openxmlformats.org/drawingml/2006/main">
            <a:off x="6381750" y="1562100"/>
            <a:ext cx="5334000" cy="3686175"/>
          </a:xfrm>
          <a:prstGeom xmlns:a="http://schemas.openxmlformats.org/drawingml/2006/main" prst="roundRect">
            <a:avLst>
              <a:gd name="adj" fmla="val 2067"/>
            </a:avLst>
          </a:prstGeom>
          <a:solidFill xmlns:a="http://schemas.openxmlformats.org/drawingml/2006/main">
            <a:srgbClr val="FFFDFC"/>
          </a:solidFill>
          <a:ln xmlns:a="http://schemas.openxmlformats.org/drawingml/2006/main" w="9525">
            <a:solidFill>
              <a:srgbClr val="D8D8D2"/>
            </a:solidFill>
            <a:prstDash val="solid"/>
          </a:ln>
        </p:spPr>
      </p:sp>
      <p:sp>
        <p:nvSpPr>
          <p:cNvPr id="7" name="">
            <a:extLst xmlns:a="http://schemas.openxmlformats.org/drawingml/2006/main">
              <a:ext uri="{FF2B5EF4-FFF2-40B4-BE49-F238E27FC236}">
                <a16:creationId xmlns:a16="http://schemas.microsoft.com/office/drawing/2014/main" id="{3D3275F7-B31D-43DB-9E91-7FA4C1E3BA2E}"/>
              </a:ext>
            </a:extLst>
          </p:cNvPr>
          <p:cNvSpPr>
            <a:spLocks xmlns:a="http://schemas.openxmlformats.org/drawingml/2006/main" noGrp="1"/>
          </p:cNvSpPr>
          <p:nvPr/>
        </p:nvSpPr>
        <p:spPr>
          <a:xfrm xmlns:a="http://schemas.openxmlformats.org/drawingml/2006/main">
            <a:off x="666750" y="1695450"/>
            <a:ext cx="28575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i="0">
                <a:solidFill>
                  <a:srgbClr val="118C83"/>
                </a:solidFill>
                <a:latin typeface="Malgun Gothic"/>
                <a:ea typeface="Malgun Gothic"/>
                <a:cs typeface="Malgun Gothic"/>
              </a:defRPr>
            </a:pPr>
            <a:r>
              <a:t>01 · 프로젝트 요약</a:t>
            </a:r>
          </a:p>
        </p:txBody>
      </p:sp>
      <p:sp>
        <p:nvSpPr>
          <p:cNvPr id="8" name="">
            <a:extLst xmlns:a="http://schemas.openxmlformats.org/drawingml/2006/main">
              <a:ext uri="{FF2B5EF4-FFF2-40B4-BE49-F238E27FC236}">
                <a16:creationId xmlns:a16="http://schemas.microsoft.com/office/drawing/2014/main" id="{8F89FB0B-0A63-43C9-AEA0-35B004BC9897}"/>
              </a:ext>
            </a:extLst>
          </p:cNvPr>
          <p:cNvSpPr>
            <a:spLocks xmlns:a="http://schemas.openxmlformats.org/drawingml/2006/main" noGrp="1"/>
          </p:cNvSpPr>
          <p:nvPr/>
        </p:nvSpPr>
        <p:spPr>
          <a:xfrm xmlns:a="http://schemas.openxmlformats.org/drawingml/2006/main">
            <a:off x="6572250" y="1695450"/>
            <a:ext cx="28575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i="0">
                <a:solidFill>
                  <a:srgbClr val="118C83"/>
                </a:solidFill>
                <a:latin typeface="Malgun Gothic"/>
                <a:ea typeface="Malgun Gothic"/>
                <a:cs typeface="Malgun Gothic"/>
              </a:defRPr>
            </a:pPr>
            <a:r>
              <a:t>02 · 모델 선정</a:t>
            </a:r>
          </a:p>
        </p:txBody>
      </p:sp>
      <p:sp>
        <p:nvSpPr>
          <p:cNvPr id="9" name="">
            <a:extLst xmlns:a="http://schemas.openxmlformats.org/drawingml/2006/main">
              <a:ext uri="{FF2B5EF4-FFF2-40B4-BE49-F238E27FC236}">
                <a16:creationId xmlns:a16="http://schemas.microsoft.com/office/drawing/2014/main" id="{A4C10D9D-5AE3-4D6D-B88C-5E1A43F07F0D}"/>
              </a:ext>
            </a:extLst>
          </p:cNvPr>
          <p:cNvSpPr>
            <a:spLocks xmlns:a="http://schemas.openxmlformats.org/drawingml/2006/main" noGrp="1"/>
          </p:cNvSpPr>
          <p:nvPr/>
        </p:nvSpPr>
        <p:spPr>
          <a:xfrm xmlns:a="http://schemas.openxmlformats.org/drawingml/2006/main">
            <a:off x="476250" y="5514975"/>
            <a:ext cx="97155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F2674A"/>
                </a:solidFill>
                <a:latin typeface="Malgun Gothic"/>
                <a:ea typeface="Malgun Gothic"/>
                <a:cs typeface="Malgun Gothic"/>
              </a:defRPr>
            </a:pPr>
            <a:r>
              <a:t>탐색 흐름</a:t>
            </a:r>
          </a:p>
        </p:txBody>
      </p:sp>
      <p:sp>
        <p:nvSpPr>
          <p:cNvPr id="10" name="">
            <a:extLst xmlns:a="http://schemas.openxmlformats.org/drawingml/2006/main">
              <a:ext uri="{FF2B5EF4-FFF2-40B4-BE49-F238E27FC236}">
                <a16:creationId xmlns:a16="http://schemas.microsoft.com/office/drawing/2014/main" id="{7A9A2DB4-0DD0-4DAE-8D02-39DFF06A0CD6}"/>
              </a:ext>
            </a:extLst>
          </p:cNvPr>
          <p:cNvSpPr>
            <a:spLocks xmlns:a="http://schemas.openxmlformats.org/drawingml/2006/main" noGrp="1"/>
          </p:cNvSpPr>
          <p:nvPr/>
        </p:nvSpPr>
        <p:spPr>
          <a:xfrm xmlns:a="http://schemas.openxmlformats.org/drawingml/2006/main">
            <a:off x="1466850" y="5476875"/>
            <a:ext cx="10096500" cy="2762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i="0">
                <a:solidFill>
                  <a:srgbClr val="17262D"/>
                </a:solidFill>
                <a:latin typeface="Malgun Gothic"/>
                <a:ea typeface="Malgun Gothic"/>
                <a:cs typeface="Malgun Gothic"/>
              </a:defRPr>
            </a:pPr>
            <a:r>
              <a:t>프로젝트 요약 → 데이터 인사이트 → 개선 실험 → 모델 선정 → 고객 우선순위 → 캠페인 계획</a:t>
            </a:r>
          </a:p>
        </p:txBody>
      </p:sp>
      <p:sp>
        <p:nvSpPr>
          <p:cNvPr id="11" name="">
            <a:extLst xmlns:a="http://schemas.openxmlformats.org/drawingml/2006/main">
              <a:ext uri="{FF2B5EF4-FFF2-40B4-BE49-F238E27FC236}">
                <a16:creationId xmlns:a16="http://schemas.microsoft.com/office/drawing/2014/main" id="{F67D978F-8536-45D3-8604-60602B3CF9B8}"/>
              </a:ext>
            </a:extLst>
          </p:cNvPr>
          <p:cNvSpPr>
            <a:spLocks xmlns:a="http://schemas.openxmlformats.org/drawingml/2006/main" noGrp="1"/>
          </p:cNvSpPr>
          <p:nvPr/>
        </p:nvSpPr>
        <p:spPr>
          <a:xfrm xmlns:a="http://schemas.openxmlformats.org/drawingml/2006/main">
            <a:off x="476250" y="6486525"/>
            <a:ext cx="11239500" cy="9525"/>
          </a:xfrm>
          <a:prstGeom xmlns:a="http://schemas.openxmlformats.org/drawingml/2006/main" prst="rect">
            <a:avLst/>
          </a:prstGeom>
          <a:solidFill xmlns:a="http://schemas.openxmlformats.org/drawingml/2006/main">
            <a:srgbClr val="D8D8D2"/>
          </a:solidFill>
        </p:spPr>
      </p:sp>
      <p:sp>
        <p:nvSpPr>
          <p:cNvPr id="12" name="">
            <a:extLst xmlns:a="http://schemas.openxmlformats.org/drawingml/2006/main">
              <a:ext uri="{FF2B5EF4-FFF2-40B4-BE49-F238E27FC236}">
                <a16:creationId xmlns:a16="http://schemas.microsoft.com/office/drawing/2014/main" id="{9EDCCF83-7BBE-465A-8FA2-CDE08A31EDCC}"/>
              </a:ext>
            </a:extLst>
          </p:cNvPr>
          <p:cNvSpPr>
            <a:spLocks xmlns:a="http://schemas.openxmlformats.org/drawingml/2006/main" noGrp="1"/>
          </p:cNvSpPr>
          <p:nvPr/>
        </p:nvSpPr>
        <p:spPr>
          <a:xfrm xmlns:a="http://schemas.openxmlformats.org/drawingml/2006/main">
            <a:off x="666750" y="6534150"/>
            <a:ext cx="9620250" cy="209550"/>
          </a:xfrm>
          <a:prstGeom xmlns:a="http://schemas.openxmlformats.org/drawingml/2006/main" prst="rect">
            <a:avLst/>
          </a:prstGeom>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825" b="0" i="0">
                <a:solidFill>
                  <a:srgbClr val="98A5AA"/>
                </a:solidFill>
                <a:latin typeface="Malgun Gothic"/>
                <a:ea typeface="Malgun Gothic"/>
                <a:cs typeface="Malgun Gothic"/>
              </a:defRPr>
            </a:pPr>
            <a:r>
              <a:t>근거 · submission_package/.../assets/screenshots/01_project_summary.png · 02_model_selection.png</a:t>
            </a:r>
          </a:p>
        </p:txBody>
      </p:sp>
      <p:sp>
        <p:nvSpPr>
          <p:cNvPr id="13" name="">
            <a:extLst xmlns:a="http://schemas.openxmlformats.org/drawingml/2006/main">
              <a:ext uri="{FF2B5EF4-FFF2-40B4-BE49-F238E27FC236}">
                <a16:creationId xmlns:a16="http://schemas.microsoft.com/office/drawing/2014/main" id="{D0FE8445-C5A9-48CF-8352-2FB729DE56D8}"/>
              </a:ext>
            </a:extLst>
          </p:cNvPr>
          <p:cNvSpPr>
            <a:spLocks xmlns:a="http://schemas.openxmlformats.org/drawingml/2006/main" noGrp="1"/>
          </p:cNvSpPr>
          <p:nvPr/>
        </p:nvSpPr>
        <p:spPr>
          <a:xfrm xmlns:a="http://schemas.openxmlformats.org/drawingml/2006/main">
            <a:off x="11201400" y="6543675"/>
            <a:ext cx="5143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00" b="1" i="0">
                <a:solidFill>
                  <a:srgbClr val="607078"/>
                </a:solidFill>
                <a:latin typeface="Malgun Gothic"/>
                <a:ea typeface="Malgun Gothic"/>
                <a:cs typeface="Malgun Gothic"/>
              </a:defRPr>
            </a:pPr>
            <a:r>
              <a:t>11</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084cd853814e4cf0"/>
          <a:stretch xmlns:a="http://schemas.openxmlformats.org/drawingml/2006/main"/>
        </p:blipFill>
        <p:spPr>
          <a:xfrm xmlns:a="http://schemas.openxmlformats.org/drawingml/2006/main">
            <a:off x="666750" y="2131219"/>
            <a:ext cx="4953000" cy="2786063"/>
          </a:xfrm>
          <a:prstGeom xmlns:a="http://schemas.openxmlformats.org/drawingml/2006/main" prst="rect">
            <a:avLst/>
          </a:prstGeom>
        </p:spPr>
      </p:pic>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b6d4fc3724b944bc"/>
          <a:stretch xmlns:a="http://schemas.openxmlformats.org/drawingml/2006/main"/>
        </p:blipFill>
        <p:spPr>
          <a:xfrm xmlns:a="http://schemas.openxmlformats.org/drawingml/2006/main">
            <a:off x="6572250" y="2131219"/>
            <a:ext cx="4953000" cy="2786063"/>
          </a:xfrm>
          <a:prstGeom xmlns:a="http://schemas.openxmlformats.org/drawingml/2006/main" prst="rect">
            <a:avLst/>
          </a:prstGeom>
        </p:spPr>
      </p:pic>
    </p:spTree>
    <p:extLst>
      <p:ext uri="{BB962C8B-B14F-4D97-AF65-F5344CB8AC3E}">
        <p14:creationId xmlns:p14="http://schemas.microsoft.com/office/powerpoint/2010/main" val="2120513441"/>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9DCF54CE-F8BA-4143-983D-67A012BEE06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6F3EE"/>
          </a:solidFill>
        </p:spPr>
      </p:sp>
      <p:sp>
        <p:nvSpPr>
          <p:cNvPr id="2" name="">
            <a:extLst xmlns:a="http://schemas.openxmlformats.org/drawingml/2006/main">
              <a:ext uri="{FF2B5EF4-FFF2-40B4-BE49-F238E27FC236}">
                <a16:creationId xmlns:a16="http://schemas.microsoft.com/office/drawing/2014/main" id="{04BA7B37-628F-4125-9A92-4CC1C5090762}"/>
              </a:ext>
            </a:extLst>
          </p:cNvPr>
          <p:cNvSpPr>
            <a:spLocks xmlns:a="http://schemas.openxmlformats.org/drawingml/2006/main" noGrp="1"/>
          </p:cNvSpPr>
          <p:nvPr/>
        </p:nvSpPr>
        <p:spPr>
          <a:xfrm xmlns:a="http://schemas.openxmlformats.org/drawingml/2006/main">
            <a:off x="476250" y="257175"/>
            <a:ext cx="40005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118C83"/>
                </a:solidFill>
                <a:latin typeface="Malgun Gothic"/>
                <a:ea typeface="Malgun Gothic"/>
                <a:cs typeface="Malgun Gothic"/>
              </a:defRPr>
            </a:pPr>
            <a:r>
              <a:t>11 · OPERATING THRESHOLD</a:t>
            </a:r>
          </a:p>
        </p:txBody>
      </p:sp>
      <p:sp>
        <p:nvSpPr>
          <p:cNvPr id="3" name="">
            <a:extLst xmlns:a="http://schemas.openxmlformats.org/drawingml/2006/main">
              <a:ext uri="{FF2B5EF4-FFF2-40B4-BE49-F238E27FC236}">
                <a16:creationId xmlns:a16="http://schemas.microsoft.com/office/drawing/2014/main" id="{5B5607B6-6218-4782-8194-BC683E7E9E3B}"/>
              </a:ext>
            </a:extLst>
          </p:cNvPr>
          <p:cNvSpPr>
            <a:spLocks xmlns:a="http://schemas.openxmlformats.org/drawingml/2006/main" noGrp="1"/>
          </p:cNvSpPr>
          <p:nvPr/>
        </p:nvSpPr>
        <p:spPr>
          <a:xfrm xmlns:a="http://schemas.openxmlformats.org/drawingml/2006/main">
            <a:off x="476250" y="561975"/>
            <a:ext cx="11049000" cy="5429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850" b="1" i="0">
                <a:solidFill>
                  <a:srgbClr val="17262D"/>
                </a:solidFill>
                <a:latin typeface="Malgun Gothic"/>
                <a:ea typeface="Malgun Gothic"/>
                <a:cs typeface="Malgun Gothic"/>
              </a:defRPr>
            </a:pPr>
            <a:r>
              <a:t>Threshold는 놓침과 접촉 비용을 조절하는 운영 선택지입니다</a:t>
            </a:r>
          </a:p>
        </p:txBody>
      </p:sp>
      <p:sp>
        <p:nvSpPr>
          <p:cNvPr id="4" name="">
            <a:extLst xmlns:a="http://schemas.openxmlformats.org/drawingml/2006/main">
              <a:ext uri="{FF2B5EF4-FFF2-40B4-BE49-F238E27FC236}">
                <a16:creationId xmlns:a16="http://schemas.microsoft.com/office/drawing/2014/main" id="{BD1E05B5-EC89-4E47-8C0C-D37E973D8C54}"/>
              </a:ext>
            </a:extLst>
          </p:cNvPr>
          <p:cNvSpPr>
            <a:spLocks xmlns:a="http://schemas.openxmlformats.org/drawingml/2006/main" noGrp="1"/>
          </p:cNvSpPr>
          <p:nvPr/>
        </p:nvSpPr>
        <p:spPr>
          <a:xfrm xmlns:a="http://schemas.openxmlformats.org/drawingml/2006/main">
            <a:off x="476250" y="1200150"/>
            <a:ext cx="723900" cy="47625"/>
          </a:xfrm>
          <a:prstGeom xmlns:a="http://schemas.openxmlformats.org/drawingml/2006/main" prst="rect">
            <a:avLst/>
          </a:prstGeom>
          <a:solidFill xmlns:a="http://schemas.openxmlformats.org/drawingml/2006/main">
            <a:srgbClr val="F2674A"/>
          </a:solidFill>
        </p:spPr>
      </p:sp>
      <p:sp>
        <p:nvSpPr>
          <p:cNvPr id="5" name="">
            <a:extLst xmlns:a="http://schemas.openxmlformats.org/drawingml/2006/main">
              <a:ext uri="{FF2B5EF4-FFF2-40B4-BE49-F238E27FC236}">
                <a16:creationId xmlns:a16="http://schemas.microsoft.com/office/drawing/2014/main" id="{85273DC3-8234-4FA3-8177-D651DED61547}"/>
              </a:ext>
            </a:extLst>
          </p:cNvPr>
          <p:cNvSpPr>
            <a:spLocks xmlns:a="http://schemas.openxmlformats.org/drawingml/2006/main" noGrp="1"/>
          </p:cNvSpPr>
          <p:nvPr/>
        </p:nvSpPr>
        <p:spPr>
          <a:xfrm xmlns:a="http://schemas.openxmlformats.org/drawingml/2006/main">
            <a:off x="476250" y="1562100"/>
            <a:ext cx="6667500" cy="4343400"/>
          </a:xfrm>
          <a:prstGeom xmlns:a="http://schemas.openxmlformats.org/drawingml/2006/main" prst="roundRect">
            <a:avLst>
              <a:gd name="adj" fmla="val 1754"/>
            </a:avLst>
          </a:prstGeom>
          <a:solidFill xmlns:a="http://schemas.openxmlformats.org/drawingml/2006/main">
            <a:srgbClr val="FFFDFC"/>
          </a:solidFill>
          <a:ln xmlns:a="http://schemas.openxmlformats.org/drawingml/2006/main" w="9525">
            <a:solidFill>
              <a:srgbClr val="D8D8D2"/>
            </a:solidFill>
            <a:prstDash val="solid"/>
          </a:ln>
        </p:spPr>
      </p:sp>
      <p:sp>
        <p:nvSpPr>
          <p:cNvPr id="6" name="">
            <a:extLst xmlns:a="http://schemas.openxmlformats.org/drawingml/2006/main">
              <a:ext uri="{FF2B5EF4-FFF2-40B4-BE49-F238E27FC236}">
                <a16:creationId xmlns:a16="http://schemas.microsoft.com/office/drawing/2014/main" id="{18C5660D-99C4-4C5D-80F5-1A3B3A6C3A07}"/>
              </a:ext>
            </a:extLst>
          </p:cNvPr>
          <p:cNvSpPr>
            <a:spLocks xmlns:a="http://schemas.openxmlformats.org/drawingml/2006/main" noGrp="1"/>
          </p:cNvSpPr>
          <p:nvPr/>
        </p:nvSpPr>
        <p:spPr>
          <a:xfrm xmlns:a="http://schemas.openxmlformats.org/drawingml/2006/main">
            <a:off x="7429500" y="1562100"/>
            <a:ext cx="4286250" cy="4343400"/>
          </a:xfrm>
          <a:prstGeom xmlns:a="http://schemas.openxmlformats.org/drawingml/2006/main" prst="roundRect">
            <a:avLst>
              <a:gd name="adj" fmla="val 1778"/>
            </a:avLst>
          </a:prstGeom>
          <a:solidFill xmlns:a="http://schemas.openxmlformats.org/drawingml/2006/main">
            <a:srgbClr val="ECEAE5"/>
          </a:solidFill>
          <a:ln xmlns:a="http://schemas.openxmlformats.org/drawingml/2006/main" w="9525">
            <a:solidFill>
              <a:srgbClr val="ECEAE5"/>
            </a:solidFill>
            <a:prstDash val="solid"/>
          </a:ln>
        </p:spPr>
      </p:sp>
      <p:sp>
        <p:nvSpPr>
          <p:cNvPr id="7" name="">
            <a:extLst xmlns:a="http://schemas.openxmlformats.org/drawingml/2006/main">
              <a:ext uri="{FF2B5EF4-FFF2-40B4-BE49-F238E27FC236}">
                <a16:creationId xmlns:a16="http://schemas.microsoft.com/office/drawing/2014/main" id="{0EFC195D-6D96-4E69-8C1C-C4B750ECE761}"/>
              </a:ext>
            </a:extLst>
          </p:cNvPr>
          <p:cNvSpPr>
            <a:spLocks xmlns:a="http://schemas.openxmlformats.org/drawingml/2006/main" noGrp="1"/>
          </p:cNvSpPr>
          <p:nvPr/>
        </p:nvSpPr>
        <p:spPr>
          <a:xfrm xmlns:a="http://schemas.openxmlformats.org/drawingml/2006/main">
            <a:off x="7696200" y="1809750"/>
            <a:ext cx="35242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1" i="0">
                <a:solidFill>
                  <a:srgbClr val="17262D"/>
                </a:solidFill>
                <a:latin typeface="Malgun Gothic"/>
                <a:ea typeface="Malgun Gothic"/>
                <a:cs typeface="Malgun Gothic"/>
              </a:defRPr>
            </a:pPr>
            <a:r>
              <a:t>OOF 운영 시나리오</a:t>
            </a:r>
          </a:p>
        </p:txBody>
      </p:sp>
      <p:sp>
        <p:nvSpPr>
          <p:cNvPr id="8" name="">
            <a:extLst xmlns:a="http://schemas.openxmlformats.org/drawingml/2006/main">
              <a:ext uri="{FF2B5EF4-FFF2-40B4-BE49-F238E27FC236}">
                <a16:creationId xmlns:a16="http://schemas.microsoft.com/office/drawing/2014/main" id="{DB0F6B2B-426B-4888-96CD-FFC2F59760AB}"/>
              </a:ext>
            </a:extLst>
          </p:cNvPr>
          <p:cNvSpPr>
            <a:spLocks xmlns:a="http://schemas.openxmlformats.org/drawingml/2006/main" noGrp="1"/>
          </p:cNvSpPr>
          <p:nvPr/>
        </p:nvSpPr>
        <p:spPr>
          <a:xfrm xmlns:a="http://schemas.openxmlformats.org/drawingml/2006/main">
            <a:off x="7696200" y="2266950"/>
            <a:ext cx="47625" cy="800100"/>
          </a:xfrm>
          <a:prstGeom xmlns:a="http://schemas.openxmlformats.org/drawingml/2006/main" prst="rect">
            <a:avLst/>
          </a:prstGeom>
          <a:solidFill xmlns:a="http://schemas.openxmlformats.org/drawingml/2006/main">
            <a:srgbClr val="F2674A"/>
          </a:solidFill>
        </p:spPr>
      </p:sp>
      <p:sp>
        <p:nvSpPr>
          <p:cNvPr id="9" name="">
            <a:extLst xmlns:a="http://schemas.openxmlformats.org/drawingml/2006/main">
              <a:ext uri="{FF2B5EF4-FFF2-40B4-BE49-F238E27FC236}">
                <a16:creationId xmlns:a16="http://schemas.microsoft.com/office/drawing/2014/main" id="{D3FDCE69-205C-4DB4-BC87-5B1C47C68864}"/>
              </a:ext>
            </a:extLst>
          </p:cNvPr>
          <p:cNvSpPr>
            <a:spLocks xmlns:a="http://schemas.openxmlformats.org/drawingml/2006/main" noGrp="1"/>
          </p:cNvSpPr>
          <p:nvPr/>
        </p:nvSpPr>
        <p:spPr>
          <a:xfrm xmlns:a="http://schemas.openxmlformats.org/drawingml/2006/main">
            <a:off x="7886700" y="2266950"/>
            <a:ext cx="1571625"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F2674A"/>
                </a:solidFill>
                <a:latin typeface="Malgun Gothic"/>
                <a:ea typeface="Malgun Gothic"/>
                <a:cs typeface="Malgun Gothic"/>
              </a:defRPr>
            </a:pPr>
            <a:r>
              <a:t>RECALL 우선</a:t>
            </a:r>
          </a:p>
        </p:txBody>
      </p:sp>
      <p:sp>
        <p:nvSpPr>
          <p:cNvPr id="10" name="">
            <a:extLst xmlns:a="http://schemas.openxmlformats.org/drawingml/2006/main">
              <a:ext uri="{FF2B5EF4-FFF2-40B4-BE49-F238E27FC236}">
                <a16:creationId xmlns:a16="http://schemas.microsoft.com/office/drawing/2014/main" id="{A2E25294-044A-4274-BFEC-0F7E09EDEB81}"/>
              </a:ext>
            </a:extLst>
          </p:cNvPr>
          <p:cNvSpPr>
            <a:spLocks xmlns:a="http://schemas.openxmlformats.org/drawingml/2006/main" noGrp="1"/>
          </p:cNvSpPr>
          <p:nvPr/>
        </p:nvSpPr>
        <p:spPr>
          <a:xfrm xmlns:a="http://schemas.openxmlformats.org/drawingml/2006/main">
            <a:off x="9534525" y="2257425"/>
            <a:ext cx="1685925"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275" b="1" i="0">
                <a:solidFill>
                  <a:srgbClr val="17262D"/>
                </a:solidFill>
                <a:latin typeface="Malgun Gothic"/>
                <a:ea typeface="Malgun Gothic"/>
                <a:cs typeface="Malgun Gothic"/>
              </a:defRPr>
            </a:pPr>
            <a:r>
              <a:t>t = 0.29</a:t>
            </a:r>
          </a:p>
        </p:txBody>
      </p:sp>
      <p:sp>
        <p:nvSpPr>
          <p:cNvPr id="11" name="">
            <a:extLst xmlns:a="http://schemas.openxmlformats.org/drawingml/2006/main">
              <a:ext uri="{FF2B5EF4-FFF2-40B4-BE49-F238E27FC236}">
                <a16:creationId xmlns:a16="http://schemas.microsoft.com/office/drawing/2014/main" id="{BAE876CE-5FF3-42FB-9405-E4337FCA052F}"/>
              </a:ext>
            </a:extLst>
          </p:cNvPr>
          <p:cNvSpPr>
            <a:spLocks xmlns:a="http://schemas.openxmlformats.org/drawingml/2006/main" noGrp="1"/>
          </p:cNvSpPr>
          <p:nvPr/>
        </p:nvSpPr>
        <p:spPr>
          <a:xfrm xmlns:a="http://schemas.openxmlformats.org/drawingml/2006/main">
            <a:off x="7886700" y="2543175"/>
            <a:ext cx="1381125" cy="2381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1" i="0">
                <a:solidFill>
                  <a:srgbClr val="17262D"/>
                </a:solidFill>
                <a:latin typeface="Malgun Gothic"/>
                <a:ea typeface="Malgun Gothic"/>
                <a:cs typeface="Malgun Gothic"/>
              </a:defRPr>
            </a:pPr>
            <a:r>
              <a:t>77,700명</a:t>
            </a:r>
          </a:p>
        </p:txBody>
      </p:sp>
      <p:sp>
        <p:nvSpPr>
          <p:cNvPr id="12" name="">
            <a:extLst xmlns:a="http://schemas.openxmlformats.org/drawingml/2006/main">
              <a:ext uri="{FF2B5EF4-FFF2-40B4-BE49-F238E27FC236}">
                <a16:creationId xmlns:a16="http://schemas.microsoft.com/office/drawing/2014/main" id="{710E8634-CB6A-467D-95D1-5ED654D97BED}"/>
              </a:ext>
            </a:extLst>
          </p:cNvPr>
          <p:cNvSpPr>
            <a:spLocks xmlns:a="http://schemas.openxmlformats.org/drawingml/2006/main" noGrp="1"/>
          </p:cNvSpPr>
          <p:nvPr/>
        </p:nvSpPr>
        <p:spPr>
          <a:xfrm xmlns:a="http://schemas.openxmlformats.org/drawingml/2006/main">
            <a:off x="9334500" y="2524125"/>
            <a:ext cx="1885950" cy="4286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0" i="0">
                <a:solidFill>
                  <a:srgbClr val="607078"/>
                </a:solidFill>
                <a:latin typeface="Malgun Gothic"/>
                <a:ea typeface="Malgun Gothic"/>
                <a:cs typeface="Malgun Gothic"/>
              </a:defRPr>
            </a:pPr>
            <a:r>
              <a:t>R 95.18% · P 78.61%
FN 3,091 · FP 16,617</a:t>
            </a:r>
          </a:p>
        </p:txBody>
      </p:sp>
      <p:sp>
        <p:nvSpPr>
          <p:cNvPr id="13" name="">
            <a:extLst xmlns:a="http://schemas.openxmlformats.org/drawingml/2006/main">
              <a:ext uri="{FF2B5EF4-FFF2-40B4-BE49-F238E27FC236}">
                <a16:creationId xmlns:a16="http://schemas.microsoft.com/office/drawing/2014/main" id="{0561CAFD-BD79-4DF6-8BF1-9B6BBA44AED7}"/>
              </a:ext>
            </a:extLst>
          </p:cNvPr>
          <p:cNvSpPr>
            <a:spLocks xmlns:a="http://schemas.openxmlformats.org/drawingml/2006/main" noGrp="1"/>
          </p:cNvSpPr>
          <p:nvPr/>
        </p:nvSpPr>
        <p:spPr>
          <a:xfrm xmlns:a="http://schemas.openxmlformats.org/drawingml/2006/main">
            <a:off x="7696200" y="3314700"/>
            <a:ext cx="47625" cy="800100"/>
          </a:xfrm>
          <a:prstGeom xmlns:a="http://schemas.openxmlformats.org/drawingml/2006/main" prst="rect">
            <a:avLst/>
          </a:prstGeom>
          <a:solidFill xmlns:a="http://schemas.openxmlformats.org/drawingml/2006/main">
            <a:srgbClr val="118C83"/>
          </a:solidFill>
        </p:spPr>
      </p:sp>
      <p:sp>
        <p:nvSpPr>
          <p:cNvPr id="14" name="">
            <a:extLst xmlns:a="http://schemas.openxmlformats.org/drawingml/2006/main">
              <a:ext uri="{FF2B5EF4-FFF2-40B4-BE49-F238E27FC236}">
                <a16:creationId xmlns:a16="http://schemas.microsoft.com/office/drawing/2014/main" id="{8AF4C9BD-4903-4AD6-A6D0-70632F3223AA}"/>
              </a:ext>
            </a:extLst>
          </p:cNvPr>
          <p:cNvSpPr>
            <a:spLocks xmlns:a="http://schemas.openxmlformats.org/drawingml/2006/main" noGrp="1"/>
          </p:cNvSpPr>
          <p:nvPr/>
        </p:nvSpPr>
        <p:spPr>
          <a:xfrm xmlns:a="http://schemas.openxmlformats.org/drawingml/2006/main">
            <a:off x="7886700" y="3314700"/>
            <a:ext cx="1571625"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118C83"/>
                </a:solidFill>
                <a:latin typeface="Malgun Gothic"/>
                <a:ea typeface="Malgun Gothic"/>
                <a:cs typeface="Malgun Gothic"/>
              </a:defRPr>
            </a:pPr>
            <a:r>
              <a:t>균형 F1</a:t>
            </a:r>
          </a:p>
        </p:txBody>
      </p:sp>
      <p:sp>
        <p:nvSpPr>
          <p:cNvPr id="15" name="">
            <a:extLst xmlns:a="http://schemas.openxmlformats.org/drawingml/2006/main">
              <a:ext uri="{FF2B5EF4-FFF2-40B4-BE49-F238E27FC236}">
                <a16:creationId xmlns:a16="http://schemas.microsoft.com/office/drawing/2014/main" id="{101808AA-8D3C-4644-8B88-B46DC1CD109F}"/>
              </a:ext>
            </a:extLst>
          </p:cNvPr>
          <p:cNvSpPr>
            <a:spLocks xmlns:a="http://schemas.openxmlformats.org/drawingml/2006/main" noGrp="1"/>
          </p:cNvSpPr>
          <p:nvPr/>
        </p:nvSpPr>
        <p:spPr>
          <a:xfrm xmlns:a="http://schemas.openxmlformats.org/drawingml/2006/main">
            <a:off x="9534525" y="3305175"/>
            <a:ext cx="1685925"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275" b="1" i="0">
                <a:solidFill>
                  <a:srgbClr val="17262D"/>
                </a:solidFill>
                <a:latin typeface="Malgun Gothic"/>
                <a:ea typeface="Malgun Gothic"/>
                <a:cs typeface="Malgun Gothic"/>
              </a:defRPr>
            </a:pPr>
            <a:r>
              <a:t>t = 0.35</a:t>
            </a:r>
          </a:p>
        </p:txBody>
      </p:sp>
      <p:sp>
        <p:nvSpPr>
          <p:cNvPr id="16" name="">
            <a:extLst xmlns:a="http://schemas.openxmlformats.org/drawingml/2006/main">
              <a:ext uri="{FF2B5EF4-FFF2-40B4-BE49-F238E27FC236}">
                <a16:creationId xmlns:a16="http://schemas.microsoft.com/office/drawing/2014/main" id="{D72F4173-8E25-4D40-A872-13392D86A480}"/>
              </a:ext>
            </a:extLst>
          </p:cNvPr>
          <p:cNvSpPr>
            <a:spLocks xmlns:a="http://schemas.openxmlformats.org/drawingml/2006/main" noGrp="1"/>
          </p:cNvSpPr>
          <p:nvPr/>
        </p:nvSpPr>
        <p:spPr>
          <a:xfrm xmlns:a="http://schemas.openxmlformats.org/drawingml/2006/main">
            <a:off x="7886700" y="3590925"/>
            <a:ext cx="1381125" cy="2381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1" i="0">
                <a:solidFill>
                  <a:srgbClr val="17262D"/>
                </a:solidFill>
                <a:latin typeface="Malgun Gothic"/>
                <a:ea typeface="Malgun Gothic"/>
                <a:cs typeface="Malgun Gothic"/>
              </a:defRPr>
            </a:pPr>
            <a:r>
              <a:t>76,143명</a:t>
            </a:r>
          </a:p>
        </p:txBody>
      </p:sp>
      <p:sp>
        <p:nvSpPr>
          <p:cNvPr id="17" name="">
            <a:extLst xmlns:a="http://schemas.openxmlformats.org/drawingml/2006/main">
              <a:ext uri="{FF2B5EF4-FFF2-40B4-BE49-F238E27FC236}">
                <a16:creationId xmlns:a16="http://schemas.microsoft.com/office/drawing/2014/main" id="{FE3C4533-8963-4A03-A284-9EAEAC17F0B5}"/>
              </a:ext>
            </a:extLst>
          </p:cNvPr>
          <p:cNvSpPr>
            <a:spLocks xmlns:a="http://schemas.openxmlformats.org/drawingml/2006/main" noGrp="1"/>
          </p:cNvSpPr>
          <p:nvPr/>
        </p:nvSpPr>
        <p:spPr>
          <a:xfrm xmlns:a="http://schemas.openxmlformats.org/drawingml/2006/main">
            <a:off x="9334500" y="3571875"/>
            <a:ext cx="1885950" cy="4286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0" i="0">
                <a:solidFill>
                  <a:srgbClr val="607078"/>
                </a:solidFill>
                <a:latin typeface="Malgun Gothic"/>
                <a:ea typeface="Malgun Gothic"/>
                <a:cs typeface="Malgun Gothic"/>
              </a:defRPr>
            </a:pPr>
            <a:r>
              <a:t>R 94.44% · P 79.59%
F1 86.38% · FN 3,569</a:t>
            </a:r>
          </a:p>
        </p:txBody>
      </p:sp>
      <p:sp>
        <p:nvSpPr>
          <p:cNvPr id="18" name="">
            <a:extLst xmlns:a="http://schemas.openxmlformats.org/drawingml/2006/main">
              <a:ext uri="{FF2B5EF4-FFF2-40B4-BE49-F238E27FC236}">
                <a16:creationId xmlns:a16="http://schemas.microsoft.com/office/drawing/2014/main" id="{EE7711F2-D801-4DDC-8D51-62E8E0B20505}"/>
              </a:ext>
            </a:extLst>
          </p:cNvPr>
          <p:cNvSpPr>
            <a:spLocks xmlns:a="http://schemas.openxmlformats.org/drawingml/2006/main" noGrp="1"/>
          </p:cNvSpPr>
          <p:nvPr/>
        </p:nvSpPr>
        <p:spPr>
          <a:xfrm xmlns:a="http://schemas.openxmlformats.org/drawingml/2006/main">
            <a:off x="7696200" y="4362450"/>
            <a:ext cx="47625" cy="800100"/>
          </a:xfrm>
          <a:prstGeom xmlns:a="http://schemas.openxmlformats.org/drawingml/2006/main" prst="rect">
            <a:avLst/>
          </a:prstGeom>
          <a:solidFill xmlns:a="http://schemas.openxmlformats.org/drawingml/2006/main">
            <a:srgbClr val="3A6EA5"/>
          </a:solidFill>
        </p:spPr>
      </p:sp>
      <p:sp>
        <p:nvSpPr>
          <p:cNvPr id="19" name="">
            <a:extLst xmlns:a="http://schemas.openxmlformats.org/drawingml/2006/main">
              <a:ext uri="{FF2B5EF4-FFF2-40B4-BE49-F238E27FC236}">
                <a16:creationId xmlns:a16="http://schemas.microsoft.com/office/drawing/2014/main" id="{D5289DED-38DC-4F93-A9C2-A78131957AE9}"/>
              </a:ext>
            </a:extLst>
          </p:cNvPr>
          <p:cNvSpPr>
            <a:spLocks xmlns:a="http://schemas.openxmlformats.org/drawingml/2006/main" noGrp="1"/>
          </p:cNvSpPr>
          <p:nvPr/>
        </p:nvSpPr>
        <p:spPr>
          <a:xfrm xmlns:a="http://schemas.openxmlformats.org/drawingml/2006/main">
            <a:off x="7886700" y="4362450"/>
            <a:ext cx="1571625"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3A6EA5"/>
                </a:solidFill>
                <a:latin typeface="Malgun Gothic"/>
                <a:ea typeface="Malgun Gothic"/>
                <a:cs typeface="Malgun Gothic"/>
              </a:defRPr>
            </a:pPr>
            <a:r>
              <a:t>PRECISION 우선</a:t>
            </a:r>
          </a:p>
        </p:txBody>
      </p:sp>
      <p:sp>
        <p:nvSpPr>
          <p:cNvPr id="20" name="">
            <a:extLst xmlns:a="http://schemas.openxmlformats.org/drawingml/2006/main">
              <a:ext uri="{FF2B5EF4-FFF2-40B4-BE49-F238E27FC236}">
                <a16:creationId xmlns:a16="http://schemas.microsoft.com/office/drawing/2014/main" id="{54C65AB2-CC50-45CB-B2B4-CFE6A2D43778}"/>
              </a:ext>
            </a:extLst>
          </p:cNvPr>
          <p:cNvSpPr>
            <a:spLocks xmlns:a="http://schemas.openxmlformats.org/drawingml/2006/main" noGrp="1"/>
          </p:cNvSpPr>
          <p:nvPr/>
        </p:nvSpPr>
        <p:spPr>
          <a:xfrm xmlns:a="http://schemas.openxmlformats.org/drawingml/2006/main">
            <a:off x="9534525" y="4352925"/>
            <a:ext cx="1685925"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275" b="1" i="0">
                <a:solidFill>
                  <a:srgbClr val="17262D"/>
                </a:solidFill>
                <a:latin typeface="Malgun Gothic"/>
                <a:ea typeface="Malgun Gothic"/>
                <a:cs typeface="Malgun Gothic"/>
              </a:defRPr>
            </a:pPr>
            <a:r>
              <a:t>t = 0.74</a:t>
            </a:r>
          </a:p>
        </p:txBody>
      </p:sp>
      <p:sp>
        <p:nvSpPr>
          <p:cNvPr id="21" name="">
            <a:extLst xmlns:a="http://schemas.openxmlformats.org/drawingml/2006/main">
              <a:ext uri="{FF2B5EF4-FFF2-40B4-BE49-F238E27FC236}">
                <a16:creationId xmlns:a16="http://schemas.microsoft.com/office/drawing/2014/main" id="{2A7F41CA-E2B3-46D3-8FF9-B266482D680B}"/>
              </a:ext>
            </a:extLst>
          </p:cNvPr>
          <p:cNvSpPr>
            <a:spLocks xmlns:a="http://schemas.openxmlformats.org/drawingml/2006/main" noGrp="1"/>
          </p:cNvSpPr>
          <p:nvPr/>
        </p:nvSpPr>
        <p:spPr>
          <a:xfrm xmlns:a="http://schemas.openxmlformats.org/drawingml/2006/main">
            <a:off x="7886700" y="4638675"/>
            <a:ext cx="1381125" cy="2381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1" i="0">
                <a:solidFill>
                  <a:srgbClr val="17262D"/>
                </a:solidFill>
                <a:latin typeface="Malgun Gothic"/>
                <a:ea typeface="Malgun Gothic"/>
                <a:cs typeface="Malgun Gothic"/>
              </a:defRPr>
            </a:pPr>
            <a:r>
              <a:t>48,463명</a:t>
            </a:r>
          </a:p>
        </p:txBody>
      </p:sp>
      <p:sp>
        <p:nvSpPr>
          <p:cNvPr id="22" name="">
            <a:extLst xmlns:a="http://schemas.openxmlformats.org/drawingml/2006/main">
              <a:ext uri="{FF2B5EF4-FFF2-40B4-BE49-F238E27FC236}">
                <a16:creationId xmlns:a16="http://schemas.microsoft.com/office/drawing/2014/main" id="{926D778B-5F44-4459-89B5-16E876AD3E2B}"/>
              </a:ext>
            </a:extLst>
          </p:cNvPr>
          <p:cNvSpPr>
            <a:spLocks xmlns:a="http://schemas.openxmlformats.org/drawingml/2006/main" noGrp="1"/>
          </p:cNvSpPr>
          <p:nvPr/>
        </p:nvSpPr>
        <p:spPr>
          <a:xfrm xmlns:a="http://schemas.openxmlformats.org/drawingml/2006/main">
            <a:off x="9334500" y="4619625"/>
            <a:ext cx="1885950" cy="4286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0" i="0">
                <a:solidFill>
                  <a:srgbClr val="607078"/>
                </a:solidFill>
                <a:latin typeface="Malgun Gothic"/>
                <a:ea typeface="Malgun Gothic"/>
                <a:cs typeface="Malgun Gothic"/>
              </a:defRPr>
            </a:pPr>
            <a:r>
              <a:t>P 95.07% · R 71.80%
FN 18,099 · FP 2,388</a:t>
            </a:r>
          </a:p>
        </p:txBody>
      </p:sp>
      <p:sp>
        <p:nvSpPr>
          <p:cNvPr id="23" name="">
            <a:extLst xmlns:a="http://schemas.openxmlformats.org/drawingml/2006/main">
              <a:ext uri="{FF2B5EF4-FFF2-40B4-BE49-F238E27FC236}">
                <a16:creationId xmlns:a16="http://schemas.microsoft.com/office/drawing/2014/main" id="{58A1ED3C-E4E1-4283-808B-69202106A675}"/>
              </a:ext>
            </a:extLst>
          </p:cNvPr>
          <p:cNvSpPr>
            <a:spLocks xmlns:a="http://schemas.openxmlformats.org/drawingml/2006/main" noGrp="1"/>
          </p:cNvSpPr>
          <p:nvPr/>
        </p:nvSpPr>
        <p:spPr>
          <a:xfrm xmlns:a="http://schemas.openxmlformats.org/drawingml/2006/main">
            <a:off x="476250" y="6486525"/>
            <a:ext cx="11239500" cy="9525"/>
          </a:xfrm>
          <a:prstGeom xmlns:a="http://schemas.openxmlformats.org/drawingml/2006/main" prst="rect">
            <a:avLst/>
          </a:prstGeom>
          <a:solidFill xmlns:a="http://schemas.openxmlformats.org/drawingml/2006/main">
            <a:srgbClr val="D8D8D2"/>
          </a:solidFill>
        </p:spPr>
      </p:sp>
      <p:sp>
        <p:nvSpPr>
          <p:cNvPr id="24" name="">
            <a:extLst xmlns:a="http://schemas.openxmlformats.org/drawingml/2006/main">
              <a:ext uri="{FF2B5EF4-FFF2-40B4-BE49-F238E27FC236}">
                <a16:creationId xmlns:a16="http://schemas.microsoft.com/office/drawing/2014/main" id="{DC48835D-3732-4130-96E9-062F164E0ED8}"/>
              </a:ext>
            </a:extLst>
          </p:cNvPr>
          <p:cNvSpPr>
            <a:spLocks xmlns:a="http://schemas.openxmlformats.org/drawingml/2006/main" noGrp="1"/>
          </p:cNvSpPr>
          <p:nvPr/>
        </p:nvSpPr>
        <p:spPr>
          <a:xfrm xmlns:a="http://schemas.openxmlformats.org/drawingml/2006/main">
            <a:off x="666750" y="6534150"/>
            <a:ext cx="9620250" cy="209550"/>
          </a:xfrm>
          <a:prstGeom xmlns:a="http://schemas.openxmlformats.org/drawingml/2006/main" prst="rect">
            <a:avLst/>
          </a:prstGeom>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825" b="0" i="0">
                <a:solidFill>
                  <a:srgbClr val="98A5AA"/>
                </a:solidFill>
                <a:latin typeface="Malgun Gothic"/>
                <a:ea typeface="Malgun Gothic"/>
                <a:cs typeface="Malgun Gothic"/>
              </a:defRPr>
            </a:pPr>
            <a:r>
              <a:t>근거 · threshold_operating_scenarios_v2.csv · threshold_sweep.csv</a:t>
            </a:r>
          </a:p>
        </p:txBody>
      </p:sp>
      <p:sp>
        <p:nvSpPr>
          <p:cNvPr id="25" name="">
            <a:extLst xmlns:a="http://schemas.openxmlformats.org/drawingml/2006/main">
              <a:ext uri="{FF2B5EF4-FFF2-40B4-BE49-F238E27FC236}">
                <a16:creationId xmlns:a16="http://schemas.microsoft.com/office/drawing/2014/main" id="{CA65D908-DBAA-41A7-8513-D49BB7AF1267}"/>
              </a:ext>
            </a:extLst>
          </p:cNvPr>
          <p:cNvSpPr>
            <a:spLocks xmlns:a="http://schemas.openxmlformats.org/drawingml/2006/main" noGrp="1"/>
          </p:cNvSpPr>
          <p:nvPr/>
        </p:nvSpPr>
        <p:spPr>
          <a:xfrm xmlns:a="http://schemas.openxmlformats.org/drawingml/2006/main">
            <a:off x="11201400" y="6543675"/>
            <a:ext cx="5143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00" b="1" i="0">
                <a:solidFill>
                  <a:srgbClr val="607078"/>
                </a:solidFill>
                <a:latin typeface="Malgun Gothic"/>
                <a:ea typeface="Malgun Gothic"/>
                <a:cs typeface="Malgun Gothic"/>
              </a:defRPr>
            </a:pPr>
            <a:r>
              <a:t>12</a:t>
            </a:r>
          </a:p>
        </p:txBody>
      </p:sp>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9efb142e3d0d4a81"/>
          <a:stretch xmlns:a="http://schemas.openxmlformats.org/drawingml/2006/main"/>
        </p:blipFill>
        <p:spPr>
          <a:xfrm xmlns:a="http://schemas.openxmlformats.org/drawingml/2006/main">
            <a:off x="666750" y="2073136"/>
            <a:ext cx="6286500" cy="3302278"/>
          </a:xfrm>
          <a:prstGeom xmlns:a="http://schemas.openxmlformats.org/drawingml/2006/main" prst="rect">
            <a:avLst/>
          </a:prstGeom>
        </p:spPr>
      </p:pic>
    </p:spTree>
    <p:extLst>
      <p:ext uri="{BB962C8B-B14F-4D97-AF65-F5344CB8AC3E}">
        <p14:creationId xmlns:p14="http://schemas.microsoft.com/office/powerpoint/2010/main" val="20253261"/>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6C8F540-77EC-4D2A-B99E-0925813868D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6F3EE"/>
          </a:solidFill>
        </p:spPr>
      </p:sp>
      <p:sp>
        <p:nvSpPr>
          <p:cNvPr id="2" name="">
            <a:extLst xmlns:a="http://schemas.openxmlformats.org/drawingml/2006/main">
              <a:ext uri="{FF2B5EF4-FFF2-40B4-BE49-F238E27FC236}">
                <a16:creationId xmlns:a16="http://schemas.microsoft.com/office/drawing/2014/main" id="{32A8AA41-6C9E-4A48-9B4E-FF02A768D390}"/>
              </a:ext>
            </a:extLst>
          </p:cNvPr>
          <p:cNvSpPr>
            <a:spLocks xmlns:a="http://schemas.openxmlformats.org/drawingml/2006/main" noGrp="1"/>
          </p:cNvSpPr>
          <p:nvPr/>
        </p:nvSpPr>
        <p:spPr>
          <a:xfrm xmlns:a="http://schemas.openxmlformats.org/drawingml/2006/main">
            <a:off x="476250" y="257175"/>
            <a:ext cx="40005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118C83"/>
                </a:solidFill>
                <a:latin typeface="Malgun Gothic"/>
                <a:ea typeface="Malgun Gothic"/>
                <a:cs typeface="Malgun Gothic"/>
              </a:defRPr>
            </a:pPr>
            <a:r>
              <a:t>12 · PRIORITIZATION</a:t>
            </a:r>
          </a:p>
        </p:txBody>
      </p:sp>
      <p:sp>
        <p:nvSpPr>
          <p:cNvPr id="3" name="">
            <a:extLst xmlns:a="http://schemas.openxmlformats.org/drawingml/2006/main">
              <a:ext uri="{FF2B5EF4-FFF2-40B4-BE49-F238E27FC236}">
                <a16:creationId xmlns:a16="http://schemas.microsoft.com/office/drawing/2014/main" id="{C33AEA42-4A7E-4758-AA2B-E39F7194A9AB}"/>
              </a:ext>
            </a:extLst>
          </p:cNvPr>
          <p:cNvSpPr>
            <a:spLocks xmlns:a="http://schemas.openxmlformats.org/drawingml/2006/main" noGrp="1"/>
          </p:cNvSpPr>
          <p:nvPr/>
        </p:nvSpPr>
        <p:spPr>
          <a:xfrm xmlns:a="http://schemas.openxmlformats.org/drawingml/2006/main">
            <a:off x="476250" y="561975"/>
            <a:ext cx="11049000" cy="542925"/>
          </a:xfrm>
          <a:prstGeom xmlns:a="http://schemas.openxmlformats.org/drawingml/2006/main" prst="rect">
            <a:avLst/>
          </a:prstGeom>
        </p:spPr>
        <p:txBody>
          <a:bodyPr xmlns:a="http://schemas.openxmlformats.org/drawingml/2006/main" wrap="square" lIns="0" tIns="0" rIns="0" bIns="0" anchor="t">
            <a:normAutofit fontScale="94072"/>
          </a:bodyPr>
          <a:lstStyle xmlns:a="http://schemas.openxmlformats.org/drawingml/2006/main"/>
          <a:p xmlns:a="http://schemas.openxmlformats.org/drawingml/2006/main">
            <a:pPr algn="l">
              <a:defRPr sz="2850" b="1" i="0">
                <a:solidFill>
                  <a:srgbClr val="17262D"/>
                </a:solidFill>
                <a:latin typeface="Malgun Gothic"/>
                <a:ea typeface="Malgun Gothic"/>
                <a:cs typeface="Malgun Gothic"/>
              </a:defRPr>
            </a:pPr>
            <a:r>
              <a:t>Top-K와 Risk Decile은 제한된 접촉 자원을 어디에 집중할지 보여줍니다</a:t>
            </a:r>
          </a:p>
        </p:txBody>
      </p:sp>
      <p:sp>
        <p:nvSpPr>
          <p:cNvPr id="4" name="">
            <a:extLst xmlns:a="http://schemas.openxmlformats.org/drawingml/2006/main">
              <a:ext uri="{FF2B5EF4-FFF2-40B4-BE49-F238E27FC236}">
                <a16:creationId xmlns:a16="http://schemas.microsoft.com/office/drawing/2014/main" id="{DC1314D2-A58E-491D-A6B6-1E2BDE6ABCDA}"/>
              </a:ext>
            </a:extLst>
          </p:cNvPr>
          <p:cNvSpPr>
            <a:spLocks xmlns:a="http://schemas.openxmlformats.org/drawingml/2006/main" noGrp="1"/>
          </p:cNvSpPr>
          <p:nvPr/>
        </p:nvSpPr>
        <p:spPr>
          <a:xfrm xmlns:a="http://schemas.openxmlformats.org/drawingml/2006/main">
            <a:off x="476250" y="1200150"/>
            <a:ext cx="723900" cy="47625"/>
          </a:xfrm>
          <a:prstGeom xmlns:a="http://schemas.openxmlformats.org/drawingml/2006/main" prst="rect">
            <a:avLst/>
          </a:prstGeom>
          <a:solidFill xmlns:a="http://schemas.openxmlformats.org/drawingml/2006/main">
            <a:srgbClr val="F2674A"/>
          </a:solidFill>
        </p:spPr>
      </p:sp>
      <p:sp>
        <p:nvSpPr>
          <p:cNvPr id="5" name="">
            <a:extLst xmlns:a="http://schemas.openxmlformats.org/drawingml/2006/main">
              <a:ext uri="{FF2B5EF4-FFF2-40B4-BE49-F238E27FC236}">
                <a16:creationId xmlns:a16="http://schemas.microsoft.com/office/drawing/2014/main" id="{FA174AF2-3D92-45D8-9C85-F9D73DEC386E}"/>
              </a:ext>
            </a:extLst>
          </p:cNvPr>
          <p:cNvSpPr>
            <a:spLocks xmlns:a="http://schemas.openxmlformats.org/drawingml/2006/main" noGrp="1"/>
          </p:cNvSpPr>
          <p:nvPr/>
        </p:nvSpPr>
        <p:spPr>
          <a:xfrm xmlns:a="http://schemas.openxmlformats.org/drawingml/2006/main">
            <a:off x="476250" y="1562100"/>
            <a:ext cx="5334000" cy="3771900"/>
          </a:xfrm>
          <a:prstGeom xmlns:a="http://schemas.openxmlformats.org/drawingml/2006/main" prst="roundRect">
            <a:avLst>
              <a:gd name="adj" fmla="val 2020"/>
            </a:avLst>
          </a:prstGeom>
          <a:solidFill xmlns:a="http://schemas.openxmlformats.org/drawingml/2006/main">
            <a:srgbClr val="FFFDFC"/>
          </a:solidFill>
          <a:ln xmlns:a="http://schemas.openxmlformats.org/drawingml/2006/main" w="9525">
            <a:solidFill>
              <a:srgbClr val="D8D8D2"/>
            </a:solidFill>
            <a:prstDash val="solid"/>
          </a:ln>
        </p:spPr>
      </p:sp>
      <p:sp>
        <p:nvSpPr>
          <p:cNvPr id="6" name="">
            <a:extLst xmlns:a="http://schemas.openxmlformats.org/drawingml/2006/main">
              <a:ext uri="{FF2B5EF4-FFF2-40B4-BE49-F238E27FC236}">
                <a16:creationId xmlns:a16="http://schemas.microsoft.com/office/drawing/2014/main" id="{5978A726-72C1-45CB-B533-46883C43B43F}"/>
              </a:ext>
            </a:extLst>
          </p:cNvPr>
          <p:cNvSpPr>
            <a:spLocks xmlns:a="http://schemas.openxmlformats.org/drawingml/2006/main" noGrp="1"/>
          </p:cNvSpPr>
          <p:nvPr/>
        </p:nvSpPr>
        <p:spPr>
          <a:xfrm xmlns:a="http://schemas.openxmlformats.org/drawingml/2006/main">
            <a:off x="6381750" y="1562100"/>
            <a:ext cx="5334000" cy="3771900"/>
          </a:xfrm>
          <a:prstGeom xmlns:a="http://schemas.openxmlformats.org/drawingml/2006/main" prst="roundRect">
            <a:avLst>
              <a:gd name="adj" fmla="val 2020"/>
            </a:avLst>
          </a:prstGeom>
          <a:solidFill xmlns:a="http://schemas.openxmlformats.org/drawingml/2006/main">
            <a:srgbClr val="FFFDFC"/>
          </a:solidFill>
          <a:ln xmlns:a="http://schemas.openxmlformats.org/drawingml/2006/main" w="9525">
            <a:solidFill>
              <a:srgbClr val="D8D8D2"/>
            </a:solidFill>
            <a:prstDash val="solid"/>
          </a:ln>
        </p:spPr>
      </p:sp>
      <p:sp>
        <p:nvSpPr>
          <p:cNvPr id="7" name="">
            <a:extLst xmlns:a="http://schemas.openxmlformats.org/drawingml/2006/main">
              <a:ext uri="{FF2B5EF4-FFF2-40B4-BE49-F238E27FC236}">
                <a16:creationId xmlns:a16="http://schemas.microsoft.com/office/drawing/2014/main" id="{1BB5A832-8871-431D-BD5C-2470A4ADD8A9}"/>
              </a:ext>
            </a:extLst>
          </p:cNvPr>
          <p:cNvSpPr>
            <a:spLocks xmlns:a="http://schemas.openxmlformats.org/drawingml/2006/main" noGrp="1"/>
          </p:cNvSpPr>
          <p:nvPr/>
        </p:nvSpPr>
        <p:spPr>
          <a:xfrm xmlns:a="http://schemas.openxmlformats.org/drawingml/2006/main">
            <a:off x="666750" y="1714500"/>
            <a:ext cx="28575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1" i="0">
                <a:solidFill>
                  <a:srgbClr val="17262D"/>
                </a:solidFill>
                <a:latin typeface="Malgun Gothic"/>
                <a:ea typeface="Malgun Gothic"/>
                <a:cs typeface="Malgun Gothic"/>
              </a:defRPr>
            </a:pPr>
            <a:r>
              <a:t>Top-K Capture · Lift</a:t>
            </a:r>
          </a:p>
        </p:txBody>
      </p:sp>
      <p:sp>
        <p:nvSpPr>
          <p:cNvPr id="8" name="">
            <a:extLst xmlns:a="http://schemas.openxmlformats.org/drawingml/2006/main">
              <a:ext uri="{FF2B5EF4-FFF2-40B4-BE49-F238E27FC236}">
                <a16:creationId xmlns:a16="http://schemas.microsoft.com/office/drawing/2014/main" id="{C87F6C24-F4FB-4B88-A8DE-39EE337D613E}"/>
              </a:ext>
            </a:extLst>
          </p:cNvPr>
          <p:cNvSpPr>
            <a:spLocks xmlns:a="http://schemas.openxmlformats.org/drawingml/2006/main" noGrp="1"/>
          </p:cNvSpPr>
          <p:nvPr/>
        </p:nvSpPr>
        <p:spPr>
          <a:xfrm xmlns:a="http://schemas.openxmlformats.org/drawingml/2006/main">
            <a:off x="6572250" y="1714500"/>
            <a:ext cx="28575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1" i="0">
                <a:solidFill>
                  <a:srgbClr val="17262D"/>
                </a:solidFill>
                <a:latin typeface="Malgun Gothic"/>
                <a:ea typeface="Malgun Gothic"/>
                <a:cs typeface="Malgun Gothic"/>
              </a:defRPr>
            </a:pPr>
            <a:r>
              <a:t>Risk Decile</a:t>
            </a:r>
          </a:p>
        </p:txBody>
      </p:sp>
      <p:sp>
        <p:nvSpPr>
          <p:cNvPr id="9" name="">
            <a:extLst xmlns:a="http://schemas.openxmlformats.org/drawingml/2006/main">
              <a:ext uri="{FF2B5EF4-FFF2-40B4-BE49-F238E27FC236}">
                <a16:creationId xmlns:a16="http://schemas.microsoft.com/office/drawing/2014/main" id="{80459EE1-50BC-4EF1-82C4-ADDB2C6C24DA}"/>
              </a:ext>
            </a:extLst>
          </p:cNvPr>
          <p:cNvSpPr>
            <a:spLocks xmlns:a="http://schemas.openxmlformats.org/drawingml/2006/main" noGrp="1"/>
          </p:cNvSpPr>
          <p:nvPr/>
        </p:nvSpPr>
        <p:spPr>
          <a:xfrm xmlns:a="http://schemas.openxmlformats.org/drawingml/2006/main">
            <a:off x="476250" y="5553075"/>
            <a:ext cx="11239500" cy="457200"/>
          </a:xfrm>
          <a:prstGeom xmlns:a="http://schemas.openxmlformats.org/drawingml/2006/main" prst="roundRect">
            <a:avLst>
              <a:gd name="adj" fmla="val 16667"/>
            </a:avLst>
          </a:prstGeom>
          <a:solidFill xmlns:a="http://schemas.openxmlformats.org/drawingml/2006/main">
            <a:srgbClr val="FDE8E1"/>
          </a:solidFill>
          <a:ln xmlns:a="http://schemas.openxmlformats.org/drawingml/2006/main" w="9525">
            <a:solidFill>
              <a:srgbClr val="FDE8E1"/>
            </a:solidFill>
            <a:prstDash val="solid"/>
          </a:ln>
        </p:spPr>
      </p:sp>
      <p:sp>
        <p:nvSpPr>
          <p:cNvPr id="10" name="">
            <a:extLst xmlns:a="http://schemas.openxmlformats.org/drawingml/2006/main">
              <a:ext uri="{FF2B5EF4-FFF2-40B4-BE49-F238E27FC236}">
                <a16:creationId xmlns:a16="http://schemas.microsoft.com/office/drawing/2014/main" id="{D7620C28-9E52-4731-B435-AFC565561B31}"/>
              </a:ext>
            </a:extLst>
          </p:cNvPr>
          <p:cNvSpPr>
            <a:spLocks xmlns:a="http://schemas.openxmlformats.org/drawingml/2006/main" noGrp="1"/>
          </p:cNvSpPr>
          <p:nvPr/>
        </p:nvSpPr>
        <p:spPr>
          <a:xfrm xmlns:a="http://schemas.openxmlformats.org/drawingml/2006/main">
            <a:off x="685800" y="5667375"/>
            <a:ext cx="5810250" cy="2190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i="0">
                <a:solidFill>
                  <a:srgbClr val="17262D"/>
                </a:solidFill>
                <a:latin typeface="Malgun Gothic"/>
                <a:ea typeface="Malgun Gothic"/>
                <a:cs typeface="Malgun Gothic"/>
              </a:defRPr>
            </a:pPr>
            <a:r>
              <a:t>Top 10% = 12,500명 · 이탈자 19.48% 포착 · Lift 1.95</a:t>
            </a:r>
          </a:p>
        </p:txBody>
      </p:sp>
      <p:sp>
        <p:nvSpPr>
          <p:cNvPr id="11" name="">
            <a:extLst xmlns:a="http://schemas.openxmlformats.org/drawingml/2006/main">
              <a:ext uri="{FF2B5EF4-FFF2-40B4-BE49-F238E27FC236}">
                <a16:creationId xmlns:a16="http://schemas.microsoft.com/office/drawing/2014/main" id="{06D7D2B7-A4BD-4AEC-9829-9C0481A7BFFD}"/>
              </a:ext>
            </a:extLst>
          </p:cNvPr>
          <p:cNvSpPr>
            <a:spLocks xmlns:a="http://schemas.openxmlformats.org/drawingml/2006/main" noGrp="1"/>
          </p:cNvSpPr>
          <p:nvPr/>
        </p:nvSpPr>
        <p:spPr>
          <a:xfrm xmlns:a="http://schemas.openxmlformats.org/drawingml/2006/main">
            <a:off x="6705600" y="5667375"/>
            <a:ext cx="4762500" cy="2190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200" b="1" i="0">
                <a:solidFill>
                  <a:srgbClr val="B94C3C"/>
                </a:solidFill>
                <a:latin typeface="Malgun Gothic"/>
                <a:ea typeface="Malgun Gothic"/>
                <a:cs typeface="Malgun Gothic"/>
              </a:defRPr>
            </a:pPr>
            <a:r>
              <a:t>Lift는 라벨 집중도이며 실제 캠페인 uplift·ROI가 아닙니다.</a:t>
            </a:r>
          </a:p>
        </p:txBody>
      </p:sp>
      <p:sp>
        <p:nvSpPr>
          <p:cNvPr id="12" name="">
            <a:extLst xmlns:a="http://schemas.openxmlformats.org/drawingml/2006/main">
              <a:ext uri="{FF2B5EF4-FFF2-40B4-BE49-F238E27FC236}">
                <a16:creationId xmlns:a16="http://schemas.microsoft.com/office/drawing/2014/main" id="{DB9255C7-1CEA-4B37-ADE9-BC96C43E7265}"/>
              </a:ext>
            </a:extLst>
          </p:cNvPr>
          <p:cNvSpPr>
            <a:spLocks xmlns:a="http://schemas.openxmlformats.org/drawingml/2006/main" noGrp="1"/>
          </p:cNvSpPr>
          <p:nvPr/>
        </p:nvSpPr>
        <p:spPr>
          <a:xfrm xmlns:a="http://schemas.openxmlformats.org/drawingml/2006/main">
            <a:off x="476250" y="6486525"/>
            <a:ext cx="11239500" cy="9525"/>
          </a:xfrm>
          <a:prstGeom xmlns:a="http://schemas.openxmlformats.org/drawingml/2006/main" prst="rect">
            <a:avLst/>
          </a:prstGeom>
          <a:solidFill xmlns:a="http://schemas.openxmlformats.org/drawingml/2006/main">
            <a:srgbClr val="D8D8D2"/>
          </a:solidFill>
        </p:spPr>
      </p:sp>
      <p:sp>
        <p:nvSpPr>
          <p:cNvPr id="13" name="">
            <a:extLst xmlns:a="http://schemas.openxmlformats.org/drawingml/2006/main">
              <a:ext uri="{FF2B5EF4-FFF2-40B4-BE49-F238E27FC236}">
                <a16:creationId xmlns:a16="http://schemas.microsoft.com/office/drawing/2014/main" id="{DE61103B-117B-4DB5-8072-2AC35F26D5EF}"/>
              </a:ext>
            </a:extLst>
          </p:cNvPr>
          <p:cNvSpPr>
            <a:spLocks xmlns:a="http://schemas.openxmlformats.org/drawingml/2006/main" noGrp="1"/>
          </p:cNvSpPr>
          <p:nvPr/>
        </p:nvSpPr>
        <p:spPr>
          <a:xfrm xmlns:a="http://schemas.openxmlformats.org/drawingml/2006/main">
            <a:off x="666750" y="6534150"/>
            <a:ext cx="9620250" cy="209550"/>
          </a:xfrm>
          <a:prstGeom xmlns:a="http://schemas.openxmlformats.org/drawingml/2006/main" prst="rect">
            <a:avLst/>
          </a:prstGeom>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825" b="0" i="0">
                <a:solidFill>
                  <a:srgbClr val="98A5AA"/>
                </a:solidFill>
                <a:latin typeface="Malgun Gothic"/>
                <a:ea typeface="Malgun Gothic"/>
                <a:cs typeface="Malgun Gothic"/>
              </a:defRPr>
            </a:pPr>
            <a:r>
              <a:t>근거 · presentation_v3/14_topk_capture_lift.csv · 15_risk_decile.csv</a:t>
            </a:r>
          </a:p>
        </p:txBody>
      </p:sp>
      <p:sp>
        <p:nvSpPr>
          <p:cNvPr id="14" name="">
            <a:extLst xmlns:a="http://schemas.openxmlformats.org/drawingml/2006/main">
              <a:ext uri="{FF2B5EF4-FFF2-40B4-BE49-F238E27FC236}">
                <a16:creationId xmlns:a16="http://schemas.microsoft.com/office/drawing/2014/main" id="{5691714B-5409-4CF6-B07F-170E16C41182}"/>
              </a:ext>
            </a:extLst>
          </p:cNvPr>
          <p:cNvSpPr>
            <a:spLocks xmlns:a="http://schemas.openxmlformats.org/drawingml/2006/main" noGrp="1"/>
          </p:cNvSpPr>
          <p:nvPr/>
        </p:nvSpPr>
        <p:spPr>
          <a:xfrm xmlns:a="http://schemas.openxmlformats.org/drawingml/2006/main">
            <a:off x="11201400" y="6543675"/>
            <a:ext cx="5143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00" b="1" i="0">
                <a:solidFill>
                  <a:srgbClr val="607078"/>
                </a:solidFill>
                <a:latin typeface="Malgun Gothic"/>
                <a:ea typeface="Malgun Gothic"/>
                <a:cs typeface="Malgun Gothic"/>
              </a:defRPr>
            </a:pPr>
            <a:r>
              <a:t>13</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297eab1e0a9b4e5a"/>
          <a:stretch xmlns:a="http://schemas.openxmlformats.org/drawingml/2006/main"/>
        </p:blipFill>
        <p:spPr>
          <a:xfrm xmlns:a="http://schemas.openxmlformats.org/drawingml/2006/main">
            <a:off x="666750" y="2288401"/>
            <a:ext cx="4953000" cy="2605049"/>
          </a:xfrm>
          <a:prstGeom xmlns:a="http://schemas.openxmlformats.org/drawingml/2006/main" prst="rect">
            <a:avLst/>
          </a:prstGeom>
        </p:spPr>
      </p:pic>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6fc32648572a4ff9"/>
          <a:stretch xmlns:a="http://schemas.openxmlformats.org/drawingml/2006/main"/>
        </p:blipFill>
        <p:spPr>
          <a:xfrm xmlns:a="http://schemas.openxmlformats.org/drawingml/2006/main">
            <a:off x="6572250" y="2290028"/>
            <a:ext cx="4953000" cy="2601795"/>
          </a:xfrm>
          <a:prstGeom xmlns:a="http://schemas.openxmlformats.org/drawingml/2006/main" prst="rect">
            <a:avLst/>
          </a:prstGeom>
        </p:spPr>
      </p:pic>
    </p:spTree>
    <p:extLst>
      <p:ext uri="{BB962C8B-B14F-4D97-AF65-F5344CB8AC3E}">
        <p14:creationId xmlns:p14="http://schemas.microsoft.com/office/powerpoint/2010/main" val="289557468"/>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99B4469-2DFB-4E45-8615-BDD2AC4D638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6F3EE"/>
          </a:solidFill>
        </p:spPr>
      </p:sp>
      <p:sp>
        <p:nvSpPr>
          <p:cNvPr id="2" name="">
            <a:extLst xmlns:a="http://schemas.openxmlformats.org/drawingml/2006/main">
              <a:ext uri="{FF2B5EF4-FFF2-40B4-BE49-F238E27FC236}">
                <a16:creationId xmlns:a16="http://schemas.microsoft.com/office/drawing/2014/main" id="{051633D5-D1BC-4494-B7EC-B88BB8BBDFF5}"/>
              </a:ext>
            </a:extLst>
          </p:cNvPr>
          <p:cNvSpPr>
            <a:spLocks xmlns:a="http://schemas.openxmlformats.org/drawingml/2006/main" noGrp="1"/>
          </p:cNvSpPr>
          <p:nvPr/>
        </p:nvSpPr>
        <p:spPr>
          <a:xfrm xmlns:a="http://schemas.openxmlformats.org/drawingml/2006/main">
            <a:off x="476250" y="257175"/>
            <a:ext cx="40005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118C83"/>
                </a:solidFill>
                <a:latin typeface="Malgun Gothic"/>
                <a:ea typeface="Malgun Gothic"/>
                <a:cs typeface="Malgun Gothic"/>
              </a:defRPr>
            </a:pPr>
            <a:r>
              <a:t>13 · CUSTOMER WORKFLOW</a:t>
            </a:r>
          </a:p>
        </p:txBody>
      </p:sp>
      <p:sp>
        <p:nvSpPr>
          <p:cNvPr id="3" name="">
            <a:extLst xmlns:a="http://schemas.openxmlformats.org/drawingml/2006/main">
              <a:ext uri="{FF2B5EF4-FFF2-40B4-BE49-F238E27FC236}">
                <a16:creationId xmlns:a16="http://schemas.microsoft.com/office/drawing/2014/main" id="{F0A27749-041B-45F4-93A1-23F9D7F8E60A}"/>
              </a:ext>
            </a:extLst>
          </p:cNvPr>
          <p:cNvSpPr>
            <a:spLocks xmlns:a="http://schemas.openxmlformats.org/drawingml/2006/main" noGrp="1"/>
          </p:cNvSpPr>
          <p:nvPr/>
        </p:nvSpPr>
        <p:spPr>
          <a:xfrm xmlns:a="http://schemas.openxmlformats.org/drawingml/2006/main">
            <a:off x="476250" y="561975"/>
            <a:ext cx="11049000" cy="5429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850" b="1" i="0">
                <a:solidFill>
                  <a:srgbClr val="17262D"/>
                </a:solidFill>
                <a:latin typeface="Malgun Gothic"/>
                <a:ea typeface="Malgun Gothic"/>
                <a:cs typeface="Malgun Gothic"/>
              </a:defRPr>
            </a:pPr>
            <a:r>
              <a:t>고객별 위험 신호와 행동 후보를 같은 화면에서 검토합니다</a:t>
            </a:r>
          </a:p>
        </p:txBody>
      </p:sp>
      <p:sp>
        <p:nvSpPr>
          <p:cNvPr id="4" name="">
            <a:extLst xmlns:a="http://schemas.openxmlformats.org/drawingml/2006/main">
              <a:ext uri="{FF2B5EF4-FFF2-40B4-BE49-F238E27FC236}">
                <a16:creationId xmlns:a16="http://schemas.microsoft.com/office/drawing/2014/main" id="{9D4B31EE-8F64-4AFF-875F-5AD68AAC7FD6}"/>
              </a:ext>
            </a:extLst>
          </p:cNvPr>
          <p:cNvSpPr>
            <a:spLocks xmlns:a="http://schemas.openxmlformats.org/drawingml/2006/main" noGrp="1"/>
          </p:cNvSpPr>
          <p:nvPr/>
        </p:nvSpPr>
        <p:spPr>
          <a:xfrm xmlns:a="http://schemas.openxmlformats.org/drawingml/2006/main">
            <a:off x="476250" y="1200150"/>
            <a:ext cx="723900" cy="47625"/>
          </a:xfrm>
          <a:prstGeom xmlns:a="http://schemas.openxmlformats.org/drawingml/2006/main" prst="rect">
            <a:avLst/>
          </a:prstGeom>
          <a:solidFill xmlns:a="http://schemas.openxmlformats.org/drawingml/2006/main">
            <a:srgbClr val="F2674A"/>
          </a:solidFill>
        </p:spPr>
      </p:sp>
      <p:sp>
        <p:nvSpPr>
          <p:cNvPr id="5" name="">
            <a:extLst xmlns:a="http://schemas.openxmlformats.org/drawingml/2006/main">
              <a:ext uri="{FF2B5EF4-FFF2-40B4-BE49-F238E27FC236}">
                <a16:creationId xmlns:a16="http://schemas.microsoft.com/office/drawing/2014/main" id="{26CC0AEF-CB40-4528-A3E7-EADD2C0AEB1C}"/>
              </a:ext>
            </a:extLst>
          </p:cNvPr>
          <p:cNvSpPr>
            <a:spLocks xmlns:a="http://schemas.openxmlformats.org/drawingml/2006/main" noGrp="1"/>
          </p:cNvSpPr>
          <p:nvPr/>
        </p:nvSpPr>
        <p:spPr>
          <a:xfrm xmlns:a="http://schemas.openxmlformats.org/drawingml/2006/main">
            <a:off x="476250" y="1562100"/>
            <a:ext cx="5334000" cy="3695700"/>
          </a:xfrm>
          <a:prstGeom xmlns:a="http://schemas.openxmlformats.org/drawingml/2006/main" prst="roundRect">
            <a:avLst>
              <a:gd name="adj" fmla="val 2062"/>
            </a:avLst>
          </a:prstGeom>
          <a:solidFill xmlns:a="http://schemas.openxmlformats.org/drawingml/2006/main">
            <a:srgbClr val="FFFDFC"/>
          </a:solidFill>
          <a:ln xmlns:a="http://schemas.openxmlformats.org/drawingml/2006/main" w="9525">
            <a:solidFill>
              <a:srgbClr val="D8D8D2"/>
            </a:solidFill>
            <a:prstDash val="solid"/>
          </a:ln>
        </p:spPr>
      </p:sp>
      <p:sp>
        <p:nvSpPr>
          <p:cNvPr id="6" name="">
            <a:extLst xmlns:a="http://schemas.openxmlformats.org/drawingml/2006/main">
              <a:ext uri="{FF2B5EF4-FFF2-40B4-BE49-F238E27FC236}">
                <a16:creationId xmlns:a16="http://schemas.microsoft.com/office/drawing/2014/main" id="{C46714AE-0E90-4038-BBAB-5314E6E6642E}"/>
              </a:ext>
            </a:extLst>
          </p:cNvPr>
          <p:cNvSpPr>
            <a:spLocks xmlns:a="http://schemas.openxmlformats.org/drawingml/2006/main" noGrp="1"/>
          </p:cNvSpPr>
          <p:nvPr/>
        </p:nvSpPr>
        <p:spPr>
          <a:xfrm xmlns:a="http://schemas.openxmlformats.org/drawingml/2006/main">
            <a:off x="6381750" y="1562100"/>
            <a:ext cx="5334000" cy="3695700"/>
          </a:xfrm>
          <a:prstGeom xmlns:a="http://schemas.openxmlformats.org/drawingml/2006/main" prst="roundRect">
            <a:avLst>
              <a:gd name="adj" fmla="val 2062"/>
            </a:avLst>
          </a:prstGeom>
          <a:solidFill xmlns:a="http://schemas.openxmlformats.org/drawingml/2006/main">
            <a:srgbClr val="FFFDFC"/>
          </a:solidFill>
          <a:ln xmlns:a="http://schemas.openxmlformats.org/drawingml/2006/main" w="9525">
            <a:solidFill>
              <a:srgbClr val="D8D8D2"/>
            </a:solidFill>
            <a:prstDash val="solid"/>
          </a:ln>
        </p:spPr>
      </p:sp>
      <p:sp>
        <p:nvSpPr>
          <p:cNvPr id="7" name="">
            <a:extLst xmlns:a="http://schemas.openxmlformats.org/drawingml/2006/main">
              <a:ext uri="{FF2B5EF4-FFF2-40B4-BE49-F238E27FC236}">
                <a16:creationId xmlns:a16="http://schemas.microsoft.com/office/drawing/2014/main" id="{BC391411-CF52-433F-9483-2AE9D380A50B}"/>
              </a:ext>
            </a:extLst>
          </p:cNvPr>
          <p:cNvSpPr>
            <a:spLocks xmlns:a="http://schemas.openxmlformats.org/drawingml/2006/main" noGrp="1"/>
          </p:cNvSpPr>
          <p:nvPr/>
        </p:nvSpPr>
        <p:spPr>
          <a:xfrm xmlns:a="http://schemas.openxmlformats.org/drawingml/2006/main">
            <a:off x="666750" y="1695450"/>
            <a:ext cx="29527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i="0">
                <a:solidFill>
                  <a:srgbClr val="118C83"/>
                </a:solidFill>
                <a:latin typeface="Malgun Gothic"/>
                <a:ea typeface="Malgun Gothic"/>
                <a:cs typeface="Malgun Gothic"/>
              </a:defRPr>
            </a:pPr>
            <a:r>
              <a:t>05 · 고객 우선순위</a:t>
            </a:r>
          </a:p>
        </p:txBody>
      </p:sp>
      <p:sp>
        <p:nvSpPr>
          <p:cNvPr id="8" name="">
            <a:extLst xmlns:a="http://schemas.openxmlformats.org/drawingml/2006/main">
              <a:ext uri="{FF2B5EF4-FFF2-40B4-BE49-F238E27FC236}">
                <a16:creationId xmlns:a16="http://schemas.microsoft.com/office/drawing/2014/main" id="{7D684A53-CA0B-4E91-AD23-0DD405063643}"/>
              </a:ext>
            </a:extLst>
          </p:cNvPr>
          <p:cNvSpPr>
            <a:spLocks xmlns:a="http://schemas.openxmlformats.org/drawingml/2006/main" noGrp="1"/>
          </p:cNvSpPr>
          <p:nvPr/>
        </p:nvSpPr>
        <p:spPr>
          <a:xfrm xmlns:a="http://schemas.openxmlformats.org/drawingml/2006/main">
            <a:off x="6572250" y="16954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i="0">
                <a:solidFill>
                  <a:srgbClr val="118C83"/>
                </a:solidFill>
                <a:latin typeface="Malgun Gothic"/>
                <a:ea typeface="Malgun Gothic"/>
                <a:cs typeface="Malgun Gothic"/>
              </a:defRPr>
            </a:pPr>
            <a:r>
              <a:t>06 · 가정 기반 캠페인 계획</a:t>
            </a:r>
          </a:p>
        </p:txBody>
      </p:sp>
      <p:sp>
        <p:nvSpPr>
          <p:cNvPr id="9" name="">
            <a:extLst xmlns:a="http://schemas.openxmlformats.org/drawingml/2006/main">
              <a:ext uri="{FF2B5EF4-FFF2-40B4-BE49-F238E27FC236}">
                <a16:creationId xmlns:a16="http://schemas.microsoft.com/office/drawing/2014/main" id="{B9E12A9B-854B-4D94-B427-9C1C9BB71AB4}"/>
              </a:ext>
            </a:extLst>
          </p:cNvPr>
          <p:cNvSpPr>
            <a:spLocks xmlns:a="http://schemas.openxmlformats.org/drawingml/2006/main" noGrp="1"/>
          </p:cNvSpPr>
          <p:nvPr/>
        </p:nvSpPr>
        <p:spPr>
          <a:xfrm xmlns:a="http://schemas.openxmlformats.org/drawingml/2006/main">
            <a:off x="476250" y="5534025"/>
            <a:ext cx="97155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F2674A"/>
                </a:solidFill>
                <a:latin typeface="Malgun Gothic"/>
                <a:ea typeface="Malgun Gothic"/>
                <a:cs typeface="Malgun Gothic"/>
              </a:defRPr>
            </a:pPr>
            <a:r>
              <a:t>앱이 제시</a:t>
            </a:r>
          </a:p>
        </p:txBody>
      </p:sp>
      <p:sp>
        <p:nvSpPr>
          <p:cNvPr id="10" name="">
            <a:extLst xmlns:a="http://schemas.openxmlformats.org/drawingml/2006/main">
              <a:ext uri="{FF2B5EF4-FFF2-40B4-BE49-F238E27FC236}">
                <a16:creationId xmlns:a16="http://schemas.microsoft.com/office/drawing/2014/main" id="{D9EBBDAC-BDA3-4128-A917-02D3467245DD}"/>
              </a:ext>
            </a:extLst>
          </p:cNvPr>
          <p:cNvSpPr>
            <a:spLocks xmlns:a="http://schemas.openxmlformats.org/drawingml/2006/main" noGrp="1"/>
          </p:cNvSpPr>
          <p:nvPr/>
        </p:nvSpPr>
        <p:spPr>
          <a:xfrm xmlns:a="http://schemas.openxmlformats.org/drawingml/2006/main">
            <a:off x="1466850" y="5495925"/>
            <a:ext cx="7239000" cy="2762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i="0">
                <a:solidFill>
                  <a:srgbClr val="17262D"/>
                </a:solidFill>
                <a:latin typeface="Malgun Gothic"/>
                <a:ea typeface="Malgun Gothic"/>
                <a:cs typeface="Malgun Gothic"/>
              </a:defRPr>
            </a:pPr>
            <a:r>
              <a:t>위험 점수 · 운영 단계 · 1차 신호 · 다음 행동 후보 · 편집 가능한 비용/가치 가정</a:t>
            </a:r>
          </a:p>
        </p:txBody>
      </p:sp>
      <p:sp>
        <p:nvSpPr>
          <p:cNvPr id="11" name="">
            <a:extLst xmlns:a="http://schemas.openxmlformats.org/drawingml/2006/main">
              <a:ext uri="{FF2B5EF4-FFF2-40B4-BE49-F238E27FC236}">
                <a16:creationId xmlns:a16="http://schemas.microsoft.com/office/drawing/2014/main" id="{293F830A-C929-49C5-8EF7-0C784EECD373}"/>
              </a:ext>
            </a:extLst>
          </p:cNvPr>
          <p:cNvSpPr>
            <a:spLocks xmlns:a="http://schemas.openxmlformats.org/drawingml/2006/main" noGrp="1"/>
          </p:cNvSpPr>
          <p:nvPr/>
        </p:nvSpPr>
        <p:spPr>
          <a:xfrm xmlns:a="http://schemas.openxmlformats.org/drawingml/2006/main">
            <a:off x="9124950" y="5534025"/>
            <a:ext cx="97155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118C83"/>
                </a:solidFill>
                <a:latin typeface="Malgun Gothic"/>
                <a:ea typeface="Malgun Gothic"/>
                <a:cs typeface="Malgun Gothic"/>
              </a:defRPr>
            </a:pPr>
            <a:r>
              <a:t>사람이 결정</a:t>
            </a:r>
          </a:p>
        </p:txBody>
      </p:sp>
      <p:sp>
        <p:nvSpPr>
          <p:cNvPr id="12" name="">
            <a:extLst xmlns:a="http://schemas.openxmlformats.org/drawingml/2006/main">
              <a:ext uri="{FF2B5EF4-FFF2-40B4-BE49-F238E27FC236}">
                <a16:creationId xmlns:a16="http://schemas.microsoft.com/office/drawing/2014/main" id="{B47AA585-0815-495F-869F-6F990ECD4B64}"/>
              </a:ext>
            </a:extLst>
          </p:cNvPr>
          <p:cNvSpPr>
            <a:spLocks xmlns:a="http://schemas.openxmlformats.org/drawingml/2006/main" noGrp="1"/>
          </p:cNvSpPr>
          <p:nvPr/>
        </p:nvSpPr>
        <p:spPr>
          <a:xfrm xmlns:a="http://schemas.openxmlformats.org/drawingml/2006/main">
            <a:off x="10144125" y="5495925"/>
            <a:ext cx="1333500" cy="2762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350" b="1" i="0">
                <a:solidFill>
                  <a:srgbClr val="17262D"/>
                </a:solidFill>
                <a:latin typeface="Malgun Gothic"/>
                <a:ea typeface="Malgun Gothic"/>
                <a:cs typeface="Malgun Gothic"/>
              </a:defRPr>
            </a:pPr>
            <a:r>
              <a:t>실행·승인</a:t>
            </a:r>
          </a:p>
        </p:txBody>
      </p:sp>
      <p:sp>
        <p:nvSpPr>
          <p:cNvPr id="13" name="">
            <a:extLst xmlns:a="http://schemas.openxmlformats.org/drawingml/2006/main">
              <a:ext uri="{FF2B5EF4-FFF2-40B4-BE49-F238E27FC236}">
                <a16:creationId xmlns:a16="http://schemas.microsoft.com/office/drawing/2014/main" id="{A9D33655-33D9-49F3-ACDE-08AA7A041167}"/>
              </a:ext>
            </a:extLst>
          </p:cNvPr>
          <p:cNvSpPr>
            <a:spLocks xmlns:a="http://schemas.openxmlformats.org/drawingml/2006/main" noGrp="1"/>
          </p:cNvSpPr>
          <p:nvPr/>
        </p:nvSpPr>
        <p:spPr>
          <a:xfrm xmlns:a="http://schemas.openxmlformats.org/drawingml/2006/main">
            <a:off x="476250" y="6486525"/>
            <a:ext cx="11239500" cy="9525"/>
          </a:xfrm>
          <a:prstGeom xmlns:a="http://schemas.openxmlformats.org/drawingml/2006/main" prst="rect">
            <a:avLst/>
          </a:prstGeom>
          <a:solidFill xmlns:a="http://schemas.openxmlformats.org/drawingml/2006/main">
            <a:srgbClr val="D8D8D2"/>
          </a:solidFill>
        </p:spPr>
      </p:sp>
      <p:sp>
        <p:nvSpPr>
          <p:cNvPr id="14" name="">
            <a:extLst xmlns:a="http://schemas.openxmlformats.org/drawingml/2006/main">
              <a:ext uri="{FF2B5EF4-FFF2-40B4-BE49-F238E27FC236}">
                <a16:creationId xmlns:a16="http://schemas.microsoft.com/office/drawing/2014/main" id="{59AFEE96-CE3B-40D7-A8BD-D036B2176A01}"/>
              </a:ext>
            </a:extLst>
          </p:cNvPr>
          <p:cNvSpPr>
            <a:spLocks xmlns:a="http://schemas.openxmlformats.org/drawingml/2006/main" noGrp="1"/>
          </p:cNvSpPr>
          <p:nvPr/>
        </p:nvSpPr>
        <p:spPr>
          <a:xfrm xmlns:a="http://schemas.openxmlformats.org/drawingml/2006/main">
            <a:off x="666750" y="6534150"/>
            <a:ext cx="9620250" cy="209550"/>
          </a:xfrm>
          <a:prstGeom xmlns:a="http://schemas.openxmlformats.org/drawingml/2006/main" prst="rect">
            <a:avLst/>
          </a:prstGeom>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825" b="0" i="0">
                <a:solidFill>
                  <a:srgbClr val="98A5AA"/>
                </a:solidFill>
                <a:latin typeface="Malgun Gothic"/>
                <a:ea typeface="Malgun Gothic"/>
                <a:cs typeface="Malgun Gothic"/>
              </a:defRPr>
            </a:pPr>
            <a:r>
              <a:t>근거 · submission_package/.../assets/screenshots/03_customer_priority.png · 04_campaign_planning.png</a:t>
            </a:r>
          </a:p>
        </p:txBody>
      </p:sp>
      <p:sp>
        <p:nvSpPr>
          <p:cNvPr id="15" name="">
            <a:extLst xmlns:a="http://schemas.openxmlformats.org/drawingml/2006/main">
              <a:ext uri="{FF2B5EF4-FFF2-40B4-BE49-F238E27FC236}">
                <a16:creationId xmlns:a16="http://schemas.microsoft.com/office/drawing/2014/main" id="{BEB8413F-CE08-43EC-896A-3609A738D3D5}"/>
              </a:ext>
            </a:extLst>
          </p:cNvPr>
          <p:cNvSpPr>
            <a:spLocks xmlns:a="http://schemas.openxmlformats.org/drawingml/2006/main" noGrp="1"/>
          </p:cNvSpPr>
          <p:nvPr/>
        </p:nvSpPr>
        <p:spPr>
          <a:xfrm xmlns:a="http://schemas.openxmlformats.org/drawingml/2006/main">
            <a:off x="11201400" y="6543675"/>
            <a:ext cx="5143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00" b="1" i="0">
                <a:solidFill>
                  <a:srgbClr val="607078"/>
                </a:solidFill>
                <a:latin typeface="Malgun Gothic"/>
                <a:ea typeface="Malgun Gothic"/>
                <a:cs typeface="Malgun Gothic"/>
              </a:defRPr>
            </a:pPr>
            <a:r>
              <a:t>14</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5d82a182fc6542ca"/>
          <a:stretch xmlns:a="http://schemas.openxmlformats.org/drawingml/2006/main"/>
        </p:blipFill>
        <p:spPr>
          <a:xfrm xmlns:a="http://schemas.openxmlformats.org/drawingml/2006/main">
            <a:off x="666750" y="2131219"/>
            <a:ext cx="4953000" cy="2786063"/>
          </a:xfrm>
          <a:prstGeom xmlns:a="http://schemas.openxmlformats.org/drawingml/2006/main" prst="rect">
            <a:avLst/>
          </a:prstGeom>
        </p:spPr>
      </p:pic>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2b47c77916044dc0"/>
          <a:stretch xmlns:a="http://schemas.openxmlformats.org/drawingml/2006/main"/>
        </p:blipFill>
        <p:spPr>
          <a:xfrm xmlns:a="http://schemas.openxmlformats.org/drawingml/2006/main">
            <a:off x="6572250" y="2131219"/>
            <a:ext cx="4953000" cy="2786063"/>
          </a:xfrm>
          <a:prstGeom xmlns:a="http://schemas.openxmlformats.org/drawingml/2006/main" prst="rect">
            <a:avLst/>
          </a:prstGeom>
        </p:spPr>
      </p:pic>
    </p:spTree>
    <p:extLst>
      <p:ext uri="{BB962C8B-B14F-4D97-AF65-F5344CB8AC3E}">
        <p14:creationId xmlns:p14="http://schemas.microsoft.com/office/powerpoint/2010/main" val="2041485522"/>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CAC69FA3-92A4-4F7E-8169-F8D9B542C01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6F3EE"/>
          </a:solidFill>
        </p:spPr>
      </p:sp>
      <p:sp>
        <p:nvSpPr>
          <p:cNvPr id="2" name="">
            <a:extLst xmlns:a="http://schemas.openxmlformats.org/drawingml/2006/main">
              <a:ext uri="{FF2B5EF4-FFF2-40B4-BE49-F238E27FC236}">
                <a16:creationId xmlns:a16="http://schemas.microsoft.com/office/drawing/2014/main" id="{C51E6B33-976C-48CC-BBC0-F5456F0DDCD2}"/>
              </a:ext>
            </a:extLst>
          </p:cNvPr>
          <p:cNvSpPr>
            <a:spLocks xmlns:a="http://schemas.openxmlformats.org/drawingml/2006/main" noGrp="1"/>
          </p:cNvSpPr>
          <p:nvPr/>
        </p:nvSpPr>
        <p:spPr>
          <a:xfrm xmlns:a="http://schemas.openxmlformats.org/drawingml/2006/main">
            <a:off x="476250" y="257175"/>
            <a:ext cx="40005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118C83"/>
                </a:solidFill>
                <a:latin typeface="Malgun Gothic"/>
                <a:ea typeface="Malgun Gothic"/>
                <a:cs typeface="Malgun Gothic"/>
              </a:defRPr>
            </a:pPr>
            <a:r>
              <a:t>14 · RETENTION STRATEGY</a:t>
            </a:r>
          </a:p>
        </p:txBody>
      </p:sp>
      <p:sp>
        <p:nvSpPr>
          <p:cNvPr id="3" name="">
            <a:extLst xmlns:a="http://schemas.openxmlformats.org/drawingml/2006/main">
              <a:ext uri="{FF2B5EF4-FFF2-40B4-BE49-F238E27FC236}">
                <a16:creationId xmlns:a16="http://schemas.microsoft.com/office/drawing/2014/main" id="{69F10D29-7A96-4DE3-A5E0-B26C349B7F82}"/>
              </a:ext>
            </a:extLst>
          </p:cNvPr>
          <p:cNvSpPr>
            <a:spLocks xmlns:a="http://schemas.openxmlformats.org/drawingml/2006/main" noGrp="1"/>
          </p:cNvSpPr>
          <p:nvPr/>
        </p:nvSpPr>
        <p:spPr>
          <a:xfrm xmlns:a="http://schemas.openxmlformats.org/drawingml/2006/main">
            <a:off x="476250" y="561975"/>
            <a:ext cx="11049000" cy="542925"/>
          </a:xfrm>
          <a:prstGeom xmlns:a="http://schemas.openxmlformats.org/drawingml/2006/main" prst="rect">
            <a:avLst/>
          </a:prstGeom>
        </p:spPr>
        <p:txBody>
          <a:bodyPr xmlns:a="http://schemas.openxmlformats.org/drawingml/2006/main" wrap="square" lIns="0" tIns="0" rIns="0" bIns="0" anchor="t">
            <a:normAutofit fontScale="94072"/>
          </a:bodyPr>
          <a:lstStyle xmlns:a="http://schemas.openxmlformats.org/drawingml/2006/main"/>
          <a:p xmlns:a="http://schemas.openxmlformats.org/drawingml/2006/main">
            <a:pPr algn="l">
              <a:defRPr sz="2850" b="1" i="0">
                <a:solidFill>
                  <a:srgbClr val="17262D"/>
                </a:solidFill>
                <a:latin typeface="Malgun Gothic"/>
                <a:ea typeface="Malgun Gothic"/>
                <a:cs typeface="Malgun Gothic"/>
              </a:defRPr>
            </a:pPr>
            <a:r>
              <a:t>같은 고위험 고객이라도, 위험 신호가 다르면 제안 행동도 달라야 합니다</a:t>
            </a:r>
          </a:p>
        </p:txBody>
      </p:sp>
      <p:sp>
        <p:nvSpPr>
          <p:cNvPr id="4" name="">
            <a:extLst xmlns:a="http://schemas.openxmlformats.org/drawingml/2006/main">
              <a:ext uri="{FF2B5EF4-FFF2-40B4-BE49-F238E27FC236}">
                <a16:creationId xmlns:a16="http://schemas.microsoft.com/office/drawing/2014/main" id="{F003361D-827F-462A-948B-C57F082DC67D}"/>
              </a:ext>
            </a:extLst>
          </p:cNvPr>
          <p:cNvSpPr>
            <a:spLocks xmlns:a="http://schemas.openxmlformats.org/drawingml/2006/main" noGrp="1"/>
          </p:cNvSpPr>
          <p:nvPr/>
        </p:nvSpPr>
        <p:spPr>
          <a:xfrm xmlns:a="http://schemas.openxmlformats.org/drawingml/2006/main">
            <a:off x="476250" y="1200150"/>
            <a:ext cx="723900" cy="47625"/>
          </a:xfrm>
          <a:prstGeom xmlns:a="http://schemas.openxmlformats.org/drawingml/2006/main" prst="rect">
            <a:avLst/>
          </a:prstGeom>
          <a:solidFill xmlns:a="http://schemas.openxmlformats.org/drawingml/2006/main">
            <a:srgbClr val="F2674A"/>
          </a:solidFill>
        </p:spPr>
      </p:sp>
      <p:sp>
        <p:nvSpPr>
          <p:cNvPr id="5" name="">
            <a:extLst xmlns:a="http://schemas.openxmlformats.org/drawingml/2006/main">
              <a:ext uri="{FF2B5EF4-FFF2-40B4-BE49-F238E27FC236}">
                <a16:creationId xmlns:a16="http://schemas.microsoft.com/office/drawing/2014/main" id="{2D65E3D3-AE62-4E30-AE92-FC95035452CD}"/>
              </a:ext>
            </a:extLst>
          </p:cNvPr>
          <p:cNvSpPr>
            <a:spLocks xmlns:a="http://schemas.openxmlformats.org/drawingml/2006/main" noGrp="1"/>
          </p:cNvSpPr>
          <p:nvPr/>
        </p:nvSpPr>
        <p:spPr>
          <a:xfrm xmlns:a="http://schemas.openxmlformats.org/drawingml/2006/main">
            <a:off x="552450" y="1695450"/>
            <a:ext cx="1390650" cy="2381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i="0">
                <a:solidFill>
                  <a:srgbClr val="118C83"/>
                </a:solidFill>
                <a:latin typeface="Malgun Gothic"/>
                <a:ea typeface="Malgun Gothic"/>
                <a:cs typeface="Malgun Gothic"/>
              </a:defRPr>
            </a:pPr>
            <a:r>
              <a:t>SIGNAL</a:t>
            </a:r>
          </a:p>
        </p:txBody>
      </p:sp>
      <p:sp>
        <p:nvSpPr>
          <p:cNvPr id="6" name="">
            <a:extLst xmlns:a="http://schemas.openxmlformats.org/drawingml/2006/main">
              <a:ext uri="{FF2B5EF4-FFF2-40B4-BE49-F238E27FC236}">
                <a16:creationId xmlns:a16="http://schemas.microsoft.com/office/drawing/2014/main" id="{C74402D9-5475-4C85-9CB2-EDBD0E8C42F9}"/>
              </a:ext>
            </a:extLst>
          </p:cNvPr>
          <p:cNvSpPr>
            <a:spLocks xmlns:a="http://schemas.openxmlformats.org/drawingml/2006/main" noGrp="1"/>
          </p:cNvSpPr>
          <p:nvPr/>
        </p:nvSpPr>
        <p:spPr>
          <a:xfrm xmlns:a="http://schemas.openxmlformats.org/drawingml/2006/main">
            <a:off x="2419350" y="1695450"/>
            <a:ext cx="1905000" cy="2381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i="0">
                <a:solidFill>
                  <a:srgbClr val="607078"/>
                </a:solidFill>
                <a:latin typeface="Malgun Gothic"/>
                <a:ea typeface="Malgun Gothic"/>
                <a:cs typeface="Malgun Gothic"/>
              </a:defRPr>
            </a:pPr>
            <a:r>
              <a:t>해석 가설</a:t>
            </a:r>
          </a:p>
        </p:txBody>
      </p:sp>
      <p:sp>
        <p:nvSpPr>
          <p:cNvPr id="7" name="">
            <a:extLst xmlns:a="http://schemas.openxmlformats.org/drawingml/2006/main">
              <a:ext uri="{FF2B5EF4-FFF2-40B4-BE49-F238E27FC236}">
                <a16:creationId xmlns:a16="http://schemas.microsoft.com/office/drawing/2014/main" id="{9CB82FB9-A35D-40F5-BC6C-09E36EC3624A}"/>
              </a:ext>
            </a:extLst>
          </p:cNvPr>
          <p:cNvSpPr>
            <a:spLocks xmlns:a="http://schemas.openxmlformats.org/drawingml/2006/main" noGrp="1"/>
          </p:cNvSpPr>
          <p:nvPr/>
        </p:nvSpPr>
        <p:spPr>
          <a:xfrm xmlns:a="http://schemas.openxmlformats.org/drawingml/2006/main">
            <a:off x="4933950" y="1695450"/>
            <a:ext cx="2876550" cy="2381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i="0">
                <a:solidFill>
                  <a:srgbClr val="607078"/>
                </a:solidFill>
                <a:latin typeface="Malgun Gothic"/>
                <a:ea typeface="Malgun Gothic"/>
                <a:cs typeface="Malgun Gothic"/>
              </a:defRPr>
            </a:pPr>
            <a:r>
              <a:t>추천 행동 후보</a:t>
            </a:r>
          </a:p>
        </p:txBody>
      </p:sp>
      <p:sp>
        <p:nvSpPr>
          <p:cNvPr id="8" name="">
            <a:extLst xmlns:a="http://schemas.openxmlformats.org/drawingml/2006/main">
              <a:ext uri="{FF2B5EF4-FFF2-40B4-BE49-F238E27FC236}">
                <a16:creationId xmlns:a16="http://schemas.microsoft.com/office/drawing/2014/main" id="{70F57FEE-A9B0-42CD-9716-DE82E170D703}"/>
              </a:ext>
            </a:extLst>
          </p:cNvPr>
          <p:cNvSpPr>
            <a:spLocks xmlns:a="http://schemas.openxmlformats.org/drawingml/2006/main" noGrp="1"/>
          </p:cNvSpPr>
          <p:nvPr/>
        </p:nvSpPr>
        <p:spPr>
          <a:xfrm xmlns:a="http://schemas.openxmlformats.org/drawingml/2006/main">
            <a:off x="9105900" y="1695450"/>
            <a:ext cx="1905000" cy="2381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i="0">
                <a:solidFill>
                  <a:srgbClr val="607078"/>
                </a:solidFill>
                <a:latin typeface="Malgun Gothic"/>
                <a:ea typeface="Malgun Gothic"/>
                <a:cs typeface="Malgun Gothic"/>
              </a:defRPr>
            </a:pPr>
            <a:r>
              <a:t>검증 지표</a:t>
            </a:r>
          </a:p>
        </p:txBody>
      </p:sp>
      <p:sp>
        <p:nvSpPr>
          <p:cNvPr id="9" name="">
            <a:extLst xmlns:a="http://schemas.openxmlformats.org/drawingml/2006/main">
              <a:ext uri="{FF2B5EF4-FFF2-40B4-BE49-F238E27FC236}">
                <a16:creationId xmlns:a16="http://schemas.microsoft.com/office/drawing/2014/main" id="{C79C3546-BF6E-4FC1-BD60-892C822EB13C}"/>
              </a:ext>
            </a:extLst>
          </p:cNvPr>
          <p:cNvSpPr>
            <a:spLocks xmlns:a="http://schemas.openxmlformats.org/drawingml/2006/main" noGrp="1"/>
          </p:cNvSpPr>
          <p:nvPr/>
        </p:nvSpPr>
        <p:spPr>
          <a:xfrm xmlns:a="http://schemas.openxmlformats.org/drawingml/2006/main">
            <a:off x="476250" y="1981200"/>
            <a:ext cx="11239500" cy="9525"/>
          </a:xfrm>
          <a:prstGeom xmlns:a="http://schemas.openxmlformats.org/drawingml/2006/main" prst="rect">
            <a:avLst/>
          </a:prstGeom>
          <a:solidFill xmlns:a="http://schemas.openxmlformats.org/drawingml/2006/main">
            <a:srgbClr val="D8D8D2"/>
          </a:solidFill>
        </p:spPr>
      </p:sp>
      <p:sp>
        <p:nvSpPr>
          <p:cNvPr id="10" name="">
            <a:extLst xmlns:a="http://schemas.openxmlformats.org/drawingml/2006/main">
              <a:ext uri="{FF2B5EF4-FFF2-40B4-BE49-F238E27FC236}">
                <a16:creationId xmlns:a16="http://schemas.microsoft.com/office/drawing/2014/main" id="{7F47771F-C780-4692-8F60-136AC8CC712F}"/>
              </a:ext>
            </a:extLst>
          </p:cNvPr>
          <p:cNvSpPr>
            <a:spLocks xmlns:a="http://schemas.openxmlformats.org/drawingml/2006/main" noGrp="1"/>
          </p:cNvSpPr>
          <p:nvPr/>
        </p:nvSpPr>
        <p:spPr>
          <a:xfrm xmlns:a="http://schemas.openxmlformats.org/drawingml/2006/main">
            <a:off x="552450" y="2114550"/>
            <a:ext cx="47625" cy="552450"/>
          </a:xfrm>
          <a:prstGeom xmlns:a="http://schemas.openxmlformats.org/drawingml/2006/main" prst="rect">
            <a:avLst/>
          </a:prstGeom>
          <a:solidFill xmlns:a="http://schemas.openxmlformats.org/drawingml/2006/main">
            <a:srgbClr val="F2674A"/>
          </a:solidFill>
        </p:spPr>
      </p:sp>
      <p:sp>
        <p:nvSpPr>
          <p:cNvPr id="11" name="">
            <a:extLst xmlns:a="http://schemas.openxmlformats.org/drawingml/2006/main">
              <a:ext uri="{FF2B5EF4-FFF2-40B4-BE49-F238E27FC236}">
                <a16:creationId xmlns:a16="http://schemas.microsoft.com/office/drawing/2014/main" id="{F9EDB73C-48C8-4B59-82E5-59ABD2F97912}"/>
              </a:ext>
            </a:extLst>
          </p:cNvPr>
          <p:cNvSpPr>
            <a:spLocks xmlns:a="http://schemas.openxmlformats.org/drawingml/2006/main" noGrp="1"/>
          </p:cNvSpPr>
          <p:nvPr/>
        </p:nvSpPr>
        <p:spPr>
          <a:xfrm xmlns:a="http://schemas.openxmlformats.org/drawingml/2006/main">
            <a:off x="742950" y="2095500"/>
            <a:ext cx="1428750" cy="2762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F2674A"/>
                </a:solidFill>
                <a:latin typeface="Malgun Gothic"/>
                <a:ea typeface="Malgun Gothic"/>
                <a:cs typeface="Malgun Gothic"/>
              </a:defRPr>
            </a:pPr>
            <a:r>
              <a:t>문의 High</a:t>
            </a:r>
          </a:p>
        </p:txBody>
      </p:sp>
      <p:sp>
        <p:nvSpPr>
          <p:cNvPr id="12" name="">
            <a:extLst xmlns:a="http://schemas.openxmlformats.org/drawingml/2006/main">
              <a:ext uri="{FF2B5EF4-FFF2-40B4-BE49-F238E27FC236}">
                <a16:creationId xmlns:a16="http://schemas.microsoft.com/office/drawing/2014/main" id="{2E822E56-503B-419B-89A5-A4E2D2F9A981}"/>
              </a:ext>
            </a:extLst>
          </p:cNvPr>
          <p:cNvSpPr>
            <a:spLocks xmlns:a="http://schemas.openxmlformats.org/drawingml/2006/main" noGrp="1"/>
          </p:cNvSpPr>
          <p:nvPr/>
        </p:nvSpPr>
        <p:spPr>
          <a:xfrm xmlns:a="http://schemas.openxmlformats.org/drawingml/2006/main">
            <a:off x="2419350" y="2095500"/>
            <a:ext cx="205740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i="0">
                <a:solidFill>
                  <a:srgbClr val="17262D"/>
                </a:solidFill>
                <a:latin typeface="Malgun Gothic"/>
                <a:ea typeface="Malgun Gothic"/>
                <a:cs typeface="Malgun Gothic"/>
              </a:defRPr>
            </a:pPr>
            <a:r>
              <a:t>서비스 불만·마찰</a:t>
            </a:r>
          </a:p>
        </p:txBody>
      </p:sp>
      <p:sp>
        <p:nvSpPr>
          <p:cNvPr id="13" name="">
            <a:extLst xmlns:a="http://schemas.openxmlformats.org/drawingml/2006/main">
              <a:ext uri="{FF2B5EF4-FFF2-40B4-BE49-F238E27FC236}">
                <a16:creationId xmlns:a16="http://schemas.microsoft.com/office/drawing/2014/main" id="{DE5DDD27-EFFF-41C1-878D-E5AB61114DF9}"/>
              </a:ext>
            </a:extLst>
          </p:cNvPr>
          <p:cNvSpPr>
            <a:spLocks xmlns:a="http://schemas.openxmlformats.org/drawingml/2006/main" noGrp="1"/>
          </p:cNvSpPr>
          <p:nvPr/>
        </p:nvSpPr>
        <p:spPr>
          <a:xfrm xmlns:a="http://schemas.openxmlformats.org/drawingml/2006/main">
            <a:off x="4933950" y="2095500"/>
            <a:ext cx="3476625" cy="5143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i="0">
                <a:solidFill>
                  <a:srgbClr val="17262D"/>
                </a:solidFill>
                <a:latin typeface="Malgun Gothic"/>
                <a:ea typeface="Malgun Gothic"/>
                <a:cs typeface="Malgun Gothic"/>
              </a:defRPr>
            </a:pPr>
            <a:r>
              <a:t>24시간 내 서비스 회복 연락
문의 원인별 해결 가이드</a:t>
            </a:r>
          </a:p>
        </p:txBody>
      </p:sp>
      <p:sp>
        <p:nvSpPr>
          <p:cNvPr id="14" name="">
            <a:extLst xmlns:a="http://schemas.openxmlformats.org/drawingml/2006/main">
              <a:ext uri="{FF2B5EF4-FFF2-40B4-BE49-F238E27FC236}">
                <a16:creationId xmlns:a16="http://schemas.microsoft.com/office/drawing/2014/main" id="{6048BD93-5C6B-4743-87D3-CB61A3542FE2}"/>
              </a:ext>
            </a:extLst>
          </p:cNvPr>
          <p:cNvSpPr>
            <a:spLocks xmlns:a="http://schemas.openxmlformats.org/drawingml/2006/main" noGrp="1"/>
          </p:cNvSpPr>
          <p:nvPr/>
        </p:nvSpPr>
        <p:spPr>
          <a:xfrm xmlns:a="http://schemas.openxmlformats.org/drawingml/2006/main">
            <a:off x="8810625" y="2095500"/>
            <a:ext cx="2619375" cy="495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275" b="0" i="0">
                <a:solidFill>
                  <a:srgbClr val="607078"/>
                </a:solidFill>
                <a:latin typeface="Malgun Gothic"/>
                <a:ea typeface="Malgun Gothic"/>
                <a:cs typeface="Malgun Gothic"/>
              </a:defRPr>
            </a:pPr>
            <a:r>
              <a:t>해결률 · 재문의 · 유지율</a:t>
            </a:r>
          </a:p>
        </p:txBody>
      </p:sp>
      <p:sp>
        <p:nvSpPr>
          <p:cNvPr id="15" name="">
            <a:extLst xmlns:a="http://schemas.openxmlformats.org/drawingml/2006/main">
              <a:ext uri="{FF2B5EF4-FFF2-40B4-BE49-F238E27FC236}">
                <a16:creationId xmlns:a16="http://schemas.microsoft.com/office/drawing/2014/main" id="{8A6D15EB-8FEA-4881-8E56-495F682C2BDE}"/>
              </a:ext>
            </a:extLst>
          </p:cNvPr>
          <p:cNvSpPr>
            <a:spLocks xmlns:a="http://schemas.openxmlformats.org/drawingml/2006/main" noGrp="1"/>
          </p:cNvSpPr>
          <p:nvPr/>
        </p:nvSpPr>
        <p:spPr>
          <a:xfrm xmlns:a="http://schemas.openxmlformats.org/drawingml/2006/main">
            <a:off x="476250" y="2838450"/>
            <a:ext cx="11239500" cy="9525"/>
          </a:xfrm>
          <a:prstGeom xmlns:a="http://schemas.openxmlformats.org/drawingml/2006/main" prst="rect">
            <a:avLst/>
          </a:prstGeom>
          <a:solidFill xmlns:a="http://schemas.openxmlformats.org/drawingml/2006/main">
            <a:srgbClr val="D8D8D2"/>
          </a:solidFill>
        </p:spPr>
      </p:sp>
      <p:sp>
        <p:nvSpPr>
          <p:cNvPr id="16" name="">
            <a:extLst xmlns:a="http://schemas.openxmlformats.org/drawingml/2006/main">
              <a:ext uri="{FF2B5EF4-FFF2-40B4-BE49-F238E27FC236}">
                <a16:creationId xmlns:a16="http://schemas.microsoft.com/office/drawing/2014/main" id="{392EA56C-225A-4F3A-A52F-7E2D4E293AC8}"/>
              </a:ext>
            </a:extLst>
          </p:cNvPr>
          <p:cNvSpPr>
            <a:spLocks xmlns:a="http://schemas.openxmlformats.org/drawingml/2006/main" noGrp="1"/>
          </p:cNvSpPr>
          <p:nvPr/>
        </p:nvSpPr>
        <p:spPr>
          <a:xfrm xmlns:a="http://schemas.openxmlformats.org/drawingml/2006/main">
            <a:off x="552450" y="2971800"/>
            <a:ext cx="47625" cy="552450"/>
          </a:xfrm>
          <a:prstGeom xmlns:a="http://schemas.openxmlformats.org/drawingml/2006/main" prst="rect">
            <a:avLst/>
          </a:prstGeom>
          <a:solidFill xmlns:a="http://schemas.openxmlformats.org/drawingml/2006/main">
            <a:srgbClr val="118C83"/>
          </a:solidFill>
        </p:spPr>
      </p:sp>
      <p:sp>
        <p:nvSpPr>
          <p:cNvPr id="17" name="">
            <a:extLst xmlns:a="http://schemas.openxmlformats.org/drawingml/2006/main">
              <a:ext uri="{FF2B5EF4-FFF2-40B4-BE49-F238E27FC236}">
                <a16:creationId xmlns:a16="http://schemas.microsoft.com/office/drawing/2014/main" id="{7B58F04D-4E4C-4F50-A0A7-4A15A9C2D10D}"/>
              </a:ext>
            </a:extLst>
          </p:cNvPr>
          <p:cNvSpPr>
            <a:spLocks xmlns:a="http://schemas.openxmlformats.org/drawingml/2006/main" noGrp="1"/>
          </p:cNvSpPr>
          <p:nvPr/>
        </p:nvSpPr>
        <p:spPr>
          <a:xfrm xmlns:a="http://schemas.openxmlformats.org/drawingml/2006/main">
            <a:off x="742950" y="2952750"/>
            <a:ext cx="1428750" cy="276225"/>
          </a:xfrm>
          <a:prstGeom xmlns:a="http://schemas.openxmlformats.org/drawingml/2006/main" prst="rect">
            <a:avLst/>
          </a:prstGeom>
        </p:spPr>
        <p:txBody>
          <a:bodyPr xmlns:a="http://schemas.openxmlformats.org/drawingml/2006/main" wrap="square" lIns="0" tIns="0" rIns="0" bIns="0" anchor="t">
            <a:normAutofit fontScale="85892"/>
          </a:bodyPr>
          <a:lstStyle xmlns:a="http://schemas.openxmlformats.org/drawingml/2006/main"/>
          <a:p xmlns:a="http://schemas.openxmlformats.org/drawingml/2006/main">
            <a:pPr algn="l">
              <a:defRPr sz="1500" b="1" i="0">
                <a:solidFill>
                  <a:srgbClr val="118C83"/>
                </a:solidFill>
                <a:latin typeface="Malgun Gothic"/>
                <a:ea typeface="Malgun Gothic"/>
                <a:cs typeface="Malgun Gothic"/>
              </a:defRPr>
            </a:pPr>
            <a:r>
              <a:t>weekly_hours 급감</a:t>
            </a:r>
          </a:p>
        </p:txBody>
      </p:sp>
      <p:sp>
        <p:nvSpPr>
          <p:cNvPr id="18" name="">
            <a:extLst xmlns:a="http://schemas.openxmlformats.org/drawingml/2006/main">
              <a:ext uri="{FF2B5EF4-FFF2-40B4-BE49-F238E27FC236}">
                <a16:creationId xmlns:a16="http://schemas.microsoft.com/office/drawing/2014/main" id="{9753A4C6-1E83-48ED-AB83-3B0F612751B5}"/>
              </a:ext>
            </a:extLst>
          </p:cNvPr>
          <p:cNvSpPr>
            <a:spLocks xmlns:a="http://schemas.openxmlformats.org/drawingml/2006/main" noGrp="1"/>
          </p:cNvSpPr>
          <p:nvPr/>
        </p:nvSpPr>
        <p:spPr>
          <a:xfrm xmlns:a="http://schemas.openxmlformats.org/drawingml/2006/main">
            <a:off x="2419350" y="2952750"/>
            <a:ext cx="205740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i="0">
                <a:solidFill>
                  <a:srgbClr val="17262D"/>
                </a:solidFill>
                <a:latin typeface="Malgun Gothic"/>
                <a:ea typeface="Malgun Gothic"/>
                <a:cs typeface="Malgun Gothic"/>
              </a:defRPr>
            </a:pPr>
            <a:r>
              <a:t>관여도 저하</a:t>
            </a:r>
          </a:p>
        </p:txBody>
      </p:sp>
      <p:sp>
        <p:nvSpPr>
          <p:cNvPr id="19" name="">
            <a:extLst xmlns:a="http://schemas.openxmlformats.org/drawingml/2006/main">
              <a:ext uri="{FF2B5EF4-FFF2-40B4-BE49-F238E27FC236}">
                <a16:creationId xmlns:a16="http://schemas.microsoft.com/office/drawing/2014/main" id="{B81DBCDF-4664-44E5-878B-1F32574D6DC4}"/>
              </a:ext>
            </a:extLst>
          </p:cNvPr>
          <p:cNvSpPr>
            <a:spLocks xmlns:a="http://schemas.openxmlformats.org/drawingml/2006/main" noGrp="1"/>
          </p:cNvSpPr>
          <p:nvPr/>
        </p:nvSpPr>
        <p:spPr>
          <a:xfrm xmlns:a="http://schemas.openxmlformats.org/drawingml/2006/main">
            <a:off x="4933950" y="2952750"/>
            <a:ext cx="3476625" cy="5143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i="0">
                <a:solidFill>
                  <a:srgbClr val="17262D"/>
                </a:solidFill>
                <a:latin typeface="Malgun Gothic"/>
                <a:ea typeface="Malgun Gothic"/>
                <a:cs typeface="Malgun Gothic"/>
              </a:defRPr>
            </a:pPr>
            <a:r>
              <a:t>개인화 재활성화 메시지
최근 선호 기반 플레이리스트</a:t>
            </a:r>
          </a:p>
        </p:txBody>
      </p:sp>
      <p:sp>
        <p:nvSpPr>
          <p:cNvPr id="20" name="">
            <a:extLst xmlns:a="http://schemas.openxmlformats.org/drawingml/2006/main">
              <a:ext uri="{FF2B5EF4-FFF2-40B4-BE49-F238E27FC236}">
                <a16:creationId xmlns:a16="http://schemas.microsoft.com/office/drawing/2014/main" id="{5D7782B8-4A3D-4E9E-9138-8CBCCB0129B0}"/>
              </a:ext>
            </a:extLst>
          </p:cNvPr>
          <p:cNvSpPr>
            <a:spLocks xmlns:a="http://schemas.openxmlformats.org/drawingml/2006/main" noGrp="1"/>
          </p:cNvSpPr>
          <p:nvPr/>
        </p:nvSpPr>
        <p:spPr>
          <a:xfrm xmlns:a="http://schemas.openxmlformats.org/drawingml/2006/main">
            <a:off x="8810625" y="2952750"/>
            <a:ext cx="2619375" cy="495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275" b="0" i="0">
                <a:solidFill>
                  <a:srgbClr val="607078"/>
                </a:solidFill>
                <a:latin typeface="Malgun Gothic"/>
                <a:ea typeface="Malgun Gothic"/>
                <a:cs typeface="Malgun Gothic"/>
              </a:defRPr>
            </a:pPr>
            <a:r>
              <a:t>재방문 · 청취 시간 · 유지율</a:t>
            </a:r>
          </a:p>
        </p:txBody>
      </p:sp>
      <p:sp>
        <p:nvSpPr>
          <p:cNvPr id="21" name="">
            <a:extLst xmlns:a="http://schemas.openxmlformats.org/drawingml/2006/main">
              <a:ext uri="{FF2B5EF4-FFF2-40B4-BE49-F238E27FC236}">
                <a16:creationId xmlns:a16="http://schemas.microsoft.com/office/drawing/2014/main" id="{8AA034F9-F991-4ADD-A913-95DD775B95C8}"/>
              </a:ext>
            </a:extLst>
          </p:cNvPr>
          <p:cNvSpPr>
            <a:spLocks xmlns:a="http://schemas.openxmlformats.org/drawingml/2006/main" noGrp="1"/>
          </p:cNvSpPr>
          <p:nvPr/>
        </p:nvSpPr>
        <p:spPr>
          <a:xfrm xmlns:a="http://schemas.openxmlformats.org/drawingml/2006/main">
            <a:off x="476250" y="3695700"/>
            <a:ext cx="11239500" cy="9525"/>
          </a:xfrm>
          <a:prstGeom xmlns:a="http://schemas.openxmlformats.org/drawingml/2006/main" prst="rect">
            <a:avLst/>
          </a:prstGeom>
          <a:solidFill xmlns:a="http://schemas.openxmlformats.org/drawingml/2006/main">
            <a:srgbClr val="D8D8D2"/>
          </a:solidFill>
        </p:spPr>
      </p:sp>
      <p:sp>
        <p:nvSpPr>
          <p:cNvPr id="22" name="">
            <a:extLst xmlns:a="http://schemas.openxmlformats.org/drawingml/2006/main">
              <a:ext uri="{FF2B5EF4-FFF2-40B4-BE49-F238E27FC236}">
                <a16:creationId xmlns:a16="http://schemas.microsoft.com/office/drawing/2014/main" id="{475DF5B4-A181-4D5C-B635-79E9C9FE3800}"/>
              </a:ext>
            </a:extLst>
          </p:cNvPr>
          <p:cNvSpPr>
            <a:spLocks xmlns:a="http://schemas.openxmlformats.org/drawingml/2006/main" noGrp="1"/>
          </p:cNvSpPr>
          <p:nvPr/>
        </p:nvSpPr>
        <p:spPr>
          <a:xfrm xmlns:a="http://schemas.openxmlformats.org/drawingml/2006/main">
            <a:off x="552450" y="3829050"/>
            <a:ext cx="47625" cy="552450"/>
          </a:xfrm>
          <a:prstGeom xmlns:a="http://schemas.openxmlformats.org/drawingml/2006/main" prst="rect">
            <a:avLst/>
          </a:prstGeom>
          <a:solidFill xmlns:a="http://schemas.openxmlformats.org/drawingml/2006/main">
            <a:srgbClr val="3A6EA5"/>
          </a:solidFill>
        </p:spPr>
      </p:sp>
      <p:sp>
        <p:nvSpPr>
          <p:cNvPr id="23" name="">
            <a:extLst xmlns:a="http://schemas.openxmlformats.org/drawingml/2006/main">
              <a:ext uri="{FF2B5EF4-FFF2-40B4-BE49-F238E27FC236}">
                <a16:creationId xmlns:a16="http://schemas.microsoft.com/office/drawing/2014/main" id="{AF8882C9-67EA-4444-86D5-A9CD37FED34A}"/>
              </a:ext>
            </a:extLst>
          </p:cNvPr>
          <p:cNvSpPr>
            <a:spLocks xmlns:a="http://schemas.openxmlformats.org/drawingml/2006/main" noGrp="1"/>
          </p:cNvSpPr>
          <p:nvPr/>
        </p:nvSpPr>
        <p:spPr>
          <a:xfrm xmlns:a="http://schemas.openxmlformats.org/drawingml/2006/main">
            <a:off x="742950" y="3810000"/>
            <a:ext cx="1428750" cy="276225"/>
          </a:xfrm>
          <a:prstGeom xmlns:a="http://schemas.openxmlformats.org/drawingml/2006/main" prst="rect">
            <a:avLst/>
          </a:prstGeom>
        </p:spPr>
        <p:txBody>
          <a:bodyPr xmlns:a="http://schemas.openxmlformats.org/drawingml/2006/main" wrap="square" lIns="0" tIns="0" rIns="0" bIns="0" anchor="t">
            <a:normAutofit fontScale="91237"/>
          </a:bodyPr>
          <a:lstStyle xmlns:a="http://schemas.openxmlformats.org/drawingml/2006/main"/>
          <a:p xmlns:a="http://schemas.openxmlformats.org/drawingml/2006/main">
            <a:pPr algn="l">
              <a:defRPr sz="1500" b="1" i="0">
                <a:solidFill>
                  <a:srgbClr val="3A6EA5"/>
                </a:solidFill>
                <a:latin typeface="Malgun Gothic"/>
                <a:ea typeface="Malgun Gothic"/>
                <a:cs typeface="Malgun Gothic"/>
              </a:defRPr>
            </a:pPr>
            <a:r>
              <a:t>skip / pause 증가</a:t>
            </a:r>
          </a:p>
        </p:txBody>
      </p:sp>
      <p:sp>
        <p:nvSpPr>
          <p:cNvPr id="24" name="">
            <a:extLst xmlns:a="http://schemas.openxmlformats.org/drawingml/2006/main">
              <a:ext uri="{FF2B5EF4-FFF2-40B4-BE49-F238E27FC236}">
                <a16:creationId xmlns:a16="http://schemas.microsoft.com/office/drawing/2014/main" id="{E8E4D216-F649-4D3C-91B4-E0A94EDD7A88}"/>
              </a:ext>
            </a:extLst>
          </p:cNvPr>
          <p:cNvSpPr>
            <a:spLocks xmlns:a="http://schemas.openxmlformats.org/drawingml/2006/main" noGrp="1"/>
          </p:cNvSpPr>
          <p:nvPr/>
        </p:nvSpPr>
        <p:spPr>
          <a:xfrm xmlns:a="http://schemas.openxmlformats.org/drawingml/2006/main">
            <a:off x="2419350" y="3810000"/>
            <a:ext cx="205740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i="0">
                <a:solidFill>
                  <a:srgbClr val="17262D"/>
                </a:solidFill>
                <a:latin typeface="Malgun Gothic"/>
                <a:ea typeface="Malgun Gothic"/>
                <a:cs typeface="Malgun Gothic"/>
              </a:defRPr>
            </a:pPr>
            <a:r>
              <a:t>경험 품질·가격 마찰</a:t>
            </a:r>
          </a:p>
        </p:txBody>
      </p:sp>
      <p:sp>
        <p:nvSpPr>
          <p:cNvPr id="25" name="">
            <a:extLst xmlns:a="http://schemas.openxmlformats.org/drawingml/2006/main">
              <a:ext uri="{FF2B5EF4-FFF2-40B4-BE49-F238E27FC236}">
                <a16:creationId xmlns:a16="http://schemas.microsoft.com/office/drawing/2014/main" id="{AC82C679-7C75-45D8-A529-90C63A4D1D35}"/>
              </a:ext>
            </a:extLst>
          </p:cNvPr>
          <p:cNvSpPr>
            <a:spLocks xmlns:a="http://schemas.openxmlformats.org/drawingml/2006/main" noGrp="1"/>
          </p:cNvSpPr>
          <p:nvPr/>
        </p:nvSpPr>
        <p:spPr>
          <a:xfrm xmlns:a="http://schemas.openxmlformats.org/drawingml/2006/main">
            <a:off x="4933950" y="3810000"/>
            <a:ext cx="3476625" cy="5143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i="0">
                <a:solidFill>
                  <a:srgbClr val="17262D"/>
                </a:solidFill>
                <a:latin typeface="Malgun Gothic"/>
                <a:ea typeface="Malgun Gothic"/>
                <a:cs typeface="Malgun Gothic"/>
              </a:defRPr>
            </a:pPr>
            <a:r>
              <a:t>추천 품질 점검 · 일시정지 복귀
혜택/플랜 재안내</a:t>
            </a:r>
          </a:p>
        </p:txBody>
      </p:sp>
      <p:sp>
        <p:nvSpPr>
          <p:cNvPr id="26" name="">
            <a:extLst xmlns:a="http://schemas.openxmlformats.org/drawingml/2006/main">
              <a:ext uri="{FF2B5EF4-FFF2-40B4-BE49-F238E27FC236}">
                <a16:creationId xmlns:a16="http://schemas.microsoft.com/office/drawing/2014/main" id="{B1306DA9-4295-4CA0-AF0A-21CE9BA4B130}"/>
              </a:ext>
            </a:extLst>
          </p:cNvPr>
          <p:cNvSpPr>
            <a:spLocks xmlns:a="http://schemas.openxmlformats.org/drawingml/2006/main" noGrp="1"/>
          </p:cNvSpPr>
          <p:nvPr/>
        </p:nvSpPr>
        <p:spPr>
          <a:xfrm xmlns:a="http://schemas.openxmlformats.org/drawingml/2006/main">
            <a:off x="8810625" y="3810000"/>
            <a:ext cx="2619375" cy="495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275" b="0" i="0">
                <a:solidFill>
                  <a:srgbClr val="607078"/>
                </a:solidFill>
                <a:latin typeface="Malgun Gothic"/>
                <a:ea typeface="Malgun Gothic"/>
                <a:cs typeface="Malgun Gothic"/>
              </a:defRPr>
            </a:pPr>
            <a:r>
              <a:t>skip 감소 · 복귀율 · 해지율</a:t>
            </a:r>
          </a:p>
        </p:txBody>
      </p:sp>
      <p:sp>
        <p:nvSpPr>
          <p:cNvPr id="27" name="">
            <a:extLst xmlns:a="http://schemas.openxmlformats.org/drawingml/2006/main">
              <a:ext uri="{FF2B5EF4-FFF2-40B4-BE49-F238E27FC236}">
                <a16:creationId xmlns:a16="http://schemas.microsoft.com/office/drawing/2014/main" id="{F7965DB0-8AFD-4F5B-9166-4FB22DAFDF14}"/>
              </a:ext>
            </a:extLst>
          </p:cNvPr>
          <p:cNvSpPr>
            <a:spLocks xmlns:a="http://schemas.openxmlformats.org/drawingml/2006/main" noGrp="1"/>
          </p:cNvSpPr>
          <p:nvPr/>
        </p:nvSpPr>
        <p:spPr>
          <a:xfrm xmlns:a="http://schemas.openxmlformats.org/drawingml/2006/main">
            <a:off x="476250" y="4552950"/>
            <a:ext cx="11239500" cy="9525"/>
          </a:xfrm>
          <a:prstGeom xmlns:a="http://schemas.openxmlformats.org/drawingml/2006/main" prst="rect">
            <a:avLst/>
          </a:prstGeom>
          <a:solidFill xmlns:a="http://schemas.openxmlformats.org/drawingml/2006/main">
            <a:srgbClr val="D8D8D2"/>
          </a:solidFill>
        </p:spPr>
      </p:sp>
      <p:sp>
        <p:nvSpPr>
          <p:cNvPr id="28" name="">
            <a:extLst xmlns:a="http://schemas.openxmlformats.org/drawingml/2006/main">
              <a:ext uri="{FF2B5EF4-FFF2-40B4-BE49-F238E27FC236}">
                <a16:creationId xmlns:a16="http://schemas.microsoft.com/office/drawing/2014/main" id="{0CFB9853-D932-4507-984A-77CC2E25CC1B}"/>
              </a:ext>
            </a:extLst>
          </p:cNvPr>
          <p:cNvSpPr>
            <a:spLocks xmlns:a="http://schemas.openxmlformats.org/drawingml/2006/main" noGrp="1"/>
          </p:cNvSpPr>
          <p:nvPr/>
        </p:nvSpPr>
        <p:spPr>
          <a:xfrm xmlns:a="http://schemas.openxmlformats.org/drawingml/2006/main">
            <a:off x="552450" y="4686300"/>
            <a:ext cx="47625" cy="552450"/>
          </a:xfrm>
          <a:prstGeom xmlns:a="http://schemas.openxmlformats.org/drawingml/2006/main" prst="rect">
            <a:avLst/>
          </a:prstGeom>
          <a:solidFill xmlns:a="http://schemas.openxmlformats.org/drawingml/2006/main">
            <a:srgbClr val="D79A36"/>
          </a:solidFill>
        </p:spPr>
      </p:sp>
      <p:sp>
        <p:nvSpPr>
          <p:cNvPr id="29" name="">
            <a:extLst xmlns:a="http://schemas.openxmlformats.org/drawingml/2006/main">
              <a:ext uri="{FF2B5EF4-FFF2-40B4-BE49-F238E27FC236}">
                <a16:creationId xmlns:a16="http://schemas.microsoft.com/office/drawing/2014/main" id="{D87C0EDB-6595-483E-B98D-022132B032BE}"/>
              </a:ext>
            </a:extLst>
          </p:cNvPr>
          <p:cNvSpPr>
            <a:spLocks xmlns:a="http://schemas.openxmlformats.org/drawingml/2006/main" noGrp="1"/>
          </p:cNvSpPr>
          <p:nvPr/>
        </p:nvSpPr>
        <p:spPr>
          <a:xfrm xmlns:a="http://schemas.openxmlformats.org/drawingml/2006/main">
            <a:off x="742950" y="4667250"/>
            <a:ext cx="1428750" cy="2762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D79A36"/>
                </a:solidFill>
                <a:latin typeface="Malgun Gothic"/>
                <a:ea typeface="Malgun Gothic"/>
                <a:cs typeface="Malgun Gothic"/>
              </a:defRPr>
            </a:pPr>
            <a:r>
              <a:t>Free 고위험</a:t>
            </a:r>
          </a:p>
        </p:txBody>
      </p:sp>
      <p:sp>
        <p:nvSpPr>
          <p:cNvPr id="30" name="">
            <a:extLst xmlns:a="http://schemas.openxmlformats.org/drawingml/2006/main">
              <a:ext uri="{FF2B5EF4-FFF2-40B4-BE49-F238E27FC236}">
                <a16:creationId xmlns:a16="http://schemas.microsoft.com/office/drawing/2014/main" id="{4C39BD59-91F5-4688-B3BE-B3A1F273015D}"/>
              </a:ext>
            </a:extLst>
          </p:cNvPr>
          <p:cNvSpPr>
            <a:spLocks xmlns:a="http://schemas.openxmlformats.org/drawingml/2006/main" noGrp="1"/>
          </p:cNvSpPr>
          <p:nvPr/>
        </p:nvSpPr>
        <p:spPr>
          <a:xfrm xmlns:a="http://schemas.openxmlformats.org/drawingml/2006/main">
            <a:off x="2419350" y="4667250"/>
            <a:ext cx="205740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i="0">
                <a:solidFill>
                  <a:srgbClr val="17262D"/>
                </a:solidFill>
                <a:latin typeface="Malgun Gothic"/>
                <a:ea typeface="Malgun Gothic"/>
                <a:cs typeface="Malgun Gothic"/>
              </a:defRPr>
            </a:pPr>
            <a:r>
              <a:t>혜택 인지·전환 장벽</a:t>
            </a:r>
          </a:p>
        </p:txBody>
      </p:sp>
      <p:sp>
        <p:nvSpPr>
          <p:cNvPr id="31" name="">
            <a:extLst xmlns:a="http://schemas.openxmlformats.org/drawingml/2006/main">
              <a:ext uri="{FF2B5EF4-FFF2-40B4-BE49-F238E27FC236}">
                <a16:creationId xmlns:a16="http://schemas.microsoft.com/office/drawing/2014/main" id="{8FAF0936-BCCF-4F9B-BAA3-09087DFBD81F}"/>
              </a:ext>
            </a:extLst>
          </p:cNvPr>
          <p:cNvSpPr>
            <a:spLocks xmlns:a="http://schemas.openxmlformats.org/drawingml/2006/main" noGrp="1"/>
          </p:cNvSpPr>
          <p:nvPr/>
        </p:nvSpPr>
        <p:spPr>
          <a:xfrm xmlns:a="http://schemas.openxmlformats.org/drawingml/2006/main">
            <a:off x="4933950" y="4667250"/>
            <a:ext cx="3476625" cy="5143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i="0">
                <a:solidFill>
                  <a:srgbClr val="17262D"/>
                </a:solidFill>
                <a:latin typeface="Malgun Gothic"/>
                <a:ea typeface="Malgun Gothic"/>
                <a:cs typeface="Malgun Gothic"/>
              </a:defRPr>
            </a:pPr>
            <a:r>
              <a:t>저비용 혜택 교육
Premium 기능 체험 가설</a:t>
            </a:r>
          </a:p>
        </p:txBody>
      </p:sp>
      <p:sp>
        <p:nvSpPr>
          <p:cNvPr id="32" name="">
            <a:extLst xmlns:a="http://schemas.openxmlformats.org/drawingml/2006/main">
              <a:ext uri="{FF2B5EF4-FFF2-40B4-BE49-F238E27FC236}">
                <a16:creationId xmlns:a16="http://schemas.microsoft.com/office/drawing/2014/main" id="{83916A35-E1F6-41DD-827D-0A1E48781B42}"/>
              </a:ext>
            </a:extLst>
          </p:cNvPr>
          <p:cNvSpPr>
            <a:spLocks xmlns:a="http://schemas.openxmlformats.org/drawingml/2006/main" noGrp="1"/>
          </p:cNvSpPr>
          <p:nvPr/>
        </p:nvSpPr>
        <p:spPr>
          <a:xfrm xmlns:a="http://schemas.openxmlformats.org/drawingml/2006/main">
            <a:off x="8810625" y="4667250"/>
            <a:ext cx="2619375" cy="495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275" b="0" i="0">
                <a:solidFill>
                  <a:srgbClr val="607078"/>
                </a:solidFill>
                <a:latin typeface="Malgun Gothic"/>
                <a:ea typeface="Malgun Gothic"/>
                <a:cs typeface="Malgun Gothic"/>
              </a:defRPr>
            </a:pPr>
            <a:r>
              <a:t>클릭 · 체험 · 전환 · 유지</a:t>
            </a:r>
          </a:p>
        </p:txBody>
      </p:sp>
      <p:sp>
        <p:nvSpPr>
          <p:cNvPr id="33" name="">
            <a:extLst xmlns:a="http://schemas.openxmlformats.org/drawingml/2006/main">
              <a:ext uri="{FF2B5EF4-FFF2-40B4-BE49-F238E27FC236}">
                <a16:creationId xmlns:a16="http://schemas.microsoft.com/office/drawing/2014/main" id="{DAE2D7CD-BAA5-40D8-A5B8-6EF6C757DD6A}"/>
              </a:ext>
            </a:extLst>
          </p:cNvPr>
          <p:cNvSpPr>
            <a:spLocks xmlns:a="http://schemas.openxmlformats.org/drawingml/2006/main" noGrp="1"/>
          </p:cNvSpPr>
          <p:nvPr/>
        </p:nvSpPr>
        <p:spPr>
          <a:xfrm xmlns:a="http://schemas.openxmlformats.org/drawingml/2006/main">
            <a:off x="476250" y="5667375"/>
            <a:ext cx="11239500" cy="381000"/>
          </a:xfrm>
          <a:prstGeom xmlns:a="http://schemas.openxmlformats.org/drawingml/2006/main" prst="roundRect">
            <a:avLst>
              <a:gd name="adj" fmla="val 20000"/>
            </a:avLst>
          </a:prstGeom>
          <a:solidFill xmlns:a="http://schemas.openxmlformats.org/drawingml/2006/main">
            <a:srgbClr val="12313F"/>
          </a:solidFill>
          <a:ln xmlns:a="http://schemas.openxmlformats.org/drawingml/2006/main" w="9525">
            <a:solidFill>
              <a:srgbClr val="12313F"/>
            </a:solidFill>
            <a:prstDash val="solid"/>
          </a:ln>
        </p:spPr>
      </p:sp>
      <p:sp>
        <p:nvSpPr>
          <p:cNvPr id="34" name="">
            <a:extLst xmlns:a="http://schemas.openxmlformats.org/drawingml/2006/main">
              <a:ext uri="{FF2B5EF4-FFF2-40B4-BE49-F238E27FC236}">
                <a16:creationId xmlns:a16="http://schemas.microsoft.com/office/drawing/2014/main" id="{66BF015F-92D6-43E7-85DB-486AF28E6BC8}"/>
              </a:ext>
            </a:extLst>
          </p:cNvPr>
          <p:cNvSpPr>
            <a:spLocks xmlns:a="http://schemas.openxmlformats.org/drawingml/2006/main" noGrp="1"/>
          </p:cNvSpPr>
          <p:nvPr/>
        </p:nvSpPr>
        <p:spPr>
          <a:xfrm xmlns:a="http://schemas.openxmlformats.org/drawingml/2006/main">
            <a:off x="685800" y="5762625"/>
            <a:ext cx="10820400" cy="20002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200" b="1" i="0">
                <a:solidFill>
                  <a:srgbClr val="FFFFFF"/>
                </a:solidFill>
                <a:latin typeface="Malgun Gothic"/>
                <a:ea typeface="Malgun Gothic"/>
                <a:cs typeface="Malgun Gothic"/>
              </a:defRPr>
            </a:pPr>
            <a:r>
              <a:t>Age·location·customer_id는 행동 타깃 규칙에서 제외 · 모든 행동은 원인 가설이며 A/B 테스트 필요</a:t>
            </a:r>
          </a:p>
        </p:txBody>
      </p:sp>
      <p:sp>
        <p:nvSpPr>
          <p:cNvPr id="35" name="">
            <a:extLst xmlns:a="http://schemas.openxmlformats.org/drawingml/2006/main">
              <a:ext uri="{FF2B5EF4-FFF2-40B4-BE49-F238E27FC236}">
                <a16:creationId xmlns:a16="http://schemas.microsoft.com/office/drawing/2014/main" id="{2041AF15-CBEE-4C77-A224-ECDF1A87C81F}"/>
              </a:ext>
            </a:extLst>
          </p:cNvPr>
          <p:cNvSpPr>
            <a:spLocks xmlns:a="http://schemas.openxmlformats.org/drawingml/2006/main" noGrp="1"/>
          </p:cNvSpPr>
          <p:nvPr/>
        </p:nvSpPr>
        <p:spPr>
          <a:xfrm xmlns:a="http://schemas.openxmlformats.org/drawingml/2006/main">
            <a:off x="476250" y="6486525"/>
            <a:ext cx="11239500" cy="9525"/>
          </a:xfrm>
          <a:prstGeom xmlns:a="http://schemas.openxmlformats.org/drawingml/2006/main" prst="rect">
            <a:avLst/>
          </a:prstGeom>
          <a:solidFill xmlns:a="http://schemas.openxmlformats.org/drawingml/2006/main">
            <a:srgbClr val="D8D8D2"/>
          </a:solidFill>
        </p:spPr>
      </p:sp>
      <p:sp>
        <p:nvSpPr>
          <p:cNvPr id="36" name="">
            <a:extLst xmlns:a="http://schemas.openxmlformats.org/drawingml/2006/main">
              <a:ext uri="{FF2B5EF4-FFF2-40B4-BE49-F238E27FC236}">
                <a16:creationId xmlns:a16="http://schemas.microsoft.com/office/drawing/2014/main" id="{AA8C87C1-2430-4CDC-A49C-C9AF13F90DAC}"/>
              </a:ext>
            </a:extLst>
          </p:cNvPr>
          <p:cNvSpPr>
            <a:spLocks xmlns:a="http://schemas.openxmlformats.org/drawingml/2006/main" noGrp="1"/>
          </p:cNvSpPr>
          <p:nvPr/>
        </p:nvSpPr>
        <p:spPr>
          <a:xfrm xmlns:a="http://schemas.openxmlformats.org/drawingml/2006/main">
            <a:off x="666750" y="6534150"/>
            <a:ext cx="9620250" cy="209550"/>
          </a:xfrm>
          <a:prstGeom xmlns:a="http://schemas.openxmlformats.org/drawingml/2006/main" prst="rect">
            <a:avLst/>
          </a:prstGeom>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825" b="0" i="0">
                <a:solidFill>
                  <a:srgbClr val="98A5AA"/>
                </a:solidFill>
                <a:latin typeface="Malgun Gothic"/>
                <a:ea typeface="Malgun Gothic"/>
                <a:cs typeface="Malgun Gothic"/>
              </a:defRPr>
            </a:pPr>
            <a:r>
              <a:t>근거 · retention_strategy.py · insight_inventory.csv · streamlit_prompt.md</a:t>
            </a:r>
          </a:p>
        </p:txBody>
      </p:sp>
      <p:sp>
        <p:nvSpPr>
          <p:cNvPr id="37" name="">
            <a:extLst xmlns:a="http://schemas.openxmlformats.org/drawingml/2006/main">
              <a:ext uri="{FF2B5EF4-FFF2-40B4-BE49-F238E27FC236}">
                <a16:creationId xmlns:a16="http://schemas.microsoft.com/office/drawing/2014/main" id="{9438A0E7-BC94-4D51-B9FD-18DC76ED186F}"/>
              </a:ext>
            </a:extLst>
          </p:cNvPr>
          <p:cNvSpPr>
            <a:spLocks xmlns:a="http://schemas.openxmlformats.org/drawingml/2006/main" noGrp="1"/>
          </p:cNvSpPr>
          <p:nvPr/>
        </p:nvSpPr>
        <p:spPr>
          <a:xfrm xmlns:a="http://schemas.openxmlformats.org/drawingml/2006/main">
            <a:off x="11201400" y="6543675"/>
            <a:ext cx="5143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00" b="1" i="0">
                <a:solidFill>
                  <a:srgbClr val="607078"/>
                </a:solidFill>
                <a:latin typeface="Malgun Gothic"/>
                <a:ea typeface="Malgun Gothic"/>
                <a:cs typeface="Malgun Gothic"/>
              </a:defRPr>
            </a:pPr>
            <a:r>
              <a:t>15</a:t>
            </a:r>
          </a:p>
        </p:txBody>
      </p:sp>
    </p:spTree>
    <p:extLst>
      <p:ext uri="{BB962C8B-B14F-4D97-AF65-F5344CB8AC3E}">
        <p14:creationId xmlns:p14="http://schemas.microsoft.com/office/powerpoint/2010/main" val="142253810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B2DB73EF-B0F6-4B58-9F19-4E3812AF7D5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313F"/>
          </a:solidFill>
        </p:spPr>
      </p:sp>
      <p:sp>
        <p:nvSpPr>
          <p:cNvPr id="2" name="">
            <a:extLst xmlns:a="http://schemas.openxmlformats.org/drawingml/2006/main">
              <a:ext uri="{FF2B5EF4-FFF2-40B4-BE49-F238E27FC236}">
                <a16:creationId xmlns:a16="http://schemas.microsoft.com/office/drawing/2014/main" id="{E206711C-5D09-4539-A096-1710CB89CC17}"/>
              </a:ext>
            </a:extLst>
          </p:cNvPr>
          <p:cNvSpPr>
            <a:spLocks xmlns:a="http://schemas.openxmlformats.org/drawingml/2006/main" noGrp="1"/>
          </p:cNvSpPr>
          <p:nvPr/>
        </p:nvSpPr>
        <p:spPr>
          <a:xfrm xmlns:a="http://schemas.openxmlformats.org/drawingml/2006/main">
            <a:off x="552450" y="428625"/>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i="0">
                <a:solidFill>
                  <a:srgbClr val="78D0C6"/>
                </a:solidFill>
                <a:latin typeface="Malgun Gothic"/>
                <a:ea typeface="Malgun Gothic"/>
                <a:cs typeface="Malgun Gothic"/>
              </a:defRPr>
            </a:pPr>
            <a:r>
              <a:t>FINAL TAKEAWAY</a:t>
            </a:r>
          </a:p>
        </p:txBody>
      </p:sp>
      <p:sp>
        <p:nvSpPr>
          <p:cNvPr id="3" name="">
            <a:extLst xmlns:a="http://schemas.openxmlformats.org/drawingml/2006/main">
              <a:ext uri="{FF2B5EF4-FFF2-40B4-BE49-F238E27FC236}">
                <a16:creationId xmlns:a16="http://schemas.microsoft.com/office/drawing/2014/main" id="{BF4BC54E-A492-4A6D-99F5-4AA682903C15}"/>
              </a:ext>
            </a:extLst>
          </p:cNvPr>
          <p:cNvSpPr>
            <a:spLocks xmlns:a="http://schemas.openxmlformats.org/drawingml/2006/main" noGrp="1"/>
          </p:cNvSpPr>
          <p:nvPr/>
        </p:nvSpPr>
        <p:spPr>
          <a:xfrm xmlns:a="http://schemas.openxmlformats.org/drawingml/2006/main">
            <a:off x="552450" y="866775"/>
            <a:ext cx="10572750" cy="571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000" b="1" i="0">
                <a:solidFill>
                  <a:srgbClr val="FFFFFF"/>
                </a:solidFill>
                <a:latin typeface="Malgun Gothic"/>
                <a:ea typeface="Malgun Gothic"/>
                <a:cs typeface="Malgun Gothic"/>
              </a:defRPr>
            </a:pPr>
            <a:r>
              <a:t>예측을 넘어, 고객 유지 의사결정의 순서를 설계했습니다</a:t>
            </a:r>
          </a:p>
        </p:txBody>
      </p:sp>
      <p:sp>
        <p:nvSpPr>
          <p:cNvPr id="4" name="">
            <a:extLst xmlns:a="http://schemas.openxmlformats.org/drawingml/2006/main">
              <a:ext uri="{FF2B5EF4-FFF2-40B4-BE49-F238E27FC236}">
                <a16:creationId xmlns:a16="http://schemas.microsoft.com/office/drawing/2014/main" id="{0A24E880-FF54-403A-9123-A9F92FA5A802}"/>
              </a:ext>
            </a:extLst>
          </p:cNvPr>
          <p:cNvSpPr>
            <a:spLocks xmlns:a="http://schemas.openxmlformats.org/drawingml/2006/main" noGrp="1"/>
          </p:cNvSpPr>
          <p:nvPr/>
        </p:nvSpPr>
        <p:spPr>
          <a:xfrm xmlns:a="http://schemas.openxmlformats.org/drawingml/2006/main">
            <a:off x="552450" y="1609725"/>
            <a:ext cx="781050" cy="57150"/>
          </a:xfrm>
          <a:prstGeom xmlns:a="http://schemas.openxmlformats.org/drawingml/2006/main" prst="rect">
            <a:avLst/>
          </a:prstGeom>
          <a:solidFill xmlns:a="http://schemas.openxmlformats.org/drawingml/2006/main">
            <a:srgbClr val="F2674A"/>
          </a:solidFill>
        </p:spPr>
      </p:sp>
      <p:sp>
        <p:nvSpPr>
          <p:cNvPr id="5" name="">
            <a:extLst xmlns:a="http://schemas.openxmlformats.org/drawingml/2006/main">
              <a:ext uri="{FF2B5EF4-FFF2-40B4-BE49-F238E27FC236}">
                <a16:creationId xmlns:a16="http://schemas.microsoft.com/office/drawing/2014/main" id="{9F66D9B0-D7CC-4D0C-9960-7C5E384F1F10}"/>
              </a:ext>
            </a:extLst>
          </p:cNvPr>
          <p:cNvSpPr>
            <a:spLocks xmlns:a="http://schemas.openxmlformats.org/drawingml/2006/main" noGrp="1"/>
          </p:cNvSpPr>
          <p:nvPr/>
        </p:nvSpPr>
        <p:spPr>
          <a:xfrm xmlns:a="http://schemas.openxmlformats.org/drawingml/2006/main">
            <a:off x="552450" y="2143125"/>
            <a:ext cx="5334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i="0">
                <a:solidFill>
                  <a:srgbClr val="78D0C6"/>
                </a:solidFill>
                <a:latin typeface="Malgun Gothic"/>
                <a:ea typeface="Malgun Gothic"/>
                <a:cs typeface="Malgun Gothic"/>
              </a:defRPr>
            </a:pPr>
            <a:r>
              <a:t>01</a:t>
            </a:r>
          </a:p>
        </p:txBody>
      </p:sp>
      <p:sp>
        <p:nvSpPr>
          <p:cNvPr id="6" name="">
            <a:extLst xmlns:a="http://schemas.openxmlformats.org/drawingml/2006/main">
              <a:ext uri="{FF2B5EF4-FFF2-40B4-BE49-F238E27FC236}">
                <a16:creationId xmlns:a16="http://schemas.microsoft.com/office/drawing/2014/main" id="{3D418BD6-6234-4EC4-86DF-344D18843191}"/>
              </a:ext>
            </a:extLst>
          </p:cNvPr>
          <p:cNvSpPr>
            <a:spLocks xmlns:a="http://schemas.openxmlformats.org/drawingml/2006/main" noGrp="1"/>
          </p:cNvSpPr>
          <p:nvPr/>
        </p:nvSpPr>
        <p:spPr>
          <a:xfrm xmlns:a="http://schemas.openxmlformats.org/drawingml/2006/main">
            <a:off x="1257300" y="2105025"/>
            <a:ext cx="1524000" cy="304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1" i="0">
                <a:solidFill>
                  <a:srgbClr val="FFFFFF"/>
                </a:solidFill>
                <a:latin typeface="Malgun Gothic"/>
                <a:ea typeface="Malgun Gothic"/>
                <a:cs typeface="Malgun Gothic"/>
              </a:defRPr>
            </a:pPr>
            <a:r>
              <a:t>데이터</a:t>
            </a:r>
          </a:p>
        </p:txBody>
      </p:sp>
      <p:sp>
        <p:nvSpPr>
          <p:cNvPr id="7" name="">
            <a:extLst xmlns:a="http://schemas.openxmlformats.org/drawingml/2006/main">
              <a:ext uri="{FF2B5EF4-FFF2-40B4-BE49-F238E27FC236}">
                <a16:creationId xmlns:a16="http://schemas.microsoft.com/office/drawing/2014/main" id="{6145DB31-628F-45CA-8809-D438EB6A7257}"/>
              </a:ext>
            </a:extLst>
          </p:cNvPr>
          <p:cNvSpPr>
            <a:spLocks xmlns:a="http://schemas.openxmlformats.org/drawingml/2006/main" noGrp="1"/>
          </p:cNvSpPr>
          <p:nvPr/>
        </p:nvSpPr>
        <p:spPr>
          <a:xfrm xmlns:a="http://schemas.openxmlformats.org/drawingml/2006/main">
            <a:off x="2952750" y="2133600"/>
            <a:ext cx="73342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D3E0E4"/>
                </a:solidFill>
                <a:latin typeface="Malgun Gothic"/>
                <a:ea typeface="Malgun Gothic"/>
                <a:cs typeface="Malgun Gothic"/>
              </a:defRPr>
            </a:pPr>
            <a:r>
              <a:t>고객 행동·구독·문의 신호에서 위험 맥락을 발견</a:t>
            </a:r>
          </a:p>
        </p:txBody>
      </p:sp>
      <p:sp>
        <p:nvSpPr>
          <p:cNvPr id="8" name="">
            <a:extLst xmlns:a="http://schemas.openxmlformats.org/drawingml/2006/main">
              <a:ext uri="{FF2B5EF4-FFF2-40B4-BE49-F238E27FC236}">
                <a16:creationId xmlns:a16="http://schemas.microsoft.com/office/drawing/2014/main" id="{7377FB24-6581-4272-B244-45C70D71A6A6}"/>
              </a:ext>
            </a:extLst>
          </p:cNvPr>
          <p:cNvSpPr>
            <a:spLocks xmlns:a="http://schemas.openxmlformats.org/drawingml/2006/main" noGrp="1"/>
          </p:cNvSpPr>
          <p:nvPr/>
        </p:nvSpPr>
        <p:spPr>
          <a:xfrm xmlns:a="http://schemas.openxmlformats.org/drawingml/2006/main">
            <a:off x="552450" y="2886075"/>
            <a:ext cx="5334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i="0">
                <a:solidFill>
                  <a:srgbClr val="78D0C6"/>
                </a:solidFill>
                <a:latin typeface="Malgun Gothic"/>
                <a:ea typeface="Malgun Gothic"/>
                <a:cs typeface="Malgun Gothic"/>
              </a:defRPr>
            </a:pPr>
            <a:r>
              <a:t>02</a:t>
            </a:r>
          </a:p>
        </p:txBody>
      </p:sp>
      <p:sp>
        <p:nvSpPr>
          <p:cNvPr id="9" name="">
            <a:extLst xmlns:a="http://schemas.openxmlformats.org/drawingml/2006/main">
              <a:ext uri="{FF2B5EF4-FFF2-40B4-BE49-F238E27FC236}">
                <a16:creationId xmlns:a16="http://schemas.microsoft.com/office/drawing/2014/main" id="{DD8162EF-2E3C-452F-A4B9-EC8A19F2507B}"/>
              </a:ext>
            </a:extLst>
          </p:cNvPr>
          <p:cNvSpPr>
            <a:spLocks xmlns:a="http://schemas.openxmlformats.org/drawingml/2006/main" noGrp="1"/>
          </p:cNvSpPr>
          <p:nvPr/>
        </p:nvSpPr>
        <p:spPr>
          <a:xfrm xmlns:a="http://schemas.openxmlformats.org/drawingml/2006/main">
            <a:off x="1257300" y="2847975"/>
            <a:ext cx="1524000" cy="304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1" i="0">
                <a:solidFill>
                  <a:srgbClr val="FFFFFF"/>
                </a:solidFill>
                <a:latin typeface="Malgun Gothic"/>
                <a:ea typeface="Malgun Gothic"/>
                <a:cs typeface="Malgun Gothic"/>
              </a:defRPr>
            </a:pPr>
            <a:r>
              <a:t>모델</a:t>
            </a:r>
          </a:p>
        </p:txBody>
      </p:sp>
      <p:sp>
        <p:nvSpPr>
          <p:cNvPr id="10" name="">
            <a:extLst xmlns:a="http://schemas.openxmlformats.org/drawingml/2006/main">
              <a:ext uri="{FF2B5EF4-FFF2-40B4-BE49-F238E27FC236}">
                <a16:creationId xmlns:a16="http://schemas.microsoft.com/office/drawing/2014/main" id="{ADFA40D5-EDC4-45F9-BED4-004E9C6DBF6E}"/>
              </a:ext>
            </a:extLst>
          </p:cNvPr>
          <p:cNvSpPr>
            <a:spLocks xmlns:a="http://schemas.openxmlformats.org/drawingml/2006/main" noGrp="1"/>
          </p:cNvSpPr>
          <p:nvPr/>
        </p:nvSpPr>
        <p:spPr>
          <a:xfrm xmlns:a="http://schemas.openxmlformats.org/drawingml/2006/main">
            <a:off x="2952750" y="2876550"/>
            <a:ext cx="73342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D3E0E4"/>
                </a:solidFill>
                <a:latin typeface="Malgun Gothic"/>
                <a:ea typeface="Malgun Gothic"/>
                <a:cs typeface="Malgun Gothic"/>
              </a:defRPr>
            </a:pPr>
            <a:r>
              <a:t>동일 조건 8개 모델과 제한 탐색으로 CatBoost를 조건부 선정</a:t>
            </a:r>
          </a:p>
        </p:txBody>
      </p:sp>
      <p:sp>
        <p:nvSpPr>
          <p:cNvPr id="11" name="">
            <a:extLst xmlns:a="http://schemas.openxmlformats.org/drawingml/2006/main">
              <a:ext uri="{FF2B5EF4-FFF2-40B4-BE49-F238E27FC236}">
                <a16:creationId xmlns:a16="http://schemas.microsoft.com/office/drawing/2014/main" id="{254497EA-F4DF-4906-A286-9EB9081E3EE5}"/>
              </a:ext>
            </a:extLst>
          </p:cNvPr>
          <p:cNvSpPr>
            <a:spLocks xmlns:a="http://schemas.openxmlformats.org/drawingml/2006/main" noGrp="1"/>
          </p:cNvSpPr>
          <p:nvPr/>
        </p:nvSpPr>
        <p:spPr>
          <a:xfrm xmlns:a="http://schemas.openxmlformats.org/drawingml/2006/main">
            <a:off x="552450" y="3629025"/>
            <a:ext cx="5334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i="0">
                <a:solidFill>
                  <a:srgbClr val="78D0C6"/>
                </a:solidFill>
                <a:latin typeface="Malgun Gothic"/>
                <a:ea typeface="Malgun Gothic"/>
                <a:cs typeface="Malgun Gothic"/>
              </a:defRPr>
            </a:pPr>
            <a:r>
              <a:t>03</a:t>
            </a:r>
          </a:p>
        </p:txBody>
      </p:sp>
      <p:sp>
        <p:nvSpPr>
          <p:cNvPr id="12" name="">
            <a:extLst xmlns:a="http://schemas.openxmlformats.org/drawingml/2006/main">
              <a:ext uri="{FF2B5EF4-FFF2-40B4-BE49-F238E27FC236}">
                <a16:creationId xmlns:a16="http://schemas.microsoft.com/office/drawing/2014/main" id="{BF24EAFA-AD72-40C2-A91F-50A522B0F282}"/>
              </a:ext>
            </a:extLst>
          </p:cNvPr>
          <p:cNvSpPr>
            <a:spLocks xmlns:a="http://schemas.openxmlformats.org/drawingml/2006/main" noGrp="1"/>
          </p:cNvSpPr>
          <p:nvPr/>
        </p:nvSpPr>
        <p:spPr>
          <a:xfrm xmlns:a="http://schemas.openxmlformats.org/drawingml/2006/main">
            <a:off x="1257300" y="3590925"/>
            <a:ext cx="1524000" cy="304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1" i="0">
                <a:solidFill>
                  <a:srgbClr val="FFFFFF"/>
                </a:solidFill>
                <a:latin typeface="Malgun Gothic"/>
                <a:ea typeface="Malgun Gothic"/>
                <a:cs typeface="Malgun Gothic"/>
              </a:defRPr>
            </a:pPr>
            <a:r>
              <a:t>운영</a:t>
            </a:r>
          </a:p>
        </p:txBody>
      </p:sp>
      <p:sp>
        <p:nvSpPr>
          <p:cNvPr id="13" name="">
            <a:extLst xmlns:a="http://schemas.openxmlformats.org/drawingml/2006/main">
              <a:ext uri="{FF2B5EF4-FFF2-40B4-BE49-F238E27FC236}">
                <a16:creationId xmlns:a16="http://schemas.microsoft.com/office/drawing/2014/main" id="{AFE9F1EC-65C1-47A6-9607-F6FE65ADFDDB}"/>
              </a:ext>
            </a:extLst>
          </p:cNvPr>
          <p:cNvSpPr>
            <a:spLocks xmlns:a="http://schemas.openxmlformats.org/drawingml/2006/main" noGrp="1"/>
          </p:cNvSpPr>
          <p:nvPr/>
        </p:nvSpPr>
        <p:spPr>
          <a:xfrm xmlns:a="http://schemas.openxmlformats.org/drawingml/2006/main">
            <a:off x="2952750" y="3619500"/>
            <a:ext cx="73342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D3E0E4"/>
                </a:solidFill>
                <a:latin typeface="Malgun Gothic"/>
                <a:ea typeface="Malgun Gothic"/>
                <a:cs typeface="Malgun Gothic"/>
              </a:defRPr>
            </a:pPr>
            <a:r>
              <a:t>Threshold·Top-K·Decile로 위험 점수를 검토 인원으로 변환</a:t>
            </a:r>
          </a:p>
        </p:txBody>
      </p:sp>
      <p:sp>
        <p:nvSpPr>
          <p:cNvPr id="14" name="">
            <a:extLst xmlns:a="http://schemas.openxmlformats.org/drawingml/2006/main">
              <a:ext uri="{FF2B5EF4-FFF2-40B4-BE49-F238E27FC236}">
                <a16:creationId xmlns:a16="http://schemas.microsoft.com/office/drawing/2014/main" id="{C3D20382-7355-4D5E-9D7A-FC06669669C2}"/>
              </a:ext>
            </a:extLst>
          </p:cNvPr>
          <p:cNvSpPr>
            <a:spLocks xmlns:a="http://schemas.openxmlformats.org/drawingml/2006/main" noGrp="1"/>
          </p:cNvSpPr>
          <p:nvPr/>
        </p:nvSpPr>
        <p:spPr>
          <a:xfrm xmlns:a="http://schemas.openxmlformats.org/drawingml/2006/main">
            <a:off x="552450" y="4371975"/>
            <a:ext cx="5334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i="0">
                <a:solidFill>
                  <a:srgbClr val="F4A18D"/>
                </a:solidFill>
                <a:latin typeface="Malgun Gothic"/>
                <a:ea typeface="Malgun Gothic"/>
                <a:cs typeface="Malgun Gothic"/>
              </a:defRPr>
            </a:pPr>
            <a:r>
              <a:t>04</a:t>
            </a:r>
          </a:p>
        </p:txBody>
      </p:sp>
      <p:sp>
        <p:nvSpPr>
          <p:cNvPr id="15" name="">
            <a:extLst xmlns:a="http://schemas.openxmlformats.org/drawingml/2006/main">
              <a:ext uri="{FF2B5EF4-FFF2-40B4-BE49-F238E27FC236}">
                <a16:creationId xmlns:a16="http://schemas.microsoft.com/office/drawing/2014/main" id="{5EA973E9-C4A0-479B-AD5D-55368AA405DF}"/>
              </a:ext>
            </a:extLst>
          </p:cNvPr>
          <p:cNvSpPr>
            <a:spLocks xmlns:a="http://schemas.openxmlformats.org/drawingml/2006/main" noGrp="1"/>
          </p:cNvSpPr>
          <p:nvPr/>
        </p:nvSpPr>
        <p:spPr>
          <a:xfrm xmlns:a="http://schemas.openxmlformats.org/drawingml/2006/main">
            <a:off x="1257300" y="4333875"/>
            <a:ext cx="1524000" cy="304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1" i="0">
                <a:solidFill>
                  <a:srgbClr val="FFFFFF"/>
                </a:solidFill>
                <a:latin typeface="Malgun Gothic"/>
                <a:ea typeface="Malgun Gothic"/>
                <a:cs typeface="Malgun Gothic"/>
              </a:defRPr>
            </a:pPr>
            <a:r>
              <a:t>행동</a:t>
            </a:r>
          </a:p>
        </p:txBody>
      </p:sp>
      <p:sp>
        <p:nvSpPr>
          <p:cNvPr id="16" name="">
            <a:extLst xmlns:a="http://schemas.openxmlformats.org/drawingml/2006/main">
              <a:ext uri="{FF2B5EF4-FFF2-40B4-BE49-F238E27FC236}">
                <a16:creationId xmlns:a16="http://schemas.microsoft.com/office/drawing/2014/main" id="{C5710E68-1505-44CC-821E-63932619CE53}"/>
              </a:ext>
            </a:extLst>
          </p:cNvPr>
          <p:cNvSpPr>
            <a:spLocks xmlns:a="http://schemas.openxmlformats.org/drawingml/2006/main" noGrp="1"/>
          </p:cNvSpPr>
          <p:nvPr/>
        </p:nvSpPr>
        <p:spPr>
          <a:xfrm xmlns:a="http://schemas.openxmlformats.org/drawingml/2006/main">
            <a:off x="2952750" y="4362450"/>
            <a:ext cx="73342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D3E0E4"/>
                </a:solidFill>
                <a:latin typeface="Malgun Gothic"/>
                <a:ea typeface="Malgun Gothic"/>
                <a:cs typeface="Malgun Gothic"/>
              </a:defRPr>
            </a:pPr>
            <a:r>
              <a:t>위험 신호별 유지 활동 가설을 Streamlit에서 사람에게 제안</a:t>
            </a:r>
          </a:p>
        </p:txBody>
      </p:sp>
      <p:sp>
        <p:nvSpPr>
          <p:cNvPr id="17" name="">
            <a:extLst xmlns:a="http://schemas.openxmlformats.org/drawingml/2006/main">
              <a:ext uri="{FF2B5EF4-FFF2-40B4-BE49-F238E27FC236}">
                <a16:creationId xmlns:a16="http://schemas.microsoft.com/office/drawing/2014/main" id="{289B39D4-D6C4-4836-AD46-F0395E394E32}"/>
              </a:ext>
            </a:extLst>
          </p:cNvPr>
          <p:cNvSpPr>
            <a:spLocks xmlns:a="http://schemas.openxmlformats.org/drawingml/2006/main" noGrp="1"/>
          </p:cNvSpPr>
          <p:nvPr/>
        </p:nvSpPr>
        <p:spPr>
          <a:xfrm xmlns:a="http://schemas.openxmlformats.org/drawingml/2006/main">
            <a:off x="552450" y="5229225"/>
            <a:ext cx="11087100" cy="876300"/>
          </a:xfrm>
          <a:prstGeom xmlns:a="http://schemas.openxmlformats.org/drawingml/2006/main" prst="roundRect">
            <a:avLst>
              <a:gd name="adj" fmla="val 8696"/>
            </a:avLst>
          </a:prstGeom>
          <a:solidFill xmlns:a="http://schemas.openxmlformats.org/drawingml/2006/main">
            <a:srgbClr val="1B4656"/>
          </a:solidFill>
          <a:ln xmlns:a="http://schemas.openxmlformats.org/drawingml/2006/main" w="9525">
            <a:solidFill>
              <a:srgbClr val="315664"/>
            </a:solidFill>
            <a:prstDash val="solid"/>
          </a:ln>
        </p:spPr>
      </p:sp>
      <p:sp>
        <p:nvSpPr>
          <p:cNvPr id="18" name="">
            <a:extLst xmlns:a="http://schemas.openxmlformats.org/drawingml/2006/main">
              <a:ext uri="{FF2B5EF4-FFF2-40B4-BE49-F238E27FC236}">
                <a16:creationId xmlns:a16="http://schemas.microsoft.com/office/drawing/2014/main" id="{629C7486-4757-4A7D-8CED-9A001BEE242E}"/>
              </a:ext>
            </a:extLst>
          </p:cNvPr>
          <p:cNvSpPr>
            <a:spLocks xmlns:a="http://schemas.openxmlformats.org/drawingml/2006/main" noGrp="1"/>
          </p:cNvSpPr>
          <p:nvPr/>
        </p:nvSpPr>
        <p:spPr>
          <a:xfrm xmlns:a="http://schemas.openxmlformats.org/drawingml/2006/main">
            <a:off x="781050" y="5429250"/>
            <a:ext cx="123825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78D0C6"/>
                </a:solidFill>
                <a:latin typeface="Malgun Gothic"/>
                <a:ea typeface="Malgun Gothic"/>
                <a:cs typeface="Malgun Gothic"/>
              </a:defRPr>
            </a:pPr>
            <a:r>
              <a:t>다음 검증</a:t>
            </a:r>
          </a:p>
        </p:txBody>
      </p:sp>
      <p:sp>
        <p:nvSpPr>
          <p:cNvPr id="19" name="">
            <a:extLst xmlns:a="http://schemas.openxmlformats.org/drawingml/2006/main">
              <a:ext uri="{FF2B5EF4-FFF2-40B4-BE49-F238E27FC236}">
                <a16:creationId xmlns:a16="http://schemas.microsoft.com/office/drawing/2014/main" id="{89C9C637-CE6D-440B-B209-375F6AF866BF}"/>
              </a:ext>
            </a:extLst>
          </p:cNvPr>
          <p:cNvSpPr>
            <a:spLocks xmlns:a="http://schemas.openxmlformats.org/drawingml/2006/main" noGrp="1"/>
          </p:cNvSpPr>
          <p:nvPr/>
        </p:nvSpPr>
        <p:spPr>
          <a:xfrm xmlns:a="http://schemas.openxmlformats.org/drawingml/2006/main">
            <a:off x="2047875" y="5391150"/>
            <a:ext cx="9277350" cy="295275"/>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1" i="0">
                <a:solidFill>
                  <a:srgbClr val="FFFFFF"/>
                </a:solidFill>
                <a:latin typeface="Malgun Gothic"/>
                <a:ea typeface="Malgun Gothic"/>
                <a:cs typeface="Malgun Gothic"/>
              </a:defRPr>
            </a:pPr>
            <a:r>
              <a:t>시간 기반 외부 Holdout → 세그먼트 오류·Calibration → 실제 캠페인 A/B → Incremental uplift·ROI</a:t>
            </a:r>
          </a:p>
        </p:txBody>
      </p:sp>
      <p:sp>
        <p:nvSpPr>
          <p:cNvPr id="20" name="">
            <a:extLst xmlns:a="http://schemas.openxmlformats.org/drawingml/2006/main">
              <a:ext uri="{FF2B5EF4-FFF2-40B4-BE49-F238E27FC236}">
                <a16:creationId xmlns:a16="http://schemas.microsoft.com/office/drawing/2014/main" id="{2CB50020-5223-4971-84A3-F4BCB17B472E}"/>
              </a:ext>
            </a:extLst>
          </p:cNvPr>
          <p:cNvSpPr>
            <a:spLocks xmlns:a="http://schemas.openxmlformats.org/drawingml/2006/main" noGrp="1"/>
          </p:cNvSpPr>
          <p:nvPr/>
        </p:nvSpPr>
        <p:spPr>
          <a:xfrm xmlns:a="http://schemas.openxmlformats.org/drawingml/2006/main">
            <a:off x="2047875" y="5762625"/>
            <a:ext cx="927735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F4A18D"/>
                </a:solidFill>
                <a:latin typeface="Malgun Gothic"/>
                <a:ea typeface="Malgun Gothic"/>
                <a:cs typeface="Malgun Gothic"/>
              </a:defRPr>
            </a:pPr>
            <a:r>
              <a:t>현재 결론: 기술 후보와 의사결정 도구는 완성 · 현실 효과는 아직 미검증</a:t>
            </a:r>
          </a:p>
        </p:txBody>
      </p:sp>
      <p:sp>
        <p:nvSpPr>
          <p:cNvPr id="21" name="">
            <a:extLst xmlns:a="http://schemas.openxmlformats.org/drawingml/2006/main">
              <a:ext uri="{FF2B5EF4-FFF2-40B4-BE49-F238E27FC236}">
                <a16:creationId xmlns:a16="http://schemas.microsoft.com/office/drawing/2014/main" id="{970D0532-E09F-4EC3-B229-4D2FFE3E45A1}"/>
              </a:ext>
            </a:extLst>
          </p:cNvPr>
          <p:cNvSpPr>
            <a:spLocks xmlns:a="http://schemas.openxmlformats.org/drawingml/2006/main" noGrp="1"/>
          </p:cNvSpPr>
          <p:nvPr/>
        </p:nvSpPr>
        <p:spPr>
          <a:xfrm xmlns:a="http://schemas.openxmlformats.org/drawingml/2006/main">
            <a:off x="552450" y="6457950"/>
            <a:ext cx="476250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0" i="0">
                <a:solidFill>
                  <a:srgbClr val="8FB0BC"/>
                </a:solidFill>
                <a:latin typeface="Malgun Gothic"/>
                <a:ea typeface="Malgun Gothic"/>
                <a:cs typeface="Malgun Gothic"/>
              </a:defRPr>
            </a:pPr>
            <a:r>
              <a:t>PlaylistPro · SKN 33기 2차 프로젝트 3팀</a:t>
            </a:r>
          </a:p>
        </p:txBody>
      </p:sp>
      <p:sp>
        <p:nvSpPr>
          <p:cNvPr id="22" name="">
            <a:extLst xmlns:a="http://schemas.openxmlformats.org/drawingml/2006/main">
              <a:ext uri="{FF2B5EF4-FFF2-40B4-BE49-F238E27FC236}">
                <a16:creationId xmlns:a16="http://schemas.microsoft.com/office/drawing/2014/main" id="{72C5BE9D-A2BD-4987-A929-3B04929C7BD8}"/>
              </a:ext>
            </a:extLst>
          </p:cNvPr>
          <p:cNvSpPr>
            <a:spLocks xmlns:a="http://schemas.openxmlformats.org/drawingml/2006/main" noGrp="1"/>
          </p:cNvSpPr>
          <p:nvPr/>
        </p:nvSpPr>
        <p:spPr>
          <a:xfrm xmlns:a="http://schemas.openxmlformats.org/drawingml/2006/main">
            <a:off x="11201400" y="6457950"/>
            <a:ext cx="4381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00" b="1" i="0">
                <a:solidFill>
                  <a:srgbClr val="8FB0BC"/>
                </a:solidFill>
                <a:latin typeface="Malgun Gothic"/>
                <a:ea typeface="Malgun Gothic"/>
                <a:cs typeface="Malgun Gothic"/>
              </a:defRPr>
            </a:pPr>
            <a:r>
              <a:t>16</a:t>
            </a:r>
          </a:p>
        </p:txBody>
      </p:sp>
    </p:spTree>
    <p:extLst>
      <p:ext uri="{BB962C8B-B14F-4D97-AF65-F5344CB8AC3E}">
        <p14:creationId xmlns:p14="http://schemas.microsoft.com/office/powerpoint/2010/main" val="168195166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2026-07-21T22:11:52.8130000Z</dcterms:created>
  <dcterms:modified xsi:type="dcterms:W3CDTF">2026-07-21T22:11:52.8130000Z</dcterms:modified>
</coreProperties>
</file>