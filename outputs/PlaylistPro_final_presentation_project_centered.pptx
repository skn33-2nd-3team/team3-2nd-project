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42946a1d5146c1" /><Relationship Type="http://schemas.openxmlformats.org/officeDocument/2006/relationships/extended-properties" Target="/docProps/app.xml" Id="R9c9e7c7464ac4a2e" /><Relationship Type="http://schemas.openxmlformats.org/officeDocument/2006/relationships/officeDocument" Target="/ppt/presentation.xml" Id="Rf634ddaef4a0400b" /></Relationships>
</file>

<file path=ppt/presentation.xml><?xml version="1.0" encoding="utf-8"?>
<p:presentation xmlns:p="http://schemas.openxmlformats.org/presentationml/2006/main">
  <p:sldMasterIdLst>
    <p:sldMasterId xmlns:r="http://schemas.openxmlformats.org/officeDocument/2006/relationships" id="2147483648" r:id="R168edc4ac0234c63"/>
  </p:sldMasterIdLst>
  <p:notesMasterIdLst>
    <p:notesMasterId xmlns:r="http://schemas.openxmlformats.org/officeDocument/2006/relationships" r:id="Rc8dded38c0724e6d"/>
  </p:notesMasterIdLst>
  <p:sldIdLst>
    <p:sldId xmlns:r="http://schemas.openxmlformats.org/officeDocument/2006/relationships" id="256" r:id="R5eac49f629284314"/>
    <p:sldId xmlns:r="http://schemas.openxmlformats.org/officeDocument/2006/relationships" id="257" r:id="R68e2e73295634c95"/>
    <p:sldId xmlns:r="http://schemas.openxmlformats.org/officeDocument/2006/relationships" id="258" r:id="Rbf9bdeba916249fa"/>
    <p:sldId xmlns:r="http://schemas.openxmlformats.org/officeDocument/2006/relationships" id="259" r:id="Rfdfd4180c0a54deb"/>
    <p:sldId xmlns:r="http://schemas.openxmlformats.org/officeDocument/2006/relationships" id="260" r:id="Rfc2ade81999f40ca"/>
    <p:sldId xmlns:r="http://schemas.openxmlformats.org/officeDocument/2006/relationships" id="261" r:id="R1a1986aa91b241eb"/>
    <p:sldId xmlns:r="http://schemas.openxmlformats.org/officeDocument/2006/relationships" id="262" r:id="R0573664e27a141cd"/>
    <p:sldId xmlns:r="http://schemas.openxmlformats.org/officeDocument/2006/relationships" id="263" r:id="R007f5f151b20431c"/>
    <p:sldId xmlns:r="http://schemas.openxmlformats.org/officeDocument/2006/relationships" id="264" r:id="R71dd83ca844b426f"/>
    <p:sldId xmlns:r="http://schemas.openxmlformats.org/officeDocument/2006/relationships" id="265" r:id="R70901a8529624e60"/>
    <p:sldId xmlns:r="http://schemas.openxmlformats.org/officeDocument/2006/relationships" id="266" r:id="Ref23b919b8e04f6b"/>
    <p:sldId xmlns:r="http://schemas.openxmlformats.org/officeDocument/2006/relationships" id="267" r:id="R7d6cbb6e2b334114"/>
    <p:sldId xmlns:r="http://schemas.openxmlformats.org/officeDocument/2006/relationships" id="268" r:id="R7e296bc2e4b048b0"/>
    <p:sldId xmlns:r="http://schemas.openxmlformats.org/officeDocument/2006/relationships" id="269" r:id="Rf93aa7fc227f406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e5a2564b662455c" /><Relationship Type="http://schemas.openxmlformats.org/officeDocument/2006/relationships/slideMaster" Target="/ppt/slideMasters/slideMaster1.xml" Id="R168edc4ac0234c63" /><Relationship Type="http://schemas.openxmlformats.org/officeDocument/2006/relationships/notesMaster" Target="/ppt/notesMasters/notesMaster1.xml" Id="Rc8dded38c0724e6d" /><Relationship Type="http://schemas.openxmlformats.org/officeDocument/2006/relationships/presProps" Target="/ppt/presProps.xml" Id="R98e26cb0c73a4f0d" /><Relationship Type="http://schemas.openxmlformats.org/officeDocument/2006/relationships/tableStyles" Target="/ppt/tableStyles.xml" Id="Rb2ad85f326d54d0a" /><Relationship Type="http://schemas.openxmlformats.org/officeDocument/2006/relationships/slide" Target="/ppt/slides/slide1.xml" Id="R5eac49f629284314" /><Relationship Type="http://schemas.openxmlformats.org/officeDocument/2006/relationships/slide" Target="/ppt/slides/slide2.xml" Id="R68e2e73295634c95" /><Relationship Type="http://schemas.openxmlformats.org/officeDocument/2006/relationships/slide" Target="/ppt/slides/slide3.xml" Id="Rbf9bdeba916249fa" /><Relationship Type="http://schemas.openxmlformats.org/officeDocument/2006/relationships/slide" Target="/ppt/slides/slide4.xml" Id="Rfdfd4180c0a54deb" /><Relationship Type="http://schemas.openxmlformats.org/officeDocument/2006/relationships/slide" Target="/ppt/slides/slide5.xml" Id="Rfc2ade81999f40ca" /><Relationship Type="http://schemas.openxmlformats.org/officeDocument/2006/relationships/slide" Target="/ppt/slides/slide6.xml" Id="R1a1986aa91b241eb" /><Relationship Type="http://schemas.openxmlformats.org/officeDocument/2006/relationships/slide" Target="/ppt/slides/slide7.xml" Id="R0573664e27a141cd" /><Relationship Type="http://schemas.openxmlformats.org/officeDocument/2006/relationships/slide" Target="/ppt/slides/slide8.xml" Id="R007f5f151b20431c" /><Relationship Type="http://schemas.openxmlformats.org/officeDocument/2006/relationships/slide" Target="/ppt/slides/slide9.xml" Id="R71dd83ca844b426f" /><Relationship Type="http://schemas.openxmlformats.org/officeDocument/2006/relationships/slide" Target="/ppt/slides/slide10.xml" Id="R70901a8529624e60" /><Relationship Type="http://schemas.openxmlformats.org/officeDocument/2006/relationships/slide" Target="/ppt/slides/slide11.xml" Id="Ref23b919b8e04f6b" /><Relationship Type="http://schemas.openxmlformats.org/officeDocument/2006/relationships/slide" Target="/ppt/slides/slide12.xml" Id="R7d6cbb6e2b334114" /><Relationship Type="http://schemas.openxmlformats.org/officeDocument/2006/relationships/slide" Target="/ppt/slides/slide13.xml" Id="R7e296bc2e4b048b0" /><Relationship Type="http://schemas.openxmlformats.org/officeDocument/2006/relationships/slide" Target="/ppt/slides/slide14.xml" Id="Rf93aa7fc227f40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c7e8c7592440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6b3693bdca4cac" /><Relationship Type="http://schemas.openxmlformats.org/officeDocument/2006/relationships/notesMaster" Target="/ppt/notesMasters/notesMaster1.xml" Id="Recb3cb9aec9b495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46a70ed2c44285" /><Relationship Type="http://schemas.openxmlformats.org/officeDocument/2006/relationships/notesMaster" Target="/ppt/notesMasters/notesMaster1.xml" Id="Ra2204e8767f640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e54bf6db194843" /><Relationship Type="http://schemas.openxmlformats.org/officeDocument/2006/relationships/notesMaster" Target="/ppt/notesMasters/notesMaster1.xml" Id="R1934dfdec52049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73acdc11a846da" /><Relationship Type="http://schemas.openxmlformats.org/officeDocument/2006/relationships/notesMaster" Target="/ppt/notesMasters/notesMaster1.xml" Id="R41237892092f4d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badc0ebbbb4d74" /><Relationship Type="http://schemas.openxmlformats.org/officeDocument/2006/relationships/notesMaster" Target="/ppt/notesMasters/notesMaster1.xml" Id="R08e38ddf646644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20bbd1e0ad4f3b" /><Relationship Type="http://schemas.openxmlformats.org/officeDocument/2006/relationships/notesMaster" Target="/ppt/notesMasters/notesMaster1.xml" Id="R9e0a791e16c948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9fbee2331bc7456b" /><Relationship Type="http://schemas.openxmlformats.org/officeDocument/2006/relationships/notesMaster" Target="/ppt/notesMasters/notesMaster1.xml" Id="R4417bde2c3a1440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913f38463d458b" /><Relationship Type="http://schemas.openxmlformats.org/officeDocument/2006/relationships/notesMaster" Target="/ppt/notesMasters/notesMaster1.xml" Id="R68d5e45ff2e94f7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7abbfadd2c54376" /><Relationship Type="http://schemas.openxmlformats.org/officeDocument/2006/relationships/notesMaster" Target="/ppt/notesMasters/notesMaster1.xml" Id="R55d0065ea3c143d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6347a4318364386" /><Relationship Type="http://schemas.openxmlformats.org/officeDocument/2006/relationships/notesMaster" Target="/ppt/notesMasters/notesMaster1.xml" Id="R8f8453629a794d1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cf9dd478e242db" /><Relationship Type="http://schemas.openxmlformats.org/officeDocument/2006/relationships/notesMaster" Target="/ppt/notesMasters/notesMaster1.xml" Id="R1437b62f8da8403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24d8398cd684235" /><Relationship Type="http://schemas.openxmlformats.org/officeDocument/2006/relationships/notesMaster" Target="/ppt/notesMasters/notesMaster1.xml" Id="Re715d0acda7d47a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b92fbd4da534111" /><Relationship Type="http://schemas.openxmlformats.org/officeDocument/2006/relationships/notesMaster" Target="/ppt/notesMasters/notesMaster1.xml" Id="R401bc8992400454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102b8e145bf42fa" /><Relationship Type="http://schemas.openxmlformats.org/officeDocument/2006/relationships/notesMaster" Target="/ppt/notesMasters/notesMaster1.xml" Id="R636160e17ec34e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PlaylistPro의 출발점은 단순한 이탈 예측이 아닙니다. 모든 고객에게 같은 시간과 비용을 쓸 수 없기 때문에 누구를 먼저 검토하고 어떤 유지 행동을 제안할지 결정해야 합니다. 저희는 고객 위험 순위와 검토 가능한 행동 가설을 Streamlit 의사결정 흐름으로 연결했습니다.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Recall을 높이면 놓치는 이탈 고객은 줄지만 검토 대상과 FP가 늘어납니다. Precision을 높이면 접촉 효율은 좋아지지만 FN이 늘 수 있습니다. 따라서 모델 점수 하나가 아니라 운영 역량에 맞는 Threshold와 Top-K를 선택해야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학습 데이터는 12만 5천 명이고 Test는 7만 5천 명입니다. Test에는 라벨이 없으며 예측 기간도 정의되지 않았습니다. 따라서 발표 성능은 고정 5-Fold OOF 내부 검증이고 외부 Holdout 성능으로 표현하지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가장 강한 연속형 신호는 주간 청취 시간이었고 상관은 -0.302였습니다. Free 이탈률은 79.41%, Premium은 33.91%, 문의 High는 74.33%, Low는 28.92%였습니다. 이 수치는 원인이 아니라 행동을 검토하는 연관 신호입니다.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높은 문의는 미해결 문의 확인, 낮은 청취는 재활성화, Skip과 Pause는 콘텐츠 만족도와 복귀 장벽, Free는 혜택 인지 검토로 연결했습니다. 모델이 최적 처방을 학습한 것이 아니며 담당자가 채택·보류·직접 검토합니다.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Raw Logistic PR-AUC는 0.899495였고 로그 변환 후 0.906293으로 0.006798 개선돼 채택했습니다. 반면 상호작용과 여러 비율 실험은 거의 개선되지 않아 제외했습니다. CatBoost에서 로그 효과는 약 0.000089이므로 과장하지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후보는 같은 log_numeric 피처와 고정 5-Fold OOF를 사용했고 전처리는 Fold 안에서만 적합했습니다. PR-AUC는 클래스 불균형 때문이 아니라 제한된 고객 검토에서 위험 순위 품질을 보기 위한 주 지표입니다.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Raw Logistic 0.899495에서 최종 CatBoost OOF 0.947897까지 누적 0.048402 개선됐습니다. Random Forest 탐색은 자체 개선됐지만 상위 3개에는 못 들었고 Gradient Boosting 탐색은 하락했습니다. 실패 실험도 선택 근거로 남겼습니다.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조건에서 8개 모델을 비교한 뒤 CatBoost, LightGBM, XGBoost를 정밀 검증했습니다. CatBoost가 근소하게 높았지만 Bootstrap 구간은 겹치고 LightGBM은 Recall과 Brier에서 강점이 있습니다. CatBoost는 조건부 기술 후보입니다.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Threshold 0.29는 7만 7,700명을 검토해 Recall 95.18%를 확보합니다. 0.74는 4만 8,463명으로 대상이 줄고 Precision은 95.07%지만 FN이 늘어납니다. 정답 Threshold는 하나가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10%인 1만 2,500명을 검토하면 전체 이탈자의 19.48%를 포착하고 Lift는 1.95입니다. Top-K는 월간 처리 인원과 포착률을 연결합니다. Lift 1.95는 캠페인 효과가 아니라 라벨 농축도입니다.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앱은 인사이트 이해, 실험 근거, 모델 선정, 운영 기준, 고객 우선순위를 여섯 화면으로 연결합니다. 고객 우선순위에서는 위험 신호와 행동 후보를 보고, 가정 기반 계획에서는 구독별 비용과 가치를 편집합니다. 실제 CRM 발송은 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결과만으로 실제 이탈 방지 효과나 ROI를 주장할 수 없습니다. 다음 단계는 예측 시점을 정의한 실제 시간 Holdout, Calibration과 세그먼트 오류 검증, 그리고 행동별 A/B 테스트입니다.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PlaylistPro는 이탈을 맞히는 데서 멈추지 않았습니다. 고객 신호를 찾고, 공정한 검증으로 위험 순위를 만들고, Threshold와 Top-K로 검토 범위를 정하며, 행동 후보를 사람이 확인하도록 통합했습니다. 실제 효과는 다음 검증에서 확인하겠습니다.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d40177cdb947f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35c602dfa04110" /><Relationship Type="http://schemas.openxmlformats.org/officeDocument/2006/relationships/slideLayout" Target="/ppt/slideLayouts/slideLayout1.xml" Id="R3936928ec0cd4b3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36928ec0cd4b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8340d5082e345ec" /><Relationship Type="http://schemas.openxmlformats.org/officeDocument/2006/relationships/notesSlide" Target="/ppt/notesSlides/notesSlide1.xml" Id="R072f5094999e4f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5d4989a46944f42" /><Relationship Type="http://schemas.openxmlformats.org/officeDocument/2006/relationships/notesSlide" Target="/ppt/notesSlides/notesSlide2.xml" Id="Rda7f009e62b940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d02adcda4244a63" /><Relationship Type="http://schemas.openxmlformats.org/officeDocument/2006/relationships/notesSlide" Target="/ppt/notesSlides/notesSlide3.xml" Id="R91591f7f9ff545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0c73899c56f4144" /><Relationship Type="http://schemas.openxmlformats.org/officeDocument/2006/relationships/image" Target="/ppt/media/image.png" Id="R48aaf3db57f54eed" /><Relationship Type="http://schemas.openxmlformats.org/officeDocument/2006/relationships/image" Target="/ppt/media/image2.png" Id="R7e4788c3830541fc" /><Relationship Type="http://schemas.openxmlformats.org/officeDocument/2006/relationships/notesSlide" Target="/ppt/notesSlides/notesSlide4.xml" Id="Ra77a927b171b4e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ffb594cabb848c6" /><Relationship Type="http://schemas.openxmlformats.org/officeDocument/2006/relationships/notesSlide" Target="/ppt/notesSlides/notesSlide5.xml" Id="Rac8772e7287e4b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d12f100f4c14f42" /><Relationship Type="http://schemas.openxmlformats.org/officeDocument/2006/relationships/image" Target="/ppt/media/image3.png" Id="R10cd0bd737d94c33" /><Relationship Type="http://schemas.openxmlformats.org/officeDocument/2006/relationships/notesSlide" Target="/ppt/notesSlides/notesSlide6.xml" Id="Reaacc17dcf19482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73adb7bff924ed7" /><Relationship Type="http://schemas.openxmlformats.org/officeDocument/2006/relationships/image" Target="/ppt/media/image4.png" Id="R1ae2bd19c14c484d" /><Relationship Type="http://schemas.openxmlformats.org/officeDocument/2006/relationships/notesSlide" Target="/ppt/notesSlides/notesSlide7.xml" Id="Rd150f312b3e3450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6b3af0df16048e6" /><Relationship Type="http://schemas.openxmlformats.org/officeDocument/2006/relationships/image" Target="/ppt/media/image5.png" Id="Rc05e53ae511f4ab5" /><Relationship Type="http://schemas.openxmlformats.org/officeDocument/2006/relationships/notesSlide" Target="/ppt/notesSlides/notesSlide8.xml" Id="Rf08c04a44f7240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3f2ee806c164a96" /><Relationship Type="http://schemas.openxmlformats.org/officeDocument/2006/relationships/image" Target="/ppt/media/image6.png" Id="R1bc35b4d17814129" /><Relationship Type="http://schemas.openxmlformats.org/officeDocument/2006/relationships/image" Target="/ppt/media/image7.png" Id="R475797e42e274290" /><Relationship Type="http://schemas.openxmlformats.org/officeDocument/2006/relationships/notesSlide" Target="/ppt/notesSlides/notesSlide9.xml" Id="Ra769754d920e499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3c6218d25c04a68" /><Relationship Type="http://schemas.openxmlformats.org/officeDocument/2006/relationships/image" Target="/ppt/media/image8.png" Id="R9227094c720d4a22" /><Relationship Type="http://schemas.openxmlformats.org/officeDocument/2006/relationships/notesSlide" Target="/ppt/notesSlides/notesSlide10.xml" Id="R5e1534c4c7e94d2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d92c408ed32486c" /><Relationship Type="http://schemas.openxmlformats.org/officeDocument/2006/relationships/image" Target="/ppt/media/image9.png" Id="R13a9ea94e4634486" /><Relationship Type="http://schemas.openxmlformats.org/officeDocument/2006/relationships/image" Target="/ppt/media/image10.png" Id="R5559fe24ab294da0" /><Relationship Type="http://schemas.openxmlformats.org/officeDocument/2006/relationships/notesSlide" Target="/ppt/notesSlides/notesSlide11.xml" Id="Rf5ba88a637834b3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83c32170e4948a8" /><Relationship Type="http://schemas.openxmlformats.org/officeDocument/2006/relationships/image" Target="/ppt/media/image.jpeg" Id="Ra4aa52248f194ec0" /><Relationship Type="http://schemas.openxmlformats.org/officeDocument/2006/relationships/image" Target="/ppt/media/image2.jpeg" Id="R04255d1745674c34" /><Relationship Type="http://schemas.openxmlformats.org/officeDocument/2006/relationships/notesSlide" Target="/ppt/notesSlides/notesSlide12.xml" Id="R56450228f2c4470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fb272db4cda4844" /><Relationship Type="http://schemas.openxmlformats.org/officeDocument/2006/relationships/notesSlide" Target="/ppt/notesSlides/notesSlide13.xml" Id="Ra9eda031522244d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d5affa401ed4124" /><Relationship Type="http://schemas.openxmlformats.org/officeDocument/2006/relationships/notesSlide" Target="/ppt/notesSlides/notesSlide14.xml" Id="R337ef520e4524a6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75E68E2-39BF-4ADC-9ADB-F8D694ECDD86}"/>
              </a:ext>
            </a:extLst>
          </p:cNvPr>
          <p:cNvSpPr>
            <a:spLocks xmlns:a="http://schemas.openxmlformats.org/drawingml/2006/main" noGrp="1"/>
          </p:cNvSpPr>
          <p:nvPr/>
        </p:nvSpPr>
        <p:spPr>
          <a:xfrm xmlns:a="http://schemas.openxmlformats.org/drawingml/2006/main">
            <a:off x="533400" y="4000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E85E43"/>
                </a:solidFill>
                <a:latin typeface="Malgun Gothic"/>
                <a:ea typeface="Malgun Gothic"/>
                <a:cs typeface="Malgun Gothic"/>
              </a:defRPr>
            </a:pPr>
            <a:r>
              <a:rPr sz="900" b="1">
                <a:solidFill>
                  <a:srgbClr val="E85E43"/>
                </a:solidFill>
                <a:latin typeface="Malgun Gothic"/>
                <a:ea typeface="Malgun Gothic"/>
                <a:cs typeface="Malgun Gothic"/>
              </a:rPr>
              <a:t>PLAYLISTPRO · FINAL PRESENTATION</a:t>
            </a:r>
          </a:p>
        </p:txBody>
      </p:sp>
      <p:sp>
        <p:nvSpPr>
          <p:cNvPr id="2" name="">
            <a:extLst xmlns:a="http://schemas.openxmlformats.org/drawingml/2006/main">
              <a:ext uri="{FF2B5EF4-FFF2-40B4-BE49-F238E27FC236}">
                <a16:creationId xmlns:a16="http://schemas.microsoft.com/office/drawing/2014/main" id="{423689D4-2360-4EB8-A6E7-075C24F5DA6A}"/>
              </a:ext>
            </a:extLst>
          </p:cNvPr>
          <p:cNvSpPr>
            <a:spLocks xmlns:a="http://schemas.openxmlformats.org/drawingml/2006/main" noGrp="1"/>
          </p:cNvSpPr>
          <p:nvPr/>
        </p:nvSpPr>
        <p:spPr>
          <a:xfrm xmlns:a="http://schemas.openxmlformats.org/drawingml/2006/main">
            <a:off x="533400" y="1352550"/>
            <a:ext cx="6572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900" b="1">
                <a:solidFill>
                  <a:srgbClr val="17212B"/>
                </a:solidFill>
                <a:latin typeface="Malgun Gothic"/>
                <a:ea typeface="Malgun Gothic"/>
                <a:cs typeface="Malgun Gothic"/>
              </a:defRPr>
            </a:pPr>
            <a:r>
              <a:rPr sz="3900" b="1">
                <a:solidFill>
                  <a:srgbClr val="17212B"/>
                </a:solidFill>
                <a:latin typeface="Malgun Gothic"/>
                <a:ea typeface="Malgun Gothic"/>
                <a:cs typeface="Malgun Gothic"/>
              </a:rPr>
              <a:t>모든 고객을 볼 수 없다면,</a:t>
            </a:r>
          </a:p>
          <a:p xmlns:a="http://schemas.openxmlformats.org/drawingml/2006/main">
            <a:pPr algn="l">
              <a:buNone/>
              <a:defRPr sz="3900" b="1">
                <a:solidFill>
                  <a:srgbClr val="17212B"/>
                </a:solidFill>
                <a:latin typeface="Malgun Gothic"/>
                <a:ea typeface="Malgun Gothic"/>
                <a:cs typeface="Malgun Gothic"/>
              </a:defRPr>
            </a:pPr>
            <a:r>
              <a:rPr sz="3900" b="1">
                <a:solidFill>
                  <a:srgbClr val="17212B"/>
                </a:solidFill>
                <a:latin typeface="Malgun Gothic"/>
                <a:ea typeface="Malgun Gothic"/>
                <a:cs typeface="Malgun Gothic"/>
              </a:rPr>
              <a:t>누구부터 볼지 정해야 합니다</a:t>
            </a:r>
          </a:p>
        </p:txBody>
      </p:sp>
      <p:sp>
        <p:nvSpPr>
          <p:cNvPr id="3" name="">
            <a:extLst xmlns:a="http://schemas.openxmlformats.org/drawingml/2006/main">
              <a:ext uri="{FF2B5EF4-FFF2-40B4-BE49-F238E27FC236}">
                <a16:creationId xmlns:a16="http://schemas.microsoft.com/office/drawing/2014/main" id="{F7654D56-0C5F-4414-A441-246AB305CE3E}"/>
              </a:ext>
            </a:extLst>
          </p:cNvPr>
          <p:cNvSpPr>
            <a:spLocks xmlns:a="http://schemas.openxmlformats.org/drawingml/2006/main" noGrp="1"/>
          </p:cNvSpPr>
          <p:nvPr/>
        </p:nvSpPr>
        <p:spPr>
          <a:xfrm xmlns:a="http://schemas.openxmlformats.org/drawingml/2006/main">
            <a:off x="533400" y="3562350"/>
            <a:ext cx="657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0707E"/>
                </a:solidFill>
                <a:latin typeface="Malgun Gothic"/>
                <a:ea typeface="Malgun Gothic"/>
                <a:cs typeface="Malgun Gothic"/>
              </a:defRPr>
            </a:pPr>
            <a:r>
              <a:rPr sz="1575" b="0">
                <a:solidFill>
                  <a:srgbClr val="60707E"/>
                </a:solidFill>
                <a:latin typeface="Malgun Gothic"/>
                <a:ea typeface="Malgun Gothic"/>
                <a:cs typeface="Malgun Gothic"/>
              </a:rPr>
              <a:t>고객 행동 인사이트 → 위험 우선순위 → 검토 가능한 유지 행동</a:t>
            </a:r>
          </a:p>
        </p:txBody>
      </p:sp>
      <p:sp>
        <p:nvSpPr>
          <p:cNvPr id="4" name="">
            <a:extLst xmlns:a="http://schemas.openxmlformats.org/drawingml/2006/main">
              <a:ext uri="{FF2B5EF4-FFF2-40B4-BE49-F238E27FC236}">
                <a16:creationId xmlns:a16="http://schemas.microsoft.com/office/drawing/2014/main" id="{907EE807-0E5E-437D-AD4E-EE4810117E49}"/>
              </a:ext>
            </a:extLst>
          </p:cNvPr>
          <p:cNvSpPr>
            <a:spLocks xmlns:a="http://schemas.openxmlformats.org/drawingml/2006/main" noGrp="1"/>
          </p:cNvSpPr>
          <p:nvPr/>
        </p:nvSpPr>
        <p:spPr>
          <a:xfrm xmlns:a="http://schemas.openxmlformats.org/drawingml/2006/main">
            <a:off x="533400" y="5048250"/>
            <a:ext cx="657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60707E"/>
                </a:solidFill>
                <a:latin typeface="Malgun Gothic"/>
                <a:ea typeface="Malgun Gothic"/>
                <a:cs typeface="Malgun Gothic"/>
              </a:defRPr>
            </a:pPr>
            <a:r>
              <a:rPr sz="1050" b="0">
                <a:solidFill>
                  <a:srgbClr val="60707E"/>
                </a:solidFill>
                <a:latin typeface="Malgun Gothic"/>
                <a:ea typeface="Malgun Gothic"/>
                <a:cs typeface="Malgun Gothic"/>
              </a:rPr>
              <a:t>학습 고객 12.5만명 · 점수 산출 고객 7.5만명 · 최종 기술 후보 CatBoost</a:t>
            </a:r>
          </a:p>
        </p:txBody>
      </p:sp>
      <p:sp>
        <p:nvSpPr>
          <p:cNvPr id="5" name="">
            <a:extLst xmlns:a="http://schemas.openxmlformats.org/drawingml/2006/main">
              <a:ext uri="{FF2B5EF4-FFF2-40B4-BE49-F238E27FC236}">
                <a16:creationId xmlns:a16="http://schemas.microsoft.com/office/drawing/2014/main" id="{D129C5EF-C5B0-4DF9-BF4A-0F0E55056B2B}"/>
              </a:ext>
            </a:extLst>
          </p:cNvPr>
          <p:cNvSpPr>
            <a:spLocks xmlns:a="http://schemas.openxmlformats.org/drawingml/2006/main" noGrp="1"/>
          </p:cNvSpPr>
          <p:nvPr/>
        </p:nvSpPr>
        <p:spPr>
          <a:xfrm xmlns:a="http://schemas.openxmlformats.org/drawingml/2006/main">
            <a:off x="7810500" y="514350"/>
            <a:ext cx="3848100" cy="5715000"/>
          </a:xfrm>
          <a:prstGeom xmlns:a="http://schemas.openxmlformats.org/drawingml/2006/main" prst="roundRect">
            <a:avLst>
              <a:gd name="adj" fmla="val 1980"/>
            </a:avLst>
          </a:prstGeom>
          <a:solidFill xmlns:a="http://schemas.openxmlformats.org/drawingml/2006/main">
            <a:srgbClr val="17354B"/>
          </a:solidFill>
          <a:ln xmlns:a="http://schemas.openxmlformats.org/drawingml/2006/main" w="9525">
            <a:solidFill>
              <a:srgbClr val="17354B"/>
            </a:solidFill>
            <a:prstDash val="solid"/>
          </a:ln>
        </p:spPr>
      </p:sp>
      <p:sp>
        <p:nvSpPr>
          <p:cNvPr id="6" name="">
            <a:extLst xmlns:a="http://schemas.openxmlformats.org/drawingml/2006/main">
              <a:ext uri="{FF2B5EF4-FFF2-40B4-BE49-F238E27FC236}">
                <a16:creationId xmlns:a16="http://schemas.microsoft.com/office/drawing/2014/main" id="{131E311D-5E6F-4605-A26B-7BB243638A66}"/>
              </a:ext>
            </a:extLst>
          </p:cNvPr>
          <p:cNvSpPr>
            <a:spLocks xmlns:a="http://schemas.openxmlformats.org/drawingml/2006/main" noGrp="1"/>
          </p:cNvSpPr>
          <p:nvPr/>
        </p:nvSpPr>
        <p:spPr>
          <a:xfrm xmlns:a="http://schemas.openxmlformats.org/drawingml/2006/main">
            <a:off x="8153400" y="876300"/>
            <a:ext cx="76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F6A28F"/>
                </a:solidFill>
                <a:latin typeface="Malgun Gothic"/>
                <a:ea typeface="Malgun Gothic"/>
                <a:cs typeface="Malgun Gothic"/>
              </a:defRPr>
            </a:pPr>
            <a:r>
              <a:rPr sz="1725" b="1">
                <a:solidFill>
                  <a:srgbClr val="F6A28F"/>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05D52D6E-7B30-49BC-9EE5-80ED1B435194}"/>
              </a:ext>
            </a:extLst>
          </p:cNvPr>
          <p:cNvSpPr>
            <a:spLocks xmlns:a="http://schemas.openxmlformats.org/drawingml/2006/main" noGrp="1"/>
          </p:cNvSpPr>
          <p:nvPr/>
        </p:nvSpPr>
        <p:spPr>
          <a:xfrm xmlns:a="http://schemas.openxmlformats.org/drawingml/2006/main">
            <a:off x="8153400" y="1695450"/>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400" b="1">
                <a:solidFill>
                  <a:srgbClr val="FFFFFF"/>
                </a:solidFill>
                <a:latin typeface="Malgun Gothic"/>
                <a:ea typeface="Malgun Gothic"/>
                <a:cs typeface="Malgun Gothic"/>
              </a:defRPr>
            </a:pPr>
            <a:r>
              <a:rPr sz="2400" b="1">
                <a:solidFill>
                  <a:srgbClr val="FFFFFF"/>
                </a:solidFill>
                <a:latin typeface="Malgun Gothic"/>
                <a:ea typeface="Malgun Gothic"/>
                <a:cs typeface="Malgun Gothic"/>
              </a:rPr>
              <a:t>Customer signal</a:t>
            </a:r>
          </a:p>
        </p:txBody>
      </p:sp>
      <p:sp>
        <p:nvSpPr>
          <p:cNvPr id="8" name="">
            <a:extLst xmlns:a="http://schemas.openxmlformats.org/drawingml/2006/main">
              <a:ext uri="{FF2B5EF4-FFF2-40B4-BE49-F238E27FC236}">
                <a16:creationId xmlns:a16="http://schemas.microsoft.com/office/drawing/2014/main" id="{80E59728-6F1B-44AA-A78E-9D8249C3BCBC}"/>
              </a:ext>
            </a:extLst>
          </p:cNvPr>
          <p:cNvSpPr>
            <a:spLocks xmlns:a="http://schemas.openxmlformats.org/drawingml/2006/main" noGrp="1"/>
          </p:cNvSpPr>
          <p:nvPr/>
        </p:nvSpPr>
        <p:spPr>
          <a:xfrm xmlns:a="http://schemas.openxmlformats.org/drawingml/2006/main">
            <a:off x="8153400" y="2209800"/>
            <a:ext cx="47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F6A28F"/>
                </a:solidFill>
                <a:latin typeface="Malgun Gothic"/>
                <a:ea typeface="Malgun Gothic"/>
                <a:cs typeface="Malgun Gothic"/>
              </a:defRPr>
            </a:pPr>
            <a:r>
              <a:rPr sz="2100" b="1">
                <a:solidFill>
                  <a:srgbClr val="F6A28F"/>
                </a:solidFill>
                <a:latin typeface="Malgun Gothic"/>
                <a:ea typeface="Malgun Gothic"/>
                <a:cs typeface="Malgun Gothic"/>
              </a:rPr>
              <a:t>↓</a:t>
            </a:r>
          </a:p>
        </p:txBody>
      </p:sp>
      <p:sp>
        <p:nvSpPr>
          <p:cNvPr id="9" name="">
            <a:extLst xmlns:a="http://schemas.openxmlformats.org/drawingml/2006/main">
              <a:ext uri="{FF2B5EF4-FFF2-40B4-BE49-F238E27FC236}">
                <a16:creationId xmlns:a16="http://schemas.microsoft.com/office/drawing/2014/main" id="{A4FB4DF1-3E48-4F7F-826B-15801A380B7A}"/>
              </a:ext>
            </a:extLst>
          </p:cNvPr>
          <p:cNvSpPr>
            <a:spLocks xmlns:a="http://schemas.openxmlformats.org/drawingml/2006/main" noGrp="1"/>
          </p:cNvSpPr>
          <p:nvPr/>
        </p:nvSpPr>
        <p:spPr>
          <a:xfrm xmlns:a="http://schemas.openxmlformats.org/drawingml/2006/main">
            <a:off x="8153400" y="2686050"/>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400" b="1">
                <a:solidFill>
                  <a:srgbClr val="FFFFFF"/>
                </a:solidFill>
                <a:latin typeface="Malgun Gothic"/>
                <a:ea typeface="Malgun Gothic"/>
                <a:cs typeface="Malgun Gothic"/>
              </a:defRPr>
            </a:pPr>
            <a:r>
              <a:rPr sz="2400" b="1">
                <a:solidFill>
                  <a:srgbClr val="FFFFFF"/>
                </a:solidFill>
                <a:latin typeface="Malgun Gothic"/>
                <a:ea typeface="Malgun Gothic"/>
                <a:cs typeface="Malgun Gothic"/>
              </a:rPr>
              <a:t>Risk priority</a:t>
            </a:r>
          </a:p>
        </p:txBody>
      </p:sp>
      <p:sp>
        <p:nvSpPr>
          <p:cNvPr id="10" name="">
            <a:extLst xmlns:a="http://schemas.openxmlformats.org/drawingml/2006/main">
              <a:ext uri="{FF2B5EF4-FFF2-40B4-BE49-F238E27FC236}">
                <a16:creationId xmlns:a16="http://schemas.microsoft.com/office/drawing/2014/main" id="{08CA4DFD-2B16-46E5-82F5-1CC8DDD5FB4A}"/>
              </a:ext>
            </a:extLst>
          </p:cNvPr>
          <p:cNvSpPr>
            <a:spLocks xmlns:a="http://schemas.openxmlformats.org/drawingml/2006/main" noGrp="1"/>
          </p:cNvSpPr>
          <p:nvPr/>
        </p:nvSpPr>
        <p:spPr>
          <a:xfrm xmlns:a="http://schemas.openxmlformats.org/drawingml/2006/main">
            <a:off x="8153400" y="3200400"/>
            <a:ext cx="47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F6A28F"/>
                </a:solidFill>
                <a:latin typeface="Malgun Gothic"/>
                <a:ea typeface="Malgun Gothic"/>
                <a:cs typeface="Malgun Gothic"/>
              </a:defRPr>
            </a:pPr>
            <a:r>
              <a:rPr sz="2100" b="1">
                <a:solidFill>
                  <a:srgbClr val="F6A28F"/>
                </a:solidFill>
                <a:latin typeface="Malgun Gothic"/>
                <a:ea typeface="Malgun Gothic"/>
                <a:cs typeface="Malgun Gothic"/>
              </a:rPr>
              <a:t>↓</a:t>
            </a:r>
          </a:p>
        </p:txBody>
      </p:sp>
      <p:sp>
        <p:nvSpPr>
          <p:cNvPr id="11" name="">
            <a:extLst xmlns:a="http://schemas.openxmlformats.org/drawingml/2006/main">
              <a:ext uri="{FF2B5EF4-FFF2-40B4-BE49-F238E27FC236}">
                <a16:creationId xmlns:a16="http://schemas.microsoft.com/office/drawing/2014/main" id="{FDEFA894-6CAA-4A30-B1A4-37BC1801A180}"/>
              </a:ext>
            </a:extLst>
          </p:cNvPr>
          <p:cNvSpPr>
            <a:spLocks xmlns:a="http://schemas.openxmlformats.org/drawingml/2006/main" noGrp="1"/>
          </p:cNvSpPr>
          <p:nvPr/>
        </p:nvSpPr>
        <p:spPr>
          <a:xfrm xmlns:a="http://schemas.openxmlformats.org/drawingml/2006/main">
            <a:off x="8153400" y="367665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400" b="1">
                <a:solidFill>
                  <a:srgbClr val="FFFFFF"/>
                </a:solidFill>
                <a:latin typeface="Malgun Gothic"/>
                <a:ea typeface="Malgun Gothic"/>
                <a:cs typeface="Malgun Gothic"/>
              </a:defRPr>
            </a:pPr>
            <a:r>
              <a:rPr sz="2400" b="1">
                <a:solidFill>
                  <a:srgbClr val="FFFFFF"/>
                </a:solidFill>
                <a:latin typeface="Malgun Gothic"/>
                <a:ea typeface="Malgun Gothic"/>
                <a:cs typeface="Malgun Gothic"/>
              </a:rPr>
              <a:t>Action review</a:t>
            </a:r>
          </a:p>
        </p:txBody>
      </p:sp>
      <p:sp>
        <p:nvSpPr>
          <p:cNvPr id="12" name="">
            <a:extLst xmlns:a="http://schemas.openxmlformats.org/drawingml/2006/main">
              <a:ext uri="{FF2B5EF4-FFF2-40B4-BE49-F238E27FC236}">
                <a16:creationId xmlns:a16="http://schemas.microsoft.com/office/drawing/2014/main" id="{677A4ECF-77EA-4166-8776-CB3F51E8AC14}"/>
              </a:ext>
            </a:extLst>
          </p:cNvPr>
          <p:cNvSpPr>
            <a:spLocks xmlns:a="http://schemas.openxmlformats.org/drawingml/2006/main" noGrp="1"/>
          </p:cNvSpPr>
          <p:nvPr/>
        </p:nvSpPr>
        <p:spPr>
          <a:xfrm xmlns:a="http://schemas.openxmlformats.org/drawingml/2006/main">
            <a:off x="8153400" y="4762500"/>
            <a:ext cx="2952750" cy="9525"/>
          </a:xfrm>
          <a:prstGeom xmlns:a="http://schemas.openxmlformats.org/drawingml/2006/main" prst="rect">
            <a:avLst/>
          </a:prstGeom>
          <a:solidFill xmlns:a="http://schemas.openxmlformats.org/drawingml/2006/main">
            <a:srgbClr val="6D8494"/>
          </a:solidFill>
          <a:ln xmlns:a="http://schemas.openxmlformats.org/drawingml/2006/main" w="0">
            <a:solidFill>
              <a:srgbClr val="6D8494"/>
            </a:solidFill>
            <a:prstDash val="solid"/>
          </a:ln>
        </p:spPr>
      </p:sp>
      <p:sp>
        <p:nvSpPr>
          <p:cNvPr id="13" name="">
            <a:extLst xmlns:a="http://schemas.openxmlformats.org/drawingml/2006/main">
              <a:ext uri="{FF2B5EF4-FFF2-40B4-BE49-F238E27FC236}">
                <a16:creationId xmlns:a16="http://schemas.microsoft.com/office/drawing/2014/main" id="{C6FF1B60-2F0F-43F2-A561-D05AC0F6DD1A}"/>
              </a:ext>
            </a:extLst>
          </p:cNvPr>
          <p:cNvSpPr>
            <a:spLocks xmlns:a="http://schemas.openxmlformats.org/drawingml/2006/main" noGrp="1"/>
          </p:cNvSpPr>
          <p:nvPr/>
        </p:nvSpPr>
        <p:spPr>
          <a:xfrm xmlns:a="http://schemas.openxmlformats.org/drawingml/2006/main">
            <a:off x="8153400" y="5000625"/>
            <a:ext cx="295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D9E5EC"/>
                </a:solidFill>
                <a:latin typeface="Malgun Gothic"/>
                <a:ea typeface="Malgun Gothic"/>
                <a:cs typeface="Malgun Gothic"/>
              </a:defRPr>
            </a:pPr>
            <a:r>
              <a:rPr sz="1350" b="0">
                <a:solidFill>
                  <a:srgbClr val="D9E5EC"/>
                </a:solidFill>
                <a:latin typeface="Malgun Gothic"/>
                <a:ea typeface="Malgun Gothic"/>
                <a:cs typeface="Malgun Gothic"/>
              </a:rPr>
              <a:t>예측은 모델의 출력이고,</a:t>
            </a:r>
          </a:p>
          <a:p xmlns:a="http://schemas.openxmlformats.org/drawingml/2006/main">
            <a:pPr algn="l">
              <a:buNone/>
              <a:defRPr sz="1350" b="0">
                <a:solidFill>
                  <a:srgbClr val="D9E5EC"/>
                </a:solidFill>
                <a:latin typeface="Malgun Gothic"/>
                <a:ea typeface="Malgun Gothic"/>
                <a:cs typeface="Malgun Gothic"/>
              </a:defRPr>
            </a:pPr>
            <a:r>
              <a:rPr sz="1350" b="0">
                <a:solidFill>
                  <a:srgbClr val="D9E5EC"/>
                </a:solidFill>
                <a:latin typeface="Malgun Gothic"/>
                <a:ea typeface="Malgun Gothic"/>
                <a:cs typeface="Malgun Gothic"/>
              </a:rPr>
              <a:t>유지 활동은 사람이 근거를 보고 선택합니다.</a:t>
            </a:r>
          </a:p>
        </p:txBody>
      </p:sp>
      <p:sp>
        <p:nvSpPr>
          <p:cNvPr id="14" name="">
            <a:extLst xmlns:a="http://schemas.openxmlformats.org/drawingml/2006/main">
              <a:ext uri="{FF2B5EF4-FFF2-40B4-BE49-F238E27FC236}">
                <a16:creationId xmlns:a16="http://schemas.microsoft.com/office/drawing/2014/main" id="{60623D03-1A2E-4FA1-8030-DE188832499B}"/>
              </a:ext>
            </a:extLst>
          </p:cNvPr>
          <p:cNvSpPr>
            <a:spLocks xmlns:a="http://schemas.openxmlformats.org/drawingml/2006/main" noGrp="1"/>
          </p:cNvSpPr>
          <p:nvPr/>
        </p:nvSpPr>
        <p:spPr>
          <a:xfrm xmlns:a="http://schemas.openxmlformats.org/drawingml/2006/main">
            <a:off x="533400" y="6076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0">
                <a:solidFill>
                  <a:srgbClr val="60707E"/>
                </a:solidFill>
                <a:latin typeface="Malgun Gothic"/>
                <a:ea typeface="Malgun Gothic"/>
                <a:cs typeface="Malgun Gothic"/>
              </a:defRPr>
            </a:pPr>
            <a:r>
              <a:rPr sz="825" b="0">
                <a:solidFill>
                  <a:srgbClr val="60707E"/>
                </a:solidFill>
                <a:latin typeface="Malgun Gothic"/>
                <a:ea typeface="Malgun Gothic"/>
                <a:cs typeface="Malgun Gothic"/>
              </a:rPr>
              <a:t>2026.07.22</a:t>
            </a:r>
          </a:p>
        </p:txBody>
      </p:sp>
    </p:spTree>
    <p:extLst>
      <p:ext uri="{BB962C8B-B14F-4D97-AF65-F5344CB8AC3E}">
        <p14:creationId xmlns:p14="http://schemas.microsoft.com/office/powerpoint/2010/main" val="3480490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EF6BB0F-A6FF-4369-A78B-1470C11803A7}"/>
              </a:ext>
            </a:extLst>
          </p:cNvPr>
          <p:cNvSpPr>
            <a:spLocks xmlns:a="http://schemas.openxmlformats.org/drawingml/2006/main" noGrp="1"/>
          </p:cNvSpPr>
          <p:nvPr/>
        </p:nvSpPr>
        <p:spPr>
          <a:xfrm xmlns:a="http://schemas.openxmlformats.org/drawingml/2006/main">
            <a:off x="533400" y="1524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E85E43"/>
                </a:solidFill>
                <a:latin typeface="Malgun Gothic"/>
                <a:ea typeface="Malgun Gothic"/>
                <a:cs typeface="Malgun Gothic"/>
              </a:defRPr>
            </a:pPr>
            <a:r>
              <a:rPr sz="900" b="1">
                <a:solidFill>
                  <a:srgbClr val="E85E43"/>
                </a:solidFill>
                <a:latin typeface="Malgun Gothic"/>
                <a:ea typeface="Malgun Gothic"/>
                <a:cs typeface="Malgun Gothic"/>
              </a:rPr>
              <a:t>BUSINESS FRAMING</a:t>
            </a:r>
          </a:p>
        </p:txBody>
      </p:sp>
      <p:sp>
        <p:nvSpPr>
          <p:cNvPr id="2" name="">
            <a:extLst xmlns:a="http://schemas.openxmlformats.org/drawingml/2006/main">
              <a:ext uri="{FF2B5EF4-FFF2-40B4-BE49-F238E27FC236}">
                <a16:creationId xmlns:a16="http://schemas.microsoft.com/office/drawing/2014/main" id="{84F87453-D68B-4E03-B6D3-6771DFA9AC33}"/>
              </a:ext>
            </a:extLst>
          </p:cNvPr>
          <p:cNvSpPr>
            <a:spLocks xmlns:a="http://schemas.openxmlformats.org/drawingml/2006/main" noGrp="1"/>
          </p:cNvSpPr>
          <p:nvPr/>
        </p:nvSpPr>
        <p:spPr>
          <a:xfrm xmlns:a="http://schemas.openxmlformats.org/drawingml/2006/main">
            <a:off x="533400" y="419100"/>
            <a:ext cx="1104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정답 하나가 아니라 운영 자원에 맞는 선택이 필요합니다</a:t>
            </a:r>
          </a:p>
        </p:txBody>
      </p:sp>
      <p:sp>
        <p:nvSpPr>
          <p:cNvPr id="3" name="">
            <a:extLst xmlns:a="http://schemas.openxmlformats.org/drawingml/2006/main">
              <a:ext uri="{FF2B5EF4-FFF2-40B4-BE49-F238E27FC236}">
                <a16:creationId xmlns:a16="http://schemas.microsoft.com/office/drawing/2014/main" id="{FE4E82A5-2CA0-443B-A53F-09365F5D9B6D}"/>
              </a:ext>
            </a:extLst>
          </p:cNvPr>
          <p:cNvSpPr>
            <a:spLocks xmlns:a="http://schemas.openxmlformats.org/drawingml/2006/main" noGrp="1"/>
          </p:cNvSpPr>
          <p:nvPr/>
        </p:nvSpPr>
        <p:spPr>
          <a:xfrm xmlns:a="http://schemas.openxmlformats.org/drawingml/2006/main">
            <a:off x="533400" y="14573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Recall·Precision·검토 인원·행동 후보는 서로 다른 운영 부담을 만든다</a:t>
            </a:r>
          </a:p>
        </p:txBody>
      </p:sp>
      <p:sp>
        <p:nvSpPr>
          <p:cNvPr id="4" name="">
            <a:extLst xmlns:a="http://schemas.openxmlformats.org/drawingml/2006/main">
              <a:ext uri="{FF2B5EF4-FFF2-40B4-BE49-F238E27FC236}">
                <a16:creationId xmlns:a16="http://schemas.microsoft.com/office/drawing/2014/main" id="{F6CD7E5E-B551-4F2A-908B-17BEED2D0693}"/>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1E6"/>
          </a:solidFill>
          <a:ln xmlns:a="http://schemas.openxmlformats.org/drawingml/2006/main" w="0">
            <a:solidFill>
              <a:srgbClr val="D9E1E6"/>
            </a:solidFill>
            <a:prstDash val="solid"/>
          </a:ln>
        </p:spPr>
      </p:sp>
      <p:sp>
        <p:nvSpPr>
          <p:cNvPr id="5" name="">
            <a:extLst xmlns:a="http://schemas.openxmlformats.org/drawingml/2006/main">
              <a:ext uri="{FF2B5EF4-FFF2-40B4-BE49-F238E27FC236}">
                <a16:creationId xmlns:a16="http://schemas.microsoft.com/office/drawing/2014/main" id="{90991849-6AE4-46BB-AFC8-99ED55DA5E35}"/>
              </a:ext>
            </a:extLst>
          </p:cNvPr>
          <p:cNvSpPr>
            <a:spLocks xmlns:a="http://schemas.openxmlformats.org/drawingml/2006/main" noGrp="1"/>
          </p:cNvSpPr>
          <p:nvPr/>
        </p:nvSpPr>
        <p:spPr>
          <a:xfrm xmlns:a="http://schemas.openxmlformats.org/drawingml/2006/main">
            <a:off x="533400" y="653415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PlaylistPro · Retention Decision Support</a:t>
            </a:r>
          </a:p>
        </p:txBody>
      </p:sp>
      <p:sp>
        <p:nvSpPr>
          <p:cNvPr id="6" name="">
            <a:extLst xmlns:a="http://schemas.openxmlformats.org/drawingml/2006/main">
              <a:ext uri="{FF2B5EF4-FFF2-40B4-BE49-F238E27FC236}">
                <a16:creationId xmlns:a16="http://schemas.microsoft.com/office/drawing/2014/main" id="{1297ED5D-4689-45D7-840B-B9D3F4C0C20F}"/>
              </a:ext>
            </a:extLst>
          </p:cNvPr>
          <p:cNvSpPr>
            <a:spLocks xmlns:a="http://schemas.openxmlformats.org/drawingml/2006/main" noGrp="1"/>
          </p:cNvSpPr>
          <p:nvPr/>
        </p:nvSpPr>
        <p:spPr>
          <a:xfrm xmlns:a="http://schemas.openxmlformats.org/drawingml/2006/main">
            <a:off x="11239500" y="65151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60707E"/>
                </a:solidFill>
                <a:latin typeface="Malgun Gothic"/>
                <a:ea typeface="Malgun Gothic"/>
                <a:cs typeface="Malgun Gothic"/>
              </a:defRPr>
            </a:pPr>
            <a:r>
              <a:rPr sz="825" b="1">
                <a:solidFill>
                  <a:srgbClr val="60707E"/>
                </a:solidFill>
                <a:latin typeface="Malgun Gothic"/>
                <a:ea typeface="Malgun Gothic"/>
                <a:cs typeface="Malgun Gothic"/>
              </a:rPr>
              <a:t>02</a:t>
            </a:r>
          </a:p>
        </p:txBody>
      </p:sp>
      <p:sp>
        <p:nvSpPr>
          <p:cNvPr id="7" name="">
            <a:extLst xmlns:a="http://schemas.openxmlformats.org/drawingml/2006/main">
              <a:ext uri="{FF2B5EF4-FFF2-40B4-BE49-F238E27FC236}">
                <a16:creationId xmlns:a16="http://schemas.microsoft.com/office/drawing/2014/main" id="{B3230580-D4C4-428F-BC16-9C3A3DFC9B4A}"/>
              </a:ext>
            </a:extLst>
          </p:cNvPr>
          <p:cNvSpPr>
            <a:spLocks xmlns:a="http://schemas.openxmlformats.org/drawingml/2006/main" noGrp="1"/>
          </p:cNvSpPr>
          <p:nvPr/>
        </p:nvSpPr>
        <p:spPr>
          <a:xfrm xmlns:a="http://schemas.openxmlformats.org/drawingml/2006/main">
            <a:off x="533400" y="1952625"/>
            <a:ext cx="3371850" cy="2952750"/>
          </a:xfrm>
          <a:prstGeom xmlns:a="http://schemas.openxmlformats.org/drawingml/2006/main" prst="roundRect">
            <a:avLst>
              <a:gd name="adj" fmla="val 2581"/>
            </a:avLst>
          </a:prstGeom>
          <a:solidFill xmlns:a="http://schemas.openxmlformats.org/drawingml/2006/main">
            <a:srgbClr val="EDF7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A29C839-A513-49BE-9C28-718C7968E2DF}"/>
              </a:ext>
            </a:extLst>
          </p:cNvPr>
          <p:cNvSpPr>
            <a:spLocks xmlns:a="http://schemas.openxmlformats.org/drawingml/2006/main" noGrp="1"/>
          </p:cNvSpPr>
          <p:nvPr/>
        </p:nvSpPr>
        <p:spPr>
          <a:xfrm xmlns:a="http://schemas.openxmlformats.org/drawingml/2006/main">
            <a:off x="800100" y="22098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8847A"/>
                </a:solidFill>
                <a:latin typeface="Malgun Gothic"/>
                <a:ea typeface="Malgun Gothic"/>
                <a:cs typeface="Malgun Gothic"/>
              </a:defRPr>
            </a:pPr>
            <a:r>
              <a:rPr sz="1650" b="1">
                <a:solidFill>
                  <a:srgbClr val="18847A"/>
                </a:solidFill>
                <a:latin typeface="Malgun Gothic"/>
                <a:ea typeface="Malgun Gothic"/>
                <a:cs typeface="Malgun Gothic"/>
              </a:rPr>
              <a:t>놓침을 줄이는 선택</a:t>
            </a:r>
          </a:p>
        </p:txBody>
      </p:sp>
      <p:sp>
        <p:nvSpPr>
          <p:cNvPr id="9" name="">
            <a:extLst xmlns:a="http://schemas.openxmlformats.org/drawingml/2006/main">
              <a:ext uri="{FF2B5EF4-FFF2-40B4-BE49-F238E27FC236}">
                <a16:creationId xmlns:a16="http://schemas.microsoft.com/office/drawing/2014/main" id="{A00CEDEC-A7E4-46B6-98AA-4330F96424C4}"/>
              </a:ext>
            </a:extLst>
          </p:cNvPr>
          <p:cNvSpPr>
            <a:spLocks xmlns:a="http://schemas.openxmlformats.org/drawingml/2006/main" noGrp="1"/>
          </p:cNvSpPr>
          <p:nvPr/>
        </p:nvSpPr>
        <p:spPr>
          <a:xfrm xmlns:a="http://schemas.openxmlformats.org/drawingml/2006/main">
            <a:off x="800100" y="2714625"/>
            <a:ext cx="152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8847A"/>
                </a:solidFill>
                <a:latin typeface="Malgun Gothic"/>
                <a:ea typeface="Malgun Gothic"/>
                <a:cs typeface="Malgun Gothic"/>
              </a:defRPr>
            </a:pPr>
            <a:r>
              <a:rPr sz="2850" b="1">
                <a:solidFill>
                  <a:srgbClr val="18847A"/>
                </a:solidFill>
                <a:latin typeface="Malgun Gothic"/>
                <a:ea typeface="Malgun Gothic"/>
                <a:cs typeface="Malgun Gothic"/>
              </a:rPr>
              <a:t>FN ↓</a:t>
            </a:r>
          </a:p>
        </p:txBody>
      </p:sp>
      <p:sp>
        <p:nvSpPr>
          <p:cNvPr id="10" name="">
            <a:extLst xmlns:a="http://schemas.openxmlformats.org/drawingml/2006/main">
              <a:ext uri="{FF2B5EF4-FFF2-40B4-BE49-F238E27FC236}">
                <a16:creationId xmlns:a16="http://schemas.microsoft.com/office/drawing/2014/main" id="{8C8B296C-4543-4557-8E81-198D52F4979A}"/>
              </a:ext>
            </a:extLst>
          </p:cNvPr>
          <p:cNvSpPr>
            <a:spLocks xmlns:a="http://schemas.openxmlformats.org/drawingml/2006/main" noGrp="1"/>
          </p:cNvSpPr>
          <p:nvPr/>
        </p:nvSpPr>
        <p:spPr>
          <a:xfrm xmlns:a="http://schemas.openxmlformats.org/drawingml/2006/main">
            <a:off x="800100" y="3390900"/>
            <a:ext cx="2714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17212B"/>
                </a:solidFill>
                <a:latin typeface="Malgun Gothic"/>
                <a:ea typeface="Malgun Gothic"/>
                <a:cs typeface="Malgun Gothic"/>
              </a:defRPr>
            </a:pPr>
            <a:r>
              <a:rPr sz="1275" b="0">
                <a:solidFill>
                  <a:srgbClr val="17212B"/>
                </a:solidFill>
                <a:latin typeface="Malgun Gothic"/>
                <a:ea typeface="Malgun Gothic"/>
                <a:cs typeface="Malgun Gothic"/>
              </a:rPr>
              <a:t>이탈 고객을 더 많이 찾지만</a:t>
            </a:r>
          </a:p>
          <a:p xmlns:a="http://schemas.openxmlformats.org/drawingml/2006/main">
            <a:pPr algn="l">
              <a:buNone/>
              <a:defRPr sz="1275" b="0">
                <a:solidFill>
                  <a:srgbClr val="17212B"/>
                </a:solidFill>
                <a:latin typeface="Malgun Gothic"/>
                <a:ea typeface="Malgun Gothic"/>
                <a:cs typeface="Malgun Gothic"/>
              </a:defRPr>
            </a:pPr>
            <a:r>
              <a:rPr sz="1275" b="0">
                <a:solidFill>
                  <a:srgbClr val="17212B"/>
                </a:solidFill>
                <a:latin typeface="Malgun Gothic"/>
                <a:ea typeface="Malgun Gothic"/>
                <a:cs typeface="Malgun Gothic"/>
              </a:rPr>
              <a:t>검토 대상과 접촉 비용이 늘어납니다.</a:t>
            </a:r>
          </a:p>
        </p:txBody>
      </p:sp>
      <p:sp>
        <p:nvSpPr>
          <p:cNvPr id="11" name="">
            <a:extLst xmlns:a="http://schemas.openxmlformats.org/drawingml/2006/main">
              <a:ext uri="{FF2B5EF4-FFF2-40B4-BE49-F238E27FC236}">
                <a16:creationId xmlns:a16="http://schemas.microsoft.com/office/drawing/2014/main" id="{77B3947A-F4B7-4A8F-9F60-8B314A37F574}"/>
              </a:ext>
            </a:extLst>
          </p:cNvPr>
          <p:cNvSpPr>
            <a:spLocks xmlns:a="http://schemas.openxmlformats.org/drawingml/2006/main" noGrp="1"/>
          </p:cNvSpPr>
          <p:nvPr/>
        </p:nvSpPr>
        <p:spPr>
          <a:xfrm xmlns:a="http://schemas.openxmlformats.org/drawingml/2006/main">
            <a:off x="4410075" y="1952625"/>
            <a:ext cx="3371850" cy="2952750"/>
          </a:xfrm>
          <a:prstGeom xmlns:a="http://schemas.openxmlformats.org/drawingml/2006/main" prst="roundRect">
            <a:avLst>
              <a:gd name="adj" fmla="val 2581"/>
            </a:avLst>
          </a:prstGeom>
          <a:solidFill xmlns:a="http://schemas.openxmlformats.org/drawingml/2006/main">
            <a:srgbClr val="FFF3E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2CAE240-3983-4FBA-B5FD-D3692AC17446}"/>
              </a:ext>
            </a:extLst>
          </p:cNvPr>
          <p:cNvSpPr>
            <a:spLocks xmlns:a="http://schemas.openxmlformats.org/drawingml/2006/main" noGrp="1"/>
          </p:cNvSpPr>
          <p:nvPr/>
        </p:nvSpPr>
        <p:spPr>
          <a:xfrm xmlns:a="http://schemas.openxmlformats.org/drawingml/2006/main">
            <a:off x="4676775" y="22098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E85E43"/>
                </a:solidFill>
                <a:latin typeface="Malgun Gothic"/>
                <a:ea typeface="Malgun Gothic"/>
                <a:cs typeface="Malgun Gothic"/>
              </a:defRPr>
            </a:pPr>
            <a:r>
              <a:rPr sz="1650" b="1">
                <a:solidFill>
                  <a:srgbClr val="E85E43"/>
                </a:solidFill>
                <a:latin typeface="Malgun Gothic"/>
                <a:ea typeface="Malgun Gothic"/>
                <a:cs typeface="Malgun Gothic"/>
              </a:rPr>
              <a:t>불필요한 접촉을 줄이는 선택</a:t>
            </a:r>
          </a:p>
        </p:txBody>
      </p:sp>
      <p:sp>
        <p:nvSpPr>
          <p:cNvPr id="13" name="">
            <a:extLst xmlns:a="http://schemas.openxmlformats.org/drawingml/2006/main">
              <a:ext uri="{FF2B5EF4-FFF2-40B4-BE49-F238E27FC236}">
                <a16:creationId xmlns:a16="http://schemas.microsoft.com/office/drawing/2014/main" id="{0D5BF2A0-8E36-496D-B628-2B476AE71B3D}"/>
              </a:ext>
            </a:extLst>
          </p:cNvPr>
          <p:cNvSpPr>
            <a:spLocks xmlns:a="http://schemas.openxmlformats.org/drawingml/2006/main" noGrp="1"/>
          </p:cNvSpPr>
          <p:nvPr/>
        </p:nvSpPr>
        <p:spPr>
          <a:xfrm xmlns:a="http://schemas.openxmlformats.org/drawingml/2006/main">
            <a:off x="4676775" y="2714625"/>
            <a:ext cx="152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E85E43"/>
                </a:solidFill>
                <a:latin typeface="Malgun Gothic"/>
                <a:ea typeface="Malgun Gothic"/>
                <a:cs typeface="Malgun Gothic"/>
              </a:defRPr>
            </a:pPr>
            <a:r>
              <a:rPr sz="2850" b="1">
                <a:solidFill>
                  <a:srgbClr val="E85E43"/>
                </a:solidFill>
                <a:latin typeface="Malgun Gothic"/>
                <a:ea typeface="Malgun Gothic"/>
                <a:cs typeface="Malgun Gothic"/>
              </a:rPr>
              <a:t>FP ↓</a:t>
            </a:r>
          </a:p>
        </p:txBody>
      </p:sp>
      <p:sp>
        <p:nvSpPr>
          <p:cNvPr id="14" name="">
            <a:extLst xmlns:a="http://schemas.openxmlformats.org/drawingml/2006/main">
              <a:ext uri="{FF2B5EF4-FFF2-40B4-BE49-F238E27FC236}">
                <a16:creationId xmlns:a16="http://schemas.microsoft.com/office/drawing/2014/main" id="{8FFCE808-1D0E-4826-ACD3-6AEB5384CDAD}"/>
              </a:ext>
            </a:extLst>
          </p:cNvPr>
          <p:cNvSpPr>
            <a:spLocks xmlns:a="http://schemas.openxmlformats.org/drawingml/2006/main" noGrp="1"/>
          </p:cNvSpPr>
          <p:nvPr/>
        </p:nvSpPr>
        <p:spPr>
          <a:xfrm xmlns:a="http://schemas.openxmlformats.org/drawingml/2006/main">
            <a:off x="4676775" y="3390900"/>
            <a:ext cx="2714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17212B"/>
                </a:solidFill>
                <a:latin typeface="Malgun Gothic"/>
                <a:ea typeface="Malgun Gothic"/>
                <a:cs typeface="Malgun Gothic"/>
              </a:defRPr>
            </a:pPr>
            <a:r>
              <a:rPr sz="1275" b="0">
                <a:solidFill>
                  <a:srgbClr val="17212B"/>
                </a:solidFill>
                <a:latin typeface="Malgun Gothic"/>
                <a:ea typeface="Malgun Gothic"/>
                <a:cs typeface="Malgun Gothic"/>
              </a:rPr>
              <a:t>선별 정확도는 높아지지만</a:t>
            </a:r>
          </a:p>
          <a:p xmlns:a="http://schemas.openxmlformats.org/drawingml/2006/main">
            <a:pPr algn="l">
              <a:buNone/>
              <a:defRPr sz="1275" b="0">
                <a:solidFill>
                  <a:srgbClr val="17212B"/>
                </a:solidFill>
                <a:latin typeface="Malgun Gothic"/>
                <a:ea typeface="Malgun Gothic"/>
                <a:cs typeface="Malgun Gothic"/>
              </a:defRPr>
            </a:pPr>
            <a:r>
              <a:rPr sz="1275" b="0">
                <a:solidFill>
                  <a:srgbClr val="17212B"/>
                </a:solidFill>
                <a:latin typeface="Malgun Gothic"/>
                <a:ea typeface="Malgun Gothic"/>
                <a:cs typeface="Malgun Gothic"/>
              </a:rPr>
              <a:t>놓치는 이탈 고객이 늘어납니다.</a:t>
            </a:r>
          </a:p>
        </p:txBody>
      </p:sp>
      <p:sp>
        <p:nvSpPr>
          <p:cNvPr id="15" name="">
            <a:extLst xmlns:a="http://schemas.openxmlformats.org/drawingml/2006/main">
              <a:ext uri="{FF2B5EF4-FFF2-40B4-BE49-F238E27FC236}">
                <a16:creationId xmlns:a16="http://schemas.microsoft.com/office/drawing/2014/main" id="{0A85127E-CFF9-4CCA-B987-83B35CE0A850}"/>
              </a:ext>
            </a:extLst>
          </p:cNvPr>
          <p:cNvSpPr>
            <a:spLocks xmlns:a="http://schemas.openxmlformats.org/drawingml/2006/main" noGrp="1"/>
          </p:cNvSpPr>
          <p:nvPr/>
        </p:nvSpPr>
        <p:spPr>
          <a:xfrm xmlns:a="http://schemas.openxmlformats.org/drawingml/2006/main">
            <a:off x="8286750" y="1952625"/>
            <a:ext cx="3371850" cy="2952750"/>
          </a:xfrm>
          <a:prstGeom xmlns:a="http://schemas.openxmlformats.org/drawingml/2006/main" prst="roundRect">
            <a:avLst>
              <a:gd name="adj" fmla="val 2581"/>
            </a:avLst>
          </a:prstGeom>
          <a:solidFill xmlns:a="http://schemas.openxmlformats.org/drawingml/2006/main">
            <a:srgbClr val="F3F6F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ACF4A1F-F029-4D66-8F6E-99BDCA7F4C37}"/>
              </a:ext>
            </a:extLst>
          </p:cNvPr>
          <p:cNvSpPr>
            <a:spLocks xmlns:a="http://schemas.openxmlformats.org/drawingml/2006/main" noGrp="1"/>
          </p:cNvSpPr>
          <p:nvPr/>
        </p:nvSpPr>
        <p:spPr>
          <a:xfrm xmlns:a="http://schemas.openxmlformats.org/drawingml/2006/main">
            <a:off x="8553450" y="22098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7354B"/>
                </a:solidFill>
                <a:latin typeface="Malgun Gothic"/>
                <a:ea typeface="Malgun Gothic"/>
                <a:cs typeface="Malgun Gothic"/>
              </a:defRPr>
            </a:pPr>
            <a:r>
              <a:rPr sz="1650" b="1">
                <a:solidFill>
                  <a:srgbClr val="17354B"/>
                </a:solidFill>
                <a:latin typeface="Malgun Gothic"/>
                <a:ea typeface="Malgun Gothic"/>
                <a:cs typeface="Malgun Gothic"/>
              </a:rPr>
              <a:t>운영 가능한 선택</a:t>
            </a:r>
          </a:p>
        </p:txBody>
      </p:sp>
      <p:sp>
        <p:nvSpPr>
          <p:cNvPr id="17" name="">
            <a:extLst xmlns:a="http://schemas.openxmlformats.org/drawingml/2006/main">
              <a:ext uri="{FF2B5EF4-FFF2-40B4-BE49-F238E27FC236}">
                <a16:creationId xmlns:a16="http://schemas.microsoft.com/office/drawing/2014/main" id="{C7A186B2-A612-456B-901D-C4E4D9ABA34E}"/>
              </a:ext>
            </a:extLst>
          </p:cNvPr>
          <p:cNvSpPr>
            <a:spLocks xmlns:a="http://schemas.openxmlformats.org/drawingml/2006/main" noGrp="1"/>
          </p:cNvSpPr>
          <p:nvPr/>
        </p:nvSpPr>
        <p:spPr>
          <a:xfrm xmlns:a="http://schemas.openxmlformats.org/drawingml/2006/main">
            <a:off x="8553450" y="2752725"/>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7354B"/>
                </a:solidFill>
                <a:latin typeface="Malgun Gothic"/>
                <a:ea typeface="Malgun Gothic"/>
                <a:cs typeface="Malgun Gothic"/>
              </a:defRPr>
            </a:pPr>
            <a:r>
              <a:rPr sz="2100" b="1">
                <a:solidFill>
                  <a:srgbClr val="17354B"/>
                </a:solidFill>
                <a:latin typeface="Malgun Gothic"/>
                <a:ea typeface="Malgun Gothic"/>
                <a:cs typeface="Malgun Gothic"/>
              </a:rPr>
              <a:t>CAPACITY</a:t>
            </a:r>
          </a:p>
        </p:txBody>
      </p:sp>
      <p:sp>
        <p:nvSpPr>
          <p:cNvPr id="18" name="">
            <a:extLst xmlns:a="http://schemas.openxmlformats.org/drawingml/2006/main">
              <a:ext uri="{FF2B5EF4-FFF2-40B4-BE49-F238E27FC236}">
                <a16:creationId xmlns:a16="http://schemas.microsoft.com/office/drawing/2014/main" id="{2A053DDF-4D23-4DC6-9645-519B58D31397}"/>
              </a:ext>
            </a:extLst>
          </p:cNvPr>
          <p:cNvSpPr>
            <a:spLocks xmlns:a="http://schemas.openxmlformats.org/drawingml/2006/main" noGrp="1"/>
          </p:cNvSpPr>
          <p:nvPr/>
        </p:nvSpPr>
        <p:spPr>
          <a:xfrm xmlns:a="http://schemas.openxmlformats.org/drawingml/2006/main">
            <a:off x="8553450" y="3390900"/>
            <a:ext cx="2714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17212B"/>
                </a:solidFill>
                <a:latin typeface="Malgun Gothic"/>
                <a:ea typeface="Malgun Gothic"/>
                <a:cs typeface="Malgun Gothic"/>
              </a:defRPr>
            </a:pPr>
            <a:r>
              <a:rPr sz="1275" b="0">
                <a:solidFill>
                  <a:srgbClr val="17212B"/>
                </a:solidFill>
                <a:latin typeface="Malgun Gothic"/>
                <a:ea typeface="Malgun Gothic"/>
                <a:cs typeface="Malgun Gothic"/>
              </a:rPr>
              <a:t>최종 Threshold는 모델이 아니라</a:t>
            </a:r>
          </a:p>
          <a:p xmlns:a="http://schemas.openxmlformats.org/drawingml/2006/main">
            <a:pPr algn="l">
              <a:buNone/>
              <a:defRPr sz="1275" b="0">
                <a:solidFill>
                  <a:srgbClr val="17212B"/>
                </a:solidFill>
                <a:latin typeface="Malgun Gothic"/>
                <a:ea typeface="Malgun Gothic"/>
                <a:cs typeface="Malgun Gothic"/>
              </a:defRPr>
            </a:pPr>
            <a:r>
              <a:rPr sz="1275" b="0">
                <a:solidFill>
                  <a:srgbClr val="17212B"/>
                </a:solidFill>
                <a:latin typeface="Malgun Gothic"/>
                <a:ea typeface="Malgun Gothic"/>
                <a:cs typeface="Malgun Gothic"/>
              </a:rPr>
              <a:t>인력·예산·고객 경험이 결정합니다.</a:t>
            </a:r>
          </a:p>
        </p:txBody>
      </p:sp>
      <p:sp>
        <p:nvSpPr>
          <p:cNvPr id="19" name="">
            <a:extLst xmlns:a="http://schemas.openxmlformats.org/drawingml/2006/main">
              <a:ext uri="{FF2B5EF4-FFF2-40B4-BE49-F238E27FC236}">
                <a16:creationId xmlns:a16="http://schemas.microsoft.com/office/drawing/2014/main" id="{25ABE4E6-7FA7-451A-947F-C8F906BF2A01}"/>
              </a:ext>
            </a:extLst>
          </p:cNvPr>
          <p:cNvSpPr>
            <a:spLocks xmlns:a="http://schemas.openxmlformats.org/drawingml/2006/main" noGrp="1"/>
          </p:cNvSpPr>
          <p:nvPr/>
        </p:nvSpPr>
        <p:spPr>
          <a:xfrm xmlns:a="http://schemas.openxmlformats.org/drawingml/2006/main">
            <a:off x="533400" y="5276850"/>
            <a:ext cx="11125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17212B"/>
                </a:solidFill>
                <a:latin typeface="Malgun Gothic"/>
                <a:ea typeface="Malgun Gothic"/>
                <a:cs typeface="Malgun Gothic"/>
              </a:defRPr>
            </a:pPr>
            <a:r>
              <a:rPr sz="1500" b="1">
                <a:solidFill>
                  <a:srgbClr val="17212B"/>
                </a:solidFill>
                <a:latin typeface="Malgun Gothic"/>
                <a:ea typeface="Malgun Gothic"/>
                <a:cs typeface="Malgun Gothic"/>
              </a:rPr>
              <a:t>따라서 하나의 임계값을 강요하지 않고 보수적·균형·정밀 시나리오를 함께 제시합니다.</a:t>
            </a:r>
          </a:p>
        </p:txBody>
      </p:sp>
      <p:sp>
        <p:nvSpPr>
          <p:cNvPr id="20" name="">
            <a:extLst xmlns:a="http://schemas.openxmlformats.org/drawingml/2006/main">
              <a:ext uri="{FF2B5EF4-FFF2-40B4-BE49-F238E27FC236}">
                <a16:creationId xmlns:a16="http://schemas.microsoft.com/office/drawing/2014/main" id="{69472300-A61F-4F39-ADF4-17816DBA6AF0}"/>
              </a:ext>
            </a:extLst>
          </p:cNvPr>
          <p:cNvSpPr>
            <a:spLocks xmlns:a="http://schemas.openxmlformats.org/drawingml/2006/main" noGrp="1"/>
          </p:cNvSpPr>
          <p:nvPr/>
        </p:nvSpPr>
        <p:spPr>
          <a:xfrm xmlns:a="http://schemas.openxmlformats.org/drawingml/2006/main">
            <a:off x="533400" y="6200775"/>
            <a:ext cx="10572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근거: docs/requirements.md · docs/validation_plan.md</a:t>
            </a:r>
          </a:p>
        </p:txBody>
      </p:sp>
    </p:spTree>
    <p:extLst>
      <p:ext uri="{BB962C8B-B14F-4D97-AF65-F5344CB8AC3E}">
        <p14:creationId xmlns:p14="http://schemas.microsoft.com/office/powerpoint/2010/main" val="3249936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ABB666B-DED7-47B8-9A83-AF77BA0DEF80}"/>
              </a:ext>
            </a:extLst>
          </p:cNvPr>
          <p:cNvSpPr>
            <a:spLocks xmlns:a="http://schemas.openxmlformats.org/drawingml/2006/main" noGrp="1"/>
          </p:cNvSpPr>
          <p:nvPr/>
        </p:nvSpPr>
        <p:spPr>
          <a:xfrm xmlns:a="http://schemas.openxmlformats.org/drawingml/2006/main">
            <a:off x="533400" y="1524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E85E43"/>
                </a:solidFill>
                <a:latin typeface="Malgun Gothic"/>
                <a:ea typeface="Malgun Gothic"/>
                <a:cs typeface="Malgun Gothic"/>
              </a:defRPr>
            </a:pPr>
            <a:r>
              <a:rPr sz="900" b="1">
                <a:solidFill>
                  <a:srgbClr val="E85E43"/>
                </a:solidFill>
                <a:latin typeface="Malgun Gothic"/>
                <a:ea typeface="Malgun Gothic"/>
                <a:cs typeface="Malgun Gothic"/>
              </a:rPr>
              <a:t>DATA READINESS</a:t>
            </a:r>
          </a:p>
        </p:txBody>
      </p:sp>
      <p:sp>
        <p:nvSpPr>
          <p:cNvPr id="2" name="">
            <a:extLst xmlns:a="http://schemas.openxmlformats.org/drawingml/2006/main">
              <a:ext uri="{FF2B5EF4-FFF2-40B4-BE49-F238E27FC236}">
                <a16:creationId xmlns:a16="http://schemas.microsoft.com/office/drawing/2014/main" id="{FB4D61AB-0495-4E79-BD0F-E9B56345F4B6}"/>
              </a:ext>
            </a:extLst>
          </p:cNvPr>
          <p:cNvSpPr>
            <a:spLocks xmlns:a="http://schemas.openxmlformats.org/drawingml/2006/main" noGrp="1"/>
          </p:cNvSpPr>
          <p:nvPr/>
        </p:nvSpPr>
        <p:spPr>
          <a:xfrm xmlns:a="http://schemas.openxmlformats.org/drawingml/2006/main">
            <a:off x="533400" y="419100"/>
            <a:ext cx="1104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데이터는 크지만 현실 일반화에는 분명한 경계가 있습니다</a:t>
            </a:r>
          </a:p>
        </p:txBody>
      </p:sp>
      <p:sp>
        <p:nvSpPr>
          <p:cNvPr id="3" name="">
            <a:extLst xmlns:a="http://schemas.openxmlformats.org/drawingml/2006/main">
              <a:ext uri="{FF2B5EF4-FFF2-40B4-BE49-F238E27FC236}">
                <a16:creationId xmlns:a16="http://schemas.microsoft.com/office/drawing/2014/main" id="{E0E5C2E5-D2FA-4A18-8928-BB128C210CB6}"/>
              </a:ext>
            </a:extLst>
          </p:cNvPr>
          <p:cNvSpPr>
            <a:spLocks xmlns:a="http://schemas.openxmlformats.org/drawingml/2006/main" noGrp="1"/>
          </p:cNvSpPr>
          <p:nvPr/>
        </p:nvSpPr>
        <p:spPr>
          <a:xfrm xmlns:a="http://schemas.openxmlformats.org/drawingml/2006/main">
            <a:off x="533400" y="14573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현재 성능은 고정 5-Fold OOF 내부 검증이며 무라벨 Test는 점수 산출 대상이다</a:t>
            </a:r>
          </a:p>
        </p:txBody>
      </p:sp>
      <p:sp>
        <p:nvSpPr>
          <p:cNvPr id="4" name="">
            <a:extLst xmlns:a="http://schemas.openxmlformats.org/drawingml/2006/main">
              <a:ext uri="{FF2B5EF4-FFF2-40B4-BE49-F238E27FC236}">
                <a16:creationId xmlns:a16="http://schemas.microsoft.com/office/drawing/2014/main" id="{02FF22C4-4258-4EF5-90C4-30594D16BD8E}"/>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1E6"/>
          </a:solidFill>
          <a:ln xmlns:a="http://schemas.openxmlformats.org/drawingml/2006/main" w="0">
            <a:solidFill>
              <a:srgbClr val="D9E1E6"/>
            </a:solidFill>
            <a:prstDash val="solid"/>
          </a:ln>
        </p:spPr>
      </p:sp>
      <p:sp>
        <p:nvSpPr>
          <p:cNvPr id="5" name="">
            <a:extLst xmlns:a="http://schemas.openxmlformats.org/drawingml/2006/main">
              <a:ext uri="{FF2B5EF4-FFF2-40B4-BE49-F238E27FC236}">
                <a16:creationId xmlns:a16="http://schemas.microsoft.com/office/drawing/2014/main" id="{C15FC9BB-CC1F-4679-933F-0BD1F4943098}"/>
              </a:ext>
            </a:extLst>
          </p:cNvPr>
          <p:cNvSpPr>
            <a:spLocks xmlns:a="http://schemas.openxmlformats.org/drawingml/2006/main" noGrp="1"/>
          </p:cNvSpPr>
          <p:nvPr/>
        </p:nvSpPr>
        <p:spPr>
          <a:xfrm xmlns:a="http://schemas.openxmlformats.org/drawingml/2006/main">
            <a:off x="533400" y="653415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PlaylistPro · Retention Decision Support</a:t>
            </a:r>
          </a:p>
        </p:txBody>
      </p:sp>
      <p:sp>
        <p:nvSpPr>
          <p:cNvPr id="6" name="">
            <a:extLst xmlns:a="http://schemas.openxmlformats.org/drawingml/2006/main">
              <a:ext uri="{FF2B5EF4-FFF2-40B4-BE49-F238E27FC236}">
                <a16:creationId xmlns:a16="http://schemas.microsoft.com/office/drawing/2014/main" id="{D39D8964-E34B-4E11-8CFA-2FFF1A0A4A4E}"/>
              </a:ext>
            </a:extLst>
          </p:cNvPr>
          <p:cNvSpPr>
            <a:spLocks xmlns:a="http://schemas.openxmlformats.org/drawingml/2006/main" noGrp="1"/>
          </p:cNvSpPr>
          <p:nvPr/>
        </p:nvSpPr>
        <p:spPr>
          <a:xfrm xmlns:a="http://schemas.openxmlformats.org/drawingml/2006/main">
            <a:off x="11239500" y="65151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60707E"/>
                </a:solidFill>
                <a:latin typeface="Malgun Gothic"/>
                <a:ea typeface="Malgun Gothic"/>
                <a:cs typeface="Malgun Gothic"/>
              </a:defRPr>
            </a:pPr>
            <a:r>
              <a:rPr sz="825" b="1">
                <a:solidFill>
                  <a:srgbClr val="60707E"/>
                </a:solidFill>
                <a:latin typeface="Malgun Gothic"/>
                <a:ea typeface="Malgun Gothic"/>
                <a:cs typeface="Malgun Gothic"/>
              </a:rPr>
              <a:t>03</a:t>
            </a:r>
          </a:p>
        </p:txBody>
      </p:sp>
      <p:sp>
        <p:nvSpPr>
          <p:cNvPr id="7" name="">
            <a:extLst xmlns:a="http://schemas.openxmlformats.org/drawingml/2006/main">
              <a:ext uri="{FF2B5EF4-FFF2-40B4-BE49-F238E27FC236}">
                <a16:creationId xmlns:a16="http://schemas.microsoft.com/office/drawing/2014/main" id="{941E7CB3-4A04-41F9-8D2B-F7CA2F379659}"/>
              </a:ext>
            </a:extLst>
          </p:cNvPr>
          <p:cNvSpPr>
            <a:spLocks xmlns:a="http://schemas.openxmlformats.org/drawingml/2006/main" noGrp="1"/>
          </p:cNvSpPr>
          <p:nvPr/>
        </p:nvSpPr>
        <p:spPr>
          <a:xfrm xmlns:a="http://schemas.openxmlformats.org/drawingml/2006/main">
            <a:off x="533400" y="1981200"/>
            <a:ext cx="3333750" cy="1257300"/>
          </a:xfrm>
          <a:prstGeom xmlns:a="http://schemas.openxmlformats.org/drawingml/2006/main" prst="roundRect">
            <a:avLst>
              <a:gd name="adj" fmla="val 6061"/>
            </a:avLst>
          </a:prstGeom>
          <a:solidFill xmlns:a="http://schemas.openxmlformats.org/drawingml/2006/main">
            <a:srgbClr val="F3F6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DA3123B-1BB5-4DC2-B356-D944FCBA3277}"/>
              </a:ext>
            </a:extLst>
          </p:cNvPr>
          <p:cNvSpPr>
            <a:spLocks xmlns:a="http://schemas.openxmlformats.org/drawingml/2006/main" noGrp="1"/>
          </p:cNvSpPr>
          <p:nvPr/>
        </p:nvSpPr>
        <p:spPr>
          <a:xfrm xmlns:a="http://schemas.openxmlformats.org/drawingml/2006/main">
            <a:off x="533400" y="1981200"/>
            <a:ext cx="57150" cy="1257300"/>
          </a:xfrm>
          <a:prstGeom xmlns:a="http://schemas.openxmlformats.org/drawingml/2006/main" prst="rect">
            <a:avLst/>
          </a:prstGeom>
          <a:solidFill xmlns:a="http://schemas.openxmlformats.org/drawingml/2006/main">
            <a:srgbClr val="18847A"/>
          </a:solidFill>
          <a:ln xmlns:a="http://schemas.openxmlformats.org/drawingml/2006/main" w="0">
            <a:solidFill>
              <a:srgbClr val="18847A"/>
            </a:solidFill>
            <a:prstDash val="solid"/>
          </a:ln>
        </p:spPr>
      </p:sp>
      <p:sp>
        <p:nvSpPr>
          <p:cNvPr id="9" name="">
            <a:extLst xmlns:a="http://schemas.openxmlformats.org/drawingml/2006/main">
              <a:ext uri="{FF2B5EF4-FFF2-40B4-BE49-F238E27FC236}">
                <a16:creationId xmlns:a16="http://schemas.microsoft.com/office/drawing/2014/main" id="{BD1F46B0-E724-40A9-AD46-3EA53EE8F15B}"/>
              </a:ext>
            </a:extLst>
          </p:cNvPr>
          <p:cNvSpPr>
            <a:spLocks xmlns:a="http://schemas.openxmlformats.org/drawingml/2006/main" noGrp="1"/>
          </p:cNvSpPr>
          <p:nvPr/>
        </p:nvSpPr>
        <p:spPr>
          <a:xfrm xmlns:a="http://schemas.openxmlformats.org/drawingml/2006/main">
            <a:off x="762000" y="2152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60707E"/>
                </a:solidFill>
                <a:latin typeface="Malgun Gothic"/>
                <a:ea typeface="Malgun Gothic"/>
                <a:cs typeface="Malgun Gothic"/>
              </a:defRPr>
            </a:pPr>
            <a:r>
              <a:rPr sz="975" b="1">
                <a:solidFill>
                  <a:srgbClr val="60707E"/>
                </a:solidFill>
                <a:latin typeface="Malgun Gothic"/>
                <a:ea typeface="Malgun Gothic"/>
                <a:cs typeface="Malgun Gothic"/>
              </a:rPr>
              <a:t>학습 고객</a:t>
            </a:r>
          </a:p>
        </p:txBody>
      </p:sp>
      <p:sp>
        <p:nvSpPr>
          <p:cNvPr id="10" name="">
            <a:extLst xmlns:a="http://schemas.openxmlformats.org/drawingml/2006/main">
              <a:ext uri="{FF2B5EF4-FFF2-40B4-BE49-F238E27FC236}">
                <a16:creationId xmlns:a16="http://schemas.microsoft.com/office/drawing/2014/main" id="{81316313-FA52-44A0-9794-C7F3066C5577}"/>
              </a:ext>
            </a:extLst>
          </p:cNvPr>
          <p:cNvSpPr>
            <a:spLocks xmlns:a="http://schemas.openxmlformats.org/drawingml/2006/main" noGrp="1"/>
          </p:cNvSpPr>
          <p:nvPr/>
        </p:nvSpPr>
        <p:spPr>
          <a:xfrm xmlns:a="http://schemas.openxmlformats.org/drawingml/2006/main">
            <a:off x="762000" y="2428875"/>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125,000명</a:t>
            </a:r>
          </a:p>
        </p:txBody>
      </p:sp>
      <p:sp>
        <p:nvSpPr>
          <p:cNvPr id="11" name="">
            <a:extLst xmlns:a="http://schemas.openxmlformats.org/drawingml/2006/main">
              <a:ext uri="{FF2B5EF4-FFF2-40B4-BE49-F238E27FC236}">
                <a16:creationId xmlns:a16="http://schemas.microsoft.com/office/drawing/2014/main" id="{06C4D931-DA1B-4CDF-A70F-79C66D4E5F73}"/>
              </a:ext>
            </a:extLst>
          </p:cNvPr>
          <p:cNvSpPr>
            <a:spLocks xmlns:a="http://schemas.openxmlformats.org/drawingml/2006/main" noGrp="1"/>
          </p:cNvSpPr>
          <p:nvPr/>
        </p:nvSpPr>
        <p:spPr>
          <a:xfrm xmlns:a="http://schemas.openxmlformats.org/drawingml/2006/main">
            <a:off x="762000" y="287655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60707E"/>
                </a:solidFill>
                <a:latin typeface="Malgun Gothic"/>
                <a:ea typeface="Malgun Gothic"/>
                <a:cs typeface="Malgun Gothic"/>
              </a:defRPr>
            </a:pPr>
            <a:r>
              <a:rPr sz="900" b="0">
                <a:solidFill>
                  <a:srgbClr val="60707E"/>
                </a:solidFill>
                <a:latin typeface="Malgun Gothic"/>
                <a:ea typeface="Malgun Gothic"/>
                <a:cs typeface="Malgun Gothic"/>
              </a:rPr>
              <a:t>20개 변수 · churned 포함</a:t>
            </a:r>
          </a:p>
        </p:txBody>
      </p:sp>
      <p:sp>
        <p:nvSpPr>
          <p:cNvPr id="12" name="">
            <a:extLst xmlns:a="http://schemas.openxmlformats.org/drawingml/2006/main">
              <a:ext uri="{FF2B5EF4-FFF2-40B4-BE49-F238E27FC236}">
                <a16:creationId xmlns:a16="http://schemas.microsoft.com/office/drawing/2014/main" id="{C49F01B8-3D79-43AC-9D9A-F37F5253BFB5}"/>
              </a:ext>
            </a:extLst>
          </p:cNvPr>
          <p:cNvSpPr>
            <a:spLocks xmlns:a="http://schemas.openxmlformats.org/drawingml/2006/main" noGrp="1"/>
          </p:cNvSpPr>
          <p:nvPr/>
        </p:nvSpPr>
        <p:spPr>
          <a:xfrm xmlns:a="http://schemas.openxmlformats.org/drawingml/2006/main">
            <a:off x="4429125" y="1981200"/>
            <a:ext cx="3333750" cy="1257300"/>
          </a:xfrm>
          <a:prstGeom xmlns:a="http://schemas.openxmlformats.org/drawingml/2006/main" prst="roundRect">
            <a:avLst>
              <a:gd name="adj" fmla="val 6061"/>
            </a:avLst>
          </a:prstGeom>
          <a:solidFill xmlns:a="http://schemas.openxmlformats.org/drawingml/2006/main">
            <a:srgbClr val="F3F6F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14F888C-D150-4E7F-811F-EEE8BE0F8CA0}"/>
              </a:ext>
            </a:extLst>
          </p:cNvPr>
          <p:cNvSpPr>
            <a:spLocks xmlns:a="http://schemas.openxmlformats.org/drawingml/2006/main" noGrp="1"/>
          </p:cNvSpPr>
          <p:nvPr/>
        </p:nvSpPr>
        <p:spPr>
          <a:xfrm xmlns:a="http://schemas.openxmlformats.org/drawingml/2006/main">
            <a:off x="4429125" y="1981200"/>
            <a:ext cx="57150" cy="1257300"/>
          </a:xfrm>
          <a:prstGeom xmlns:a="http://schemas.openxmlformats.org/drawingml/2006/main" prst="rect">
            <a:avLst/>
          </a:prstGeom>
          <a:solidFill xmlns:a="http://schemas.openxmlformats.org/drawingml/2006/main">
            <a:srgbClr val="D99224"/>
          </a:solidFill>
          <a:ln xmlns:a="http://schemas.openxmlformats.org/drawingml/2006/main" w="0">
            <a:solidFill>
              <a:srgbClr val="D99224"/>
            </a:solidFill>
            <a:prstDash val="solid"/>
          </a:ln>
        </p:spPr>
      </p:sp>
      <p:sp>
        <p:nvSpPr>
          <p:cNvPr id="14" name="">
            <a:extLst xmlns:a="http://schemas.openxmlformats.org/drawingml/2006/main">
              <a:ext uri="{FF2B5EF4-FFF2-40B4-BE49-F238E27FC236}">
                <a16:creationId xmlns:a16="http://schemas.microsoft.com/office/drawing/2014/main" id="{EC09DDAB-101E-4E71-91D3-3359FE2FD5BB}"/>
              </a:ext>
            </a:extLst>
          </p:cNvPr>
          <p:cNvSpPr>
            <a:spLocks xmlns:a="http://schemas.openxmlformats.org/drawingml/2006/main" noGrp="1"/>
          </p:cNvSpPr>
          <p:nvPr/>
        </p:nvSpPr>
        <p:spPr>
          <a:xfrm xmlns:a="http://schemas.openxmlformats.org/drawingml/2006/main">
            <a:off x="4657725" y="2152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60707E"/>
                </a:solidFill>
                <a:latin typeface="Malgun Gothic"/>
                <a:ea typeface="Malgun Gothic"/>
                <a:cs typeface="Malgun Gothic"/>
              </a:defRPr>
            </a:pPr>
            <a:r>
              <a:rPr sz="975" b="1">
                <a:solidFill>
                  <a:srgbClr val="60707E"/>
                </a:solidFill>
                <a:latin typeface="Malgun Gothic"/>
                <a:ea typeface="Malgun Gothic"/>
                <a:cs typeface="Malgun Gothic"/>
              </a:rPr>
              <a:t>점수 산출 고객</a:t>
            </a:r>
          </a:p>
        </p:txBody>
      </p:sp>
      <p:sp>
        <p:nvSpPr>
          <p:cNvPr id="15" name="">
            <a:extLst xmlns:a="http://schemas.openxmlformats.org/drawingml/2006/main">
              <a:ext uri="{FF2B5EF4-FFF2-40B4-BE49-F238E27FC236}">
                <a16:creationId xmlns:a16="http://schemas.microsoft.com/office/drawing/2014/main" id="{36B07ADF-407D-4674-926F-97B27065104B}"/>
              </a:ext>
            </a:extLst>
          </p:cNvPr>
          <p:cNvSpPr>
            <a:spLocks xmlns:a="http://schemas.openxmlformats.org/drawingml/2006/main" noGrp="1"/>
          </p:cNvSpPr>
          <p:nvPr/>
        </p:nvSpPr>
        <p:spPr>
          <a:xfrm xmlns:a="http://schemas.openxmlformats.org/drawingml/2006/main">
            <a:off x="4657725" y="2428875"/>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75,000명</a:t>
            </a:r>
          </a:p>
        </p:txBody>
      </p:sp>
      <p:sp>
        <p:nvSpPr>
          <p:cNvPr id="16" name="">
            <a:extLst xmlns:a="http://schemas.openxmlformats.org/drawingml/2006/main">
              <a:ext uri="{FF2B5EF4-FFF2-40B4-BE49-F238E27FC236}">
                <a16:creationId xmlns:a16="http://schemas.microsoft.com/office/drawing/2014/main" id="{5DF96FCD-9BEC-4358-9FD5-3D9C94A8EA42}"/>
              </a:ext>
            </a:extLst>
          </p:cNvPr>
          <p:cNvSpPr>
            <a:spLocks xmlns:a="http://schemas.openxmlformats.org/drawingml/2006/main" noGrp="1"/>
          </p:cNvSpPr>
          <p:nvPr/>
        </p:nvSpPr>
        <p:spPr>
          <a:xfrm xmlns:a="http://schemas.openxmlformats.org/drawingml/2006/main">
            <a:off x="4657725" y="287655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60707E"/>
                </a:solidFill>
                <a:latin typeface="Malgun Gothic"/>
                <a:ea typeface="Malgun Gothic"/>
                <a:cs typeface="Malgun Gothic"/>
              </a:defRPr>
            </a:pPr>
            <a:r>
              <a:rPr sz="900" b="0">
                <a:solidFill>
                  <a:srgbClr val="60707E"/>
                </a:solidFill>
                <a:latin typeface="Malgun Gothic"/>
                <a:ea typeface="Malgun Gothic"/>
                <a:cs typeface="Malgun Gothic"/>
              </a:rPr>
              <a:t>19개 변수 · 정답 라벨 없음</a:t>
            </a:r>
          </a:p>
        </p:txBody>
      </p:sp>
      <p:sp>
        <p:nvSpPr>
          <p:cNvPr id="17" name="">
            <a:extLst xmlns:a="http://schemas.openxmlformats.org/drawingml/2006/main">
              <a:ext uri="{FF2B5EF4-FFF2-40B4-BE49-F238E27FC236}">
                <a16:creationId xmlns:a16="http://schemas.microsoft.com/office/drawing/2014/main" id="{28434CDA-2C2C-4CFC-B0A9-04332D8D1970}"/>
              </a:ext>
            </a:extLst>
          </p:cNvPr>
          <p:cNvSpPr>
            <a:spLocks xmlns:a="http://schemas.openxmlformats.org/drawingml/2006/main" noGrp="1"/>
          </p:cNvSpPr>
          <p:nvPr/>
        </p:nvSpPr>
        <p:spPr>
          <a:xfrm xmlns:a="http://schemas.openxmlformats.org/drawingml/2006/main">
            <a:off x="8324850" y="1981200"/>
            <a:ext cx="3333750" cy="1257300"/>
          </a:xfrm>
          <a:prstGeom xmlns:a="http://schemas.openxmlformats.org/drawingml/2006/main" prst="roundRect">
            <a:avLst>
              <a:gd name="adj" fmla="val 6061"/>
            </a:avLst>
          </a:prstGeom>
          <a:solidFill xmlns:a="http://schemas.openxmlformats.org/drawingml/2006/main">
            <a:srgbClr val="F3F6F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AB7EEF0-B30C-4844-B904-86BCBAABBF00}"/>
              </a:ext>
            </a:extLst>
          </p:cNvPr>
          <p:cNvSpPr>
            <a:spLocks xmlns:a="http://schemas.openxmlformats.org/drawingml/2006/main" noGrp="1"/>
          </p:cNvSpPr>
          <p:nvPr/>
        </p:nvSpPr>
        <p:spPr>
          <a:xfrm xmlns:a="http://schemas.openxmlformats.org/drawingml/2006/main">
            <a:off x="8324850" y="1981200"/>
            <a:ext cx="57150" cy="1257300"/>
          </a:xfrm>
          <a:prstGeom xmlns:a="http://schemas.openxmlformats.org/drawingml/2006/main" prst="rect">
            <a:avLst/>
          </a:prstGeom>
          <a:solidFill xmlns:a="http://schemas.openxmlformats.org/drawingml/2006/main">
            <a:srgbClr val="E85E43"/>
          </a:solidFill>
          <a:ln xmlns:a="http://schemas.openxmlformats.org/drawingml/2006/main" w="0">
            <a:solidFill>
              <a:srgbClr val="E85E43"/>
            </a:solidFill>
            <a:prstDash val="solid"/>
          </a:ln>
        </p:spPr>
      </p:sp>
      <p:sp>
        <p:nvSpPr>
          <p:cNvPr id="19" name="">
            <a:extLst xmlns:a="http://schemas.openxmlformats.org/drawingml/2006/main">
              <a:ext uri="{FF2B5EF4-FFF2-40B4-BE49-F238E27FC236}">
                <a16:creationId xmlns:a16="http://schemas.microsoft.com/office/drawing/2014/main" id="{6B6753CB-6B6B-4F5C-9E6E-4488F65D2619}"/>
              </a:ext>
            </a:extLst>
          </p:cNvPr>
          <p:cNvSpPr>
            <a:spLocks xmlns:a="http://schemas.openxmlformats.org/drawingml/2006/main" noGrp="1"/>
          </p:cNvSpPr>
          <p:nvPr/>
        </p:nvSpPr>
        <p:spPr>
          <a:xfrm xmlns:a="http://schemas.openxmlformats.org/drawingml/2006/main">
            <a:off x="8553450" y="2152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60707E"/>
                </a:solidFill>
                <a:latin typeface="Malgun Gothic"/>
                <a:ea typeface="Malgun Gothic"/>
                <a:cs typeface="Malgun Gothic"/>
              </a:defRPr>
            </a:pPr>
            <a:r>
              <a:rPr sz="975" b="1">
                <a:solidFill>
                  <a:srgbClr val="60707E"/>
                </a:solidFill>
                <a:latin typeface="Malgun Gothic"/>
                <a:ea typeface="Malgun Gothic"/>
                <a:cs typeface="Malgun Gothic"/>
              </a:rPr>
              <a:t>관찰 이탈 비율</a:t>
            </a:r>
          </a:p>
        </p:txBody>
      </p:sp>
      <p:sp>
        <p:nvSpPr>
          <p:cNvPr id="20" name="">
            <a:extLst xmlns:a="http://schemas.openxmlformats.org/drawingml/2006/main">
              <a:ext uri="{FF2B5EF4-FFF2-40B4-BE49-F238E27FC236}">
                <a16:creationId xmlns:a16="http://schemas.microsoft.com/office/drawing/2014/main" id="{A1CFC64F-0E06-493F-88A2-DF374CEF3FB4}"/>
              </a:ext>
            </a:extLst>
          </p:cNvPr>
          <p:cNvSpPr>
            <a:spLocks xmlns:a="http://schemas.openxmlformats.org/drawingml/2006/main" noGrp="1"/>
          </p:cNvSpPr>
          <p:nvPr/>
        </p:nvSpPr>
        <p:spPr>
          <a:xfrm xmlns:a="http://schemas.openxmlformats.org/drawingml/2006/main">
            <a:off x="8553450" y="2428875"/>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51.34%</a:t>
            </a:r>
          </a:p>
        </p:txBody>
      </p:sp>
      <p:sp>
        <p:nvSpPr>
          <p:cNvPr id="21" name="">
            <a:extLst xmlns:a="http://schemas.openxmlformats.org/drawingml/2006/main">
              <a:ext uri="{FF2B5EF4-FFF2-40B4-BE49-F238E27FC236}">
                <a16:creationId xmlns:a16="http://schemas.microsoft.com/office/drawing/2014/main" id="{10C27A2D-A77C-472D-AE2A-8591755927EA}"/>
              </a:ext>
            </a:extLst>
          </p:cNvPr>
          <p:cNvSpPr>
            <a:spLocks xmlns:a="http://schemas.openxmlformats.org/drawingml/2006/main" noGrp="1"/>
          </p:cNvSpPr>
          <p:nvPr/>
        </p:nvSpPr>
        <p:spPr>
          <a:xfrm xmlns:a="http://schemas.openxmlformats.org/drawingml/2006/main">
            <a:off x="8553450" y="287655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60707E"/>
                </a:solidFill>
                <a:latin typeface="Malgun Gothic"/>
                <a:ea typeface="Malgun Gothic"/>
                <a:cs typeface="Malgun Gothic"/>
              </a:defRPr>
            </a:pPr>
            <a:r>
              <a:rPr sz="900" b="0">
                <a:solidFill>
                  <a:srgbClr val="60707E"/>
                </a:solidFill>
                <a:latin typeface="Malgun Gothic"/>
                <a:ea typeface="Malgun Gothic"/>
                <a:cs typeface="Malgun Gothic"/>
              </a:rPr>
              <a:t>클래스 불균형 데이터 아님</a:t>
            </a:r>
          </a:p>
        </p:txBody>
      </p:sp>
      <p:sp>
        <p:nvSpPr>
          <p:cNvPr id="22" name="">
            <a:extLst xmlns:a="http://schemas.openxmlformats.org/drawingml/2006/main">
              <a:ext uri="{FF2B5EF4-FFF2-40B4-BE49-F238E27FC236}">
                <a16:creationId xmlns:a16="http://schemas.microsoft.com/office/drawing/2014/main" id="{E83FE49F-1DC7-447F-B870-AF494B42FF45}"/>
              </a:ext>
            </a:extLst>
          </p:cNvPr>
          <p:cNvSpPr>
            <a:spLocks xmlns:a="http://schemas.openxmlformats.org/drawingml/2006/main" noGrp="1"/>
          </p:cNvSpPr>
          <p:nvPr/>
        </p:nvSpPr>
        <p:spPr>
          <a:xfrm xmlns:a="http://schemas.openxmlformats.org/drawingml/2006/main">
            <a:off x="533400" y="37338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18847A"/>
                </a:solidFill>
                <a:latin typeface="Malgun Gothic"/>
                <a:ea typeface="Malgun Gothic"/>
                <a:cs typeface="Malgun Gothic"/>
              </a:defRPr>
            </a:pPr>
            <a:r>
              <a:rPr sz="1125" b="1">
                <a:solidFill>
                  <a:srgbClr val="18847A"/>
                </a:solidFill>
                <a:latin typeface="Malgun Gothic"/>
                <a:ea typeface="Malgun Gothic"/>
                <a:cs typeface="Malgun Gothic"/>
              </a:rPr>
              <a:t>검증 완료</a:t>
            </a:r>
          </a:p>
        </p:txBody>
      </p:sp>
      <p:sp>
        <p:nvSpPr>
          <p:cNvPr id="23" name="">
            <a:extLst xmlns:a="http://schemas.openxmlformats.org/drawingml/2006/main">
              <a:ext uri="{FF2B5EF4-FFF2-40B4-BE49-F238E27FC236}">
                <a16:creationId xmlns:a16="http://schemas.microsoft.com/office/drawing/2014/main" id="{6B2FF315-0E1F-496B-ADC9-D83203092783}"/>
              </a:ext>
            </a:extLst>
          </p:cNvPr>
          <p:cNvSpPr>
            <a:spLocks xmlns:a="http://schemas.openxmlformats.org/drawingml/2006/main" noGrp="1"/>
          </p:cNvSpPr>
          <p:nvPr/>
        </p:nvSpPr>
        <p:spPr>
          <a:xfrm xmlns:a="http://schemas.openxmlformats.org/drawingml/2006/main">
            <a:off x="533400" y="4057650"/>
            <a:ext cx="571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17212B"/>
                </a:solidFill>
                <a:latin typeface="Malgun Gothic"/>
                <a:ea typeface="Malgun Gothic"/>
                <a:cs typeface="Malgun Gothic"/>
              </a:defRPr>
            </a:pPr>
            <a:r>
              <a:rPr sz="1350" b="0">
                <a:solidFill>
                  <a:srgbClr val="17212B"/>
                </a:solidFill>
                <a:latin typeface="Malgun Gothic"/>
                <a:ea typeface="Malgun Gothic"/>
                <a:cs typeface="Malgun Gothic"/>
              </a:rPr>
              <a:t>고객 1명 = 1행 · 결측/중복 0건 · Train/Test 고객 ID 교집합 0건</a:t>
            </a:r>
          </a:p>
        </p:txBody>
      </p:sp>
      <p:sp>
        <p:nvSpPr>
          <p:cNvPr id="24" name="">
            <a:extLst xmlns:a="http://schemas.openxmlformats.org/drawingml/2006/main">
              <a:ext uri="{FF2B5EF4-FFF2-40B4-BE49-F238E27FC236}">
                <a16:creationId xmlns:a16="http://schemas.microsoft.com/office/drawing/2014/main" id="{247C4321-5403-41B4-AFB0-A4AD753F9116}"/>
              </a:ext>
            </a:extLst>
          </p:cNvPr>
          <p:cNvSpPr>
            <a:spLocks xmlns:a="http://schemas.openxmlformats.org/drawingml/2006/main" noGrp="1"/>
          </p:cNvSpPr>
          <p:nvPr/>
        </p:nvSpPr>
        <p:spPr>
          <a:xfrm xmlns:a="http://schemas.openxmlformats.org/drawingml/2006/main">
            <a:off x="6572250" y="37338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E85E43"/>
                </a:solidFill>
                <a:latin typeface="Malgun Gothic"/>
                <a:ea typeface="Malgun Gothic"/>
                <a:cs typeface="Malgun Gothic"/>
              </a:defRPr>
            </a:pPr>
            <a:r>
              <a:rPr sz="1125" b="1">
                <a:solidFill>
                  <a:srgbClr val="E85E43"/>
                </a:solidFill>
                <a:latin typeface="Malgun Gothic"/>
                <a:ea typeface="Malgun Gothic"/>
                <a:cs typeface="Malgun Gothic"/>
              </a:rPr>
              <a:t>발표 해석의 경계</a:t>
            </a:r>
          </a:p>
        </p:txBody>
      </p:sp>
      <p:sp>
        <p:nvSpPr>
          <p:cNvPr id="25" name="">
            <a:extLst xmlns:a="http://schemas.openxmlformats.org/drawingml/2006/main">
              <a:ext uri="{FF2B5EF4-FFF2-40B4-BE49-F238E27FC236}">
                <a16:creationId xmlns:a16="http://schemas.microsoft.com/office/drawing/2014/main" id="{4AA27B99-5C8A-4C16-8767-5E1E03A27702}"/>
              </a:ext>
            </a:extLst>
          </p:cNvPr>
          <p:cNvSpPr>
            <a:spLocks xmlns:a="http://schemas.openxmlformats.org/drawingml/2006/main" noGrp="1"/>
          </p:cNvSpPr>
          <p:nvPr/>
        </p:nvSpPr>
        <p:spPr>
          <a:xfrm xmlns:a="http://schemas.openxmlformats.org/drawingml/2006/main">
            <a:off x="6572250" y="40576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17212B"/>
                </a:solidFill>
                <a:latin typeface="Malgun Gothic"/>
                <a:ea typeface="Malgun Gothic"/>
                <a:cs typeface="Malgun Gothic"/>
              </a:defRPr>
            </a:pPr>
            <a:r>
              <a:rPr sz="1350" b="0">
                <a:solidFill>
                  <a:srgbClr val="17212B"/>
                </a:solidFill>
                <a:latin typeface="Malgun Gothic"/>
                <a:ea typeface="Malgun Gothic"/>
                <a:cs typeface="Malgun Gothic"/>
              </a:rPr>
              <a:t>규칙 기반 합성 데이터 · 예측 기간 미정 · 외부 라벨 Holdout 없음</a:t>
            </a:r>
          </a:p>
        </p:txBody>
      </p:sp>
      <p:sp>
        <p:nvSpPr>
          <p:cNvPr id="26" name="">
            <a:extLst xmlns:a="http://schemas.openxmlformats.org/drawingml/2006/main">
              <a:ext uri="{FF2B5EF4-FFF2-40B4-BE49-F238E27FC236}">
                <a16:creationId xmlns:a16="http://schemas.microsoft.com/office/drawing/2014/main" id="{A6254010-5A00-4822-83A4-D3A840F788E9}"/>
              </a:ext>
            </a:extLst>
          </p:cNvPr>
          <p:cNvSpPr>
            <a:spLocks xmlns:a="http://schemas.openxmlformats.org/drawingml/2006/main" noGrp="1"/>
          </p:cNvSpPr>
          <p:nvPr/>
        </p:nvSpPr>
        <p:spPr>
          <a:xfrm xmlns:a="http://schemas.openxmlformats.org/drawingml/2006/main">
            <a:off x="533400" y="4972050"/>
            <a:ext cx="11125200" cy="781050"/>
          </a:xfrm>
          <a:prstGeom xmlns:a="http://schemas.openxmlformats.org/drawingml/2006/main" prst="roundRect">
            <a:avLst>
              <a:gd name="adj" fmla="val 9756"/>
            </a:avLst>
          </a:prstGeom>
          <a:solidFill xmlns:a="http://schemas.openxmlformats.org/drawingml/2006/main">
            <a:srgbClr val="FFF7E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01481C5-052C-4CB6-98B5-9EB3124DA5B2}"/>
              </a:ext>
            </a:extLst>
          </p:cNvPr>
          <p:cNvSpPr>
            <a:spLocks xmlns:a="http://schemas.openxmlformats.org/drawingml/2006/main" noGrp="1"/>
          </p:cNvSpPr>
          <p:nvPr/>
        </p:nvSpPr>
        <p:spPr>
          <a:xfrm xmlns:a="http://schemas.openxmlformats.org/drawingml/2006/main">
            <a:off x="800100" y="5191125"/>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17212B"/>
                </a:solidFill>
                <a:latin typeface="Malgun Gothic"/>
                <a:ea typeface="Malgun Gothic"/>
                <a:cs typeface="Malgun Gothic"/>
              </a:defRPr>
            </a:pPr>
            <a:r>
              <a:rPr sz="1500" b="1">
                <a:solidFill>
                  <a:srgbClr val="17212B"/>
                </a:solidFill>
                <a:latin typeface="Malgun Gothic"/>
                <a:ea typeface="Malgun Gothic"/>
                <a:cs typeface="Malgun Gothic"/>
              </a:rPr>
              <a:t>현재 성능은 5-Fold OOF 기반 기술 검증입니다. 실제 서비스 이탈 감소 효과로 확대 해석하지 않습니다.</a:t>
            </a:r>
          </a:p>
        </p:txBody>
      </p:sp>
      <p:sp>
        <p:nvSpPr>
          <p:cNvPr id="28" name="">
            <a:extLst xmlns:a="http://schemas.openxmlformats.org/drawingml/2006/main">
              <a:ext uri="{FF2B5EF4-FFF2-40B4-BE49-F238E27FC236}">
                <a16:creationId xmlns:a16="http://schemas.microsoft.com/office/drawing/2014/main" id="{6669B99C-2542-49CB-AC4C-F1EA71832913}"/>
              </a:ext>
            </a:extLst>
          </p:cNvPr>
          <p:cNvSpPr>
            <a:spLocks xmlns:a="http://schemas.openxmlformats.org/drawingml/2006/main" noGrp="1"/>
          </p:cNvSpPr>
          <p:nvPr/>
        </p:nvSpPr>
        <p:spPr>
          <a:xfrm xmlns:a="http://schemas.openxmlformats.org/drawingml/2006/main">
            <a:off x="533400" y="6200775"/>
            <a:ext cx="10572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근거: docs/data_card.md · docs/validation_plan.md · 20260721_full_fair_v1/run_manifest.json</a:t>
            </a:r>
          </a:p>
        </p:txBody>
      </p:sp>
    </p:spTree>
    <p:extLst>
      <p:ext uri="{BB962C8B-B14F-4D97-AF65-F5344CB8AC3E}">
        <p14:creationId xmlns:p14="http://schemas.microsoft.com/office/powerpoint/2010/main" val="3085937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492D7BA-7989-4055-A7E4-9A8BF3929EAF}"/>
              </a:ext>
            </a:extLst>
          </p:cNvPr>
          <p:cNvSpPr>
            <a:spLocks xmlns:a="http://schemas.openxmlformats.org/drawingml/2006/main" noGrp="1"/>
          </p:cNvSpPr>
          <p:nvPr/>
        </p:nvSpPr>
        <p:spPr>
          <a:xfrm xmlns:a="http://schemas.openxmlformats.org/drawingml/2006/main">
            <a:off x="533400" y="1524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E85E43"/>
                </a:solidFill>
                <a:latin typeface="Malgun Gothic"/>
                <a:ea typeface="Malgun Gothic"/>
                <a:cs typeface="Malgun Gothic"/>
              </a:defRPr>
            </a:pPr>
            <a:r>
              <a:rPr sz="900" b="1">
                <a:solidFill>
                  <a:srgbClr val="E85E43"/>
                </a:solidFill>
                <a:latin typeface="Malgun Gothic"/>
                <a:ea typeface="Malgun Gothic"/>
                <a:cs typeface="Malgun Gothic"/>
              </a:rPr>
              <a:t>CUSTOMER INSIGHT</a:t>
            </a:r>
          </a:p>
        </p:txBody>
      </p:sp>
      <p:sp>
        <p:nvSpPr>
          <p:cNvPr id="2" name="">
            <a:extLst xmlns:a="http://schemas.openxmlformats.org/drawingml/2006/main">
              <a:ext uri="{FF2B5EF4-FFF2-40B4-BE49-F238E27FC236}">
                <a16:creationId xmlns:a16="http://schemas.microsoft.com/office/drawing/2014/main" id="{AB4319A2-AF33-43B1-8A85-B1C4637A4170}"/>
              </a:ext>
            </a:extLst>
          </p:cNvPr>
          <p:cNvSpPr>
            <a:spLocks xmlns:a="http://schemas.openxmlformats.org/drawingml/2006/main" noGrp="1"/>
          </p:cNvSpPr>
          <p:nvPr/>
        </p:nvSpPr>
        <p:spPr>
          <a:xfrm xmlns:a="http://schemas.openxmlformats.org/drawingml/2006/main">
            <a:off x="533400" y="419100"/>
            <a:ext cx="1104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낮은 청취·Free·높은 문의가 서로 다른 이탈 위험 맥락을 보여줍니다</a:t>
            </a:r>
          </a:p>
        </p:txBody>
      </p:sp>
      <p:sp>
        <p:nvSpPr>
          <p:cNvPr id="3" name="">
            <a:extLst xmlns:a="http://schemas.openxmlformats.org/drawingml/2006/main">
              <a:ext uri="{FF2B5EF4-FFF2-40B4-BE49-F238E27FC236}">
                <a16:creationId xmlns:a16="http://schemas.microsoft.com/office/drawing/2014/main" id="{B2D3AF8C-C7D7-406D-A10F-A23DB7A784F8}"/>
              </a:ext>
            </a:extLst>
          </p:cNvPr>
          <p:cNvSpPr>
            <a:spLocks xmlns:a="http://schemas.openxmlformats.org/drawingml/2006/main" noGrp="1"/>
          </p:cNvSpPr>
          <p:nvPr/>
        </p:nvSpPr>
        <p:spPr>
          <a:xfrm xmlns:a="http://schemas.openxmlformats.org/drawingml/2006/main">
            <a:off x="533400" y="14573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원인이 아니라 사용 저하·상품 맥락·서비스 마찰을 검토하는 관찰 신호다</a:t>
            </a:r>
          </a:p>
        </p:txBody>
      </p:sp>
      <p:sp>
        <p:nvSpPr>
          <p:cNvPr id="4" name="">
            <a:extLst xmlns:a="http://schemas.openxmlformats.org/drawingml/2006/main">
              <a:ext uri="{FF2B5EF4-FFF2-40B4-BE49-F238E27FC236}">
                <a16:creationId xmlns:a16="http://schemas.microsoft.com/office/drawing/2014/main" id="{2E1AFE57-F955-41A1-B0C6-8E5D43FA0956}"/>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1E6"/>
          </a:solidFill>
          <a:ln xmlns:a="http://schemas.openxmlformats.org/drawingml/2006/main" w="0">
            <a:solidFill>
              <a:srgbClr val="D9E1E6"/>
            </a:solidFill>
            <a:prstDash val="solid"/>
          </a:ln>
        </p:spPr>
      </p:sp>
      <p:sp>
        <p:nvSpPr>
          <p:cNvPr id="5" name="">
            <a:extLst xmlns:a="http://schemas.openxmlformats.org/drawingml/2006/main">
              <a:ext uri="{FF2B5EF4-FFF2-40B4-BE49-F238E27FC236}">
                <a16:creationId xmlns:a16="http://schemas.microsoft.com/office/drawing/2014/main" id="{56DD4085-F622-4BAF-AAFA-5F65CFD09FCF}"/>
              </a:ext>
            </a:extLst>
          </p:cNvPr>
          <p:cNvSpPr>
            <a:spLocks xmlns:a="http://schemas.openxmlformats.org/drawingml/2006/main" noGrp="1"/>
          </p:cNvSpPr>
          <p:nvPr/>
        </p:nvSpPr>
        <p:spPr>
          <a:xfrm xmlns:a="http://schemas.openxmlformats.org/drawingml/2006/main">
            <a:off x="533400" y="653415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PlaylistPro · Retention Decision Support</a:t>
            </a:r>
          </a:p>
        </p:txBody>
      </p:sp>
      <p:sp>
        <p:nvSpPr>
          <p:cNvPr id="6" name="">
            <a:extLst xmlns:a="http://schemas.openxmlformats.org/drawingml/2006/main">
              <a:ext uri="{FF2B5EF4-FFF2-40B4-BE49-F238E27FC236}">
                <a16:creationId xmlns:a16="http://schemas.microsoft.com/office/drawing/2014/main" id="{352A2548-F91E-42FB-BD82-7E3A6C2CDA7C}"/>
              </a:ext>
            </a:extLst>
          </p:cNvPr>
          <p:cNvSpPr>
            <a:spLocks xmlns:a="http://schemas.openxmlformats.org/drawingml/2006/main" noGrp="1"/>
          </p:cNvSpPr>
          <p:nvPr/>
        </p:nvSpPr>
        <p:spPr>
          <a:xfrm xmlns:a="http://schemas.openxmlformats.org/drawingml/2006/main">
            <a:off x="11239500" y="65151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60707E"/>
                </a:solidFill>
                <a:latin typeface="Malgun Gothic"/>
                <a:ea typeface="Malgun Gothic"/>
                <a:cs typeface="Malgun Gothic"/>
              </a:defRPr>
            </a:pPr>
            <a:r>
              <a:rPr sz="825" b="1">
                <a:solidFill>
                  <a:srgbClr val="60707E"/>
                </a:solidFill>
                <a:latin typeface="Malgun Gothic"/>
                <a:ea typeface="Malgun Gothic"/>
                <a:cs typeface="Malgun Gothic"/>
              </a:rPr>
              <a:t>04</a:t>
            </a:r>
          </a:p>
        </p:txBody>
      </p:sp>
      <p:sp>
        <p:nvSpPr>
          <p:cNvPr id="7" name="">
            <a:extLst xmlns:a="http://schemas.openxmlformats.org/drawingml/2006/main">
              <a:ext uri="{FF2B5EF4-FFF2-40B4-BE49-F238E27FC236}">
                <a16:creationId xmlns:a16="http://schemas.microsoft.com/office/drawing/2014/main" id="{D6F65C47-6797-4697-A3E9-FE5A5A45DDDC}"/>
              </a:ext>
            </a:extLst>
          </p:cNvPr>
          <p:cNvSpPr>
            <a:spLocks xmlns:a="http://schemas.openxmlformats.org/drawingml/2006/main" noGrp="1"/>
          </p:cNvSpPr>
          <p:nvPr/>
        </p:nvSpPr>
        <p:spPr>
          <a:xfrm xmlns:a="http://schemas.openxmlformats.org/drawingml/2006/main">
            <a:off x="533400" y="1809750"/>
            <a:ext cx="5334000" cy="3381375"/>
          </a:xfrm>
          <a:prstGeom xmlns:a="http://schemas.openxmlformats.org/drawingml/2006/main" prst="roundRect">
            <a:avLst>
              <a:gd name="adj" fmla="val 2254"/>
            </a:avLst>
          </a:prstGeom>
          <a:solidFill xmlns:a="http://schemas.openxmlformats.org/drawingml/2006/main">
            <a:srgbClr val="FBFCFD"/>
          </a:solidFill>
          <a:ln xmlns:a="http://schemas.openxmlformats.org/drawingml/2006/main" w="9525">
            <a:solidFill>
              <a:srgbClr val="D9E1E6"/>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48aaf3db57f54eed"/>
          <a:stretch xmlns:a="http://schemas.openxmlformats.org/drawingml/2006/main"/>
        </p:blipFill>
        <p:spPr>
          <a:xfrm xmlns:a="http://schemas.openxmlformats.org/drawingml/2006/main">
            <a:off x="609600" y="2176251"/>
            <a:ext cx="5181600" cy="264837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A886E2A-E940-4AD6-B81F-DA7FDAF10A65}"/>
              </a:ext>
            </a:extLst>
          </p:cNvPr>
          <p:cNvSpPr>
            <a:spLocks xmlns:a="http://schemas.openxmlformats.org/drawingml/2006/main" noGrp="1"/>
          </p:cNvSpPr>
          <p:nvPr/>
        </p:nvSpPr>
        <p:spPr>
          <a:xfrm xmlns:a="http://schemas.openxmlformats.org/drawingml/2006/main">
            <a:off x="6191250" y="1809750"/>
            <a:ext cx="5467350" cy="3381375"/>
          </a:xfrm>
          <a:prstGeom xmlns:a="http://schemas.openxmlformats.org/drawingml/2006/main" prst="roundRect">
            <a:avLst>
              <a:gd name="adj" fmla="val 2254"/>
            </a:avLst>
          </a:prstGeom>
          <a:solidFill xmlns:a="http://schemas.openxmlformats.org/drawingml/2006/main">
            <a:srgbClr val="FBFCFD"/>
          </a:solidFill>
          <a:ln xmlns:a="http://schemas.openxmlformats.org/drawingml/2006/main" w="9525">
            <a:solidFill>
              <a:srgbClr val="D9E1E6"/>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7e4788c3830541fc"/>
          <a:stretch xmlns:a="http://schemas.openxmlformats.org/drawingml/2006/main"/>
        </p:blipFill>
        <p:spPr>
          <a:xfrm xmlns:a="http://schemas.openxmlformats.org/drawingml/2006/main">
            <a:off x="6267450" y="2255212"/>
            <a:ext cx="5314950" cy="2490451"/>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2DA9FEA7-9D15-476C-9254-735AB277FA6D}"/>
              </a:ext>
            </a:extLst>
          </p:cNvPr>
          <p:cNvSpPr>
            <a:spLocks xmlns:a="http://schemas.openxmlformats.org/drawingml/2006/main" noGrp="1"/>
          </p:cNvSpPr>
          <p:nvPr/>
        </p:nvSpPr>
        <p:spPr>
          <a:xfrm xmlns:a="http://schemas.openxmlformats.org/drawingml/2006/main">
            <a:off x="685800" y="5324475"/>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18847A"/>
                </a:solidFill>
                <a:latin typeface="Malgun Gothic"/>
                <a:ea typeface="Malgun Gothic"/>
                <a:cs typeface="Malgun Gothic"/>
              </a:defRPr>
            </a:pPr>
            <a:r>
              <a:rPr sz="1350" b="1">
                <a:solidFill>
                  <a:srgbClr val="18847A"/>
                </a:solidFill>
                <a:latin typeface="Malgun Gothic"/>
                <a:ea typeface="Malgun Gothic"/>
                <a:cs typeface="Malgun Gothic"/>
              </a:rPr>
              <a:t>weekly_hours 상관 -0.302</a:t>
            </a:r>
          </a:p>
        </p:txBody>
      </p:sp>
      <p:sp>
        <p:nvSpPr>
          <p:cNvPr id="12" name="">
            <a:extLst xmlns:a="http://schemas.openxmlformats.org/drawingml/2006/main">
              <a:ext uri="{FF2B5EF4-FFF2-40B4-BE49-F238E27FC236}">
                <a16:creationId xmlns:a16="http://schemas.microsoft.com/office/drawing/2014/main" id="{15CA7120-4258-4422-877F-FAAD1082A807}"/>
              </a:ext>
            </a:extLst>
          </p:cNvPr>
          <p:cNvSpPr>
            <a:spLocks xmlns:a="http://schemas.openxmlformats.org/drawingml/2006/main" noGrp="1"/>
          </p:cNvSpPr>
          <p:nvPr/>
        </p:nvSpPr>
        <p:spPr>
          <a:xfrm xmlns:a="http://schemas.openxmlformats.org/drawingml/2006/main">
            <a:off x="3905250" y="5324475"/>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a:solidFill>
                  <a:srgbClr val="17354B"/>
                </a:solidFill>
                <a:latin typeface="Malgun Gothic"/>
                <a:ea typeface="Malgun Gothic"/>
                <a:cs typeface="Malgun Gothic"/>
              </a:defRPr>
            </a:pPr>
            <a:r>
              <a:rPr sz="1350" b="1">
                <a:solidFill>
                  <a:srgbClr val="17354B"/>
                </a:solidFill>
                <a:latin typeface="Malgun Gothic"/>
                <a:ea typeface="Malgun Gothic"/>
                <a:cs typeface="Malgun Gothic"/>
              </a:rPr>
              <a:t>Free 79.41%  ·  Premium 33.91%</a:t>
            </a:r>
          </a:p>
        </p:txBody>
      </p:sp>
      <p:sp>
        <p:nvSpPr>
          <p:cNvPr id="13" name="">
            <a:extLst xmlns:a="http://schemas.openxmlformats.org/drawingml/2006/main">
              <a:ext uri="{FF2B5EF4-FFF2-40B4-BE49-F238E27FC236}">
                <a16:creationId xmlns:a16="http://schemas.microsoft.com/office/drawing/2014/main" id="{4E64C10D-CC31-4BE6-9319-AE1F969E6D47}"/>
              </a:ext>
            </a:extLst>
          </p:cNvPr>
          <p:cNvSpPr>
            <a:spLocks xmlns:a="http://schemas.openxmlformats.org/drawingml/2006/main" noGrp="1"/>
          </p:cNvSpPr>
          <p:nvPr/>
        </p:nvSpPr>
        <p:spPr>
          <a:xfrm xmlns:a="http://schemas.openxmlformats.org/drawingml/2006/main">
            <a:off x="7715250" y="5324475"/>
            <a:ext cx="3790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350" b="1">
                <a:solidFill>
                  <a:srgbClr val="E85E43"/>
                </a:solidFill>
                <a:latin typeface="Malgun Gothic"/>
                <a:ea typeface="Malgun Gothic"/>
                <a:cs typeface="Malgun Gothic"/>
              </a:defRPr>
            </a:pPr>
            <a:r>
              <a:rPr sz="1350" b="1">
                <a:solidFill>
                  <a:srgbClr val="E85E43"/>
                </a:solidFill>
                <a:latin typeface="Malgun Gothic"/>
                <a:ea typeface="Malgun Gothic"/>
                <a:cs typeface="Malgun Gothic"/>
              </a:rPr>
              <a:t>문의 High 74.33%  ·  Low 28.92%</a:t>
            </a:r>
          </a:p>
        </p:txBody>
      </p:sp>
      <p:sp>
        <p:nvSpPr>
          <p:cNvPr id="14" name="">
            <a:extLst xmlns:a="http://schemas.openxmlformats.org/drawingml/2006/main">
              <a:ext uri="{FF2B5EF4-FFF2-40B4-BE49-F238E27FC236}">
                <a16:creationId xmlns:a16="http://schemas.microsoft.com/office/drawing/2014/main" id="{B2CFEF0F-2DC5-4441-9965-1CD57869A46F}"/>
              </a:ext>
            </a:extLst>
          </p:cNvPr>
          <p:cNvSpPr>
            <a:spLocks xmlns:a="http://schemas.openxmlformats.org/drawingml/2006/main" noGrp="1"/>
          </p:cNvSpPr>
          <p:nvPr/>
        </p:nvSpPr>
        <p:spPr>
          <a:xfrm xmlns:a="http://schemas.openxmlformats.org/drawingml/2006/main">
            <a:off x="533400" y="6200775"/>
            <a:ext cx="10572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근거: 19_numeric_target_correlations.csv · 20_categorical_churn_associations.csv · EDA insight</a:t>
            </a:r>
          </a:p>
        </p:txBody>
      </p:sp>
    </p:spTree>
    <p:extLst>
      <p:ext uri="{BB962C8B-B14F-4D97-AF65-F5344CB8AC3E}">
        <p14:creationId xmlns:p14="http://schemas.microsoft.com/office/powerpoint/2010/main" val="11009376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A3F18E38-E665-48A8-B16E-C72321A3CEEE}"/>
              </a:ext>
            </a:extLst>
          </p:cNvPr>
          <p:cNvSpPr>
            <a:spLocks xmlns:a="http://schemas.openxmlformats.org/drawingml/2006/main" noGrp="1"/>
          </p:cNvSpPr>
          <p:nvPr/>
        </p:nvSpPr>
        <p:spPr>
          <a:xfrm xmlns:a="http://schemas.openxmlformats.org/drawingml/2006/main">
            <a:off x="533400" y="1524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E85E43"/>
                </a:solidFill>
                <a:latin typeface="Malgun Gothic"/>
                <a:ea typeface="Malgun Gothic"/>
                <a:cs typeface="Malgun Gothic"/>
              </a:defRPr>
            </a:pPr>
            <a:r>
              <a:rPr sz="900" b="1">
                <a:solidFill>
                  <a:srgbClr val="E85E43"/>
                </a:solidFill>
                <a:latin typeface="Malgun Gothic"/>
                <a:ea typeface="Malgun Gothic"/>
                <a:cs typeface="Malgun Gothic"/>
              </a:rPr>
              <a:t>DECISION WORKFLOW</a:t>
            </a:r>
          </a:p>
        </p:txBody>
      </p:sp>
      <p:sp>
        <p:nvSpPr>
          <p:cNvPr id="2" name="">
            <a:extLst xmlns:a="http://schemas.openxmlformats.org/drawingml/2006/main">
              <a:ext uri="{FF2B5EF4-FFF2-40B4-BE49-F238E27FC236}">
                <a16:creationId xmlns:a16="http://schemas.microsoft.com/office/drawing/2014/main" id="{7EE9E29A-F10D-4604-8046-E5F588912FD3}"/>
              </a:ext>
            </a:extLst>
          </p:cNvPr>
          <p:cNvSpPr>
            <a:spLocks xmlns:a="http://schemas.openxmlformats.org/drawingml/2006/main" noGrp="1"/>
          </p:cNvSpPr>
          <p:nvPr/>
        </p:nvSpPr>
        <p:spPr>
          <a:xfrm xmlns:a="http://schemas.openxmlformats.org/drawingml/2006/main">
            <a:off x="533400" y="419100"/>
            <a:ext cx="1104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위험 신호는 사람이 검토할 유지 행동 가설로 바꿨습니다</a:t>
            </a:r>
          </a:p>
        </p:txBody>
      </p:sp>
      <p:sp>
        <p:nvSpPr>
          <p:cNvPr id="3" name="">
            <a:extLst xmlns:a="http://schemas.openxmlformats.org/drawingml/2006/main">
              <a:ext uri="{FF2B5EF4-FFF2-40B4-BE49-F238E27FC236}">
                <a16:creationId xmlns:a16="http://schemas.microsoft.com/office/drawing/2014/main" id="{2F16944C-0521-4D83-B743-BEAACF5D8D6F}"/>
              </a:ext>
            </a:extLst>
          </p:cNvPr>
          <p:cNvSpPr>
            <a:spLocks xmlns:a="http://schemas.openxmlformats.org/drawingml/2006/main" noGrp="1"/>
          </p:cNvSpPr>
          <p:nvPr/>
        </p:nvSpPr>
        <p:spPr>
          <a:xfrm xmlns:a="http://schemas.openxmlformats.org/drawingml/2006/main">
            <a:off x="533400" y="14573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모델이 처방하지 않는다 · 투명한 규칙이 후보를 제안하고 담당자가 채택·보류한다</a:t>
            </a:r>
          </a:p>
        </p:txBody>
      </p:sp>
      <p:sp>
        <p:nvSpPr>
          <p:cNvPr id="4" name="">
            <a:extLst xmlns:a="http://schemas.openxmlformats.org/drawingml/2006/main">
              <a:ext uri="{FF2B5EF4-FFF2-40B4-BE49-F238E27FC236}">
                <a16:creationId xmlns:a16="http://schemas.microsoft.com/office/drawing/2014/main" id="{925864F4-BDE7-41ED-8B79-27A2072C773E}"/>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1E6"/>
          </a:solidFill>
          <a:ln xmlns:a="http://schemas.openxmlformats.org/drawingml/2006/main" w="0">
            <a:solidFill>
              <a:srgbClr val="D9E1E6"/>
            </a:solidFill>
            <a:prstDash val="solid"/>
          </a:ln>
        </p:spPr>
      </p:sp>
      <p:sp>
        <p:nvSpPr>
          <p:cNvPr id="5" name="">
            <a:extLst xmlns:a="http://schemas.openxmlformats.org/drawingml/2006/main">
              <a:ext uri="{FF2B5EF4-FFF2-40B4-BE49-F238E27FC236}">
                <a16:creationId xmlns:a16="http://schemas.microsoft.com/office/drawing/2014/main" id="{7C5A9B98-D091-4673-B706-206841BC0F36}"/>
              </a:ext>
            </a:extLst>
          </p:cNvPr>
          <p:cNvSpPr>
            <a:spLocks xmlns:a="http://schemas.openxmlformats.org/drawingml/2006/main" noGrp="1"/>
          </p:cNvSpPr>
          <p:nvPr/>
        </p:nvSpPr>
        <p:spPr>
          <a:xfrm xmlns:a="http://schemas.openxmlformats.org/drawingml/2006/main">
            <a:off x="533400" y="653415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PlaylistPro · Retention Decision Support</a:t>
            </a:r>
          </a:p>
        </p:txBody>
      </p:sp>
      <p:sp>
        <p:nvSpPr>
          <p:cNvPr id="6" name="">
            <a:extLst xmlns:a="http://schemas.openxmlformats.org/drawingml/2006/main">
              <a:ext uri="{FF2B5EF4-FFF2-40B4-BE49-F238E27FC236}">
                <a16:creationId xmlns:a16="http://schemas.microsoft.com/office/drawing/2014/main" id="{282A943B-9517-4DEF-8811-CBF52C2D6BCF}"/>
              </a:ext>
            </a:extLst>
          </p:cNvPr>
          <p:cNvSpPr>
            <a:spLocks xmlns:a="http://schemas.openxmlformats.org/drawingml/2006/main" noGrp="1"/>
          </p:cNvSpPr>
          <p:nvPr/>
        </p:nvSpPr>
        <p:spPr>
          <a:xfrm xmlns:a="http://schemas.openxmlformats.org/drawingml/2006/main">
            <a:off x="11239500" y="65151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60707E"/>
                </a:solidFill>
                <a:latin typeface="Malgun Gothic"/>
                <a:ea typeface="Malgun Gothic"/>
                <a:cs typeface="Malgun Gothic"/>
              </a:defRPr>
            </a:pPr>
            <a:r>
              <a:rPr sz="825" b="1">
                <a:solidFill>
                  <a:srgbClr val="60707E"/>
                </a:solidFill>
                <a:latin typeface="Malgun Gothic"/>
                <a:ea typeface="Malgun Gothic"/>
                <a:cs typeface="Malgun Gothic"/>
              </a:rPr>
              <a:t>05</a:t>
            </a:r>
          </a:p>
        </p:txBody>
      </p:sp>
      <p:sp>
        <p:nvSpPr>
          <p:cNvPr id="7" name="">
            <a:extLst xmlns:a="http://schemas.openxmlformats.org/drawingml/2006/main">
              <a:ext uri="{FF2B5EF4-FFF2-40B4-BE49-F238E27FC236}">
                <a16:creationId xmlns:a16="http://schemas.microsoft.com/office/drawing/2014/main" id="{A19EE359-0D31-4F6B-BFA0-5D6D142867AD}"/>
              </a:ext>
            </a:extLst>
          </p:cNvPr>
          <p:cNvSpPr>
            <a:spLocks xmlns:a="http://schemas.openxmlformats.org/drawingml/2006/main" noGrp="1"/>
          </p:cNvSpPr>
          <p:nvPr/>
        </p:nvSpPr>
        <p:spPr>
          <a:xfrm xmlns:a="http://schemas.openxmlformats.org/drawingml/2006/main">
            <a:off x="533400" y="2038350"/>
            <a:ext cx="2457450" cy="2324100"/>
          </a:xfrm>
          <a:prstGeom xmlns:a="http://schemas.openxmlformats.org/drawingml/2006/main" prst="roundRect">
            <a:avLst>
              <a:gd name="adj" fmla="val 3279"/>
            </a:avLst>
          </a:prstGeom>
          <a:solidFill xmlns:a="http://schemas.openxmlformats.org/drawingml/2006/main">
            <a:srgbClr val="F3F6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C9D954E-4A95-4255-9378-B9A1994C5C0E}"/>
              </a:ext>
            </a:extLst>
          </p:cNvPr>
          <p:cNvSpPr>
            <a:spLocks xmlns:a="http://schemas.openxmlformats.org/drawingml/2006/main" noGrp="1"/>
          </p:cNvSpPr>
          <p:nvPr/>
        </p:nvSpPr>
        <p:spPr>
          <a:xfrm xmlns:a="http://schemas.openxmlformats.org/drawingml/2006/main">
            <a:off x="742950" y="22288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18847A"/>
                </a:solidFill>
                <a:latin typeface="Malgun Gothic"/>
                <a:ea typeface="Malgun Gothic"/>
                <a:cs typeface="Malgun Gothic"/>
              </a:defRPr>
            </a:pPr>
            <a:r>
              <a:rPr sz="1350" b="1">
                <a:solidFill>
                  <a:srgbClr val="18847A"/>
                </a:solidFill>
                <a:latin typeface="Malgun Gothic"/>
                <a:ea typeface="Malgun Gothic"/>
                <a:cs typeface="Malgun Gothic"/>
              </a:rPr>
              <a:t>01</a:t>
            </a:r>
          </a:p>
        </p:txBody>
      </p:sp>
      <p:sp>
        <p:nvSpPr>
          <p:cNvPr id="9" name="">
            <a:extLst xmlns:a="http://schemas.openxmlformats.org/drawingml/2006/main">
              <a:ext uri="{FF2B5EF4-FFF2-40B4-BE49-F238E27FC236}">
                <a16:creationId xmlns:a16="http://schemas.microsoft.com/office/drawing/2014/main" id="{B51B710E-76B7-4126-84A8-ABF563BEBC17}"/>
              </a:ext>
            </a:extLst>
          </p:cNvPr>
          <p:cNvSpPr>
            <a:spLocks xmlns:a="http://schemas.openxmlformats.org/drawingml/2006/main" noGrp="1"/>
          </p:cNvSpPr>
          <p:nvPr/>
        </p:nvSpPr>
        <p:spPr>
          <a:xfrm xmlns:a="http://schemas.openxmlformats.org/drawingml/2006/main">
            <a:off x="742950" y="2724150"/>
            <a:ext cx="2038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7212B"/>
                </a:solidFill>
                <a:latin typeface="Malgun Gothic"/>
                <a:ea typeface="Malgun Gothic"/>
                <a:cs typeface="Malgun Gothic"/>
              </a:defRPr>
            </a:pPr>
            <a:r>
              <a:rPr sz="1650" b="1">
                <a:solidFill>
                  <a:srgbClr val="17212B"/>
                </a:solidFill>
                <a:latin typeface="Malgun Gothic"/>
                <a:ea typeface="Malgun Gothic"/>
                <a:cs typeface="Malgun Gothic"/>
              </a:rPr>
              <a:t>높은 문의</a:t>
            </a:r>
          </a:p>
        </p:txBody>
      </p:sp>
      <p:sp>
        <p:nvSpPr>
          <p:cNvPr id="10" name="">
            <a:extLst xmlns:a="http://schemas.openxmlformats.org/drawingml/2006/main">
              <a:ext uri="{FF2B5EF4-FFF2-40B4-BE49-F238E27FC236}">
                <a16:creationId xmlns:a16="http://schemas.microsoft.com/office/drawing/2014/main" id="{08833969-8671-4DD1-B544-B19B229600EB}"/>
              </a:ext>
            </a:extLst>
          </p:cNvPr>
          <p:cNvSpPr>
            <a:spLocks xmlns:a="http://schemas.openxmlformats.org/drawingml/2006/main" noGrp="1"/>
          </p:cNvSpPr>
          <p:nvPr/>
        </p:nvSpPr>
        <p:spPr>
          <a:xfrm xmlns:a="http://schemas.openxmlformats.org/drawingml/2006/main">
            <a:off x="742950" y="3276600"/>
            <a:ext cx="2038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미해결 문의 확인</a:t>
            </a:r>
          </a:p>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상담 우선순위 검토</a:t>
            </a:r>
          </a:p>
        </p:txBody>
      </p:sp>
      <p:sp>
        <p:nvSpPr>
          <p:cNvPr id="11" name="">
            <a:extLst xmlns:a="http://schemas.openxmlformats.org/drawingml/2006/main">
              <a:ext uri="{FF2B5EF4-FFF2-40B4-BE49-F238E27FC236}">
                <a16:creationId xmlns:a16="http://schemas.microsoft.com/office/drawing/2014/main" id="{93E68EB1-A937-4E5E-A6F5-275CDA69E781}"/>
              </a:ext>
            </a:extLst>
          </p:cNvPr>
          <p:cNvSpPr>
            <a:spLocks xmlns:a="http://schemas.openxmlformats.org/drawingml/2006/main" noGrp="1"/>
          </p:cNvSpPr>
          <p:nvPr/>
        </p:nvSpPr>
        <p:spPr>
          <a:xfrm xmlns:a="http://schemas.openxmlformats.org/drawingml/2006/main">
            <a:off x="3048000" y="2876550"/>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950" b="1">
                <a:solidFill>
                  <a:srgbClr val="E85E43"/>
                </a:solidFill>
                <a:latin typeface="Malgun Gothic"/>
                <a:ea typeface="Malgun Gothic"/>
                <a:cs typeface="Malgun Gothic"/>
              </a:defRPr>
            </a:pPr>
            <a:r>
              <a:rPr sz="1950" b="1">
                <a:solidFill>
                  <a:srgbClr val="E85E43"/>
                </a:solidFill>
                <a:latin typeface="Malgun Gothic"/>
                <a:ea typeface="Malgun Gothic"/>
                <a:cs typeface="Malgun Gothic"/>
              </a:rPr>
              <a:t>→</a:t>
            </a:r>
          </a:p>
        </p:txBody>
      </p:sp>
      <p:sp>
        <p:nvSpPr>
          <p:cNvPr id="12" name="">
            <a:extLst xmlns:a="http://schemas.openxmlformats.org/drawingml/2006/main">
              <a:ext uri="{FF2B5EF4-FFF2-40B4-BE49-F238E27FC236}">
                <a16:creationId xmlns:a16="http://schemas.microsoft.com/office/drawing/2014/main" id="{2E2E1492-3485-4268-AA3A-D3FC110D78DE}"/>
              </a:ext>
            </a:extLst>
          </p:cNvPr>
          <p:cNvSpPr>
            <a:spLocks xmlns:a="http://schemas.openxmlformats.org/drawingml/2006/main" noGrp="1"/>
          </p:cNvSpPr>
          <p:nvPr/>
        </p:nvSpPr>
        <p:spPr>
          <a:xfrm xmlns:a="http://schemas.openxmlformats.org/drawingml/2006/main">
            <a:off x="3333750" y="2038350"/>
            <a:ext cx="2457450" cy="2324100"/>
          </a:xfrm>
          <a:prstGeom xmlns:a="http://schemas.openxmlformats.org/drawingml/2006/main" prst="roundRect">
            <a:avLst>
              <a:gd name="adj" fmla="val 3279"/>
            </a:avLst>
          </a:prstGeom>
          <a:solidFill xmlns:a="http://schemas.openxmlformats.org/drawingml/2006/main">
            <a:srgbClr val="F3F6F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E08F091-C062-425A-AF98-002E102ACC56}"/>
              </a:ext>
            </a:extLst>
          </p:cNvPr>
          <p:cNvSpPr>
            <a:spLocks xmlns:a="http://schemas.openxmlformats.org/drawingml/2006/main" noGrp="1"/>
          </p:cNvSpPr>
          <p:nvPr/>
        </p:nvSpPr>
        <p:spPr>
          <a:xfrm xmlns:a="http://schemas.openxmlformats.org/drawingml/2006/main">
            <a:off x="3543300" y="22288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17354B"/>
                </a:solidFill>
                <a:latin typeface="Malgun Gothic"/>
                <a:ea typeface="Malgun Gothic"/>
                <a:cs typeface="Malgun Gothic"/>
              </a:defRPr>
            </a:pPr>
            <a:r>
              <a:rPr sz="1350" b="1">
                <a:solidFill>
                  <a:srgbClr val="17354B"/>
                </a:solidFill>
                <a:latin typeface="Malgun Gothic"/>
                <a:ea typeface="Malgun Gothic"/>
                <a:cs typeface="Malgun Gothic"/>
              </a:rPr>
              <a:t>02</a:t>
            </a:r>
          </a:p>
        </p:txBody>
      </p:sp>
      <p:sp>
        <p:nvSpPr>
          <p:cNvPr id="14" name="">
            <a:extLst xmlns:a="http://schemas.openxmlformats.org/drawingml/2006/main">
              <a:ext uri="{FF2B5EF4-FFF2-40B4-BE49-F238E27FC236}">
                <a16:creationId xmlns:a16="http://schemas.microsoft.com/office/drawing/2014/main" id="{94CE0D66-3245-40B4-B98F-9B46A043B061}"/>
              </a:ext>
            </a:extLst>
          </p:cNvPr>
          <p:cNvSpPr>
            <a:spLocks xmlns:a="http://schemas.openxmlformats.org/drawingml/2006/main" noGrp="1"/>
          </p:cNvSpPr>
          <p:nvPr/>
        </p:nvSpPr>
        <p:spPr>
          <a:xfrm xmlns:a="http://schemas.openxmlformats.org/drawingml/2006/main">
            <a:off x="3543300" y="2724150"/>
            <a:ext cx="2038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7212B"/>
                </a:solidFill>
                <a:latin typeface="Malgun Gothic"/>
                <a:ea typeface="Malgun Gothic"/>
                <a:cs typeface="Malgun Gothic"/>
              </a:defRPr>
            </a:pPr>
            <a:r>
              <a:rPr sz="1650" b="1">
                <a:solidFill>
                  <a:srgbClr val="17212B"/>
                </a:solidFill>
                <a:latin typeface="Malgun Gothic"/>
                <a:ea typeface="Malgun Gothic"/>
                <a:cs typeface="Malgun Gothic"/>
              </a:rPr>
              <a:t>낮은 청취</a:t>
            </a:r>
          </a:p>
        </p:txBody>
      </p:sp>
      <p:sp>
        <p:nvSpPr>
          <p:cNvPr id="15" name="">
            <a:extLst xmlns:a="http://schemas.openxmlformats.org/drawingml/2006/main">
              <a:ext uri="{FF2B5EF4-FFF2-40B4-BE49-F238E27FC236}">
                <a16:creationId xmlns:a16="http://schemas.microsoft.com/office/drawing/2014/main" id="{3CE46052-C094-41AF-97F6-20B1246A4C5C}"/>
              </a:ext>
            </a:extLst>
          </p:cNvPr>
          <p:cNvSpPr>
            <a:spLocks xmlns:a="http://schemas.openxmlformats.org/drawingml/2006/main" noGrp="1"/>
          </p:cNvSpPr>
          <p:nvPr/>
        </p:nvSpPr>
        <p:spPr>
          <a:xfrm xmlns:a="http://schemas.openxmlformats.org/drawingml/2006/main">
            <a:off x="3543300" y="3276600"/>
            <a:ext cx="2038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개인화 재활성화</a:t>
            </a:r>
          </a:p>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플레이리스트 제안</a:t>
            </a:r>
          </a:p>
        </p:txBody>
      </p:sp>
      <p:sp>
        <p:nvSpPr>
          <p:cNvPr id="16" name="">
            <a:extLst xmlns:a="http://schemas.openxmlformats.org/drawingml/2006/main">
              <a:ext uri="{FF2B5EF4-FFF2-40B4-BE49-F238E27FC236}">
                <a16:creationId xmlns:a16="http://schemas.microsoft.com/office/drawing/2014/main" id="{98FE81CD-585F-4594-B7B9-84D4C35423CC}"/>
              </a:ext>
            </a:extLst>
          </p:cNvPr>
          <p:cNvSpPr>
            <a:spLocks xmlns:a="http://schemas.openxmlformats.org/drawingml/2006/main" noGrp="1"/>
          </p:cNvSpPr>
          <p:nvPr/>
        </p:nvSpPr>
        <p:spPr>
          <a:xfrm xmlns:a="http://schemas.openxmlformats.org/drawingml/2006/main">
            <a:off x="5848350" y="2876550"/>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950" b="1">
                <a:solidFill>
                  <a:srgbClr val="E85E43"/>
                </a:solidFill>
                <a:latin typeface="Malgun Gothic"/>
                <a:ea typeface="Malgun Gothic"/>
                <a:cs typeface="Malgun Gothic"/>
              </a:defRPr>
            </a:pPr>
            <a:r>
              <a:rPr sz="1950" b="1">
                <a:solidFill>
                  <a:srgbClr val="E85E43"/>
                </a:solidFill>
                <a:latin typeface="Malgun Gothic"/>
                <a:ea typeface="Malgun Gothic"/>
                <a:cs typeface="Malgun Gothic"/>
              </a:rPr>
              <a:t>→</a:t>
            </a:r>
          </a:p>
        </p:txBody>
      </p:sp>
      <p:sp>
        <p:nvSpPr>
          <p:cNvPr id="17" name="">
            <a:extLst xmlns:a="http://schemas.openxmlformats.org/drawingml/2006/main">
              <a:ext uri="{FF2B5EF4-FFF2-40B4-BE49-F238E27FC236}">
                <a16:creationId xmlns:a16="http://schemas.microsoft.com/office/drawing/2014/main" id="{8F10B303-382B-4CBD-BF5F-181FB8BCBED3}"/>
              </a:ext>
            </a:extLst>
          </p:cNvPr>
          <p:cNvSpPr>
            <a:spLocks xmlns:a="http://schemas.openxmlformats.org/drawingml/2006/main" noGrp="1"/>
          </p:cNvSpPr>
          <p:nvPr/>
        </p:nvSpPr>
        <p:spPr>
          <a:xfrm xmlns:a="http://schemas.openxmlformats.org/drawingml/2006/main">
            <a:off x="6134100" y="2038350"/>
            <a:ext cx="2457450" cy="2324100"/>
          </a:xfrm>
          <a:prstGeom xmlns:a="http://schemas.openxmlformats.org/drawingml/2006/main" prst="roundRect">
            <a:avLst>
              <a:gd name="adj" fmla="val 3279"/>
            </a:avLst>
          </a:prstGeom>
          <a:solidFill xmlns:a="http://schemas.openxmlformats.org/drawingml/2006/main">
            <a:srgbClr val="F3F6F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41EE885-EB69-4A1C-A3E5-3F0674F79FF7}"/>
              </a:ext>
            </a:extLst>
          </p:cNvPr>
          <p:cNvSpPr>
            <a:spLocks xmlns:a="http://schemas.openxmlformats.org/drawingml/2006/main" noGrp="1"/>
          </p:cNvSpPr>
          <p:nvPr/>
        </p:nvSpPr>
        <p:spPr>
          <a:xfrm xmlns:a="http://schemas.openxmlformats.org/drawingml/2006/main">
            <a:off x="6343650" y="22288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D99224"/>
                </a:solidFill>
                <a:latin typeface="Malgun Gothic"/>
                <a:ea typeface="Malgun Gothic"/>
                <a:cs typeface="Malgun Gothic"/>
              </a:defRPr>
            </a:pPr>
            <a:r>
              <a:rPr sz="1350" b="1">
                <a:solidFill>
                  <a:srgbClr val="D99224"/>
                </a:solidFill>
                <a:latin typeface="Malgun Gothic"/>
                <a:ea typeface="Malgun Gothic"/>
                <a:cs typeface="Malgun Gothic"/>
              </a:rPr>
              <a:t>03</a:t>
            </a:r>
          </a:p>
        </p:txBody>
      </p:sp>
      <p:sp>
        <p:nvSpPr>
          <p:cNvPr id="19" name="">
            <a:extLst xmlns:a="http://schemas.openxmlformats.org/drawingml/2006/main">
              <a:ext uri="{FF2B5EF4-FFF2-40B4-BE49-F238E27FC236}">
                <a16:creationId xmlns:a16="http://schemas.microsoft.com/office/drawing/2014/main" id="{D28546D0-FF48-44A4-A8A9-FB1CB5372BEA}"/>
              </a:ext>
            </a:extLst>
          </p:cNvPr>
          <p:cNvSpPr>
            <a:spLocks xmlns:a="http://schemas.openxmlformats.org/drawingml/2006/main" noGrp="1"/>
          </p:cNvSpPr>
          <p:nvPr/>
        </p:nvSpPr>
        <p:spPr>
          <a:xfrm xmlns:a="http://schemas.openxmlformats.org/drawingml/2006/main">
            <a:off x="6343650" y="2724150"/>
            <a:ext cx="2038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7212B"/>
                </a:solidFill>
                <a:latin typeface="Malgun Gothic"/>
                <a:ea typeface="Malgun Gothic"/>
                <a:cs typeface="Malgun Gothic"/>
              </a:defRPr>
            </a:pPr>
            <a:r>
              <a:rPr sz="1650" b="1">
                <a:solidFill>
                  <a:srgbClr val="17212B"/>
                </a:solidFill>
                <a:latin typeface="Malgun Gothic"/>
                <a:ea typeface="Malgun Gothic"/>
                <a:cs typeface="Malgun Gothic"/>
              </a:rPr>
              <a:t>Skip·Pause</a:t>
            </a:r>
          </a:p>
        </p:txBody>
      </p:sp>
      <p:sp>
        <p:nvSpPr>
          <p:cNvPr id="20" name="">
            <a:extLst xmlns:a="http://schemas.openxmlformats.org/drawingml/2006/main">
              <a:ext uri="{FF2B5EF4-FFF2-40B4-BE49-F238E27FC236}">
                <a16:creationId xmlns:a16="http://schemas.microsoft.com/office/drawing/2014/main" id="{B162F396-66B4-47A5-B578-6A9B55D1588A}"/>
              </a:ext>
            </a:extLst>
          </p:cNvPr>
          <p:cNvSpPr>
            <a:spLocks xmlns:a="http://schemas.openxmlformats.org/drawingml/2006/main" noGrp="1"/>
          </p:cNvSpPr>
          <p:nvPr/>
        </p:nvSpPr>
        <p:spPr>
          <a:xfrm xmlns:a="http://schemas.openxmlformats.org/drawingml/2006/main">
            <a:off x="6343650" y="3276600"/>
            <a:ext cx="2038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만족도·콘텐츠 다양성</a:t>
            </a:r>
          </a:p>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복귀 장벽 확인</a:t>
            </a:r>
          </a:p>
        </p:txBody>
      </p:sp>
      <p:sp>
        <p:nvSpPr>
          <p:cNvPr id="21" name="">
            <a:extLst xmlns:a="http://schemas.openxmlformats.org/drawingml/2006/main">
              <a:ext uri="{FF2B5EF4-FFF2-40B4-BE49-F238E27FC236}">
                <a16:creationId xmlns:a16="http://schemas.microsoft.com/office/drawing/2014/main" id="{4257F64F-3C40-4DD8-8E5F-CF19070DF593}"/>
              </a:ext>
            </a:extLst>
          </p:cNvPr>
          <p:cNvSpPr>
            <a:spLocks xmlns:a="http://schemas.openxmlformats.org/drawingml/2006/main" noGrp="1"/>
          </p:cNvSpPr>
          <p:nvPr/>
        </p:nvSpPr>
        <p:spPr>
          <a:xfrm xmlns:a="http://schemas.openxmlformats.org/drawingml/2006/main">
            <a:off x="8648700" y="2876550"/>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950" b="1">
                <a:solidFill>
                  <a:srgbClr val="E85E43"/>
                </a:solidFill>
                <a:latin typeface="Malgun Gothic"/>
                <a:ea typeface="Malgun Gothic"/>
                <a:cs typeface="Malgun Gothic"/>
              </a:defRPr>
            </a:pPr>
            <a:r>
              <a:rPr sz="1950" b="1">
                <a:solidFill>
                  <a:srgbClr val="E85E43"/>
                </a:solidFill>
                <a:latin typeface="Malgun Gothic"/>
                <a:ea typeface="Malgun Gothic"/>
                <a:cs typeface="Malgun Gothic"/>
              </a:rPr>
              <a:t>→</a:t>
            </a:r>
          </a:p>
        </p:txBody>
      </p:sp>
      <p:sp>
        <p:nvSpPr>
          <p:cNvPr id="22" name="">
            <a:extLst xmlns:a="http://schemas.openxmlformats.org/drawingml/2006/main">
              <a:ext uri="{FF2B5EF4-FFF2-40B4-BE49-F238E27FC236}">
                <a16:creationId xmlns:a16="http://schemas.microsoft.com/office/drawing/2014/main" id="{F678228A-6603-4AF6-9F6E-4E6DDD23517B}"/>
              </a:ext>
            </a:extLst>
          </p:cNvPr>
          <p:cNvSpPr>
            <a:spLocks xmlns:a="http://schemas.openxmlformats.org/drawingml/2006/main" noGrp="1"/>
          </p:cNvSpPr>
          <p:nvPr/>
        </p:nvSpPr>
        <p:spPr>
          <a:xfrm xmlns:a="http://schemas.openxmlformats.org/drawingml/2006/main">
            <a:off x="8934450" y="2038350"/>
            <a:ext cx="2457450" cy="2324100"/>
          </a:xfrm>
          <a:prstGeom xmlns:a="http://schemas.openxmlformats.org/drawingml/2006/main" prst="roundRect">
            <a:avLst>
              <a:gd name="adj" fmla="val 3279"/>
            </a:avLst>
          </a:prstGeom>
          <a:solidFill xmlns:a="http://schemas.openxmlformats.org/drawingml/2006/main">
            <a:srgbClr val="F3F6F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E309EA7-4927-4FA0-9BA1-4CEC52BD7C3F}"/>
              </a:ext>
            </a:extLst>
          </p:cNvPr>
          <p:cNvSpPr>
            <a:spLocks xmlns:a="http://schemas.openxmlformats.org/drawingml/2006/main" noGrp="1"/>
          </p:cNvSpPr>
          <p:nvPr/>
        </p:nvSpPr>
        <p:spPr>
          <a:xfrm xmlns:a="http://schemas.openxmlformats.org/drawingml/2006/main">
            <a:off x="9144000" y="222885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E85E43"/>
                </a:solidFill>
                <a:latin typeface="Malgun Gothic"/>
                <a:ea typeface="Malgun Gothic"/>
                <a:cs typeface="Malgun Gothic"/>
              </a:defRPr>
            </a:pPr>
            <a:r>
              <a:rPr sz="1350" b="1">
                <a:solidFill>
                  <a:srgbClr val="E85E43"/>
                </a:solidFill>
                <a:latin typeface="Malgun Gothic"/>
                <a:ea typeface="Malgun Gothic"/>
                <a:cs typeface="Malgun Gothic"/>
              </a:rPr>
              <a:t>04</a:t>
            </a:r>
          </a:p>
        </p:txBody>
      </p:sp>
      <p:sp>
        <p:nvSpPr>
          <p:cNvPr id="24" name="">
            <a:extLst xmlns:a="http://schemas.openxmlformats.org/drawingml/2006/main">
              <a:ext uri="{FF2B5EF4-FFF2-40B4-BE49-F238E27FC236}">
                <a16:creationId xmlns:a16="http://schemas.microsoft.com/office/drawing/2014/main" id="{485D26DE-236A-478C-9A43-413E3B4C72E3}"/>
              </a:ext>
            </a:extLst>
          </p:cNvPr>
          <p:cNvSpPr>
            <a:spLocks xmlns:a="http://schemas.openxmlformats.org/drawingml/2006/main" noGrp="1"/>
          </p:cNvSpPr>
          <p:nvPr/>
        </p:nvSpPr>
        <p:spPr>
          <a:xfrm xmlns:a="http://schemas.openxmlformats.org/drawingml/2006/main">
            <a:off x="9144000" y="2724150"/>
            <a:ext cx="2038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7212B"/>
                </a:solidFill>
                <a:latin typeface="Malgun Gothic"/>
                <a:ea typeface="Malgun Gothic"/>
                <a:cs typeface="Malgun Gothic"/>
              </a:defRPr>
            </a:pPr>
            <a:r>
              <a:rPr sz="1650" b="1">
                <a:solidFill>
                  <a:srgbClr val="17212B"/>
                </a:solidFill>
                <a:latin typeface="Malgun Gothic"/>
                <a:ea typeface="Malgun Gothic"/>
                <a:cs typeface="Malgun Gothic"/>
              </a:rPr>
              <a:t>Free 구독</a:t>
            </a:r>
          </a:p>
        </p:txBody>
      </p:sp>
      <p:sp>
        <p:nvSpPr>
          <p:cNvPr id="25" name="">
            <a:extLst xmlns:a="http://schemas.openxmlformats.org/drawingml/2006/main">
              <a:ext uri="{FF2B5EF4-FFF2-40B4-BE49-F238E27FC236}">
                <a16:creationId xmlns:a16="http://schemas.microsoft.com/office/drawing/2014/main" id="{71FA2CA5-C8C9-4878-B487-1C97CEF06F2D}"/>
              </a:ext>
            </a:extLst>
          </p:cNvPr>
          <p:cNvSpPr>
            <a:spLocks xmlns:a="http://schemas.openxmlformats.org/drawingml/2006/main" noGrp="1"/>
          </p:cNvSpPr>
          <p:nvPr/>
        </p:nvSpPr>
        <p:spPr>
          <a:xfrm xmlns:a="http://schemas.openxmlformats.org/drawingml/2006/main">
            <a:off x="9144000" y="3276600"/>
            <a:ext cx="2038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혜택 인지 확인</a:t>
            </a:r>
          </a:p>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체험 제안 검토</a:t>
            </a:r>
          </a:p>
        </p:txBody>
      </p:sp>
      <p:sp>
        <p:nvSpPr>
          <p:cNvPr id="26" name="">
            <a:extLst xmlns:a="http://schemas.openxmlformats.org/drawingml/2006/main">
              <a:ext uri="{FF2B5EF4-FFF2-40B4-BE49-F238E27FC236}">
                <a16:creationId xmlns:a16="http://schemas.microsoft.com/office/drawing/2014/main" id="{AD924A02-1DEE-479B-A73C-FBEF64B65922}"/>
              </a:ext>
            </a:extLst>
          </p:cNvPr>
          <p:cNvSpPr>
            <a:spLocks xmlns:a="http://schemas.openxmlformats.org/drawingml/2006/main" noGrp="1"/>
          </p:cNvSpPr>
          <p:nvPr/>
        </p:nvSpPr>
        <p:spPr>
          <a:xfrm xmlns:a="http://schemas.openxmlformats.org/drawingml/2006/main">
            <a:off x="533400" y="4695825"/>
            <a:ext cx="11125200" cy="1028700"/>
          </a:xfrm>
          <a:prstGeom xmlns:a="http://schemas.openxmlformats.org/drawingml/2006/main" prst="roundRect">
            <a:avLst>
              <a:gd name="adj" fmla="val 7407"/>
            </a:avLst>
          </a:prstGeom>
          <a:solidFill xmlns:a="http://schemas.openxmlformats.org/drawingml/2006/main">
            <a:srgbClr val="17354B"/>
          </a:solidFill>
          <a:ln xmlns:a="http://schemas.openxmlformats.org/drawingml/2006/main" w="9525">
            <a:solidFill>
              <a:srgbClr val="17354B"/>
            </a:solidFill>
            <a:prstDash val="solid"/>
          </a:ln>
        </p:spPr>
      </p:sp>
      <p:sp>
        <p:nvSpPr>
          <p:cNvPr id="27" name="">
            <a:extLst xmlns:a="http://schemas.openxmlformats.org/drawingml/2006/main">
              <a:ext uri="{FF2B5EF4-FFF2-40B4-BE49-F238E27FC236}">
                <a16:creationId xmlns:a16="http://schemas.microsoft.com/office/drawing/2014/main" id="{879BD4EA-6527-4811-8072-C8E3AE2325FB}"/>
              </a:ext>
            </a:extLst>
          </p:cNvPr>
          <p:cNvSpPr>
            <a:spLocks xmlns:a="http://schemas.openxmlformats.org/drawingml/2006/main" noGrp="1"/>
          </p:cNvSpPr>
          <p:nvPr/>
        </p:nvSpPr>
        <p:spPr>
          <a:xfrm xmlns:a="http://schemas.openxmlformats.org/drawingml/2006/main">
            <a:off x="781050" y="48958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F6A28F"/>
                </a:solidFill>
                <a:latin typeface="Malgun Gothic"/>
                <a:ea typeface="Malgun Gothic"/>
                <a:cs typeface="Malgun Gothic"/>
              </a:defRPr>
            </a:pPr>
            <a:r>
              <a:rPr sz="1200" b="1">
                <a:solidFill>
                  <a:srgbClr val="F6A28F"/>
                </a:solidFill>
                <a:latin typeface="Malgun Gothic"/>
                <a:ea typeface="Malgun Gothic"/>
                <a:cs typeface="Malgun Gothic"/>
              </a:rPr>
              <a:t>행동 배정 원칙</a:t>
            </a:r>
          </a:p>
        </p:txBody>
      </p:sp>
      <p:sp>
        <p:nvSpPr>
          <p:cNvPr id="28" name="">
            <a:extLst xmlns:a="http://schemas.openxmlformats.org/drawingml/2006/main">
              <a:ext uri="{FF2B5EF4-FFF2-40B4-BE49-F238E27FC236}">
                <a16:creationId xmlns:a16="http://schemas.microsoft.com/office/drawing/2014/main" id="{7A72618C-8F1F-4C1D-AD47-8A2EF2574D1C}"/>
              </a:ext>
            </a:extLst>
          </p:cNvPr>
          <p:cNvSpPr>
            <a:spLocks xmlns:a="http://schemas.openxmlformats.org/drawingml/2006/main" noGrp="1"/>
          </p:cNvSpPr>
          <p:nvPr/>
        </p:nvSpPr>
        <p:spPr>
          <a:xfrm xmlns:a="http://schemas.openxmlformats.org/drawingml/2006/main">
            <a:off x="781050" y="5248275"/>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사용·문의·구독 신호만 사용 · Age·Location·Customer ID 제외</a:t>
            </a:r>
          </a:p>
        </p:txBody>
      </p:sp>
      <p:sp>
        <p:nvSpPr>
          <p:cNvPr id="29" name="">
            <a:extLst xmlns:a="http://schemas.openxmlformats.org/drawingml/2006/main">
              <a:ext uri="{FF2B5EF4-FFF2-40B4-BE49-F238E27FC236}">
                <a16:creationId xmlns:a16="http://schemas.microsoft.com/office/drawing/2014/main" id="{5512005D-E7A1-49F2-A1D9-231F878B0F7F}"/>
              </a:ext>
            </a:extLst>
          </p:cNvPr>
          <p:cNvSpPr>
            <a:spLocks xmlns:a="http://schemas.openxmlformats.org/drawingml/2006/main" noGrp="1"/>
          </p:cNvSpPr>
          <p:nvPr/>
        </p:nvSpPr>
        <p:spPr>
          <a:xfrm xmlns:a="http://schemas.openxmlformats.org/drawingml/2006/main">
            <a:off x="7839075" y="509587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a:solidFill>
                  <a:srgbClr val="D9E5EC"/>
                </a:solidFill>
                <a:latin typeface="Malgun Gothic"/>
                <a:ea typeface="Malgun Gothic"/>
                <a:cs typeface="Malgun Gothic"/>
              </a:defRPr>
            </a:pPr>
            <a:r>
              <a:rPr sz="1125" b="0">
                <a:solidFill>
                  <a:srgbClr val="D9E5EC"/>
                </a:solidFill>
                <a:latin typeface="Malgun Gothic"/>
                <a:ea typeface="Malgun Gothic"/>
                <a:cs typeface="Malgun Gothic"/>
              </a:rPr>
              <a:t>자동 처방 아님 · 담당자 채택·보류·직접 검토</a:t>
            </a:r>
          </a:p>
        </p:txBody>
      </p:sp>
      <p:sp>
        <p:nvSpPr>
          <p:cNvPr id="30" name="">
            <a:extLst xmlns:a="http://schemas.openxmlformats.org/drawingml/2006/main">
              <a:ext uri="{FF2B5EF4-FFF2-40B4-BE49-F238E27FC236}">
                <a16:creationId xmlns:a16="http://schemas.microsoft.com/office/drawing/2014/main" id="{2357715D-A7AC-4268-AB95-5EF1BED53CFD}"/>
              </a:ext>
            </a:extLst>
          </p:cNvPr>
          <p:cNvSpPr>
            <a:spLocks xmlns:a="http://schemas.openxmlformats.org/drawingml/2006/main" noGrp="1"/>
          </p:cNvSpPr>
          <p:nvPr/>
        </p:nvSpPr>
        <p:spPr>
          <a:xfrm xmlns:a="http://schemas.openxmlformats.org/drawingml/2006/main">
            <a:off x="533400" y="6200775"/>
            <a:ext cx="10572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근거: src/retention_strategy.py · docs/streamlit_insight_redesign_prompt.md</a:t>
            </a:r>
          </a:p>
        </p:txBody>
      </p:sp>
    </p:spTree>
    <p:extLst>
      <p:ext uri="{BB962C8B-B14F-4D97-AF65-F5344CB8AC3E}">
        <p14:creationId xmlns:p14="http://schemas.microsoft.com/office/powerpoint/2010/main" val="6393977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E4CB304-EBF5-4A0B-B7CB-DE6A99558B7A}"/>
              </a:ext>
            </a:extLst>
          </p:cNvPr>
          <p:cNvSpPr>
            <a:spLocks xmlns:a="http://schemas.openxmlformats.org/drawingml/2006/main" noGrp="1"/>
          </p:cNvSpPr>
          <p:nvPr/>
        </p:nvSpPr>
        <p:spPr>
          <a:xfrm xmlns:a="http://schemas.openxmlformats.org/drawingml/2006/main">
            <a:off x="533400" y="1524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E85E43"/>
                </a:solidFill>
                <a:latin typeface="Malgun Gothic"/>
                <a:ea typeface="Malgun Gothic"/>
                <a:cs typeface="Malgun Gothic"/>
              </a:defRPr>
            </a:pPr>
            <a:r>
              <a:rPr sz="900" b="1">
                <a:solidFill>
                  <a:srgbClr val="E85E43"/>
                </a:solidFill>
                <a:latin typeface="Malgun Gothic"/>
                <a:ea typeface="Malgun Gothic"/>
                <a:cs typeface="Malgun Gothic"/>
              </a:rPr>
              <a:t>FEATURE EXPERIMENTS</a:t>
            </a:r>
          </a:p>
        </p:txBody>
      </p:sp>
      <p:sp>
        <p:nvSpPr>
          <p:cNvPr id="2" name="">
            <a:extLst xmlns:a="http://schemas.openxmlformats.org/drawingml/2006/main">
              <a:ext uri="{FF2B5EF4-FFF2-40B4-BE49-F238E27FC236}">
                <a16:creationId xmlns:a16="http://schemas.microsoft.com/office/drawing/2014/main" id="{12ECDD18-1695-4595-A900-200283B39687}"/>
              </a:ext>
            </a:extLst>
          </p:cNvPr>
          <p:cNvSpPr>
            <a:spLocks xmlns:a="http://schemas.openxmlformats.org/drawingml/2006/main" noGrp="1"/>
          </p:cNvSpPr>
          <p:nvPr/>
        </p:nvSpPr>
        <p:spPr>
          <a:xfrm xmlns:a="http://schemas.openxmlformats.org/drawingml/2006/main">
            <a:off x="533400" y="419100"/>
            <a:ext cx="1104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인사이트 기반 전처리는 채택과 제외를 함께 기록했습니다</a:t>
            </a:r>
          </a:p>
        </p:txBody>
      </p:sp>
      <p:sp>
        <p:nvSpPr>
          <p:cNvPr id="3" name="">
            <a:extLst xmlns:a="http://schemas.openxmlformats.org/drawingml/2006/main">
              <a:ext uri="{FF2B5EF4-FFF2-40B4-BE49-F238E27FC236}">
                <a16:creationId xmlns:a16="http://schemas.microsoft.com/office/drawing/2014/main" id="{0252670B-8724-494E-B6FC-FFFF92BF151D}"/>
              </a:ext>
            </a:extLst>
          </p:cNvPr>
          <p:cNvSpPr>
            <a:spLocks xmlns:a="http://schemas.openxmlformats.org/drawingml/2006/main" noGrp="1"/>
          </p:cNvSpPr>
          <p:nvPr/>
        </p:nvSpPr>
        <p:spPr>
          <a:xfrm xmlns:a="http://schemas.openxmlformats.org/drawingml/2006/main">
            <a:off x="533400" y="14573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같은 OOF 조건에서 개선된 로그 변환만 채택하고 미개선 가설은 제외했다</a:t>
            </a:r>
          </a:p>
        </p:txBody>
      </p:sp>
      <p:sp>
        <p:nvSpPr>
          <p:cNvPr id="4" name="">
            <a:extLst xmlns:a="http://schemas.openxmlformats.org/drawingml/2006/main">
              <a:ext uri="{FF2B5EF4-FFF2-40B4-BE49-F238E27FC236}">
                <a16:creationId xmlns:a16="http://schemas.microsoft.com/office/drawing/2014/main" id="{68FF0D9A-23FA-4016-9310-938AF433AB94}"/>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1E6"/>
          </a:solidFill>
          <a:ln xmlns:a="http://schemas.openxmlformats.org/drawingml/2006/main" w="0">
            <a:solidFill>
              <a:srgbClr val="D9E1E6"/>
            </a:solidFill>
            <a:prstDash val="solid"/>
          </a:ln>
        </p:spPr>
      </p:sp>
      <p:sp>
        <p:nvSpPr>
          <p:cNvPr id="5" name="">
            <a:extLst xmlns:a="http://schemas.openxmlformats.org/drawingml/2006/main">
              <a:ext uri="{FF2B5EF4-FFF2-40B4-BE49-F238E27FC236}">
                <a16:creationId xmlns:a16="http://schemas.microsoft.com/office/drawing/2014/main" id="{43FDA47A-43E7-43A7-B1E3-4203EA0EBE9E}"/>
              </a:ext>
            </a:extLst>
          </p:cNvPr>
          <p:cNvSpPr>
            <a:spLocks xmlns:a="http://schemas.openxmlformats.org/drawingml/2006/main" noGrp="1"/>
          </p:cNvSpPr>
          <p:nvPr/>
        </p:nvSpPr>
        <p:spPr>
          <a:xfrm xmlns:a="http://schemas.openxmlformats.org/drawingml/2006/main">
            <a:off x="533400" y="653415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PlaylistPro · Retention Decision Support</a:t>
            </a:r>
          </a:p>
        </p:txBody>
      </p:sp>
      <p:sp>
        <p:nvSpPr>
          <p:cNvPr id="6" name="">
            <a:extLst xmlns:a="http://schemas.openxmlformats.org/drawingml/2006/main">
              <a:ext uri="{FF2B5EF4-FFF2-40B4-BE49-F238E27FC236}">
                <a16:creationId xmlns:a16="http://schemas.microsoft.com/office/drawing/2014/main" id="{6F409956-6FC7-422F-B01D-04A94641A32A}"/>
              </a:ext>
            </a:extLst>
          </p:cNvPr>
          <p:cNvSpPr>
            <a:spLocks xmlns:a="http://schemas.openxmlformats.org/drawingml/2006/main" noGrp="1"/>
          </p:cNvSpPr>
          <p:nvPr/>
        </p:nvSpPr>
        <p:spPr>
          <a:xfrm xmlns:a="http://schemas.openxmlformats.org/drawingml/2006/main">
            <a:off x="11239500" y="65151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60707E"/>
                </a:solidFill>
                <a:latin typeface="Malgun Gothic"/>
                <a:ea typeface="Malgun Gothic"/>
                <a:cs typeface="Malgun Gothic"/>
              </a:defRPr>
            </a:pPr>
            <a:r>
              <a:rPr sz="825" b="1">
                <a:solidFill>
                  <a:srgbClr val="60707E"/>
                </a:solidFill>
                <a:latin typeface="Malgun Gothic"/>
                <a:ea typeface="Malgun Gothic"/>
                <a:cs typeface="Malgun Gothic"/>
              </a:rPr>
              <a:t>06</a:t>
            </a:r>
          </a:p>
        </p:txBody>
      </p:sp>
      <p:sp>
        <p:nvSpPr>
          <p:cNvPr id="7" name="">
            <a:extLst xmlns:a="http://schemas.openxmlformats.org/drawingml/2006/main">
              <a:ext uri="{FF2B5EF4-FFF2-40B4-BE49-F238E27FC236}">
                <a16:creationId xmlns:a16="http://schemas.microsoft.com/office/drawing/2014/main" id="{45162910-0F6E-4E7B-8767-BE7FAD103B1E}"/>
              </a:ext>
            </a:extLst>
          </p:cNvPr>
          <p:cNvSpPr>
            <a:spLocks xmlns:a="http://schemas.openxmlformats.org/drawingml/2006/main" noGrp="1"/>
          </p:cNvSpPr>
          <p:nvPr/>
        </p:nvSpPr>
        <p:spPr>
          <a:xfrm xmlns:a="http://schemas.openxmlformats.org/drawingml/2006/main">
            <a:off x="533400" y="1790700"/>
            <a:ext cx="7239000" cy="3810000"/>
          </a:xfrm>
          <a:prstGeom xmlns:a="http://schemas.openxmlformats.org/drawingml/2006/main" prst="roundRect">
            <a:avLst>
              <a:gd name="adj" fmla="val 2000"/>
            </a:avLst>
          </a:prstGeom>
          <a:solidFill xmlns:a="http://schemas.openxmlformats.org/drawingml/2006/main">
            <a:srgbClr val="FBFCFD"/>
          </a:solidFill>
          <a:ln xmlns:a="http://schemas.openxmlformats.org/drawingml/2006/main" w="9525">
            <a:solidFill>
              <a:srgbClr val="D9E1E6"/>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10cd0bd737d94c33"/>
          <a:stretch xmlns:a="http://schemas.openxmlformats.org/drawingml/2006/main"/>
        </p:blipFill>
        <p:spPr>
          <a:xfrm xmlns:a="http://schemas.openxmlformats.org/drawingml/2006/main">
            <a:off x="671439" y="1866900"/>
            <a:ext cx="6962922" cy="36576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5D2C8BF6-793D-40D7-8DEC-CBDB2C85CB58}"/>
              </a:ext>
            </a:extLst>
          </p:cNvPr>
          <p:cNvSpPr>
            <a:spLocks xmlns:a="http://schemas.openxmlformats.org/drawingml/2006/main" noGrp="1"/>
          </p:cNvSpPr>
          <p:nvPr/>
        </p:nvSpPr>
        <p:spPr>
          <a:xfrm xmlns:a="http://schemas.openxmlformats.org/drawingml/2006/main">
            <a:off x="8096250" y="1952625"/>
            <a:ext cx="3562350" cy="1428750"/>
          </a:xfrm>
          <a:prstGeom xmlns:a="http://schemas.openxmlformats.org/drawingml/2006/main" prst="roundRect">
            <a:avLst>
              <a:gd name="adj" fmla="val 5333"/>
            </a:avLst>
          </a:prstGeom>
          <a:solidFill xmlns:a="http://schemas.openxmlformats.org/drawingml/2006/main">
            <a:srgbClr val="EDF7F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4E35C4B-3FD3-45E7-8329-D78B33F754BA}"/>
              </a:ext>
            </a:extLst>
          </p:cNvPr>
          <p:cNvSpPr>
            <a:spLocks xmlns:a="http://schemas.openxmlformats.org/drawingml/2006/main" noGrp="1"/>
          </p:cNvSpPr>
          <p:nvPr/>
        </p:nvSpPr>
        <p:spPr>
          <a:xfrm xmlns:a="http://schemas.openxmlformats.org/drawingml/2006/main">
            <a:off x="8362950" y="21526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8847A"/>
                </a:solidFill>
                <a:latin typeface="Malgun Gothic"/>
                <a:ea typeface="Malgun Gothic"/>
                <a:cs typeface="Malgun Gothic"/>
              </a:defRPr>
            </a:pPr>
            <a:r>
              <a:rPr sz="1200" b="1">
                <a:solidFill>
                  <a:srgbClr val="18847A"/>
                </a:solidFill>
                <a:latin typeface="Malgun Gothic"/>
                <a:ea typeface="Malgun Gothic"/>
                <a:cs typeface="Malgun Gothic"/>
              </a:rPr>
              <a:t>채택</a:t>
            </a:r>
          </a:p>
        </p:txBody>
      </p:sp>
      <p:sp>
        <p:nvSpPr>
          <p:cNvPr id="11" name="">
            <a:extLst xmlns:a="http://schemas.openxmlformats.org/drawingml/2006/main">
              <a:ext uri="{FF2B5EF4-FFF2-40B4-BE49-F238E27FC236}">
                <a16:creationId xmlns:a16="http://schemas.microsoft.com/office/drawing/2014/main" id="{D0FC1E13-D9AC-449A-935A-74C0319E6F0E}"/>
              </a:ext>
            </a:extLst>
          </p:cNvPr>
          <p:cNvSpPr>
            <a:spLocks xmlns:a="http://schemas.openxmlformats.org/drawingml/2006/main" noGrp="1"/>
          </p:cNvSpPr>
          <p:nvPr/>
        </p:nvSpPr>
        <p:spPr>
          <a:xfrm xmlns:a="http://schemas.openxmlformats.org/drawingml/2006/main">
            <a:off x="8362950" y="2524125"/>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log_numeric</a:t>
            </a:r>
          </a:p>
        </p:txBody>
      </p:sp>
      <p:sp>
        <p:nvSpPr>
          <p:cNvPr id="12" name="">
            <a:extLst xmlns:a="http://schemas.openxmlformats.org/drawingml/2006/main">
              <a:ext uri="{FF2B5EF4-FFF2-40B4-BE49-F238E27FC236}">
                <a16:creationId xmlns:a16="http://schemas.microsoft.com/office/drawing/2014/main" id="{82F1EDB7-0A5D-4AF2-97AD-095490EB0939}"/>
              </a:ext>
            </a:extLst>
          </p:cNvPr>
          <p:cNvSpPr>
            <a:spLocks xmlns:a="http://schemas.openxmlformats.org/drawingml/2006/main" noGrp="1"/>
          </p:cNvSpPr>
          <p:nvPr/>
        </p:nvSpPr>
        <p:spPr>
          <a:xfrm xmlns:a="http://schemas.openxmlformats.org/drawingml/2006/main">
            <a:off x="8362950" y="2924175"/>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Logistic PR-AUC</a:t>
            </a:r>
          </a:p>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0.899495 → 0.906293</a:t>
            </a:r>
          </a:p>
        </p:txBody>
      </p:sp>
      <p:sp>
        <p:nvSpPr>
          <p:cNvPr id="13" name="">
            <a:extLst xmlns:a="http://schemas.openxmlformats.org/drawingml/2006/main">
              <a:ext uri="{FF2B5EF4-FFF2-40B4-BE49-F238E27FC236}">
                <a16:creationId xmlns:a16="http://schemas.microsoft.com/office/drawing/2014/main" id="{5BB4D25D-B7F0-47D2-9B3A-A048F87572B2}"/>
              </a:ext>
            </a:extLst>
          </p:cNvPr>
          <p:cNvSpPr>
            <a:spLocks xmlns:a="http://schemas.openxmlformats.org/drawingml/2006/main" noGrp="1"/>
          </p:cNvSpPr>
          <p:nvPr/>
        </p:nvSpPr>
        <p:spPr>
          <a:xfrm xmlns:a="http://schemas.openxmlformats.org/drawingml/2006/main">
            <a:off x="8096250" y="3571875"/>
            <a:ext cx="3562350" cy="2028825"/>
          </a:xfrm>
          <a:prstGeom xmlns:a="http://schemas.openxmlformats.org/drawingml/2006/main" prst="roundRect">
            <a:avLst>
              <a:gd name="adj" fmla="val 3756"/>
            </a:avLst>
          </a:prstGeom>
          <a:solidFill xmlns:a="http://schemas.openxmlformats.org/drawingml/2006/main">
            <a:srgbClr val="FFF3E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8A4AA2B-1510-448C-95E3-8AC9F5E1F89C}"/>
              </a:ext>
            </a:extLst>
          </p:cNvPr>
          <p:cNvSpPr>
            <a:spLocks xmlns:a="http://schemas.openxmlformats.org/drawingml/2006/main" noGrp="1"/>
          </p:cNvSpPr>
          <p:nvPr/>
        </p:nvSpPr>
        <p:spPr>
          <a:xfrm xmlns:a="http://schemas.openxmlformats.org/drawingml/2006/main">
            <a:off x="8362950" y="3781425"/>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E85E43"/>
                </a:solidFill>
                <a:latin typeface="Malgun Gothic"/>
                <a:ea typeface="Malgun Gothic"/>
                <a:cs typeface="Malgun Gothic"/>
              </a:defRPr>
            </a:pPr>
            <a:r>
              <a:rPr sz="1200" b="1">
                <a:solidFill>
                  <a:srgbClr val="E85E43"/>
                </a:solidFill>
                <a:latin typeface="Malgun Gothic"/>
                <a:ea typeface="Malgun Gothic"/>
                <a:cs typeface="Malgun Gothic"/>
              </a:rPr>
              <a:t>제외</a:t>
            </a:r>
          </a:p>
        </p:txBody>
      </p:sp>
      <p:sp>
        <p:nvSpPr>
          <p:cNvPr id="15" name="">
            <a:extLst xmlns:a="http://schemas.openxmlformats.org/drawingml/2006/main">
              <a:ext uri="{FF2B5EF4-FFF2-40B4-BE49-F238E27FC236}">
                <a16:creationId xmlns:a16="http://schemas.microsoft.com/office/drawing/2014/main" id="{34A9DD89-8C5E-4EDA-BF3B-8CCC4BF455DC}"/>
              </a:ext>
            </a:extLst>
          </p:cNvPr>
          <p:cNvSpPr>
            <a:spLocks xmlns:a="http://schemas.openxmlformats.org/drawingml/2006/main" noGrp="1"/>
          </p:cNvSpPr>
          <p:nvPr/>
        </p:nvSpPr>
        <p:spPr>
          <a:xfrm xmlns:a="http://schemas.openxmlformats.org/drawingml/2006/main">
            <a:off x="8362950" y="41529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7212B"/>
                </a:solidFill>
                <a:latin typeface="Malgun Gothic"/>
                <a:ea typeface="Malgun Gothic"/>
                <a:cs typeface="Malgun Gothic"/>
              </a:defRPr>
            </a:pPr>
            <a:r>
              <a:rPr sz="1500" b="1">
                <a:solidFill>
                  <a:srgbClr val="17212B"/>
                </a:solidFill>
                <a:latin typeface="Malgun Gothic"/>
                <a:ea typeface="Malgun Gothic"/>
                <a:cs typeface="Malgun Gothic"/>
              </a:rPr>
              <a:t>비율 · 상호작용 · 신호 축소</a:t>
            </a:r>
          </a:p>
        </p:txBody>
      </p:sp>
      <p:sp>
        <p:nvSpPr>
          <p:cNvPr id="16" name="">
            <a:extLst xmlns:a="http://schemas.openxmlformats.org/drawingml/2006/main">
              <a:ext uri="{FF2B5EF4-FFF2-40B4-BE49-F238E27FC236}">
                <a16:creationId xmlns:a16="http://schemas.microsoft.com/office/drawing/2014/main" id="{67E600EB-DA00-42FF-8948-E222A1FD3DFB}"/>
              </a:ext>
            </a:extLst>
          </p:cNvPr>
          <p:cNvSpPr>
            <a:spLocks xmlns:a="http://schemas.openxmlformats.org/drawingml/2006/main" noGrp="1"/>
          </p:cNvSpPr>
          <p:nvPr/>
        </p:nvSpPr>
        <p:spPr>
          <a:xfrm xmlns:a="http://schemas.openxmlformats.org/drawingml/2006/main">
            <a:off x="8362950" y="462915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a:solidFill>
                  <a:srgbClr val="60707E"/>
                </a:solidFill>
                <a:latin typeface="Malgun Gothic"/>
                <a:ea typeface="Malgun Gothic"/>
                <a:cs typeface="Malgun Gothic"/>
              </a:defRPr>
            </a:pPr>
            <a:r>
              <a:rPr sz="1125" b="0">
                <a:solidFill>
                  <a:srgbClr val="60707E"/>
                </a:solidFill>
                <a:latin typeface="Malgun Gothic"/>
                <a:ea typeface="Malgun Gothic"/>
                <a:cs typeface="Malgun Gothic"/>
              </a:rPr>
              <a:t>개선이 없거나 미미함</a:t>
            </a:r>
          </a:p>
          <a:p xmlns:a="http://schemas.openxmlformats.org/drawingml/2006/main">
            <a:pPr algn="l">
              <a:buNone/>
              <a:defRPr sz="1125" b="0">
                <a:solidFill>
                  <a:srgbClr val="60707E"/>
                </a:solidFill>
                <a:latin typeface="Malgun Gothic"/>
                <a:ea typeface="Malgun Gothic"/>
                <a:cs typeface="Malgun Gothic"/>
              </a:defRPr>
            </a:pPr>
            <a:r>
              <a:rPr sz="1125" b="0">
                <a:solidFill>
                  <a:srgbClr val="60707E"/>
                </a:solidFill>
                <a:latin typeface="Malgun Gothic"/>
                <a:ea typeface="Malgun Gothic"/>
                <a:cs typeface="Malgun Gothic"/>
              </a:rPr>
              <a:t>CatBoost raw 대비 log 효과도 +0.000089</a:t>
            </a:r>
          </a:p>
        </p:txBody>
      </p:sp>
      <p:sp>
        <p:nvSpPr>
          <p:cNvPr id="17" name="">
            <a:extLst xmlns:a="http://schemas.openxmlformats.org/drawingml/2006/main">
              <a:ext uri="{FF2B5EF4-FFF2-40B4-BE49-F238E27FC236}">
                <a16:creationId xmlns:a16="http://schemas.microsoft.com/office/drawing/2014/main" id="{4C335AE3-51CA-4984-B626-BD380EE4C569}"/>
              </a:ext>
            </a:extLst>
          </p:cNvPr>
          <p:cNvSpPr>
            <a:spLocks xmlns:a="http://schemas.openxmlformats.org/drawingml/2006/main" noGrp="1"/>
          </p:cNvSpPr>
          <p:nvPr/>
        </p:nvSpPr>
        <p:spPr>
          <a:xfrm xmlns:a="http://schemas.openxmlformats.org/drawingml/2006/main">
            <a:off x="533400" y="6200775"/>
            <a:ext cx="10572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근거: preprocessing_experiment_results.csv · tree_feature_validation.csv</a:t>
            </a:r>
          </a:p>
        </p:txBody>
      </p:sp>
    </p:spTree>
    <p:extLst>
      <p:ext uri="{BB962C8B-B14F-4D97-AF65-F5344CB8AC3E}">
        <p14:creationId xmlns:p14="http://schemas.microsoft.com/office/powerpoint/2010/main" val="9287717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5FFE7D4-0EE8-48A5-85AC-9D42C2C0FEBF}"/>
              </a:ext>
            </a:extLst>
          </p:cNvPr>
          <p:cNvSpPr>
            <a:spLocks xmlns:a="http://schemas.openxmlformats.org/drawingml/2006/main" noGrp="1"/>
          </p:cNvSpPr>
          <p:nvPr/>
        </p:nvSpPr>
        <p:spPr>
          <a:xfrm xmlns:a="http://schemas.openxmlformats.org/drawingml/2006/main">
            <a:off x="533400" y="1524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E85E43"/>
                </a:solidFill>
                <a:latin typeface="Malgun Gothic"/>
                <a:ea typeface="Malgun Gothic"/>
                <a:cs typeface="Malgun Gothic"/>
              </a:defRPr>
            </a:pPr>
            <a:r>
              <a:rPr sz="900" b="1">
                <a:solidFill>
                  <a:srgbClr val="E85E43"/>
                </a:solidFill>
                <a:latin typeface="Malgun Gothic"/>
                <a:ea typeface="Malgun Gothic"/>
                <a:cs typeface="Malgun Gothic"/>
              </a:rPr>
              <a:t>VALIDATION DESIGN</a:t>
            </a:r>
          </a:p>
        </p:txBody>
      </p:sp>
      <p:sp>
        <p:nvSpPr>
          <p:cNvPr id="2" name="">
            <a:extLst xmlns:a="http://schemas.openxmlformats.org/drawingml/2006/main">
              <a:ext uri="{FF2B5EF4-FFF2-40B4-BE49-F238E27FC236}">
                <a16:creationId xmlns:a16="http://schemas.microsoft.com/office/drawing/2014/main" id="{CBFCB8B4-398E-4158-8CB2-B38850B6EF1B}"/>
              </a:ext>
            </a:extLst>
          </p:cNvPr>
          <p:cNvSpPr>
            <a:spLocks xmlns:a="http://schemas.openxmlformats.org/drawingml/2006/main" noGrp="1"/>
          </p:cNvSpPr>
          <p:nvPr/>
        </p:nvSpPr>
        <p:spPr>
          <a:xfrm xmlns:a="http://schemas.openxmlformats.org/drawingml/2006/main">
            <a:off x="533400" y="419100"/>
            <a:ext cx="1104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비교보다 먼저 누수를 막는 검증 규칙을 고정했습니다</a:t>
            </a:r>
          </a:p>
        </p:txBody>
      </p:sp>
      <p:sp>
        <p:nvSpPr>
          <p:cNvPr id="3" name="">
            <a:extLst xmlns:a="http://schemas.openxmlformats.org/drawingml/2006/main">
              <a:ext uri="{FF2B5EF4-FFF2-40B4-BE49-F238E27FC236}">
                <a16:creationId xmlns:a16="http://schemas.microsoft.com/office/drawing/2014/main" id="{0972F025-3118-46DF-9553-1FCF499AA83E}"/>
              </a:ext>
            </a:extLst>
          </p:cNvPr>
          <p:cNvSpPr>
            <a:spLocks xmlns:a="http://schemas.openxmlformats.org/drawingml/2006/main" noGrp="1"/>
          </p:cNvSpPr>
          <p:nvPr/>
        </p:nvSpPr>
        <p:spPr>
          <a:xfrm xmlns:a="http://schemas.openxmlformats.org/drawingml/2006/main">
            <a:off x="533400" y="14573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같은 피처 · 고정 5-Fold · Fold 내부 Pipeline · OOF 다중 지표</a:t>
            </a:r>
          </a:p>
        </p:txBody>
      </p:sp>
      <p:sp>
        <p:nvSpPr>
          <p:cNvPr id="4" name="">
            <a:extLst xmlns:a="http://schemas.openxmlformats.org/drawingml/2006/main">
              <a:ext uri="{FF2B5EF4-FFF2-40B4-BE49-F238E27FC236}">
                <a16:creationId xmlns:a16="http://schemas.microsoft.com/office/drawing/2014/main" id="{E5CF74B8-9D19-49D0-85D8-97FD16718D68}"/>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1E6"/>
          </a:solidFill>
          <a:ln xmlns:a="http://schemas.openxmlformats.org/drawingml/2006/main" w="0">
            <a:solidFill>
              <a:srgbClr val="D9E1E6"/>
            </a:solidFill>
            <a:prstDash val="solid"/>
          </a:ln>
        </p:spPr>
      </p:sp>
      <p:sp>
        <p:nvSpPr>
          <p:cNvPr id="5" name="">
            <a:extLst xmlns:a="http://schemas.openxmlformats.org/drawingml/2006/main">
              <a:ext uri="{FF2B5EF4-FFF2-40B4-BE49-F238E27FC236}">
                <a16:creationId xmlns:a16="http://schemas.microsoft.com/office/drawing/2014/main" id="{DB29AC3C-4A7E-44E2-9CA9-FECDC2D938F1}"/>
              </a:ext>
            </a:extLst>
          </p:cNvPr>
          <p:cNvSpPr>
            <a:spLocks xmlns:a="http://schemas.openxmlformats.org/drawingml/2006/main" noGrp="1"/>
          </p:cNvSpPr>
          <p:nvPr/>
        </p:nvSpPr>
        <p:spPr>
          <a:xfrm xmlns:a="http://schemas.openxmlformats.org/drawingml/2006/main">
            <a:off x="533400" y="653415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PlaylistPro · Retention Decision Support</a:t>
            </a:r>
          </a:p>
        </p:txBody>
      </p:sp>
      <p:sp>
        <p:nvSpPr>
          <p:cNvPr id="6" name="">
            <a:extLst xmlns:a="http://schemas.openxmlformats.org/drawingml/2006/main">
              <a:ext uri="{FF2B5EF4-FFF2-40B4-BE49-F238E27FC236}">
                <a16:creationId xmlns:a16="http://schemas.microsoft.com/office/drawing/2014/main" id="{AC6940F9-7C73-4795-A51C-976ADC0464EE}"/>
              </a:ext>
            </a:extLst>
          </p:cNvPr>
          <p:cNvSpPr>
            <a:spLocks xmlns:a="http://schemas.openxmlformats.org/drawingml/2006/main" noGrp="1"/>
          </p:cNvSpPr>
          <p:nvPr/>
        </p:nvSpPr>
        <p:spPr>
          <a:xfrm xmlns:a="http://schemas.openxmlformats.org/drawingml/2006/main">
            <a:off x="11239500" y="65151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60707E"/>
                </a:solidFill>
                <a:latin typeface="Malgun Gothic"/>
                <a:ea typeface="Malgun Gothic"/>
                <a:cs typeface="Malgun Gothic"/>
              </a:defRPr>
            </a:pPr>
            <a:r>
              <a:rPr sz="825" b="1">
                <a:solidFill>
                  <a:srgbClr val="60707E"/>
                </a:solidFill>
                <a:latin typeface="Malgun Gothic"/>
                <a:ea typeface="Malgun Gothic"/>
                <a:cs typeface="Malgun Gothic"/>
              </a:rPr>
              <a:t>07</a:t>
            </a:r>
          </a:p>
        </p:txBody>
      </p:sp>
      <p:sp>
        <p:nvSpPr>
          <p:cNvPr id="7" name="">
            <a:extLst xmlns:a="http://schemas.openxmlformats.org/drawingml/2006/main">
              <a:ext uri="{FF2B5EF4-FFF2-40B4-BE49-F238E27FC236}">
                <a16:creationId xmlns:a16="http://schemas.microsoft.com/office/drawing/2014/main" id="{63CC4698-674D-4EBA-A801-0FF5C716D541}"/>
              </a:ext>
            </a:extLst>
          </p:cNvPr>
          <p:cNvSpPr>
            <a:spLocks xmlns:a="http://schemas.openxmlformats.org/drawingml/2006/main" noGrp="1"/>
          </p:cNvSpPr>
          <p:nvPr/>
        </p:nvSpPr>
        <p:spPr>
          <a:xfrm xmlns:a="http://schemas.openxmlformats.org/drawingml/2006/main">
            <a:off x="533400" y="1771650"/>
            <a:ext cx="7620000" cy="4019550"/>
          </a:xfrm>
          <a:prstGeom xmlns:a="http://schemas.openxmlformats.org/drawingml/2006/main" prst="roundRect">
            <a:avLst>
              <a:gd name="adj" fmla="val 1896"/>
            </a:avLst>
          </a:prstGeom>
          <a:solidFill xmlns:a="http://schemas.openxmlformats.org/drawingml/2006/main">
            <a:srgbClr val="FBFCFD"/>
          </a:solidFill>
          <a:ln xmlns:a="http://schemas.openxmlformats.org/drawingml/2006/main" w="9525">
            <a:solidFill>
              <a:srgbClr val="D9E1E6"/>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1ae2bd19c14c484d"/>
          <a:stretch xmlns:a="http://schemas.openxmlformats.org/drawingml/2006/main"/>
        </p:blipFill>
        <p:spPr>
          <a:xfrm xmlns:a="http://schemas.openxmlformats.org/drawingml/2006/main">
            <a:off x="666852" y="1847850"/>
            <a:ext cx="7353096" cy="38671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26F7C06-3C73-42DC-BCD2-627186222162}"/>
              </a:ext>
            </a:extLst>
          </p:cNvPr>
          <p:cNvSpPr>
            <a:spLocks xmlns:a="http://schemas.openxmlformats.org/drawingml/2006/main" noGrp="1"/>
          </p:cNvSpPr>
          <p:nvPr/>
        </p:nvSpPr>
        <p:spPr>
          <a:xfrm xmlns:a="http://schemas.openxmlformats.org/drawingml/2006/main">
            <a:off x="8477250" y="1933575"/>
            <a:ext cx="3181350" cy="971550"/>
          </a:xfrm>
          <a:prstGeom xmlns:a="http://schemas.openxmlformats.org/drawingml/2006/main" prst="roundRect">
            <a:avLst>
              <a:gd name="adj" fmla="val 7843"/>
            </a:avLst>
          </a:prstGeom>
          <a:solidFill xmlns:a="http://schemas.openxmlformats.org/drawingml/2006/main">
            <a:srgbClr val="F3F6F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4EE6ECB-9356-4068-A4DB-7F46FFB1C4F2}"/>
              </a:ext>
            </a:extLst>
          </p:cNvPr>
          <p:cNvSpPr>
            <a:spLocks xmlns:a="http://schemas.openxmlformats.org/drawingml/2006/main" noGrp="1"/>
          </p:cNvSpPr>
          <p:nvPr/>
        </p:nvSpPr>
        <p:spPr>
          <a:xfrm xmlns:a="http://schemas.openxmlformats.org/drawingml/2006/main">
            <a:off x="8705850" y="2114550"/>
            <a:ext cx="438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E85E43"/>
                </a:solidFill>
                <a:latin typeface="Malgun Gothic"/>
                <a:ea typeface="Malgun Gothic"/>
                <a:cs typeface="Malgun Gothic"/>
              </a:defRPr>
            </a:pPr>
            <a:r>
              <a:rPr sz="1500" b="1">
                <a:solidFill>
                  <a:srgbClr val="E85E43"/>
                </a:solidFill>
                <a:latin typeface="Malgun Gothic"/>
                <a:ea typeface="Malgun Gothic"/>
                <a:cs typeface="Malgun Gothic"/>
              </a:rPr>
              <a:t>01</a:t>
            </a:r>
          </a:p>
        </p:txBody>
      </p:sp>
      <p:sp>
        <p:nvSpPr>
          <p:cNvPr id="11" name="">
            <a:extLst xmlns:a="http://schemas.openxmlformats.org/drawingml/2006/main">
              <a:ext uri="{FF2B5EF4-FFF2-40B4-BE49-F238E27FC236}">
                <a16:creationId xmlns:a16="http://schemas.microsoft.com/office/drawing/2014/main" id="{09C31118-5FE5-402C-B4F9-CD85C0D91990}"/>
              </a:ext>
            </a:extLst>
          </p:cNvPr>
          <p:cNvSpPr>
            <a:spLocks xmlns:a="http://schemas.openxmlformats.org/drawingml/2006/main" noGrp="1"/>
          </p:cNvSpPr>
          <p:nvPr/>
        </p:nvSpPr>
        <p:spPr>
          <a:xfrm xmlns:a="http://schemas.openxmlformats.org/drawingml/2006/main">
            <a:off x="9277350" y="21145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17212B"/>
                </a:solidFill>
                <a:latin typeface="Malgun Gothic"/>
                <a:ea typeface="Malgun Gothic"/>
                <a:cs typeface="Malgun Gothic"/>
              </a:defRPr>
            </a:pPr>
            <a:r>
              <a:rPr sz="1350" b="1">
                <a:solidFill>
                  <a:srgbClr val="17212B"/>
                </a:solidFill>
                <a:latin typeface="Malgun Gothic"/>
                <a:ea typeface="Malgun Gothic"/>
                <a:cs typeface="Malgun Gothic"/>
              </a:rPr>
              <a:t>동일 log_numeric</a:t>
            </a:r>
          </a:p>
        </p:txBody>
      </p:sp>
      <p:sp>
        <p:nvSpPr>
          <p:cNvPr id="12" name="">
            <a:extLst xmlns:a="http://schemas.openxmlformats.org/drawingml/2006/main">
              <a:ext uri="{FF2B5EF4-FFF2-40B4-BE49-F238E27FC236}">
                <a16:creationId xmlns:a16="http://schemas.microsoft.com/office/drawing/2014/main" id="{7165A9AA-6CFC-4CDA-A4EB-06FC7AB9C401}"/>
              </a:ext>
            </a:extLst>
          </p:cNvPr>
          <p:cNvSpPr>
            <a:spLocks xmlns:a="http://schemas.openxmlformats.org/drawingml/2006/main" noGrp="1"/>
          </p:cNvSpPr>
          <p:nvPr/>
        </p:nvSpPr>
        <p:spPr>
          <a:xfrm xmlns:a="http://schemas.openxmlformats.org/drawingml/2006/main">
            <a:off x="9277350" y="24384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60707E"/>
                </a:solidFill>
                <a:latin typeface="Malgun Gothic"/>
                <a:ea typeface="Malgun Gothic"/>
                <a:cs typeface="Malgun Gothic"/>
              </a:defRPr>
            </a:pPr>
            <a:r>
              <a:rPr sz="1050" b="0">
                <a:solidFill>
                  <a:srgbClr val="60707E"/>
                </a:solidFill>
                <a:latin typeface="Malgun Gothic"/>
                <a:ea typeface="Malgun Gothic"/>
                <a:cs typeface="Malgun Gothic"/>
              </a:rPr>
              <a:t>모델만 바꿔 비교</a:t>
            </a:r>
          </a:p>
        </p:txBody>
      </p:sp>
      <p:sp>
        <p:nvSpPr>
          <p:cNvPr id="13" name="">
            <a:extLst xmlns:a="http://schemas.openxmlformats.org/drawingml/2006/main">
              <a:ext uri="{FF2B5EF4-FFF2-40B4-BE49-F238E27FC236}">
                <a16:creationId xmlns:a16="http://schemas.microsoft.com/office/drawing/2014/main" id="{B6C493DD-E3BA-4A80-8AE8-1A285DE54DD6}"/>
              </a:ext>
            </a:extLst>
          </p:cNvPr>
          <p:cNvSpPr>
            <a:spLocks xmlns:a="http://schemas.openxmlformats.org/drawingml/2006/main" noGrp="1"/>
          </p:cNvSpPr>
          <p:nvPr/>
        </p:nvSpPr>
        <p:spPr>
          <a:xfrm xmlns:a="http://schemas.openxmlformats.org/drawingml/2006/main">
            <a:off x="8477250" y="3076575"/>
            <a:ext cx="3181350" cy="971550"/>
          </a:xfrm>
          <a:prstGeom xmlns:a="http://schemas.openxmlformats.org/drawingml/2006/main" prst="roundRect">
            <a:avLst>
              <a:gd name="adj" fmla="val 7843"/>
            </a:avLst>
          </a:prstGeom>
          <a:solidFill xmlns:a="http://schemas.openxmlformats.org/drawingml/2006/main">
            <a:srgbClr val="F3F6F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677BED0-8664-4B1F-A546-BF9DFAA0E5E8}"/>
              </a:ext>
            </a:extLst>
          </p:cNvPr>
          <p:cNvSpPr>
            <a:spLocks xmlns:a="http://schemas.openxmlformats.org/drawingml/2006/main" noGrp="1"/>
          </p:cNvSpPr>
          <p:nvPr/>
        </p:nvSpPr>
        <p:spPr>
          <a:xfrm xmlns:a="http://schemas.openxmlformats.org/drawingml/2006/main">
            <a:off x="8705850" y="3257550"/>
            <a:ext cx="438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E85E43"/>
                </a:solidFill>
                <a:latin typeface="Malgun Gothic"/>
                <a:ea typeface="Malgun Gothic"/>
                <a:cs typeface="Malgun Gothic"/>
              </a:defRPr>
            </a:pPr>
            <a:r>
              <a:rPr sz="1500" b="1">
                <a:solidFill>
                  <a:srgbClr val="E85E43"/>
                </a:solidFill>
                <a:latin typeface="Malgun Gothic"/>
                <a:ea typeface="Malgun Gothic"/>
                <a:cs typeface="Malgun Gothic"/>
              </a:rPr>
              <a:t>02</a:t>
            </a:r>
          </a:p>
        </p:txBody>
      </p:sp>
      <p:sp>
        <p:nvSpPr>
          <p:cNvPr id="15" name="">
            <a:extLst xmlns:a="http://schemas.openxmlformats.org/drawingml/2006/main">
              <a:ext uri="{FF2B5EF4-FFF2-40B4-BE49-F238E27FC236}">
                <a16:creationId xmlns:a16="http://schemas.microsoft.com/office/drawing/2014/main" id="{9530F310-A6F9-46C4-B694-E16A27883808}"/>
              </a:ext>
            </a:extLst>
          </p:cNvPr>
          <p:cNvSpPr>
            <a:spLocks xmlns:a="http://schemas.openxmlformats.org/drawingml/2006/main" noGrp="1"/>
          </p:cNvSpPr>
          <p:nvPr/>
        </p:nvSpPr>
        <p:spPr>
          <a:xfrm xmlns:a="http://schemas.openxmlformats.org/drawingml/2006/main">
            <a:off x="9277350" y="32575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17212B"/>
                </a:solidFill>
                <a:latin typeface="Malgun Gothic"/>
                <a:ea typeface="Malgun Gothic"/>
                <a:cs typeface="Malgun Gothic"/>
              </a:defRPr>
            </a:pPr>
            <a:r>
              <a:rPr sz="1350" b="1">
                <a:solidFill>
                  <a:srgbClr val="17212B"/>
                </a:solidFill>
                <a:latin typeface="Malgun Gothic"/>
                <a:ea typeface="Malgun Gothic"/>
                <a:cs typeface="Malgun Gothic"/>
              </a:rPr>
              <a:t>Stratified 5-Fold</a:t>
            </a:r>
          </a:p>
        </p:txBody>
      </p:sp>
      <p:sp>
        <p:nvSpPr>
          <p:cNvPr id="16" name="">
            <a:extLst xmlns:a="http://schemas.openxmlformats.org/drawingml/2006/main">
              <a:ext uri="{FF2B5EF4-FFF2-40B4-BE49-F238E27FC236}">
                <a16:creationId xmlns:a16="http://schemas.microsoft.com/office/drawing/2014/main" id="{DEAB817C-4266-4DC6-94BC-9663B276DD6B}"/>
              </a:ext>
            </a:extLst>
          </p:cNvPr>
          <p:cNvSpPr>
            <a:spLocks xmlns:a="http://schemas.openxmlformats.org/drawingml/2006/main" noGrp="1"/>
          </p:cNvSpPr>
          <p:nvPr/>
        </p:nvSpPr>
        <p:spPr>
          <a:xfrm xmlns:a="http://schemas.openxmlformats.org/drawingml/2006/main">
            <a:off x="9277350" y="35814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60707E"/>
                </a:solidFill>
                <a:latin typeface="Malgun Gothic"/>
                <a:ea typeface="Malgun Gothic"/>
                <a:cs typeface="Malgun Gothic"/>
              </a:defRPr>
            </a:pPr>
            <a:r>
              <a:rPr sz="1050" b="0">
                <a:solidFill>
                  <a:srgbClr val="60707E"/>
                </a:solidFill>
                <a:latin typeface="Malgun Gothic"/>
                <a:ea typeface="Malgun Gothic"/>
                <a:cs typeface="Malgun Gothic"/>
              </a:rPr>
              <a:t>random_state=42</a:t>
            </a:r>
          </a:p>
        </p:txBody>
      </p:sp>
      <p:sp>
        <p:nvSpPr>
          <p:cNvPr id="17" name="">
            <a:extLst xmlns:a="http://schemas.openxmlformats.org/drawingml/2006/main">
              <a:ext uri="{FF2B5EF4-FFF2-40B4-BE49-F238E27FC236}">
                <a16:creationId xmlns:a16="http://schemas.microsoft.com/office/drawing/2014/main" id="{33F3B605-65DC-43F3-BA41-6A7926AC4109}"/>
              </a:ext>
            </a:extLst>
          </p:cNvPr>
          <p:cNvSpPr>
            <a:spLocks xmlns:a="http://schemas.openxmlformats.org/drawingml/2006/main" noGrp="1"/>
          </p:cNvSpPr>
          <p:nvPr/>
        </p:nvSpPr>
        <p:spPr>
          <a:xfrm xmlns:a="http://schemas.openxmlformats.org/drawingml/2006/main">
            <a:off x="8477250" y="4219575"/>
            <a:ext cx="3181350" cy="971550"/>
          </a:xfrm>
          <a:prstGeom xmlns:a="http://schemas.openxmlformats.org/drawingml/2006/main" prst="roundRect">
            <a:avLst>
              <a:gd name="adj" fmla="val 7843"/>
            </a:avLst>
          </a:prstGeom>
          <a:solidFill xmlns:a="http://schemas.openxmlformats.org/drawingml/2006/main">
            <a:srgbClr val="F3F6F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7F7ACAF-ED89-4962-B8A6-43F76E2DBAF4}"/>
              </a:ext>
            </a:extLst>
          </p:cNvPr>
          <p:cNvSpPr>
            <a:spLocks xmlns:a="http://schemas.openxmlformats.org/drawingml/2006/main" noGrp="1"/>
          </p:cNvSpPr>
          <p:nvPr/>
        </p:nvSpPr>
        <p:spPr>
          <a:xfrm xmlns:a="http://schemas.openxmlformats.org/drawingml/2006/main">
            <a:off x="8705850" y="4400550"/>
            <a:ext cx="438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E85E43"/>
                </a:solidFill>
                <a:latin typeface="Malgun Gothic"/>
                <a:ea typeface="Malgun Gothic"/>
                <a:cs typeface="Malgun Gothic"/>
              </a:defRPr>
            </a:pPr>
            <a:r>
              <a:rPr sz="1500" b="1">
                <a:solidFill>
                  <a:srgbClr val="E85E43"/>
                </a:solidFill>
                <a:latin typeface="Malgun Gothic"/>
                <a:ea typeface="Malgun Gothic"/>
                <a:cs typeface="Malgun Gothic"/>
              </a:rPr>
              <a:t>03</a:t>
            </a:r>
          </a:p>
        </p:txBody>
      </p:sp>
      <p:sp>
        <p:nvSpPr>
          <p:cNvPr id="19" name="">
            <a:extLst xmlns:a="http://schemas.openxmlformats.org/drawingml/2006/main">
              <a:ext uri="{FF2B5EF4-FFF2-40B4-BE49-F238E27FC236}">
                <a16:creationId xmlns:a16="http://schemas.microsoft.com/office/drawing/2014/main" id="{AA8E13EC-56F5-41CB-9065-382E2B684D85}"/>
              </a:ext>
            </a:extLst>
          </p:cNvPr>
          <p:cNvSpPr>
            <a:spLocks xmlns:a="http://schemas.openxmlformats.org/drawingml/2006/main" noGrp="1"/>
          </p:cNvSpPr>
          <p:nvPr/>
        </p:nvSpPr>
        <p:spPr>
          <a:xfrm xmlns:a="http://schemas.openxmlformats.org/drawingml/2006/main">
            <a:off x="9277350" y="44005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17212B"/>
                </a:solidFill>
                <a:latin typeface="Malgun Gothic"/>
                <a:ea typeface="Malgun Gothic"/>
                <a:cs typeface="Malgun Gothic"/>
              </a:defRPr>
            </a:pPr>
            <a:r>
              <a:rPr sz="1350" b="1">
                <a:solidFill>
                  <a:srgbClr val="17212B"/>
                </a:solidFill>
                <a:latin typeface="Malgun Gothic"/>
                <a:ea typeface="Malgun Gothic"/>
                <a:cs typeface="Malgun Gothic"/>
              </a:rPr>
              <a:t>Pipeline 내부 Fit</a:t>
            </a:r>
          </a:p>
        </p:txBody>
      </p:sp>
      <p:sp>
        <p:nvSpPr>
          <p:cNvPr id="20" name="">
            <a:extLst xmlns:a="http://schemas.openxmlformats.org/drawingml/2006/main">
              <a:ext uri="{FF2B5EF4-FFF2-40B4-BE49-F238E27FC236}">
                <a16:creationId xmlns:a16="http://schemas.microsoft.com/office/drawing/2014/main" id="{7EFB2144-018F-4A28-83B0-AF5E17AAE95F}"/>
              </a:ext>
            </a:extLst>
          </p:cNvPr>
          <p:cNvSpPr>
            <a:spLocks xmlns:a="http://schemas.openxmlformats.org/drawingml/2006/main" noGrp="1"/>
          </p:cNvSpPr>
          <p:nvPr/>
        </p:nvSpPr>
        <p:spPr>
          <a:xfrm xmlns:a="http://schemas.openxmlformats.org/drawingml/2006/main">
            <a:off x="9277350" y="47244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60707E"/>
                </a:solidFill>
                <a:latin typeface="Malgun Gothic"/>
                <a:ea typeface="Malgun Gothic"/>
                <a:cs typeface="Malgun Gothic"/>
              </a:defRPr>
            </a:pPr>
            <a:r>
              <a:rPr sz="1050" b="0">
                <a:solidFill>
                  <a:srgbClr val="60707E"/>
                </a:solidFill>
                <a:latin typeface="Malgun Gothic"/>
                <a:ea typeface="Malgun Gothic"/>
                <a:cs typeface="Malgun Gothic"/>
              </a:rPr>
              <a:t>Target 기반 인코딩 없음</a:t>
            </a:r>
          </a:p>
        </p:txBody>
      </p:sp>
      <p:sp>
        <p:nvSpPr>
          <p:cNvPr id="21" name="">
            <a:extLst xmlns:a="http://schemas.openxmlformats.org/drawingml/2006/main">
              <a:ext uri="{FF2B5EF4-FFF2-40B4-BE49-F238E27FC236}">
                <a16:creationId xmlns:a16="http://schemas.microsoft.com/office/drawing/2014/main" id="{BD097562-CC73-4088-A3D0-4DDAAAA8A897}"/>
              </a:ext>
            </a:extLst>
          </p:cNvPr>
          <p:cNvSpPr>
            <a:spLocks xmlns:a="http://schemas.openxmlformats.org/drawingml/2006/main" noGrp="1"/>
          </p:cNvSpPr>
          <p:nvPr/>
        </p:nvSpPr>
        <p:spPr>
          <a:xfrm xmlns:a="http://schemas.openxmlformats.org/drawingml/2006/main">
            <a:off x="533400" y="5857875"/>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a:solidFill>
                  <a:srgbClr val="17354B"/>
                </a:solidFill>
                <a:latin typeface="Malgun Gothic"/>
                <a:ea typeface="Malgun Gothic"/>
                <a:cs typeface="Malgun Gothic"/>
              </a:defRPr>
            </a:pPr>
            <a:r>
              <a:rPr sz="1275" b="1">
                <a:solidFill>
                  <a:srgbClr val="17354B"/>
                </a:solidFill>
                <a:latin typeface="Malgun Gothic"/>
                <a:ea typeface="Malgun Gothic"/>
                <a:cs typeface="Malgun Gothic"/>
              </a:rPr>
              <a:t>Dummy 0.5134  →  Raw Logistic 0.8995  →  Log Logistic 0.9063  →  CatBoost OOF 0.9479</a:t>
            </a:r>
          </a:p>
        </p:txBody>
      </p:sp>
      <p:sp>
        <p:nvSpPr>
          <p:cNvPr id="22" name="">
            <a:extLst xmlns:a="http://schemas.openxmlformats.org/drawingml/2006/main">
              <a:ext uri="{FF2B5EF4-FFF2-40B4-BE49-F238E27FC236}">
                <a16:creationId xmlns:a16="http://schemas.microsoft.com/office/drawing/2014/main" id="{B7AC7DDE-F96A-42E5-A8BB-7F4B318EDBE4}"/>
              </a:ext>
            </a:extLst>
          </p:cNvPr>
          <p:cNvSpPr>
            <a:spLocks xmlns:a="http://schemas.openxmlformats.org/drawingml/2006/main" noGrp="1"/>
          </p:cNvSpPr>
          <p:nvPr/>
        </p:nvSpPr>
        <p:spPr>
          <a:xfrm xmlns:a="http://schemas.openxmlformats.org/drawingml/2006/main">
            <a:off x="533400" y="6200775"/>
            <a:ext cx="10572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근거: 01_performance_progression.csv · model_comparison_fair.csv · validation_plan.md</a:t>
            </a:r>
          </a:p>
        </p:txBody>
      </p:sp>
    </p:spTree>
    <p:extLst>
      <p:ext uri="{BB962C8B-B14F-4D97-AF65-F5344CB8AC3E}">
        <p14:creationId xmlns:p14="http://schemas.microsoft.com/office/powerpoint/2010/main" val="52078945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0DC8075-9726-4AFB-9806-55E6CF68F550}"/>
              </a:ext>
            </a:extLst>
          </p:cNvPr>
          <p:cNvSpPr>
            <a:spLocks xmlns:a="http://schemas.openxmlformats.org/drawingml/2006/main" noGrp="1"/>
          </p:cNvSpPr>
          <p:nvPr/>
        </p:nvSpPr>
        <p:spPr>
          <a:xfrm xmlns:a="http://schemas.openxmlformats.org/drawingml/2006/main">
            <a:off x="533400" y="1524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E85E43"/>
                </a:solidFill>
                <a:latin typeface="Malgun Gothic"/>
                <a:ea typeface="Malgun Gothic"/>
                <a:cs typeface="Malgun Gothic"/>
              </a:defRPr>
            </a:pPr>
            <a:r>
              <a:rPr sz="900" b="1">
                <a:solidFill>
                  <a:srgbClr val="E85E43"/>
                </a:solidFill>
                <a:latin typeface="Malgun Gothic"/>
                <a:ea typeface="Malgun Gothic"/>
                <a:cs typeface="Malgun Gothic"/>
              </a:rPr>
              <a:t>PERFORMANCE JOURNEY</a:t>
            </a:r>
          </a:p>
        </p:txBody>
      </p:sp>
      <p:sp>
        <p:nvSpPr>
          <p:cNvPr id="2" name="">
            <a:extLst xmlns:a="http://schemas.openxmlformats.org/drawingml/2006/main">
              <a:ext uri="{FF2B5EF4-FFF2-40B4-BE49-F238E27FC236}">
                <a16:creationId xmlns:a16="http://schemas.microsoft.com/office/drawing/2014/main" id="{18065BA0-C495-48A9-9BC1-0811D4D7DC28}"/>
              </a:ext>
            </a:extLst>
          </p:cNvPr>
          <p:cNvSpPr>
            <a:spLocks xmlns:a="http://schemas.openxmlformats.org/drawingml/2006/main" noGrp="1"/>
          </p:cNvSpPr>
          <p:nvPr/>
        </p:nvSpPr>
        <p:spPr>
          <a:xfrm xmlns:a="http://schemas.openxmlformats.org/drawingml/2006/main">
            <a:off x="533400" y="419100"/>
            <a:ext cx="1104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성능 향상은 단계별 검증과 제외 결정의 결과였습니다</a:t>
            </a:r>
          </a:p>
        </p:txBody>
      </p:sp>
      <p:sp>
        <p:nvSpPr>
          <p:cNvPr id="3" name="">
            <a:extLst xmlns:a="http://schemas.openxmlformats.org/drawingml/2006/main">
              <a:ext uri="{FF2B5EF4-FFF2-40B4-BE49-F238E27FC236}">
                <a16:creationId xmlns:a16="http://schemas.microsoft.com/office/drawing/2014/main" id="{ADA1F077-FDEF-43F2-A43A-71A1856E5526}"/>
              </a:ext>
            </a:extLst>
          </p:cNvPr>
          <p:cNvSpPr>
            <a:spLocks xmlns:a="http://schemas.openxmlformats.org/drawingml/2006/main" noGrp="1"/>
          </p:cNvSpPr>
          <p:nvPr/>
        </p:nvSpPr>
        <p:spPr>
          <a:xfrm xmlns:a="http://schemas.openxmlformats.org/drawingml/2006/main">
            <a:off x="533400" y="14573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Baseline부터 최종 후보까지 직전 변화와 누적 변화를 같은 OOF 기준으로 추적했다</a:t>
            </a:r>
          </a:p>
        </p:txBody>
      </p:sp>
      <p:sp>
        <p:nvSpPr>
          <p:cNvPr id="4" name="">
            <a:extLst xmlns:a="http://schemas.openxmlformats.org/drawingml/2006/main">
              <a:ext uri="{FF2B5EF4-FFF2-40B4-BE49-F238E27FC236}">
                <a16:creationId xmlns:a16="http://schemas.microsoft.com/office/drawing/2014/main" id="{015F3611-3A9E-4D4B-8471-EF7CC50A8062}"/>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1E6"/>
          </a:solidFill>
          <a:ln xmlns:a="http://schemas.openxmlformats.org/drawingml/2006/main" w="0">
            <a:solidFill>
              <a:srgbClr val="D9E1E6"/>
            </a:solidFill>
            <a:prstDash val="solid"/>
          </a:ln>
        </p:spPr>
      </p:sp>
      <p:sp>
        <p:nvSpPr>
          <p:cNvPr id="5" name="">
            <a:extLst xmlns:a="http://schemas.openxmlformats.org/drawingml/2006/main">
              <a:ext uri="{FF2B5EF4-FFF2-40B4-BE49-F238E27FC236}">
                <a16:creationId xmlns:a16="http://schemas.microsoft.com/office/drawing/2014/main" id="{CD5987BE-7C35-4B69-B273-D9D4E39B2176}"/>
              </a:ext>
            </a:extLst>
          </p:cNvPr>
          <p:cNvSpPr>
            <a:spLocks xmlns:a="http://schemas.openxmlformats.org/drawingml/2006/main" noGrp="1"/>
          </p:cNvSpPr>
          <p:nvPr/>
        </p:nvSpPr>
        <p:spPr>
          <a:xfrm xmlns:a="http://schemas.openxmlformats.org/drawingml/2006/main">
            <a:off x="533400" y="653415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PlaylistPro · Retention Decision Support</a:t>
            </a:r>
          </a:p>
        </p:txBody>
      </p:sp>
      <p:sp>
        <p:nvSpPr>
          <p:cNvPr id="6" name="">
            <a:extLst xmlns:a="http://schemas.openxmlformats.org/drawingml/2006/main">
              <a:ext uri="{FF2B5EF4-FFF2-40B4-BE49-F238E27FC236}">
                <a16:creationId xmlns:a16="http://schemas.microsoft.com/office/drawing/2014/main" id="{38EBFFBE-7C0F-4330-9288-C581B227B636}"/>
              </a:ext>
            </a:extLst>
          </p:cNvPr>
          <p:cNvSpPr>
            <a:spLocks xmlns:a="http://schemas.openxmlformats.org/drawingml/2006/main" noGrp="1"/>
          </p:cNvSpPr>
          <p:nvPr/>
        </p:nvSpPr>
        <p:spPr>
          <a:xfrm xmlns:a="http://schemas.openxmlformats.org/drawingml/2006/main">
            <a:off x="11239500" y="65151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60707E"/>
                </a:solidFill>
                <a:latin typeface="Malgun Gothic"/>
                <a:ea typeface="Malgun Gothic"/>
                <a:cs typeface="Malgun Gothic"/>
              </a:defRPr>
            </a:pPr>
            <a:r>
              <a:rPr sz="825" b="1">
                <a:solidFill>
                  <a:srgbClr val="60707E"/>
                </a:solidFill>
                <a:latin typeface="Malgun Gothic"/>
                <a:ea typeface="Malgun Gothic"/>
                <a:cs typeface="Malgun Gothic"/>
              </a:rPr>
              <a:t>08</a:t>
            </a:r>
          </a:p>
        </p:txBody>
      </p:sp>
      <p:sp>
        <p:nvSpPr>
          <p:cNvPr id="7" name="">
            <a:extLst xmlns:a="http://schemas.openxmlformats.org/drawingml/2006/main">
              <a:ext uri="{FF2B5EF4-FFF2-40B4-BE49-F238E27FC236}">
                <a16:creationId xmlns:a16="http://schemas.microsoft.com/office/drawing/2014/main" id="{40A968A4-F257-4BC9-B2BA-4316F5D5F918}"/>
              </a:ext>
            </a:extLst>
          </p:cNvPr>
          <p:cNvSpPr>
            <a:spLocks xmlns:a="http://schemas.openxmlformats.org/drawingml/2006/main" noGrp="1"/>
          </p:cNvSpPr>
          <p:nvPr/>
        </p:nvSpPr>
        <p:spPr>
          <a:xfrm xmlns:a="http://schemas.openxmlformats.org/drawingml/2006/main">
            <a:off x="533400" y="1790700"/>
            <a:ext cx="7524750" cy="3924300"/>
          </a:xfrm>
          <a:prstGeom xmlns:a="http://schemas.openxmlformats.org/drawingml/2006/main" prst="roundRect">
            <a:avLst>
              <a:gd name="adj" fmla="val 1942"/>
            </a:avLst>
          </a:prstGeom>
          <a:solidFill xmlns:a="http://schemas.openxmlformats.org/drawingml/2006/main">
            <a:srgbClr val="FBFCFD"/>
          </a:solidFill>
          <a:ln xmlns:a="http://schemas.openxmlformats.org/drawingml/2006/main" w="9525">
            <a:solidFill>
              <a:srgbClr val="D9E1E6"/>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c05e53ae511f4ab5"/>
          <a:srcRect xmlns:a="http://schemas.openxmlformats.org/drawingml/2006/main" l="0" t="0" r="0" b="0"/>
          <a:stretch xmlns:a="http://schemas.openxmlformats.org/drawingml/2006/main"/>
        </p:blipFill>
        <p:spPr>
          <a:xfrm xmlns:a="http://schemas.openxmlformats.org/drawingml/2006/main" flipH="0" flipV="0">
            <a:off x="1052589" y="1866900"/>
            <a:ext cx="6486372" cy="37719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D128C9A-C616-4AA8-8307-19FC66110CFA}"/>
              </a:ext>
            </a:extLst>
          </p:cNvPr>
          <p:cNvSpPr>
            <a:spLocks xmlns:a="http://schemas.openxmlformats.org/drawingml/2006/main" noGrp="1"/>
          </p:cNvSpPr>
          <p:nvPr/>
        </p:nvSpPr>
        <p:spPr>
          <a:xfrm xmlns:a="http://schemas.openxmlformats.org/drawingml/2006/main">
            <a:off x="8382000" y="1952625"/>
            <a:ext cx="3276600" cy="1047750"/>
          </a:xfrm>
          <a:prstGeom xmlns:a="http://schemas.openxmlformats.org/drawingml/2006/main" prst="roundRect">
            <a:avLst>
              <a:gd name="adj" fmla="val 7273"/>
            </a:avLst>
          </a:prstGeom>
          <a:solidFill xmlns:a="http://schemas.openxmlformats.org/drawingml/2006/main">
            <a:srgbClr val="EDF7F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32277E5-BB68-4CC7-8F2A-F847C1535762}"/>
              </a:ext>
            </a:extLst>
          </p:cNvPr>
          <p:cNvSpPr>
            <a:spLocks xmlns:a="http://schemas.openxmlformats.org/drawingml/2006/main" noGrp="1"/>
          </p:cNvSpPr>
          <p:nvPr/>
        </p:nvSpPr>
        <p:spPr>
          <a:xfrm xmlns:a="http://schemas.openxmlformats.org/drawingml/2006/main">
            <a:off x="8610600" y="21336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18847A"/>
                </a:solidFill>
                <a:latin typeface="Malgun Gothic"/>
                <a:ea typeface="Malgun Gothic"/>
                <a:cs typeface="Malgun Gothic"/>
              </a:defRPr>
            </a:pPr>
            <a:r>
              <a:rPr sz="1050" b="1">
                <a:solidFill>
                  <a:srgbClr val="18847A"/>
                </a:solidFill>
                <a:latin typeface="Malgun Gothic"/>
                <a:ea typeface="Malgun Gothic"/>
                <a:cs typeface="Malgun Gothic"/>
              </a:rPr>
              <a:t>최초 Baseline</a:t>
            </a:r>
          </a:p>
        </p:txBody>
      </p:sp>
      <p:sp>
        <p:nvSpPr>
          <p:cNvPr id="11" name="">
            <a:extLst xmlns:a="http://schemas.openxmlformats.org/drawingml/2006/main">
              <a:ext uri="{FF2B5EF4-FFF2-40B4-BE49-F238E27FC236}">
                <a16:creationId xmlns:a16="http://schemas.microsoft.com/office/drawing/2014/main" id="{67F30600-C8D5-4F9E-9A36-EA3321EA6430}"/>
              </a:ext>
            </a:extLst>
          </p:cNvPr>
          <p:cNvSpPr>
            <a:spLocks xmlns:a="http://schemas.openxmlformats.org/drawingml/2006/main" noGrp="1"/>
          </p:cNvSpPr>
          <p:nvPr/>
        </p:nvSpPr>
        <p:spPr>
          <a:xfrm xmlns:a="http://schemas.openxmlformats.org/drawingml/2006/main">
            <a:off x="8610600" y="2505075"/>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17212B"/>
                </a:solidFill>
                <a:latin typeface="Malgun Gothic"/>
                <a:ea typeface="Malgun Gothic"/>
                <a:cs typeface="Malgun Gothic"/>
              </a:defRPr>
            </a:pPr>
            <a:r>
              <a:rPr sz="1425" b="1">
                <a:solidFill>
                  <a:srgbClr val="17212B"/>
                </a:solidFill>
                <a:latin typeface="Malgun Gothic"/>
                <a:ea typeface="Malgun Gothic"/>
                <a:cs typeface="Malgun Gothic"/>
              </a:rPr>
              <a:t>Raw Logistic  0.899495</a:t>
            </a:r>
          </a:p>
        </p:txBody>
      </p:sp>
      <p:sp>
        <p:nvSpPr>
          <p:cNvPr id="12" name="">
            <a:extLst xmlns:a="http://schemas.openxmlformats.org/drawingml/2006/main">
              <a:ext uri="{FF2B5EF4-FFF2-40B4-BE49-F238E27FC236}">
                <a16:creationId xmlns:a16="http://schemas.microsoft.com/office/drawing/2014/main" id="{299D2B4B-1CE6-4A62-BD3F-869869BA249A}"/>
              </a:ext>
            </a:extLst>
          </p:cNvPr>
          <p:cNvSpPr>
            <a:spLocks xmlns:a="http://schemas.openxmlformats.org/drawingml/2006/main" noGrp="1"/>
          </p:cNvSpPr>
          <p:nvPr/>
        </p:nvSpPr>
        <p:spPr>
          <a:xfrm xmlns:a="http://schemas.openxmlformats.org/drawingml/2006/main">
            <a:off x="8382000" y="3190875"/>
            <a:ext cx="3276600" cy="1047750"/>
          </a:xfrm>
          <a:prstGeom xmlns:a="http://schemas.openxmlformats.org/drawingml/2006/main" prst="roundRect">
            <a:avLst>
              <a:gd name="adj" fmla="val 7273"/>
            </a:avLst>
          </a:prstGeom>
          <a:solidFill xmlns:a="http://schemas.openxmlformats.org/drawingml/2006/main">
            <a:srgbClr val="FFF3E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935235D-7377-4A57-959C-26E1B7ECAD6D}"/>
              </a:ext>
            </a:extLst>
          </p:cNvPr>
          <p:cNvSpPr>
            <a:spLocks xmlns:a="http://schemas.openxmlformats.org/drawingml/2006/main" noGrp="1"/>
          </p:cNvSpPr>
          <p:nvPr/>
        </p:nvSpPr>
        <p:spPr>
          <a:xfrm xmlns:a="http://schemas.openxmlformats.org/drawingml/2006/main">
            <a:off x="8610600" y="33718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E85E43"/>
                </a:solidFill>
                <a:latin typeface="Malgun Gothic"/>
                <a:ea typeface="Malgun Gothic"/>
                <a:cs typeface="Malgun Gothic"/>
              </a:defRPr>
            </a:pPr>
            <a:r>
              <a:rPr sz="1050" b="1">
                <a:solidFill>
                  <a:srgbClr val="E85E43"/>
                </a:solidFill>
                <a:latin typeface="Malgun Gothic"/>
                <a:ea typeface="Malgun Gothic"/>
                <a:cs typeface="Malgun Gothic"/>
              </a:rPr>
              <a:t>최종 후보</a:t>
            </a:r>
          </a:p>
        </p:txBody>
      </p:sp>
      <p:sp>
        <p:nvSpPr>
          <p:cNvPr id="14" name="">
            <a:extLst xmlns:a="http://schemas.openxmlformats.org/drawingml/2006/main">
              <a:ext uri="{FF2B5EF4-FFF2-40B4-BE49-F238E27FC236}">
                <a16:creationId xmlns:a16="http://schemas.microsoft.com/office/drawing/2014/main" id="{9CAAAC08-1D69-4841-B5C3-5D9A4138D87D}"/>
              </a:ext>
            </a:extLst>
          </p:cNvPr>
          <p:cNvSpPr>
            <a:spLocks xmlns:a="http://schemas.openxmlformats.org/drawingml/2006/main" noGrp="1"/>
          </p:cNvSpPr>
          <p:nvPr/>
        </p:nvSpPr>
        <p:spPr>
          <a:xfrm xmlns:a="http://schemas.openxmlformats.org/drawingml/2006/main">
            <a:off x="8610600" y="3743325"/>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17212B"/>
                </a:solidFill>
                <a:latin typeface="Malgun Gothic"/>
                <a:ea typeface="Malgun Gothic"/>
                <a:cs typeface="Malgun Gothic"/>
              </a:defRPr>
            </a:pPr>
            <a:r>
              <a:rPr sz="1350" b="1">
                <a:solidFill>
                  <a:srgbClr val="17212B"/>
                </a:solidFill>
                <a:latin typeface="Malgun Gothic"/>
                <a:ea typeface="Malgun Gothic"/>
                <a:cs typeface="Malgun Gothic"/>
              </a:rPr>
              <a:t>CatBoost OOF  0.947897</a:t>
            </a:r>
          </a:p>
        </p:txBody>
      </p:sp>
      <p:sp>
        <p:nvSpPr>
          <p:cNvPr id="15" name="">
            <a:extLst xmlns:a="http://schemas.openxmlformats.org/drawingml/2006/main">
              <a:ext uri="{FF2B5EF4-FFF2-40B4-BE49-F238E27FC236}">
                <a16:creationId xmlns:a16="http://schemas.microsoft.com/office/drawing/2014/main" id="{0B306A6D-9173-4829-844B-4E7C59BD4846}"/>
              </a:ext>
            </a:extLst>
          </p:cNvPr>
          <p:cNvSpPr>
            <a:spLocks xmlns:a="http://schemas.openxmlformats.org/drawingml/2006/main" noGrp="1"/>
          </p:cNvSpPr>
          <p:nvPr/>
        </p:nvSpPr>
        <p:spPr>
          <a:xfrm xmlns:a="http://schemas.openxmlformats.org/drawingml/2006/main">
            <a:off x="8382000" y="4429125"/>
            <a:ext cx="3276600" cy="1285875"/>
          </a:xfrm>
          <a:prstGeom xmlns:a="http://schemas.openxmlformats.org/drawingml/2006/main" prst="roundRect">
            <a:avLst>
              <a:gd name="adj" fmla="val 5926"/>
            </a:avLst>
          </a:prstGeom>
          <a:solidFill xmlns:a="http://schemas.openxmlformats.org/drawingml/2006/main">
            <a:srgbClr val="F3F6F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BDF6A0D-C554-482A-A523-4D9639955B7D}"/>
              </a:ext>
            </a:extLst>
          </p:cNvPr>
          <p:cNvSpPr>
            <a:spLocks xmlns:a="http://schemas.openxmlformats.org/drawingml/2006/main" noGrp="1"/>
          </p:cNvSpPr>
          <p:nvPr/>
        </p:nvSpPr>
        <p:spPr>
          <a:xfrm xmlns:a="http://schemas.openxmlformats.org/drawingml/2006/main">
            <a:off x="86106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17354B"/>
                </a:solidFill>
                <a:latin typeface="Malgun Gothic"/>
                <a:ea typeface="Malgun Gothic"/>
                <a:cs typeface="Malgun Gothic"/>
              </a:defRPr>
            </a:pPr>
            <a:r>
              <a:rPr sz="1050" b="1">
                <a:solidFill>
                  <a:srgbClr val="17354B"/>
                </a:solidFill>
                <a:latin typeface="Malgun Gothic"/>
                <a:ea typeface="Malgun Gothic"/>
                <a:cs typeface="Malgun Gothic"/>
              </a:rPr>
              <a:t>변화</a:t>
            </a:r>
          </a:p>
        </p:txBody>
      </p:sp>
      <p:sp>
        <p:nvSpPr>
          <p:cNvPr id="17" name="">
            <a:extLst xmlns:a="http://schemas.openxmlformats.org/drawingml/2006/main">
              <a:ext uri="{FF2B5EF4-FFF2-40B4-BE49-F238E27FC236}">
                <a16:creationId xmlns:a16="http://schemas.microsoft.com/office/drawing/2014/main" id="{BE3F5C46-510E-4B95-BD1E-51138A3FAD1C}"/>
              </a:ext>
            </a:extLst>
          </p:cNvPr>
          <p:cNvSpPr>
            <a:spLocks xmlns:a="http://schemas.openxmlformats.org/drawingml/2006/main" noGrp="1"/>
          </p:cNvSpPr>
          <p:nvPr/>
        </p:nvSpPr>
        <p:spPr>
          <a:xfrm xmlns:a="http://schemas.openxmlformats.org/drawingml/2006/main">
            <a:off x="8610600" y="4972050"/>
            <a:ext cx="276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17212B"/>
                </a:solidFill>
                <a:latin typeface="Malgun Gothic"/>
                <a:ea typeface="Malgun Gothic"/>
                <a:cs typeface="Malgun Gothic"/>
              </a:defRPr>
            </a:pPr>
            <a:r>
              <a:rPr sz="1200" b="0">
                <a:solidFill>
                  <a:srgbClr val="17212B"/>
                </a:solidFill>
                <a:latin typeface="Malgun Gothic"/>
                <a:ea typeface="Malgun Gothic"/>
                <a:cs typeface="Malgun Gothic"/>
              </a:rPr>
              <a:t>+0.048402 누적 개선</a:t>
            </a:r>
          </a:p>
          <a:p xmlns:a="http://schemas.openxmlformats.org/drawingml/2006/main">
            <a:pPr algn="l">
              <a:buNone/>
              <a:defRPr sz="1200" b="0">
                <a:solidFill>
                  <a:srgbClr val="17212B"/>
                </a:solidFill>
                <a:latin typeface="Malgun Gothic"/>
                <a:ea typeface="Malgun Gothic"/>
                <a:cs typeface="Malgun Gothic"/>
              </a:defRPr>
            </a:pPr>
            <a:r>
              <a:rPr sz="1200" b="0">
                <a:solidFill>
                  <a:srgbClr val="17212B"/>
                </a:solidFill>
                <a:latin typeface="Malgun Gothic"/>
                <a:ea typeface="Malgun Gothic"/>
                <a:cs typeface="Malgun Gothic"/>
              </a:rPr>
              <a:t>RF 탐색 +0.003554 · GB 탐색 -0.000793</a:t>
            </a:r>
          </a:p>
        </p:txBody>
      </p:sp>
      <p:sp>
        <p:nvSpPr>
          <p:cNvPr id="18" name="">
            <a:extLst xmlns:a="http://schemas.openxmlformats.org/drawingml/2006/main">
              <a:ext uri="{FF2B5EF4-FFF2-40B4-BE49-F238E27FC236}">
                <a16:creationId xmlns:a16="http://schemas.microsoft.com/office/drawing/2014/main" id="{67E7FB6D-2815-4869-938A-A02E4B3E4C6F}"/>
              </a:ext>
            </a:extLst>
          </p:cNvPr>
          <p:cNvSpPr>
            <a:spLocks xmlns:a="http://schemas.openxmlformats.org/drawingml/2006/main" noGrp="1"/>
          </p:cNvSpPr>
          <p:nvPr/>
        </p:nvSpPr>
        <p:spPr>
          <a:xfrm xmlns:a="http://schemas.openxmlformats.org/drawingml/2006/main">
            <a:off x="533400" y="6200775"/>
            <a:ext cx="10572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근거: 01_performance_progression.csv · 05_seven_model_search_before_after.csv</a:t>
            </a:r>
          </a:p>
        </p:txBody>
      </p:sp>
    </p:spTree>
    <p:extLst>
      <p:ext uri="{BB962C8B-B14F-4D97-AF65-F5344CB8AC3E}">
        <p14:creationId xmlns:p14="http://schemas.microsoft.com/office/powerpoint/2010/main" val="31392968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AF27015-8E5A-4EC1-A5BD-90C15DD8DDF5}"/>
              </a:ext>
            </a:extLst>
          </p:cNvPr>
          <p:cNvSpPr>
            <a:spLocks xmlns:a="http://schemas.openxmlformats.org/drawingml/2006/main" noGrp="1"/>
          </p:cNvSpPr>
          <p:nvPr/>
        </p:nvSpPr>
        <p:spPr>
          <a:xfrm xmlns:a="http://schemas.openxmlformats.org/drawingml/2006/main">
            <a:off x="533400" y="1524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E85E43"/>
                </a:solidFill>
                <a:latin typeface="Malgun Gothic"/>
                <a:ea typeface="Malgun Gothic"/>
                <a:cs typeface="Malgun Gothic"/>
              </a:defRPr>
            </a:pPr>
            <a:r>
              <a:rPr sz="900" b="1">
                <a:solidFill>
                  <a:srgbClr val="E85E43"/>
                </a:solidFill>
                <a:latin typeface="Malgun Gothic"/>
                <a:ea typeface="Malgun Gothic"/>
                <a:cs typeface="Malgun Gothic"/>
              </a:rPr>
              <a:t>MODEL COMPARISON</a:t>
            </a:r>
          </a:p>
        </p:txBody>
      </p:sp>
      <p:sp>
        <p:nvSpPr>
          <p:cNvPr id="2" name="">
            <a:extLst xmlns:a="http://schemas.openxmlformats.org/drawingml/2006/main">
              <a:ext uri="{FF2B5EF4-FFF2-40B4-BE49-F238E27FC236}">
                <a16:creationId xmlns:a16="http://schemas.microsoft.com/office/drawing/2014/main" id="{45763882-AC8F-4C35-8A01-F663EAFA4557}"/>
              </a:ext>
            </a:extLst>
          </p:cNvPr>
          <p:cNvSpPr>
            <a:spLocks xmlns:a="http://schemas.openxmlformats.org/drawingml/2006/main" noGrp="1"/>
          </p:cNvSpPr>
          <p:nvPr/>
        </p:nvSpPr>
        <p:spPr>
          <a:xfrm xmlns:a="http://schemas.openxmlformats.org/drawingml/2006/main">
            <a:off x="533400" y="419100"/>
            <a:ext cx="1104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CatBoost는 근소한 순위 우위로 선택했지만 절대적 승자는 아닙니다</a:t>
            </a:r>
          </a:p>
        </p:txBody>
      </p:sp>
      <p:sp>
        <p:nvSpPr>
          <p:cNvPr id="3" name="">
            <a:extLst xmlns:a="http://schemas.openxmlformats.org/drawingml/2006/main">
              <a:ext uri="{FF2B5EF4-FFF2-40B4-BE49-F238E27FC236}">
                <a16:creationId xmlns:a16="http://schemas.microsoft.com/office/drawing/2014/main" id="{96379F74-940D-44C1-BC3A-AA5708976B76}"/>
              </a:ext>
            </a:extLst>
          </p:cNvPr>
          <p:cNvSpPr>
            <a:spLocks xmlns:a="http://schemas.openxmlformats.org/drawingml/2006/main" noGrp="1"/>
          </p:cNvSpPr>
          <p:nvPr/>
        </p:nvSpPr>
        <p:spPr>
          <a:xfrm xmlns:a="http://schemas.openxmlformats.org/drawingml/2006/main">
            <a:off x="533400" y="14573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동일 조건 8개 모델 비교 후 상위 3개를 정밀 검증했다</a:t>
            </a:r>
          </a:p>
        </p:txBody>
      </p:sp>
      <p:sp>
        <p:nvSpPr>
          <p:cNvPr id="4" name="">
            <a:extLst xmlns:a="http://schemas.openxmlformats.org/drawingml/2006/main">
              <a:ext uri="{FF2B5EF4-FFF2-40B4-BE49-F238E27FC236}">
                <a16:creationId xmlns:a16="http://schemas.microsoft.com/office/drawing/2014/main" id="{8ED442F7-CE30-46CF-B953-F101347230B3}"/>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1E6"/>
          </a:solidFill>
          <a:ln xmlns:a="http://schemas.openxmlformats.org/drawingml/2006/main" w="0">
            <a:solidFill>
              <a:srgbClr val="D9E1E6"/>
            </a:solidFill>
            <a:prstDash val="solid"/>
          </a:ln>
        </p:spPr>
      </p:sp>
      <p:sp>
        <p:nvSpPr>
          <p:cNvPr id="5" name="">
            <a:extLst xmlns:a="http://schemas.openxmlformats.org/drawingml/2006/main">
              <a:ext uri="{FF2B5EF4-FFF2-40B4-BE49-F238E27FC236}">
                <a16:creationId xmlns:a16="http://schemas.microsoft.com/office/drawing/2014/main" id="{9EABE0C0-913D-42F3-A43D-5E5E888B4600}"/>
              </a:ext>
            </a:extLst>
          </p:cNvPr>
          <p:cNvSpPr>
            <a:spLocks xmlns:a="http://schemas.openxmlformats.org/drawingml/2006/main" noGrp="1"/>
          </p:cNvSpPr>
          <p:nvPr/>
        </p:nvSpPr>
        <p:spPr>
          <a:xfrm xmlns:a="http://schemas.openxmlformats.org/drawingml/2006/main">
            <a:off x="533400" y="653415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PlaylistPro · Retention Decision Support</a:t>
            </a:r>
          </a:p>
        </p:txBody>
      </p:sp>
      <p:sp>
        <p:nvSpPr>
          <p:cNvPr id="6" name="">
            <a:extLst xmlns:a="http://schemas.openxmlformats.org/drawingml/2006/main">
              <a:ext uri="{FF2B5EF4-FFF2-40B4-BE49-F238E27FC236}">
                <a16:creationId xmlns:a16="http://schemas.microsoft.com/office/drawing/2014/main" id="{9E222A46-D199-4A92-A9B3-5DF2A462342D}"/>
              </a:ext>
            </a:extLst>
          </p:cNvPr>
          <p:cNvSpPr>
            <a:spLocks xmlns:a="http://schemas.openxmlformats.org/drawingml/2006/main" noGrp="1"/>
          </p:cNvSpPr>
          <p:nvPr/>
        </p:nvSpPr>
        <p:spPr>
          <a:xfrm xmlns:a="http://schemas.openxmlformats.org/drawingml/2006/main">
            <a:off x="11239500" y="65151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60707E"/>
                </a:solidFill>
                <a:latin typeface="Malgun Gothic"/>
                <a:ea typeface="Malgun Gothic"/>
                <a:cs typeface="Malgun Gothic"/>
              </a:defRPr>
            </a:pPr>
            <a:r>
              <a:rPr sz="825" b="1">
                <a:solidFill>
                  <a:srgbClr val="60707E"/>
                </a:solidFill>
                <a:latin typeface="Malgun Gothic"/>
                <a:ea typeface="Malgun Gothic"/>
                <a:cs typeface="Malgun Gothic"/>
              </a:rPr>
              <a:t>09</a:t>
            </a:r>
          </a:p>
        </p:txBody>
      </p:sp>
      <p:sp>
        <p:nvSpPr>
          <p:cNvPr id="7" name="">
            <a:extLst xmlns:a="http://schemas.openxmlformats.org/drawingml/2006/main">
              <a:ext uri="{FF2B5EF4-FFF2-40B4-BE49-F238E27FC236}">
                <a16:creationId xmlns:a16="http://schemas.microsoft.com/office/drawing/2014/main" id="{EFD0F73F-5A9A-441C-AFFE-56DB73320778}"/>
              </a:ext>
            </a:extLst>
          </p:cNvPr>
          <p:cNvSpPr>
            <a:spLocks xmlns:a="http://schemas.openxmlformats.org/drawingml/2006/main" noGrp="1"/>
          </p:cNvSpPr>
          <p:nvPr/>
        </p:nvSpPr>
        <p:spPr>
          <a:xfrm xmlns:a="http://schemas.openxmlformats.org/drawingml/2006/main">
            <a:off x="533400" y="1790700"/>
            <a:ext cx="5381625" cy="3429000"/>
          </a:xfrm>
          <a:prstGeom xmlns:a="http://schemas.openxmlformats.org/drawingml/2006/main" prst="roundRect">
            <a:avLst>
              <a:gd name="adj" fmla="val 2222"/>
            </a:avLst>
          </a:prstGeom>
          <a:solidFill xmlns:a="http://schemas.openxmlformats.org/drawingml/2006/main">
            <a:srgbClr val="FBFCFD"/>
          </a:solidFill>
          <a:ln xmlns:a="http://schemas.openxmlformats.org/drawingml/2006/main" w="9525">
            <a:solidFill>
              <a:srgbClr val="D9E1E6"/>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1bc35b4d17814129"/>
          <a:stretch xmlns:a="http://schemas.openxmlformats.org/drawingml/2006/main"/>
        </p:blipFill>
        <p:spPr>
          <a:xfrm xmlns:a="http://schemas.openxmlformats.org/drawingml/2006/main">
            <a:off x="609600" y="2011369"/>
            <a:ext cx="5229225" cy="298766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A94D640-AD9C-4756-9668-4A8C3461E0C5}"/>
              </a:ext>
            </a:extLst>
          </p:cNvPr>
          <p:cNvSpPr>
            <a:spLocks xmlns:a="http://schemas.openxmlformats.org/drawingml/2006/main" noGrp="1"/>
          </p:cNvSpPr>
          <p:nvPr/>
        </p:nvSpPr>
        <p:spPr>
          <a:xfrm xmlns:a="http://schemas.openxmlformats.org/drawingml/2006/main">
            <a:off x="6200775" y="1790700"/>
            <a:ext cx="5457825" cy="3429000"/>
          </a:xfrm>
          <a:prstGeom xmlns:a="http://schemas.openxmlformats.org/drawingml/2006/main" prst="roundRect">
            <a:avLst>
              <a:gd name="adj" fmla="val 2222"/>
            </a:avLst>
          </a:prstGeom>
          <a:solidFill xmlns:a="http://schemas.openxmlformats.org/drawingml/2006/main">
            <a:srgbClr val="FBFCFD"/>
          </a:solidFill>
          <a:ln xmlns:a="http://schemas.openxmlformats.org/drawingml/2006/main" w="9525">
            <a:solidFill>
              <a:srgbClr val="D9E1E6"/>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475797e42e274290"/>
          <a:stretch xmlns:a="http://schemas.openxmlformats.org/drawingml/2006/main"/>
        </p:blipFill>
        <p:spPr>
          <a:xfrm xmlns:a="http://schemas.openxmlformats.org/drawingml/2006/main">
            <a:off x="6276975" y="2110082"/>
            <a:ext cx="5305425" cy="2790236"/>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8026F0B6-C039-4191-8637-76408173678E}"/>
              </a:ext>
            </a:extLst>
          </p:cNvPr>
          <p:cNvSpPr>
            <a:spLocks xmlns:a="http://schemas.openxmlformats.org/drawingml/2006/main" noGrp="1"/>
          </p:cNvSpPr>
          <p:nvPr/>
        </p:nvSpPr>
        <p:spPr>
          <a:xfrm xmlns:a="http://schemas.openxmlformats.org/drawingml/2006/main">
            <a:off x="533400" y="5410200"/>
            <a:ext cx="11125200" cy="561975"/>
          </a:xfrm>
          <a:prstGeom xmlns:a="http://schemas.openxmlformats.org/drawingml/2006/main" prst="roundRect">
            <a:avLst>
              <a:gd name="adj" fmla="val 13559"/>
            </a:avLst>
          </a:prstGeom>
          <a:solidFill xmlns:a="http://schemas.openxmlformats.org/drawingml/2006/main">
            <a:srgbClr val="17354B"/>
          </a:solidFill>
          <a:ln xmlns:a="http://schemas.openxmlformats.org/drawingml/2006/main" w="9525">
            <a:solidFill>
              <a:srgbClr val="17354B"/>
            </a:solidFill>
            <a:prstDash val="solid"/>
          </a:ln>
        </p:spPr>
      </p:sp>
      <p:sp>
        <p:nvSpPr>
          <p:cNvPr id="12" name="">
            <a:extLst xmlns:a="http://schemas.openxmlformats.org/drawingml/2006/main">
              <a:ext uri="{FF2B5EF4-FFF2-40B4-BE49-F238E27FC236}">
                <a16:creationId xmlns:a16="http://schemas.microsoft.com/office/drawing/2014/main" id="{949366C1-BB3E-4EC1-A233-3E52B110AF70}"/>
              </a:ext>
            </a:extLst>
          </p:cNvPr>
          <p:cNvSpPr>
            <a:spLocks xmlns:a="http://schemas.openxmlformats.org/drawingml/2006/main" noGrp="1"/>
          </p:cNvSpPr>
          <p:nvPr/>
        </p:nvSpPr>
        <p:spPr>
          <a:xfrm xmlns:a="http://schemas.openxmlformats.org/drawingml/2006/main">
            <a:off x="781050" y="55816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AFC3D0"/>
                </a:solidFill>
                <a:latin typeface="Malgun Gothic"/>
                <a:ea typeface="Malgun Gothic"/>
                <a:cs typeface="Malgun Gothic"/>
              </a:defRPr>
            </a:pPr>
            <a:r>
              <a:rPr sz="1125" b="1">
                <a:solidFill>
                  <a:srgbClr val="AFC3D0"/>
                </a:solidFill>
                <a:latin typeface="Malgun Gothic"/>
                <a:ea typeface="Malgun Gothic"/>
                <a:cs typeface="Malgun Gothic"/>
              </a:rPr>
              <a:t>최종 OOF PR-AUC</a:t>
            </a:r>
          </a:p>
        </p:txBody>
      </p:sp>
      <p:sp>
        <p:nvSpPr>
          <p:cNvPr id="13" name="">
            <a:extLst xmlns:a="http://schemas.openxmlformats.org/drawingml/2006/main">
              <a:ext uri="{FF2B5EF4-FFF2-40B4-BE49-F238E27FC236}">
                <a16:creationId xmlns:a16="http://schemas.microsoft.com/office/drawing/2014/main" id="{9DDFB5F4-C103-4C27-B313-A1EC33DC52EF}"/>
              </a:ext>
            </a:extLst>
          </p:cNvPr>
          <p:cNvSpPr>
            <a:spLocks xmlns:a="http://schemas.openxmlformats.org/drawingml/2006/main" noGrp="1"/>
          </p:cNvSpPr>
          <p:nvPr/>
        </p:nvSpPr>
        <p:spPr>
          <a:xfrm xmlns:a="http://schemas.openxmlformats.org/drawingml/2006/main">
            <a:off x="2743200" y="55340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FFFFFF"/>
                </a:solidFill>
                <a:latin typeface="Malgun Gothic"/>
                <a:ea typeface="Malgun Gothic"/>
                <a:cs typeface="Malgun Gothic"/>
              </a:defRPr>
            </a:pPr>
            <a:r>
              <a:rPr sz="1500" b="1">
                <a:solidFill>
                  <a:srgbClr val="FFFFFF"/>
                </a:solidFill>
                <a:latin typeface="Malgun Gothic"/>
                <a:ea typeface="Malgun Gothic"/>
                <a:cs typeface="Malgun Gothic"/>
              </a:rPr>
              <a:t>CatBoost 0.947897</a:t>
            </a:r>
          </a:p>
        </p:txBody>
      </p:sp>
      <p:sp>
        <p:nvSpPr>
          <p:cNvPr id="14" name="">
            <a:extLst xmlns:a="http://schemas.openxmlformats.org/drawingml/2006/main">
              <a:ext uri="{FF2B5EF4-FFF2-40B4-BE49-F238E27FC236}">
                <a16:creationId xmlns:a16="http://schemas.microsoft.com/office/drawing/2014/main" id="{5B64358B-1751-4883-B816-C79E94E9F473}"/>
              </a:ext>
            </a:extLst>
          </p:cNvPr>
          <p:cNvSpPr>
            <a:spLocks xmlns:a="http://schemas.openxmlformats.org/drawingml/2006/main" noGrp="1"/>
          </p:cNvSpPr>
          <p:nvPr/>
        </p:nvSpPr>
        <p:spPr>
          <a:xfrm xmlns:a="http://schemas.openxmlformats.org/drawingml/2006/main">
            <a:off x="5219700" y="553402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FFFFFF"/>
                </a:solidFill>
                <a:latin typeface="Malgun Gothic"/>
                <a:ea typeface="Malgun Gothic"/>
                <a:cs typeface="Malgun Gothic"/>
              </a:defRPr>
            </a:pPr>
            <a:r>
              <a:rPr sz="1500" b="1">
                <a:solidFill>
                  <a:srgbClr val="FFFFFF"/>
                </a:solidFill>
                <a:latin typeface="Malgun Gothic"/>
                <a:ea typeface="Malgun Gothic"/>
                <a:cs typeface="Malgun Gothic"/>
              </a:rPr>
              <a:t>LightGBM 0.947790</a:t>
            </a:r>
          </a:p>
        </p:txBody>
      </p:sp>
      <p:sp>
        <p:nvSpPr>
          <p:cNvPr id="15" name="">
            <a:extLst xmlns:a="http://schemas.openxmlformats.org/drawingml/2006/main">
              <a:ext uri="{FF2B5EF4-FFF2-40B4-BE49-F238E27FC236}">
                <a16:creationId xmlns:a16="http://schemas.microsoft.com/office/drawing/2014/main" id="{9C8AB957-81C5-4040-875E-8CF7D12948A9}"/>
              </a:ext>
            </a:extLst>
          </p:cNvPr>
          <p:cNvSpPr>
            <a:spLocks xmlns:a="http://schemas.openxmlformats.org/drawingml/2006/main" noGrp="1"/>
          </p:cNvSpPr>
          <p:nvPr/>
        </p:nvSpPr>
        <p:spPr>
          <a:xfrm xmlns:a="http://schemas.openxmlformats.org/drawingml/2006/main">
            <a:off x="7867650" y="553402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FFFFFF"/>
                </a:solidFill>
                <a:latin typeface="Malgun Gothic"/>
                <a:ea typeface="Malgun Gothic"/>
                <a:cs typeface="Malgun Gothic"/>
              </a:defRPr>
            </a:pPr>
            <a:r>
              <a:rPr sz="1500" b="1">
                <a:solidFill>
                  <a:srgbClr val="FFFFFF"/>
                </a:solidFill>
                <a:latin typeface="Malgun Gothic"/>
                <a:ea typeface="Malgun Gothic"/>
                <a:cs typeface="Malgun Gothic"/>
              </a:rPr>
              <a:t>XGBoost 0.947765</a:t>
            </a:r>
          </a:p>
        </p:txBody>
      </p:sp>
      <p:sp>
        <p:nvSpPr>
          <p:cNvPr id="16" name="">
            <a:extLst xmlns:a="http://schemas.openxmlformats.org/drawingml/2006/main">
              <a:ext uri="{FF2B5EF4-FFF2-40B4-BE49-F238E27FC236}">
                <a16:creationId xmlns:a16="http://schemas.microsoft.com/office/drawing/2014/main" id="{743A3E4F-80C1-48CC-836C-02D4E28675F2}"/>
              </a:ext>
            </a:extLst>
          </p:cNvPr>
          <p:cNvSpPr>
            <a:spLocks xmlns:a="http://schemas.openxmlformats.org/drawingml/2006/main" noGrp="1"/>
          </p:cNvSpPr>
          <p:nvPr/>
        </p:nvSpPr>
        <p:spPr>
          <a:xfrm xmlns:a="http://schemas.openxmlformats.org/drawingml/2006/main">
            <a:off x="10191750" y="5581650"/>
            <a:ext cx="1219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F6A28F"/>
                </a:solidFill>
                <a:latin typeface="Malgun Gothic"/>
                <a:ea typeface="Malgun Gothic"/>
                <a:cs typeface="Malgun Gothic"/>
              </a:defRPr>
            </a:pPr>
            <a:r>
              <a:rPr sz="1050" b="1">
                <a:solidFill>
                  <a:srgbClr val="F6A28F"/>
                </a:solidFill>
                <a:latin typeface="Malgun Gothic"/>
                <a:ea typeface="Malgun Gothic"/>
                <a:cs typeface="Malgun Gothic"/>
              </a:rPr>
              <a:t>Bootstrap CI 중첩</a:t>
            </a:r>
          </a:p>
        </p:txBody>
      </p:sp>
      <p:sp>
        <p:nvSpPr>
          <p:cNvPr id="17" name="">
            <a:extLst xmlns:a="http://schemas.openxmlformats.org/drawingml/2006/main">
              <a:ext uri="{FF2B5EF4-FFF2-40B4-BE49-F238E27FC236}">
                <a16:creationId xmlns:a16="http://schemas.microsoft.com/office/drawing/2014/main" id="{9D4BB8DB-46EE-481C-BF89-57ECB09F309F}"/>
              </a:ext>
            </a:extLst>
          </p:cNvPr>
          <p:cNvSpPr>
            <a:spLocks xmlns:a="http://schemas.openxmlformats.org/drawingml/2006/main" noGrp="1"/>
          </p:cNvSpPr>
          <p:nvPr/>
        </p:nvSpPr>
        <p:spPr>
          <a:xfrm xmlns:a="http://schemas.openxmlformats.org/drawingml/2006/main">
            <a:off x="533400" y="6200775"/>
            <a:ext cx="10572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근거: model_comparison_fair.csv · top3_fine_tuning_summary.csv · full_fair_v1 manifest</a:t>
            </a:r>
          </a:p>
        </p:txBody>
      </p:sp>
    </p:spTree>
    <p:extLst>
      <p:ext uri="{BB962C8B-B14F-4D97-AF65-F5344CB8AC3E}">
        <p14:creationId xmlns:p14="http://schemas.microsoft.com/office/powerpoint/2010/main" val="173376783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B395E1E-2E98-463F-921C-ADEDE27760D4}"/>
              </a:ext>
            </a:extLst>
          </p:cNvPr>
          <p:cNvSpPr>
            <a:spLocks xmlns:a="http://schemas.openxmlformats.org/drawingml/2006/main" noGrp="1"/>
          </p:cNvSpPr>
          <p:nvPr/>
        </p:nvSpPr>
        <p:spPr>
          <a:xfrm xmlns:a="http://schemas.openxmlformats.org/drawingml/2006/main">
            <a:off x="533400" y="1524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E85E43"/>
                </a:solidFill>
                <a:latin typeface="Malgun Gothic"/>
                <a:ea typeface="Malgun Gothic"/>
                <a:cs typeface="Malgun Gothic"/>
              </a:defRPr>
            </a:pPr>
            <a:r>
              <a:rPr sz="900" b="1">
                <a:solidFill>
                  <a:srgbClr val="E85E43"/>
                </a:solidFill>
                <a:latin typeface="Malgun Gothic"/>
                <a:ea typeface="Malgun Gothic"/>
                <a:cs typeface="Malgun Gothic"/>
              </a:rPr>
              <a:t>OPERATING SCENARIOS</a:t>
            </a:r>
          </a:p>
        </p:txBody>
      </p:sp>
      <p:sp>
        <p:nvSpPr>
          <p:cNvPr id="2" name="">
            <a:extLst xmlns:a="http://schemas.openxmlformats.org/drawingml/2006/main">
              <a:ext uri="{FF2B5EF4-FFF2-40B4-BE49-F238E27FC236}">
                <a16:creationId xmlns:a16="http://schemas.microsoft.com/office/drawing/2014/main" id="{4C287658-96B5-4BA7-AA69-E2C858776AA0}"/>
              </a:ext>
            </a:extLst>
          </p:cNvPr>
          <p:cNvSpPr>
            <a:spLocks xmlns:a="http://schemas.openxmlformats.org/drawingml/2006/main" noGrp="1"/>
          </p:cNvSpPr>
          <p:nvPr/>
        </p:nvSpPr>
        <p:spPr>
          <a:xfrm xmlns:a="http://schemas.openxmlformats.org/drawingml/2006/main">
            <a:off x="533400" y="419100"/>
            <a:ext cx="1104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Threshold는 놓침과 과잉 검토를 바꾸는 운영 손잡이입니다</a:t>
            </a:r>
          </a:p>
        </p:txBody>
      </p:sp>
      <p:sp>
        <p:nvSpPr>
          <p:cNvPr id="3" name="">
            <a:extLst xmlns:a="http://schemas.openxmlformats.org/drawingml/2006/main">
              <a:ext uri="{FF2B5EF4-FFF2-40B4-BE49-F238E27FC236}">
                <a16:creationId xmlns:a16="http://schemas.microsoft.com/office/drawing/2014/main" id="{F87C174F-9F15-478D-8D33-887B16C2217D}"/>
              </a:ext>
            </a:extLst>
          </p:cNvPr>
          <p:cNvSpPr>
            <a:spLocks xmlns:a="http://schemas.openxmlformats.org/drawingml/2006/main" noGrp="1"/>
          </p:cNvSpPr>
          <p:nvPr/>
        </p:nvSpPr>
        <p:spPr>
          <a:xfrm xmlns:a="http://schemas.openxmlformats.org/drawingml/2006/main">
            <a:off x="533400" y="14573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정답 하나가 아니라 자원과 오류 비용에 맞춰 운영자가 선택한다</a:t>
            </a:r>
          </a:p>
        </p:txBody>
      </p:sp>
      <p:sp>
        <p:nvSpPr>
          <p:cNvPr id="4" name="">
            <a:extLst xmlns:a="http://schemas.openxmlformats.org/drawingml/2006/main">
              <a:ext uri="{FF2B5EF4-FFF2-40B4-BE49-F238E27FC236}">
                <a16:creationId xmlns:a16="http://schemas.microsoft.com/office/drawing/2014/main" id="{622A2CFB-1FA7-4F28-B3C0-08FE13AB1F4A}"/>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1E6"/>
          </a:solidFill>
          <a:ln xmlns:a="http://schemas.openxmlformats.org/drawingml/2006/main" w="0">
            <a:solidFill>
              <a:srgbClr val="D9E1E6"/>
            </a:solidFill>
            <a:prstDash val="solid"/>
          </a:ln>
        </p:spPr>
      </p:sp>
      <p:sp>
        <p:nvSpPr>
          <p:cNvPr id="5" name="">
            <a:extLst xmlns:a="http://schemas.openxmlformats.org/drawingml/2006/main">
              <a:ext uri="{FF2B5EF4-FFF2-40B4-BE49-F238E27FC236}">
                <a16:creationId xmlns:a16="http://schemas.microsoft.com/office/drawing/2014/main" id="{AD5157B1-8988-48D0-8C9E-1FD656EFD4E4}"/>
              </a:ext>
            </a:extLst>
          </p:cNvPr>
          <p:cNvSpPr>
            <a:spLocks xmlns:a="http://schemas.openxmlformats.org/drawingml/2006/main" noGrp="1"/>
          </p:cNvSpPr>
          <p:nvPr/>
        </p:nvSpPr>
        <p:spPr>
          <a:xfrm xmlns:a="http://schemas.openxmlformats.org/drawingml/2006/main">
            <a:off x="533400" y="653415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PlaylistPro · Retention Decision Support</a:t>
            </a:r>
          </a:p>
        </p:txBody>
      </p:sp>
      <p:sp>
        <p:nvSpPr>
          <p:cNvPr id="6" name="">
            <a:extLst xmlns:a="http://schemas.openxmlformats.org/drawingml/2006/main">
              <a:ext uri="{FF2B5EF4-FFF2-40B4-BE49-F238E27FC236}">
                <a16:creationId xmlns:a16="http://schemas.microsoft.com/office/drawing/2014/main" id="{2CA552F7-6EEA-4F54-A4C7-9E3935CAFA32}"/>
              </a:ext>
            </a:extLst>
          </p:cNvPr>
          <p:cNvSpPr>
            <a:spLocks xmlns:a="http://schemas.openxmlformats.org/drawingml/2006/main" noGrp="1"/>
          </p:cNvSpPr>
          <p:nvPr/>
        </p:nvSpPr>
        <p:spPr>
          <a:xfrm xmlns:a="http://schemas.openxmlformats.org/drawingml/2006/main">
            <a:off x="11239500" y="65151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60707E"/>
                </a:solidFill>
                <a:latin typeface="Malgun Gothic"/>
                <a:ea typeface="Malgun Gothic"/>
                <a:cs typeface="Malgun Gothic"/>
              </a:defRPr>
            </a:pPr>
            <a:r>
              <a:rPr sz="825" b="1">
                <a:solidFill>
                  <a:srgbClr val="60707E"/>
                </a:solidFill>
                <a:latin typeface="Malgun Gothic"/>
                <a:ea typeface="Malgun Gothic"/>
                <a:cs typeface="Malgun Gothic"/>
              </a:rPr>
              <a:t>10</a:t>
            </a:r>
          </a:p>
        </p:txBody>
      </p:sp>
      <p:sp>
        <p:nvSpPr>
          <p:cNvPr id="7" name="">
            <a:extLst xmlns:a="http://schemas.openxmlformats.org/drawingml/2006/main">
              <a:ext uri="{FF2B5EF4-FFF2-40B4-BE49-F238E27FC236}">
                <a16:creationId xmlns:a16="http://schemas.microsoft.com/office/drawing/2014/main" id="{9FDD46C1-7058-4427-8108-1C668CA9714D}"/>
              </a:ext>
            </a:extLst>
          </p:cNvPr>
          <p:cNvSpPr>
            <a:spLocks xmlns:a="http://schemas.openxmlformats.org/drawingml/2006/main" noGrp="1"/>
          </p:cNvSpPr>
          <p:nvPr/>
        </p:nvSpPr>
        <p:spPr>
          <a:xfrm xmlns:a="http://schemas.openxmlformats.org/drawingml/2006/main">
            <a:off x="533400" y="1790700"/>
            <a:ext cx="6762750" cy="3790950"/>
          </a:xfrm>
          <a:prstGeom xmlns:a="http://schemas.openxmlformats.org/drawingml/2006/main" prst="roundRect">
            <a:avLst>
              <a:gd name="adj" fmla="val 2010"/>
            </a:avLst>
          </a:prstGeom>
          <a:solidFill xmlns:a="http://schemas.openxmlformats.org/drawingml/2006/main">
            <a:srgbClr val="FBFCFD"/>
          </a:solidFill>
          <a:ln xmlns:a="http://schemas.openxmlformats.org/drawingml/2006/main" w="9525">
            <a:solidFill>
              <a:srgbClr val="D9E1E6"/>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9227094c720d4a22"/>
          <a:stretch xmlns:a="http://schemas.openxmlformats.org/drawingml/2006/main"/>
        </p:blipFill>
        <p:spPr>
          <a:xfrm xmlns:a="http://schemas.openxmlformats.org/drawingml/2006/main">
            <a:off x="609600" y="1949978"/>
            <a:ext cx="6610350" cy="347239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9753BC2-BE31-4194-B692-5458EC1EE34A}"/>
              </a:ext>
            </a:extLst>
          </p:cNvPr>
          <p:cNvSpPr>
            <a:spLocks xmlns:a="http://schemas.openxmlformats.org/drawingml/2006/main" noGrp="1"/>
          </p:cNvSpPr>
          <p:nvPr/>
        </p:nvSpPr>
        <p:spPr>
          <a:xfrm xmlns:a="http://schemas.openxmlformats.org/drawingml/2006/main">
            <a:off x="7658100" y="1866900"/>
            <a:ext cx="4000500" cy="1085850"/>
          </a:xfrm>
          <a:prstGeom xmlns:a="http://schemas.openxmlformats.org/drawingml/2006/main" prst="roundRect">
            <a:avLst>
              <a:gd name="adj" fmla="val 7018"/>
            </a:avLst>
          </a:prstGeom>
          <a:solidFill xmlns:a="http://schemas.openxmlformats.org/drawingml/2006/main">
            <a:srgbClr val="EDF7F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6B67095-241D-421C-9881-8AEB1266D854}"/>
              </a:ext>
            </a:extLst>
          </p:cNvPr>
          <p:cNvSpPr>
            <a:spLocks xmlns:a="http://schemas.openxmlformats.org/drawingml/2006/main" noGrp="1"/>
          </p:cNvSpPr>
          <p:nvPr/>
        </p:nvSpPr>
        <p:spPr>
          <a:xfrm xmlns:a="http://schemas.openxmlformats.org/drawingml/2006/main">
            <a:off x="7886700" y="20383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18847A"/>
                </a:solidFill>
                <a:latin typeface="Malgun Gothic"/>
                <a:ea typeface="Malgun Gothic"/>
                <a:cs typeface="Malgun Gothic"/>
              </a:defRPr>
            </a:pPr>
            <a:r>
              <a:rPr sz="1050" b="1">
                <a:solidFill>
                  <a:srgbClr val="18847A"/>
                </a:solidFill>
                <a:latin typeface="Malgun Gothic"/>
                <a:ea typeface="Malgun Gothic"/>
                <a:cs typeface="Malgun Gothic"/>
              </a:rPr>
              <a:t>RECALL 우선</a:t>
            </a:r>
          </a:p>
        </p:txBody>
      </p:sp>
      <p:sp>
        <p:nvSpPr>
          <p:cNvPr id="11" name="">
            <a:extLst xmlns:a="http://schemas.openxmlformats.org/drawingml/2006/main">
              <a:ext uri="{FF2B5EF4-FFF2-40B4-BE49-F238E27FC236}">
                <a16:creationId xmlns:a16="http://schemas.microsoft.com/office/drawing/2014/main" id="{CB73E703-8BBE-4000-8214-F7E3596FE972}"/>
              </a:ext>
            </a:extLst>
          </p:cNvPr>
          <p:cNvSpPr>
            <a:spLocks xmlns:a="http://schemas.openxmlformats.org/drawingml/2006/main" noGrp="1"/>
          </p:cNvSpPr>
          <p:nvPr/>
        </p:nvSpPr>
        <p:spPr>
          <a:xfrm xmlns:a="http://schemas.openxmlformats.org/drawingml/2006/main">
            <a:off x="10287000" y="2000250"/>
            <a:ext cx="1047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2100" b="1">
                <a:solidFill>
                  <a:srgbClr val="18847A"/>
                </a:solidFill>
                <a:latin typeface="Malgun Gothic"/>
                <a:ea typeface="Malgun Gothic"/>
                <a:cs typeface="Malgun Gothic"/>
              </a:defRPr>
            </a:pPr>
            <a:r>
              <a:rPr sz="2100" b="1">
                <a:solidFill>
                  <a:srgbClr val="18847A"/>
                </a:solidFill>
                <a:latin typeface="Malgun Gothic"/>
                <a:ea typeface="Malgun Gothic"/>
                <a:cs typeface="Malgun Gothic"/>
              </a:rPr>
              <a:t>0.29</a:t>
            </a:r>
          </a:p>
        </p:txBody>
      </p:sp>
      <p:sp>
        <p:nvSpPr>
          <p:cNvPr id="12" name="">
            <a:extLst xmlns:a="http://schemas.openxmlformats.org/drawingml/2006/main">
              <a:ext uri="{FF2B5EF4-FFF2-40B4-BE49-F238E27FC236}">
                <a16:creationId xmlns:a16="http://schemas.microsoft.com/office/drawing/2014/main" id="{9D76A73F-4EAE-446D-83C5-C57109DDEAA7}"/>
              </a:ext>
            </a:extLst>
          </p:cNvPr>
          <p:cNvSpPr>
            <a:spLocks xmlns:a="http://schemas.openxmlformats.org/drawingml/2006/main" noGrp="1"/>
          </p:cNvSpPr>
          <p:nvPr/>
        </p:nvSpPr>
        <p:spPr>
          <a:xfrm xmlns:a="http://schemas.openxmlformats.org/drawingml/2006/main">
            <a:off x="7886700" y="2371725"/>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7212B"/>
                </a:solidFill>
                <a:latin typeface="Malgun Gothic"/>
                <a:ea typeface="Malgun Gothic"/>
                <a:cs typeface="Malgun Gothic"/>
              </a:defRPr>
            </a:pPr>
            <a:r>
              <a:rPr sz="1200" b="1">
                <a:solidFill>
                  <a:srgbClr val="17212B"/>
                </a:solidFill>
                <a:latin typeface="Malgun Gothic"/>
                <a:ea typeface="Malgun Gothic"/>
                <a:cs typeface="Malgun Gothic"/>
              </a:rPr>
              <a:t>77,700명 · 62.16%</a:t>
            </a:r>
          </a:p>
        </p:txBody>
      </p:sp>
      <p:sp>
        <p:nvSpPr>
          <p:cNvPr id="13" name="">
            <a:extLst xmlns:a="http://schemas.openxmlformats.org/drawingml/2006/main">
              <a:ext uri="{FF2B5EF4-FFF2-40B4-BE49-F238E27FC236}">
                <a16:creationId xmlns:a16="http://schemas.microsoft.com/office/drawing/2014/main" id="{F67D275C-C633-4F7A-A83B-86028A9B9CB8}"/>
              </a:ext>
            </a:extLst>
          </p:cNvPr>
          <p:cNvSpPr>
            <a:spLocks xmlns:a="http://schemas.openxmlformats.org/drawingml/2006/main" noGrp="1"/>
          </p:cNvSpPr>
          <p:nvPr/>
        </p:nvSpPr>
        <p:spPr>
          <a:xfrm xmlns:a="http://schemas.openxmlformats.org/drawingml/2006/main">
            <a:off x="7886700" y="26289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60707E"/>
                </a:solidFill>
                <a:latin typeface="Malgun Gothic"/>
                <a:ea typeface="Malgun Gothic"/>
                <a:cs typeface="Malgun Gothic"/>
              </a:defRPr>
            </a:pPr>
            <a:r>
              <a:rPr sz="975" b="0">
                <a:solidFill>
                  <a:srgbClr val="60707E"/>
                </a:solidFill>
                <a:latin typeface="Malgun Gothic"/>
                <a:ea typeface="Malgun Gothic"/>
                <a:cs typeface="Malgun Gothic"/>
              </a:rPr>
              <a:t>Recall 95.18% · FN 3,091</a:t>
            </a:r>
          </a:p>
        </p:txBody>
      </p:sp>
      <p:sp>
        <p:nvSpPr>
          <p:cNvPr id="14" name="">
            <a:extLst xmlns:a="http://schemas.openxmlformats.org/drawingml/2006/main">
              <a:ext uri="{FF2B5EF4-FFF2-40B4-BE49-F238E27FC236}">
                <a16:creationId xmlns:a16="http://schemas.microsoft.com/office/drawing/2014/main" id="{CA9334C9-6C9A-4B5E-976A-883C33200D1F}"/>
              </a:ext>
            </a:extLst>
          </p:cNvPr>
          <p:cNvSpPr>
            <a:spLocks xmlns:a="http://schemas.openxmlformats.org/drawingml/2006/main" noGrp="1"/>
          </p:cNvSpPr>
          <p:nvPr/>
        </p:nvSpPr>
        <p:spPr>
          <a:xfrm xmlns:a="http://schemas.openxmlformats.org/drawingml/2006/main">
            <a:off x="7658100" y="3124200"/>
            <a:ext cx="4000500" cy="1085850"/>
          </a:xfrm>
          <a:prstGeom xmlns:a="http://schemas.openxmlformats.org/drawingml/2006/main" prst="roundRect">
            <a:avLst>
              <a:gd name="adj" fmla="val 7018"/>
            </a:avLst>
          </a:prstGeom>
          <a:solidFill xmlns:a="http://schemas.openxmlformats.org/drawingml/2006/main">
            <a:srgbClr val="F3F6F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77B2FF7-B91D-4834-91D6-721C2628DCE3}"/>
              </a:ext>
            </a:extLst>
          </p:cNvPr>
          <p:cNvSpPr>
            <a:spLocks xmlns:a="http://schemas.openxmlformats.org/drawingml/2006/main" noGrp="1"/>
          </p:cNvSpPr>
          <p:nvPr/>
        </p:nvSpPr>
        <p:spPr>
          <a:xfrm xmlns:a="http://schemas.openxmlformats.org/drawingml/2006/main">
            <a:off x="7886700" y="32956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17354B"/>
                </a:solidFill>
                <a:latin typeface="Malgun Gothic"/>
                <a:ea typeface="Malgun Gothic"/>
                <a:cs typeface="Malgun Gothic"/>
              </a:defRPr>
            </a:pPr>
            <a:r>
              <a:rPr sz="1050" b="1">
                <a:solidFill>
                  <a:srgbClr val="17354B"/>
                </a:solidFill>
                <a:latin typeface="Malgun Gothic"/>
                <a:ea typeface="Malgun Gothic"/>
                <a:cs typeface="Malgun Gothic"/>
              </a:rPr>
              <a:t>균형 F1</a:t>
            </a:r>
          </a:p>
        </p:txBody>
      </p:sp>
      <p:sp>
        <p:nvSpPr>
          <p:cNvPr id="16" name="">
            <a:extLst xmlns:a="http://schemas.openxmlformats.org/drawingml/2006/main">
              <a:ext uri="{FF2B5EF4-FFF2-40B4-BE49-F238E27FC236}">
                <a16:creationId xmlns:a16="http://schemas.microsoft.com/office/drawing/2014/main" id="{97915DC1-08B4-4A88-9B73-233FFE38E6E8}"/>
              </a:ext>
            </a:extLst>
          </p:cNvPr>
          <p:cNvSpPr>
            <a:spLocks xmlns:a="http://schemas.openxmlformats.org/drawingml/2006/main" noGrp="1"/>
          </p:cNvSpPr>
          <p:nvPr/>
        </p:nvSpPr>
        <p:spPr>
          <a:xfrm xmlns:a="http://schemas.openxmlformats.org/drawingml/2006/main">
            <a:off x="10287000" y="3257550"/>
            <a:ext cx="1047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2100" b="1">
                <a:solidFill>
                  <a:srgbClr val="17354B"/>
                </a:solidFill>
                <a:latin typeface="Malgun Gothic"/>
                <a:ea typeface="Malgun Gothic"/>
                <a:cs typeface="Malgun Gothic"/>
              </a:defRPr>
            </a:pPr>
            <a:r>
              <a:rPr sz="2100" b="1">
                <a:solidFill>
                  <a:srgbClr val="17354B"/>
                </a:solidFill>
                <a:latin typeface="Malgun Gothic"/>
                <a:ea typeface="Malgun Gothic"/>
                <a:cs typeface="Malgun Gothic"/>
              </a:rPr>
              <a:t>0.35</a:t>
            </a:r>
          </a:p>
        </p:txBody>
      </p:sp>
      <p:sp>
        <p:nvSpPr>
          <p:cNvPr id="17" name="">
            <a:extLst xmlns:a="http://schemas.openxmlformats.org/drawingml/2006/main">
              <a:ext uri="{FF2B5EF4-FFF2-40B4-BE49-F238E27FC236}">
                <a16:creationId xmlns:a16="http://schemas.microsoft.com/office/drawing/2014/main" id="{2DE2BCBF-D50C-4945-888A-4BEA7AEEC4C2}"/>
              </a:ext>
            </a:extLst>
          </p:cNvPr>
          <p:cNvSpPr>
            <a:spLocks xmlns:a="http://schemas.openxmlformats.org/drawingml/2006/main" noGrp="1"/>
          </p:cNvSpPr>
          <p:nvPr/>
        </p:nvSpPr>
        <p:spPr>
          <a:xfrm xmlns:a="http://schemas.openxmlformats.org/drawingml/2006/main">
            <a:off x="7886700" y="3629025"/>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7212B"/>
                </a:solidFill>
                <a:latin typeface="Malgun Gothic"/>
                <a:ea typeface="Malgun Gothic"/>
                <a:cs typeface="Malgun Gothic"/>
              </a:defRPr>
            </a:pPr>
            <a:r>
              <a:rPr sz="1200" b="1">
                <a:solidFill>
                  <a:srgbClr val="17212B"/>
                </a:solidFill>
                <a:latin typeface="Malgun Gothic"/>
                <a:ea typeface="Malgun Gothic"/>
                <a:cs typeface="Malgun Gothic"/>
              </a:rPr>
              <a:t>76,143명 · 60.91%</a:t>
            </a:r>
          </a:p>
        </p:txBody>
      </p:sp>
      <p:sp>
        <p:nvSpPr>
          <p:cNvPr id="18" name="">
            <a:extLst xmlns:a="http://schemas.openxmlformats.org/drawingml/2006/main">
              <a:ext uri="{FF2B5EF4-FFF2-40B4-BE49-F238E27FC236}">
                <a16:creationId xmlns:a16="http://schemas.microsoft.com/office/drawing/2014/main" id="{F5EAEDD6-0843-4679-B598-33E563FE4CD0}"/>
              </a:ext>
            </a:extLst>
          </p:cNvPr>
          <p:cNvSpPr>
            <a:spLocks xmlns:a="http://schemas.openxmlformats.org/drawingml/2006/main" noGrp="1"/>
          </p:cNvSpPr>
          <p:nvPr/>
        </p:nvSpPr>
        <p:spPr>
          <a:xfrm xmlns:a="http://schemas.openxmlformats.org/drawingml/2006/main">
            <a:off x="7886700" y="38862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60707E"/>
                </a:solidFill>
                <a:latin typeface="Malgun Gothic"/>
                <a:ea typeface="Malgun Gothic"/>
                <a:cs typeface="Malgun Gothic"/>
              </a:defRPr>
            </a:pPr>
            <a:r>
              <a:rPr sz="975" b="0">
                <a:solidFill>
                  <a:srgbClr val="60707E"/>
                </a:solidFill>
                <a:latin typeface="Malgun Gothic"/>
                <a:ea typeface="Malgun Gothic"/>
                <a:cs typeface="Malgun Gothic"/>
              </a:rPr>
              <a:t>Recall 94.44% · FN 3,569</a:t>
            </a:r>
          </a:p>
        </p:txBody>
      </p:sp>
      <p:sp>
        <p:nvSpPr>
          <p:cNvPr id="19" name="">
            <a:extLst xmlns:a="http://schemas.openxmlformats.org/drawingml/2006/main">
              <a:ext uri="{FF2B5EF4-FFF2-40B4-BE49-F238E27FC236}">
                <a16:creationId xmlns:a16="http://schemas.microsoft.com/office/drawing/2014/main" id="{C01FD834-8762-4651-AB17-89DDAC53AC42}"/>
              </a:ext>
            </a:extLst>
          </p:cNvPr>
          <p:cNvSpPr>
            <a:spLocks xmlns:a="http://schemas.openxmlformats.org/drawingml/2006/main" noGrp="1"/>
          </p:cNvSpPr>
          <p:nvPr/>
        </p:nvSpPr>
        <p:spPr>
          <a:xfrm xmlns:a="http://schemas.openxmlformats.org/drawingml/2006/main">
            <a:off x="7658100" y="4381500"/>
            <a:ext cx="4000500" cy="1085850"/>
          </a:xfrm>
          <a:prstGeom xmlns:a="http://schemas.openxmlformats.org/drawingml/2006/main" prst="roundRect">
            <a:avLst>
              <a:gd name="adj" fmla="val 7018"/>
            </a:avLst>
          </a:prstGeom>
          <a:solidFill xmlns:a="http://schemas.openxmlformats.org/drawingml/2006/main">
            <a:srgbClr val="FFF3E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5EE339F-771D-41A9-838E-DC8CFACCC5EF}"/>
              </a:ext>
            </a:extLst>
          </p:cNvPr>
          <p:cNvSpPr>
            <a:spLocks xmlns:a="http://schemas.openxmlformats.org/drawingml/2006/main" noGrp="1"/>
          </p:cNvSpPr>
          <p:nvPr/>
        </p:nvSpPr>
        <p:spPr>
          <a:xfrm xmlns:a="http://schemas.openxmlformats.org/drawingml/2006/main">
            <a:off x="7886700" y="45529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E85E43"/>
                </a:solidFill>
                <a:latin typeface="Malgun Gothic"/>
                <a:ea typeface="Malgun Gothic"/>
                <a:cs typeface="Malgun Gothic"/>
              </a:defRPr>
            </a:pPr>
            <a:r>
              <a:rPr sz="1050" b="1">
                <a:solidFill>
                  <a:srgbClr val="E85E43"/>
                </a:solidFill>
                <a:latin typeface="Malgun Gothic"/>
                <a:ea typeface="Malgun Gothic"/>
                <a:cs typeface="Malgun Gothic"/>
              </a:rPr>
              <a:t>PRECISION 우선</a:t>
            </a:r>
          </a:p>
        </p:txBody>
      </p:sp>
      <p:sp>
        <p:nvSpPr>
          <p:cNvPr id="21" name="">
            <a:extLst xmlns:a="http://schemas.openxmlformats.org/drawingml/2006/main">
              <a:ext uri="{FF2B5EF4-FFF2-40B4-BE49-F238E27FC236}">
                <a16:creationId xmlns:a16="http://schemas.microsoft.com/office/drawing/2014/main" id="{57EA5B6F-B284-4AC8-B01C-56889005D02E}"/>
              </a:ext>
            </a:extLst>
          </p:cNvPr>
          <p:cNvSpPr>
            <a:spLocks xmlns:a="http://schemas.openxmlformats.org/drawingml/2006/main" noGrp="1"/>
          </p:cNvSpPr>
          <p:nvPr/>
        </p:nvSpPr>
        <p:spPr>
          <a:xfrm xmlns:a="http://schemas.openxmlformats.org/drawingml/2006/main">
            <a:off x="10287000" y="4514850"/>
            <a:ext cx="1047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2100" b="1">
                <a:solidFill>
                  <a:srgbClr val="E85E43"/>
                </a:solidFill>
                <a:latin typeface="Malgun Gothic"/>
                <a:ea typeface="Malgun Gothic"/>
                <a:cs typeface="Malgun Gothic"/>
              </a:defRPr>
            </a:pPr>
            <a:r>
              <a:rPr sz="2100" b="1">
                <a:solidFill>
                  <a:srgbClr val="E85E43"/>
                </a:solidFill>
                <a:latin typeface="Malgun Gothic"/>
                <a:ea typeface="Malgun Gothic"/>
                <a:cs typeface="Malgun Gothic"/>
              </a:rPr>
              <a:t>0.74</a:t>
            </a:r>
          </a:p>
        </p:txBody>
      </p:sp>
      <p:sp>
        <p:nvSpPr>
          <p:cNvPr id="22" name="">
            <a:extLst xmlns:a="http://schemas.openxmlformats.org/drawingml/2006/main">
              <a:ext uri="{FF2B5EF4-FFF2-40B4-BE49-F238E27FC236}">
                <a16:creationId xmlns:a16="http://schemas.microsoft.com/office/drawing/2014/main" id="{1C75BF0E-1AFE-41C0-9BAD-828226B8982D}"/>
              </a:ext>
            </a:extLst>
          </p:cNvPr>
          <p:cNvSpPr>
            <a:spLocks xmlns:a="http://schemas.openxmlformats.org/drawingml/2006/main" noGrp="1"/>
          </p:cNvSpPr>
          <p:nvPr/>
        </p:nvSpPr>
        <p:spPr>
          <a:xfrm xmlns:a="http://schemas.openxmlformats.org/drawingml/2006/main">
            <a:off x="7886700" y="4886325"/>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17212B"/>
                </a:solidFill>
                <a:latin typeface="Malgun Gothic"/>
                <a:ea typeface="Malgun Gothic"/>
                <a:cs typeface="Malgun Gothic"/>
              </a:defRPr>
            </a:pPr>
            <a:r>
              <a:rPr sz="1200" b="1">
                <a:solidFill>
                  <a:srgbClr val="17212B"/>
                </a:solidFill>
                <a:latin typeface="Malgun Gothic"/>
                <a:ea typeface="Malgun Gothic"/>
                <a:cs typeface="Malgun Gothic"/>
              </a:rPr>
              <a:t>48,463명 · 38.77%</a:t>
            </a:r>
          </a:p>
        </p:txBody>
      </p:sp>
      <p:sp>
        <p:nvSpPr>
          <p:cNvPr id="23" name="">
            <a:extLst xmlns:a="http://schemas.openxmlformats.org/drawingml/2006/main">
              <a:ext uri="{FF2B5EF4-FFF2-40B4-BE49-F238E27FC236}">
                <a16:creationId xmlns:a16="http://schemas.microsoft.com/office/drawing/2014/main" id="{49C97E88-AF06-4FB1-9B86-4A05F1F0BD92}"/>
              </a:ext>
            </a:extLst>
          </p:cNvPr>
          <p:cNvSpPr>
            <a:spLocks xmlns:a="http://schemas.openxmlformats.org/drawingml/2006/main" noGrp="1"/>
          </p:cNvSpPr>
          <p:nvPr/>
        </p:nvSpPr>
        <p:spPr>
          <a:xfrm xmlns:a="http://schemas.openxmlformats.org/drawingml/2006/main">
            <a:off x="7886700" y="51435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60707E"/>
                </a:solidFill>
                <a:latin typeface="Malgun Gothic"/>
                <a:ea typeface="Malgun Gothic"/>
                <a:cs typeface="Malgun Gothic"/>
              </a:defRPr>
            </a:pPr>
            <a:r>
              <a:rPr sz="975" b="0">
                <a:solidFill>
                  <a:srgbClr val="60707E"/>
                </a:solidFill>
                <a:latin typeface="Malgun Gothic"/>
                <a:ea typeface="Malgun Gothic"/>
                <a:cs typeface="Malgun Gothic"/>
              </a:rPr>
              <a:t>Precision 95.07% · FN 18,099</a:t>
            </a:r>
          </a:p>
        </p:txBody>
      </p:sp>
      <p:sp>
        <p:nvSpPr>
          <p:cNvPr id="24" name="">
            <a:extLst xmlns:a="http://schemas.openxmlformats.org/drawingml/2006/main">
              <a:ext uri="{FF2B5EF4-FFF2-40B4-BE49-F238E27FC236}">
                <a16:creationId xmlns:a16="http://schemas.microsoft.com/office/drawing/2014/main" id="{53413486-AA7F-48E1-B65E-53E196C4DCF4}"/>
              </a:ext>
            </a:extLst>
          </p:cNvPr>
          <p:cNvSpPr>
            <a:spLocks xmlns:a="http://schemas.openxmlformats.org/drawingml/2006/main" noGrp="1"/>
          </p:cNvSpPr>
          <p:nvPr/>
        </p:nvSpPr>
        <p:spPr>
          <a:xfrm xmlns:a="http://schemas.openxmlformats.org/drawingml/2006/main">
            <a:off x="533400" y="5791200"/>
            <a:ext cx="11125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a:solidFill>
                  <a:srgbClr val="E85E43"/>
                </a:solidFill>
                <a:latin typeface="Malgun Gothic"/>
                <a:ea typeface="Malgun Gothic"/>
                <a:cs typeface="Malgun Gothic"/>
              </a:defRPr>
            </a:pPr>
            <a:r>
              <a:rPr sz="1275" b="1">
                <a:solidFill>
                  <a:srgbClr val="E85E43"/>
                </a:solidFill>
                <a:latin typeface="Malgun Gothic"/>
                <a:ea typeface="Malgun Gothic"/>
                <a:cs typeface="Malgun Gothic"/>
              </a:rPr>
              <a:t>0.35는 OOF F1 최고점일 뿐, 사업 최적 임계값으로 확정하지 않았습니다.</a:t>
            </a:r>
          </a:p>
        </p:txBody>
      </p:sp>
      <p:sp>
        <p:nvSpPr>
          <p:cNvPr id="25" name="">
            <a:extLst xmlns:a="http://schemas.openxmlformats.org/drawingml/2006/main">
              <a:ext uri="{FF2B5EF4-FFF2-40B4-BE49-F238E27FC236}">
                <a16:creationId xmlns:a16="http://schemas.microsoft.com/office/drawing/2014/main" id="{EB03F2F8-7460-4B5E-ABD7-DAA1C42AA905}"/>
              </a:ext>
            </a:extLst>
          </p:cNvPr>
          <p:cNvSpPr>
            <a:spLocks xmlns:a="http://schemas.openxmlformats.org/drawingml/2006/main" noGrp="1"/>
          </p:cNvSpPr>
          <p:nvPr/>
        </p:nvSpPr>
        <p:spPr>
          <a:xfrm xmlns:a="http://schemas.openxmlformats.org/drawingml/2006/main">
            <a:off x="533400" y="6200775"/>
            <a:ext cx="10572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근거: threshold_operating_scenarios_v2.csv · 10_11_threshold_sweep.csv</a:t>
            </a:r>
          </a:p>
        </p:txBody>
      </p:sp>
    </p:spTree>
    <p:extLst>
      <p:ext uri="{BB962C8B-B14F-4D97-AF65-F5344CB8AC3E}">
        <p14:creationId xmlns:p14="http://schemas.microsoft.com/office/powerpoint/2010/main" val="194910931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589640C-64DD-405D-B558-282D1BC40323}"/>
              </a:ext>
            </a:extLst>
          </p:cNvPr>
          <p:cNvSpPr>
            <a:spLocks xmlns:a="http://schemas.openxmlformats.org/drawingml/2006/main" noGrp="1"/>
          </p:cNvSpPr>
          <p:nvPr/>
        </p:nvSpPr>
        <p:spPr>
          <a:xfrm xmlns:a="http://schemas.openxmlformats.org/drawingml/2006/main">
            <a:off x="533400" y="1524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E85E43"/>
                </a:solidFill>
                <a:latin typeface="Malgun Gothic"/>
                <a:ea typeface="Malgun Gothic"/>
                <a:cs typeface="Malgun Gothic"/>
              </a:defRPr>
            </a:pPr>
            <a:r>
              <a:rPr sz="900" b="1">
                <a:solidFill>
                  <a:srgbClr val="E85E43"/>
                </a:solidFill>
                <a:latin typeface="Malgun Gothic"/>
                <a:ea typeface="Malgun Gothic"/>
                <a:cs typeface="Malgun Gothic"/>
              </a:rPr>
              <a:t>CAPACITY-BASED TARGETING</a:t>
            </a:r>
          </a:p>
        </p:txBody>
      </p:sp>
      <p:sp>
        <p:nvSpPr>
          <p:cNvPr id="2" name="">
            <a:extLst xmlns:a="http://schemas.openxmlformats.org/drawingml/2006/main">
              <a:ext uri="{FF2B5EF4-FFF2-40B4-BE49-F238E27FC236}">
                <a16:creationId xmlns:a16="http://schemas.microsoft.com/office/drawing/2014/main" id="{1AC83845-CCF9-4612-83A8-9D57205186E6}"/>
              </a:ext>
            </a:extLst>
          </p:cNvPr>
          <p:cNvSpPr>
            <a:spLocks xmlns:a="http://schemas.openxmlformats.org/drawingml/2006/main" noGrp="1"/>
          </p:cNvSpPr>
          <p:nvPr/>
        </p:nvSpPr>
        <p:spPr>
          <a:xfrm xmlns:a="http://schemas.openxmlformats.org/drawingml/2006/main">
            <a:off x="533400" y="419100"/>
            <a:ext cx="1104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Top-K는 담당 가능한 인원을 운영 계획으로 바꿉니다</a:t>
            </a:r>
          </a:p>
        </p:txBody>
      </p:sp>
      <p:sp>
        <p:nvSpPr>
          <p:cNvPr id="3" name="">
            <a:extLst xmlns:a="http://schemas.openxmlformats.org/drawingml/2006/main">
              <a:ext uri="{FF2B5EF4-FFF2-40B4-BE49-F238E27FC236}">
                <a16:creationId xmlns:a16="http://schemas.microsoft.com/office/drawing/2014/main" id="{4436B2EA-7B8E-423F-BCE4-C6D215869822}"/>
              </a:ext>
            </a:extLst>
          </p:cNvPr>
          <p:cNvSpPr>
            <a:spLocks xmlns:a="http://schemas.openxmlformats.org/drawingml/2006/main" noGrp="1"/>
          </p:cNvSpPr>
          <p:nvPr/>
        </p:nvSpPr>
        <p:spPr>
          <a:xfrm xmlns:a="http://schemas.openxmlformats.org/drawingml/2006/main">
            <a:off x="533400" y="14573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월간 처리 인원과 이탈자 포착률을 직접 연결한다 · Lift는 캠페인 효과가 아니다</a:t>
            </a:r>
          </a:p>
        </p:txBody>
      </p:sp>
      <p:sp>
        <p:nvSpPr>
          <p:cNvPr id="4" name="">
            <a:extLst xmlns:a="http://schemas.openxmlformats.org/drawingml/2006/main">
              <a:ext uri="{FF2B5EF4-FFF2-40B4-BE49-F238E27FC236}">
                <a16:creationId xmlns:a16="http://schemas.microsoft.com/office/drawing/2014/main" id="{D3EB68BE-7E9E-4CC2-9D1C-120408F09D46}"/>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1E6"/>
          </a:solidFill>
          <a:ln xmlns:a="http://schemas.openxmlformats.org/drawingml/2006/main" w="0">
            <a:solidFill>
              <a:srgbClr val="D9E1E6"/>
            </a:solidFill>
            <a:prstDash val="solid"/>
          </a:ln>
        </p:spPr>
      </p:sp>
      <p:sp>
        <p:nvSpPr>
          <p:cNvPr id="5" name="">
            <a:extLst xmlns:a="http://schemas.openxmlformats.org/drawingml/2006/main">
              <a:ext uri="{FF2B5EF4-FFF2-40B4-BE49-F238E27FC236}">
                <a16:creationId xmlns:a16="http://schemas.microsoft.com/office/drawing/2014/main" id="{8EF0E0EF-F66D-4B19-814D-D39AC4CBF8D4}"/>
              </a:ext>
            </a:extLst>
          </p:cNvPr>
          <p:cNvSpPr>
            <a:spLocks xmlns:a="http://schemas.openxmlformats.org/drawingml/2006/main" noGrp="1"/>
          </p:cNvSpPr>
          <p:nvPr/>
        </p:nvSpPr>
        <p:spPr>
          <a:xfrm xmlns:a="http://schemas.openxmlformats.org/drawingml/2006/main">
            <a:off x="533400" y="653415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PlaylistPro · Retention Decision Support</a:t>
            </a:r>
          </a:p>
        </p:txBody>
      </p:sp>
      <p:sp>
        <p:nvSpPr>
          <p:cNvPr id="6" name="">
            <a:extLst xmlns:a="http://schemas.openxmlformats.org/drawingml/2006/main">
              <a:ext uri="{FF2B5EF4-FFF2-40B4-BE49-F238E27FC236}">
                <a16:creationId xmlns:a16="http://schemas.microsoft.com/office/drawing/2014/main" id="{8E7B205D-49F1-47CD-903D-3D7B2623583D}"/>
              </a:ext>
            </a:extLst>
          </p:cNvPr>
          <p:cNvSpPr>
            <a:spLocks xmlns:a="http://schemas.openxmlformats.org/drawingml/2006/main" noGrp="1"/>
          </p:cNvSpPr>
          <p:nvPr/>
        </p:nvSpPr>
        <p:spPr>
          <a:xfrm xmlns:a="http://schemas.openxmlformats.org/drawingml/2006/main">
            <a:off x="11239500" y="65151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60707E"/>
                </a:solidFill>
                <a:latin typeface="Malgun Gothic"/>
                <a:ea typeface="Malgun Gothic"/>
                <a:cs typeface="Malgun Gothic"/>
              </a:defRPr>
            </a:pPr>
            <a:r>
              <a:rPr sz="825" b="1">
                <a:solidFill>
                  <a:srgbClr val="60707E"/>
                </a:solidFill>
                <a:latin typeface="Malgun Gothic"/>
                <a:ea typeface="Malgun Gothic"/>
                <a:cs typeface="Malgun Gothic"/>
              </a:rPr>
              <a:t>11</a:t>
            </a:r>
          </a:p>
        </p:txBody>
      </p:sp>
      <p:sp>
        <p:nvSpPr>
          <p:cNvPr id="7" name="">
            <a:extLst xmlns:a="http://schemas.openxmlformats.org/drawingml/2006/main">
              <a:ext uri="{FF2B5EF4-FFF2-40B4-BE49-F238E27FC236}">
                <a16:creationId xmlns:a16="http://schemas.microsoft.com/office/drawing/2014/main" id="{8B213D80-CBE1-4652-9EE4-565B69BCBE36}"/>
              </a:ext>
            </a:extLst>
          </p:cNvPr>
          <p:cNvSpPr>
            <a:spLocks xmlns:a="http://schemas.openxmlformats.org/drawingml/2006/main" noGrp="1"/>
          </p:cNvSpPr>
          <p:nvPr/>
        </p:nvSpPr>
        <p:spPr>
          <a:xfrm xmlns:a="http://schemas.openxmlformats.org/drawingml/2006/main">
            <a:off x="533400" y="1781175"/>
            <a:ext cx="5476875" cy="3638550"/>
          </a:xfrm>
          <a:prstGeom xmlns:a="http://schemas.openxmlformats.org/drawingml/2006/main" prst="roundRect">
            <a:avLst>
              <a:gd name="adj" fmla="val 2094"/>
            </a:avLst>
          </a:prstGeom>
          <a:solidFill xmlns:a="http://schemas.openxmlformats.org/drawingml/2006/main">
            <a:srgbClr val="FBFCFD"/>
          </a:solidFill>
          <a:ln xmlns:a="http://schemas.openxmlformats.org/drawingml/2006/main" w="9525">
            <a:solidFill>
              <a:srgbClr val="D9E1E6"/>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13a9ea94e4634486"/>
          <a:stretch xmlns:a="http://schemas.openxmlformats.org/drawingml/2006/main"/>
        </p:blipFill>
        <p:spPr>
          <a:xfrm xmlns:a="http://schemas.openxmlformats.org/drawingml/2006/main">
            <a:off x="609600" y="2200236"/>
            <a:ext cx="5324475" cy="2800427"/>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6236822-F162-4D91-B40A-025EDB7F4565}"/>
              </a:ext>
            </a:extLst>
          </p:cNvPr>
          <p:cNvSpPr>
            <a:spLocks xmlns:a="http://schemas.openxmlformats.org/drawingml/2006/main" noGrp="1"/>
          </p:cNvSpPr>
          <p:nvPr/>
        </p:nvSpPr>
        <p:spPr>
          <a:xfrm xmlns:a="http://schemas.openxmlformats.org/drawingml/2006/main">
            <a:off x="6181725" y="1781175"/>
            <a:ext cx="5476875" cy="3638550"/>
          </a:xfrm>
          <a:prstGeom xmlns:a="http://schemas.openxmlformats.org/drawingml/2006/main" prst="roundRect">
            <a:avLst>
              <a:gd name="adj" fmla="val 2094"/>
            </a:avLst>
          </a:prstGeom>
          <a:solidFill xmlns:a="http://schemas.openxmlformats.org/drawingml/2006/main">
            <a:srgbClr val="FBFCFD"/>
          </a:solidFill>
          <a:ln xmlns:a="http://schemas.openxmlformats.org/drawingml/2006/main" w="9525">
            <a:solidFill>
              <a:srgbClr val="D9E1E6"/>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5559fe24ab294da0"/>
          <a:stretch xmlns:a="http://schemas.openxmlformats.org/drawingml/2006/main"/>
        </p:blipFill>
        <p:spPr>
          <a:xfrm xmlns:a="http://schemas.openxmlformats.org/drawingml/2006/main">
            <a:off x="6257925" y="2201985"/>
            <a:ext cx="5324475" cy="2796929"/>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D448886-C9A0-4703-B6C9-876399228290}"/>
              </a:ext>
            </a:extLst>
          </p:cNvPr>
          <p:cNvSpPr>
            <a:spLocks xmlns:a="http://schemas.openxmlformats.org/drawingml/2006/main" noGrp="1"/>
          </p:cNvSpPr>
          <p:nvPr/>
        </p:nvSpPr>
        <p:spPr>
          <a:xfrm xmlns:a="http://schemas.openxmlformats.org/drawingml/2006/main">
            <a:off x="704850" y="56197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60707E"/>
                </a:solidFill>
                <a:latin typeface="Malgun Gothic"/>
                <a:ea typeface="Malgun Gothic"/>
                <a:cs typeface="Malgun Gothic"/>
              </a:defRPr>
            </a:pPr>
            <a:r>
              <a:rPr sz="1200" b="1">
                <a:solidFill>
                  <a:srgbClr val="60707E"/>
                </a:solidFill>
                <a:latin typeface="Malgun Gothic"/>
                <a:ea typeface="Malgun Gothic"/>
                <a:cs typeface="Malgun Gothic"/>
              </a:rPr>
              <a:t>Top 10%</a:t>
            </a:r>
          </a:p>
        </p:txBody>
      </p:sp>
      <p:sp>
        <p:nvSpPr>
          <p:cNvPr id="12" name="">
            <a:extLst xmlns:a="http://schemas.openxmlformats.org/drawingml/2006/main">
              <a:ext uri="{FF2B5EF4-FFF2-40B4-BE49-F238E27FC236}">
                <a16:creationId xmlns:a16="http://schemas.microsoft.com/office/drawing/2014/main" id="{911D14DE-D6E6-429B-AD02-5B72F963FEB5}"/>
              </a:ext>
            </a:extLst>
          </p:cNvPr>
          <p:cNvSpPr>
            <a:spLocks xmlns:a="http://schemas.openxmlformats.org/drawingml/2006/main" noGrp="1"/>
          </p:cNvSpPr>
          <p:nvPr/>
        </p:nvSpPr>
        <p:spPr>
          <a:xfrm xmlns:a="http://schemas.openxmlformats.org/drawingml/2006/main">
            <a:off x="1943100" y="5572125"/>
            <a:ext cx="2952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8847A"/>
                </a:solidFill>
                <a:latin typeface="Malgun Gothic"/>
                <a:ea typeface="Malgun Gothic"/>
                <a:cs typeface="Malgun Gothic"/>
              </a:defRPr>
            </a:pPr>
            <a:r>
              <a:rPr sz="1500" b="1">
                <a:solidFill>
                  <a:srgbClr val="18847A"/>
                </a:solidFill>
                <a:latin typeface="Malgun Gothic"/>
                <a:ea typeface="Malgun Gothic"/>
                <a:cs typeface="Malgun Gothic"/>
              </a:rPr>
              <a:t>Capture 19.48% · Lift 1.95</a:t>
            </a:r>
          </a:p>
        </p:txBody>
      </p:sp>
      <p:sp>
        <p:nvSpPr>
          <p:cNvPr id="13" name="">
            <a:extLst xmlns:a="http://schemas.openxmlformats.org/drawingml/2006/main">
              <a:ext uri="{FF2B5EF4-FFF2-40B4-BE49-F238E27FC236}">
                <a16:creationId xmlns:a16="http://schemas.microsoft.com/office/drawing/2014/main" id="{DF97D1BF-B2EA-466E-8418-C73E7B22CB8C}"/>
              </a:ext>
            </a:extLst>
          </p:cNvPr>
          <p:cNvSpPr>
            <a:spLocks xmlns:a="http://schemas.openxmlformats.org/drawingml/2006/main" noGrp="1"/>
          </p:cNvSpPr>
          <p:nvPr/>
        </p:nvSpPr>
        <p:spPr>
          <a:xfrm xmlns:a="http://schemas.openxmlformats.org/drawingml/2006/main">
            <a:off x="6296025" y="56197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60707E"/>
                </a:solidFill>
                <a:latin typeface="Malgun Gothic"/>
                <a:ea typeface="Malgun Gothic"/>
                <a:cs typeface="Malgun Gothic"/>
              </a:defRPr>
            </a:pPr>
            <a:r>
              <a:rPr sz="1200" b="1">
                <a:solidFill>
                  <a:srgbClr val="60707E"/>
                </a:solidFill>
                <a:latin typeface="Malgun Gothic"/>
                <a:ea typeface="Malgun Gothic"/>
                <a:cs typeface="Malgun Gothic"/>
              </a:rPr>
              <a:t>Top 30%</a:t>
            </a:r>
          </a:p>
        </p:txBody>
      </p:sp>
      <p:sp>
        <p:nvSpPr>
          <p:cNvPr id="14" name="">
            <a:extLst xmlns:a="http://schemas.openxmlformats.org/drawingml/2006/main">
              <a:ext uri="{FF2B5EF4-FFF2-40B4-BE49-F238E27FC236}">
                <a16:creationId xmlns:a16="http://schemas.microsoft.com/office/drawing/2014/main" id="{4CBE298B-D3D8-4164-BEA5-BD3888FA8DE5}"/>
              </a:ext>
            </a:extLst>
          </p:cNvPr>
          <p:cNvSpPr>
            <a:spLocks xmlns:a="http://schemas.openxmlformats.org/drawingml/2006/main" noGrp="1"/>
          </p:cNvSpPr>
          <p:nvPr/>
        </p:nvSpPr>
        <p:spPr>
          <a:xfrm xmlns:a="http://schemas.openxmlformats.org/drawingml/2006/main">
            <a:off x="7534275" y="5572125"/>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7354B"/>
                </a:solidFill>
                <a:latin typeface="Malgun Gothic"/>
                <a:ea typeface="Malgun Gothic"/>
                <a:cs typeface="Malgun Gothic"/>
              </a:defRPr>
            </a:pPr>
            <a:r>
              <a:rPr sz="1500" b="1">
                <a:solidFill>
                  <a:srgbClr val="17354B"/>
                </a:solidFill>
                <a:latin typeface="Malgun Gothic"/>
                <a:ea typeface="Malgun Gothic"/>
                <a:cs typeface="Malgun Gothic"/>
              </a:rPr>
              <a:t>Capture 56.81% · Lift 1.89</a:t>
            </a:r>
          </a:p>
        </p:txBody>
      </p:sp>
      <p:sp>
        <p:nvSpPr>
          <p:cNvPr id="15" name="">
            <a:extLst xmlns:a="http://schemas.openxmlformats.org/drawingml/2006/main">
              <a:ext uri="{FF2B5EF4-FFF2-40B4-BE49-F238E27FC236}">
                <a16:creationId xmlns:a16="http://schemas.microsoft.com/office/drawing/2014/main" id="{6F81D83C-A796-47DA-A995-3550387853C6}"/>
              </a:ext>
            </a:extLst>
          </p:cNvPr>
          <p:cNvSpPr>
            <a:spLocks xmlns:a="http://schemas.openxmlformats.org/drawingml/2006/main" noGrp="1"/>
          </p:cNvSpPr>
          <p:nvPr/>
        </p:nvSpPr>
        <p:spPr>
          <a:xfrm xmlns:a="http://schemas.openxmlformats.org/drawingml/2006/main">
            <a:off x="533400" y="6200775"/>
            <a:ext cx="10572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근거: 14_topk_capture_lift.csv · 15_risk_decile.csv</a:t>
            </a:r>
          </a:p>
        </p:txBody>
      </p:sp>
    </p:spTree>
    <p:extLst>
      <p:ext uri="{BB962C8B-B14F-4D97-AF65-F5344CB8AC3E}">
        <p14:creationId xmlns:p14="http://schemas.microsoft.com/office/powerpoint/2010/main" val="114480834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4DA05FE-CBFF-4B73-9290-84791EFB2AD7}"/>
              </a:ext>
            </a:extLst>
          </p:cNvPr>
          <p:cNvSpPr>
            <a:spLocks xmlns:a="http://schemas.openxmlformats.org/drawingml/2006/main" noGrp="1"/>
          </p:cNvSpPr>
          <p:nvPr/>
        </p:nvSpPr>
        <p:spPr>
          <a:xfrm xmlns:a="http://schemas.openxmlformats.org/drawingml/2006/main">
            <a:off x="533400" y="1524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E85E43"/>
                </a:solidFill>
                <a:latin typeface="Malgun Gothic"/>
                <a:ea typeface="Malgun Gothic"/>
                <a:cs typeface="Malgun Gothic"/>
              </a:defRPr>
            </a:pPr>
            <a:r>
              <a:rPr sz="900" b="1">
                <a:solidFill>
                  <a:srgbClr val="E85E43"/>
                </a:solidFill>
                <a:latin typeface="Malgun Gothic"/>
                <a:ea typeface="Malgun Gothic"/>
                <a:cs typeface="Malgun Gothic"/>
              </a:rPr>
              <a:t>PRODUCT WORKFLOW</a:t>
            </a:r>
          </a:p>
        </p:txBody>
      </p:sp>
      <p:sp>
        <p:nvSpPr>
          <p:cNvPr id="2" name="">
            <a:extLst xmlns:a="http://schemas.openxmlformats.org/drawingml/2006/main">
              <a:ext uri="{FF2B5EF4-FFF2-40B4-BE49-F238E27FC236}">
                <a16:creationId xmlns:a16="http://schemas.microsoft.com/office/drawing/2014/main" id="{7237AA14-4C8E-4E51-910F-36E86FE3301D}"/>
              </a:ext>
            </a:extLst>
          </p:cNvPr>
          <p:cNvSpPr>
            <a:spLocks xmlns:a="http://schemas.openxmlformats.org/drawingml/2006/main" noGrp="1"/>
          </p:cNvSpPr>
          <p:nvPr/>
        </p:nvSpPr>
        <p:spPr>
          <a:xfrm xmlns:a="http://schemas.openxmlformats.org/drawingml/2006/main">
            <a:off x="533400" y="419100"/>
            <a:ext cx="1104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850" b="1">
                <a:solidFill>
                  <a:srgbClr val="17212B"/>
                </a:solidFill>
                <a:latin typeface="Malgun Gothic"/>
                <a:ea typeface="Malgun Gothic"/>
                <a:cs typeface="Malgun Gothic"/>
              </a:defRPr>
            </a:pPr>
            <a:r>
              <a:rPr sz="2850" b="1">
                <a:solidFill>
                  <a:srgbClr val="17212B"/>
                </a:solidFill>
                <a:latin typeface="Malgun Gothic"/>
                <a:ea typeface="Malgun Gothic"/>
                <a:cs typeface="Malgun Gothic"/>
              </a:rPr>
              <a:t>Streamlit은 분석에서 고객 검토까지 한 흐름으로 연결합니다</a:t>
            </a:r>
          </a:p>
        </p:txBody>
      </p:sp>
      <p:sp>
        <p:nvSpPr>
          <p:cNvPr id="3" name="">
            <a:extLst xmlns:a="http://schemas.openxmlformats.org/drawingml/2006/main">
              <a:ext uri="{FF2B5EF4-FFF2-40B4-BE49-F238E27FC236}">
                <a16:creationId xmlns:a16="http://schemas.microsoft.com/office/drawing/2014/main" id="{CEBF2604-5956-4604-9EFF-F4440E56DB76}"/>
              </a:ext>
            </a:extLst>
          </p:cNvPr>
          <p:cNvSpPr>
            <a:spLocks xmlns:a="http://schemas.openxmlformats.org/drawingml/2006/main" noGrp="1"/>
          </p:cNvSpPr>
          <p:nvPr/>
        </p:nvSpPr>
        <p:spPr>
          <a:xfrm xmlns:a="http://schemas.openxmlformats.org/drawingml/2006/main">
            <a:off x="533400" y="14573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60707E"/>
                </a:solidFill>
                <a:latin typeface="Malgun Gothic"/>
                <a:ea typeface="Malgun Gothic"/>
                <a:cs typeface="Malgun Gothic"/>
              </a:defRPr>
            </a:pPr>
            <a:r>
              <a:rPr sz="1200" b="0">
                <a:solidFill>
                  <a:srgbClr val="60707E"/>
                </a:solidFill>
                <a:latin typeface="Malgun Gothic"/>
                <a:ea typeface="Malgun Gothic"/>
                <a:cs typeface="Malgun Gothic"/>
              </a:rPr>
              <a:t>위험 신호·추천 행동·가정 기반 계획을 실제 화면에서 확인하고 사람이 결정한다</a:t>
            </a:r>
          </a:p>
        </p:txBody>
      </p:sp>
      <p:sp>
        <p:nvSpPr>
          <p:cNvPr id="4" name="">
            <a:extLst xmlns:a="http://schemas.openxmlformats.org/drawingml/2006/main">
              <a:ext uri="{FF2B5EF4-FFF2-40B4-BE49-F238E27FC236}">
                <a16:creationId xmlns:a16="http://schemas.microsoft.com/office/drawing/2014/main" id="{DB2DB6FF-225D-4854-B0BC-1158BD0DE732}"/>
              </a:ext>
            </a:extLst>
          </p:cNvPr>
          <p:cNvSpPr>
            <a:spLocks xmlns:a="http://schemas.openxmlformats.org/drawingml/2006/main" noGrp="1"/>
          </p:cNvSpPr>
          <p:nvPr/>
        </p:nvSpPr>
        <p:spPr>
          <a:xfrm xmlns:a="http://schemas.openxmlformats.org/drawingml/2006/main">
            <a:off x="533400" y="6438900"/>
            <a:ext cx="11125200" cy="9525"/>
          </a:xfrm>
          <a:prstGeom xmlns:a="http://schemas.openxmlformats.org/drawingml/2006/main" prst="rect">
            <a:avLst/>
          </a:prstGeom>
          <a:solidFill xmlns:a="http://schemas.openxmlformats.org/drawingml/2006/main">
            <a:srgbClr val="D9E1E6"/>
          </a:solidFill>
          <a:ln xmlns:a="http://schemas.openxmlformats.org/drawingml/2006/main" w="0">
            <a:solidFill>
              <a:srgbClr val="D9E1E6"/>
            </a:solidFill>
            <a:prstDash val="solid"/>
          </a:ln>
        </p:spPr>
      </p:sp>
      <p:sp>
        <p:nvSpPr>
          <p:cNvPr id="5" name="">
            <a:extLst xmlns:a="http://schemas.openxmlformats.org/drawingml/2006/main">
              <a:ext uri="{FF2B5EF4-FFF2-40B4-BE49-F238E27FC236}">
                <a16:creationId xmlns:a16="http://schemas.microsoft.com/office/drawing/2014/main" id="{4F38766C-3C46-46A1-B83E-E27FD3E3C0E8}"/>
              </a:ext>
            </a:extLst>
          </p:cNvPr>
          <p:cNvSpPr>
            <a:spLocks xmlns:a="http://schemas.openxmlformats.org/drawingml/2006/main" noGrp="1"/>
          </p:cNvSpPr>
          <p:nvPr/>
        </p:nvSpPr>
        <p:spPr>
          <a:xfrm xmlns:a="http://schemas.openxmlformats.org/drawingml/2006/main">
            <a:off x="533400" y="6534150"/>
            <a:ext cx="5334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PlaylistPro · Retention Decision Support</a:t>
            </a:r>
          </a:p>
        </p:txBody>
      </p:sp>
      <p:sp>
        <p:nvSpPr>
          <p:cNvPr id="6" name="">
            <a:extLst xmlns:a="http://schemas.openxmlformats.org/drawingml/2006/main">
              <a:ext uri="{FF2B5EF4-FFF2-40B4-BE49-F238E27FC236}">
                <a16:creationId xmlns:a16="http://schemas.microsoft.com/office/drawing/2014/main" id="{C5330836-DDF9-4A0C-B870-6EF62611B30B}"/>
              </a:ext>
            </a:extLst>
          </p:cNvPr>
          <p:cNvSpPr>
            <a:spLocks xmlns:a="http://schemas.openxmlformats.org/drawingml/2006/main" noGrp="1"/>
          </p:cNvSpPr>
          <p:nvPr/>
        </p:nvSpPr>
        <p:spPr>
          <a:xfrm xmlns:a="http://schemas.openxmlformats.org/drawingml/2006/main">
            <a:off x="11239500" y="65151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60707E"/>
                </a:solidFill>
                <a:latin typeface="Malgun Gothic"/>
                <a:ea typeface="Malgun Gothic"/>
                <a:cs typeface="Malgun Gothic"/>
              </a:defRPr>
            </a:pPr>
            <a:r>
              <a:rPr sz="825" b="1">
                <a:solidFill>
                  <a:srgbClr val="60707E"/>
                </a:solidFill>
                <a:latin typeface="Malgun Gothic"/>
                <a:ea typeface="Malgun Gothic"/>
                <a:cs typeface="Malgun Gothic"/>
              </a:rPr>
              <a:t>12</a:t>
            </a:r>
          </a:p>
        </p:txBody>
      </p:sp>
      <p:sp>
        <p:nvSpPr>
          <p:cNvPr id="7" name="">
            <a:extLst xmlns:a="http://schemas.openxmlformats.org/drawingml/2006/main">
              <a:ext uri="{FF2B5EF4-FFF2-40B4-BE49-F238E27FC236}">
                <a16:creationId xmlns:a16="http://schemas.microsoft.com/office/drawing/2014/main" id="{4251809A-6AE5-4B12-92CC-A3B650DF8F15}"/>
              </a:ext>
            </a:extLst>
          </p:cNvPr>
          <p:cNvSpPr>
            <a:spLocks xmlns:a="http://schemas.openxmlformats.org/drawingml/2006/main" noGrp="1"/>
          </p:cNvSpPr>
          <p:nvPr/>
        </p:nvSpPr>
        <p:spPr>
          <a:xfrm xmlns:a="http://schemas.openxmlformats.org/drawingml/2006/main">
            <a:off x="533400" y="1790700"/>
            <a:ext cx="5429250" cy="3733800"/>
          </a:xfrm>
          <a:prstGeom xmlns:a="http://schemas.openxmlformats.org/drawingml/2006/main" prst="roundRect">
            <a:avLst>
              <a:gd name="adj" fmla="val 2041"/>
            </a:avLst>
          </a:prstGeom>
          <a:solidFill xmlns:a="http://schemas.openxmlformats.org/drawingml/2006/main">
            <a:srgbClr val="FBFCFD"/>
          </a:solidFill>
          <a:ln xmlns:a="http://schemas.openxmlformats.org/drawingml/2006/main" w="9525">
            <a:solidFill>
              <a:srgbClr val="D9E1E6"/>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4aa52248f194ec0"/>
          <a:srcRect xmlns:a="http://schemas.openxmlformats.org/drawingml/2006/main" l="0" t="0" r="0" b="0"/>
          <a:stretch xmlns:a="http://schemas.openxmlformats.org/drawingml/2006/main"/>
        </p:blipFill>
        <p:spPr>
          <a:xfrm xmlns:a="http://schemas.openxmlformats.org/drawingml/2006/main" flipH="0" flipV="0">
            <a:off x="609600" y="2125240"/>
            <a:ext cx="5276850" cy="306472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44B0BC0-1DE3-4B00-B805-38757568597C}"/>
              </a:ext>
            </a:extLst>
          </p:cNvPr>
          <p:cNvSpPr>
            <a:spLocks xmlns:a="http://schemas.openxmlformats.org/drawingml/2006/main" noGrp="1"/>
          </p:cNvSpPr>
          <p:nvPr/>
        </p:nvSpPr>
        <p:spPr>
          <a:xfrm xmlns:a="http://schemas.openxmlformats.org/drawingml/2006/main">
            <a:off x="6229350" y="1790700"/>
            <a:ext cx="5429250" cy="3733800"/>
          </a:xfrm>
          <a:prstGeom xmlns:a="http://schemas.openxmlformats.org/drawingml/2006/main" prst="roundRect">
            <a:avLst>
              <a:gd name="adj" fmla="val 2041"/>
            </a:avLst>
          </a:prstGeom>
          <a:solidFill xmlns:a="http://schemas.openxmlformats.org/drawingml/2006/main">
            <a:srgbClr val="FBFCFD"/>
          </a:solidFill>
          <a:ln xmlns:a="http://schemas.openxmlformats.org/drawingml/2006/main" w="9525">
            <a:solidFill>
              <a:srgbClr val="D9E1E6"/>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04255d1745674c34"/>
          <a:srcRect xmlns:a="http://schemas.openxmlformats.org/drawingml/2006/main" l="0" t="0" r="0" b="0"/>
          <a:stretch xmlns:a="http://schemas.openxmlformats.org/drawingml/2006/main"/>
        </p:blipFill>
        <p:spPr>
          <a:xfrm xmlns:a="http://schemas.openxmlformats.org/drawingml/2006/main" flipH="0" flipV="0">
            <a:off x="6317724" y="1866900"/>
            <a:ext cx="5252502" cy="35814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AF76802-B6E1-4126-B499-0F85362B3950}"/>
              </a:ext>
            </a:extLst>
          </p:cNvPr>
          <p:cNvSpPr>
            <a:spLocks xmlns:a="http://schemas.openxmlformats.org/drawingml/2006/main" noGrp="1"/>
          </p:cNvSpPr>
          <p:nvPr/>
        </p:nvSpPr>
        <p:spPr>
          <a:xfrm xmlns:a="http://schemas.openxmlformats.org/drawingml/2006/main">
            <a:off x="533400" y="5695950"/>
            <a:ext cx="542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E85E43"/>
                </a:solidFill>
                <a:latin typeface="Malgun Gothic"/>
                <a:ea typeface="Malgun Gothic"/>
                <a:cs typeface="Malgun Gothic"/>
              </a:defRPr>
            </a:pPr>
            <a:r>
              <a:rPr sz="1200" b="1">
                <a:solidFill>
                  <a:srgbClr val="E85E43"/>
                </a:solidFill>
                <a:latin typeface="Malgun Gothic"/>
                <a:ea typeface="Malgun Gothic"/>
                <a:cs typeface="Malgun Gothic"/>
              </a:rPr>
              <a:t>고객별 위험 신호 · 추천 행동 · 운영 단계</a:t>
            </a:r>
          </a:p>
        </p:txBody>
      </p:sp>
      <p:sp>
        <p:nvSpPr>
          <p:cNvPr id="12" name="">
            <a:extLst xmlns:a="http://schemas.openxmlformats.org/drawingml/2006/main">
              <a:ext uri="{FF2B5EF4-FFF2-40B4-BE49-F238E27FC236}">
                <a16:creationId xmlns:a16="http://schemas.microsoft.com/office/drawing/2014/main" id="{C236EB30-743F-4DFE-8794-D54CF757B780}"/>
              </a:ext>
            </a:extLst>
          </p:cNvPr>
          <p:cNvSpPr>
            <a:spLocks xmlns:a="http://schemas.openxmlformats.org/drawingml/2006/main" noGrp="1"/>
          </p:cNvSpPr>
          <p:nvPr/>
        </p:nvSpPr>
        <p:spPr>
          <a:xfrm xmlns:a="http://schemas.openxmlformats.org/drawingml/2006/main">
            <a:off x="6229350" y="5695950"/>
            <a:ext cx="542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17354B"/>
                </a:solidFill>
                <a:latin typeface="Malgun Gothic"/>
                <a:ea typeface="Malgun Gothic"/>
                <a:cs typeface="Malgun Gothic"/>
              </a:defRPr>
            </a:pPr>
            <a:r>
              <a:rPr sz="1200" b="1">
                <a:solidFill>
                  <a:srgbClr val="17354B"/>
                </a:solidFill>
                <a:latin typeface="Malgun Gothic"/>
                <a:ea typeface="Malgun Gothic"/>
                <a:cs typeface="Malgun Gothic"/>
              </a:rPr>
              <a:t>구독 유형별 접촉비용 · 고객가치 계획 가정</a:t>
            </a:r>
          </a:p>
        </p:txBody>
      </p:sp>
      <p:sp>
        <p:nvSpPr>
          <p:cNvPr id="13" name="">
            <a:extLst xmlns:a="http://schemas.openxmlformats.org/drawingml/2006/main">
              <a:ext uri="{FF2B5EF4-FFF2-40B4-BE49-F238E27FC236}">
                <a16:creationId xmlns:a16="http://schemas.microsoft.com/office/drawing/2014/main" id="{38403B42-97A3-4861-B816-B6DD817BF33D}"/>
              </a:ext>
            </a:extLst>
          </p:cNvPr>
          <p:cNvSpPr>
            <a:spLocks xmlns:a="http://schemas.openxmlformats.org/drawingml/2006/main" noGrp="1"/>
          </p:cNvSpPr>
          <p:nvPr/>
        </p:nvSpPr>
        <p:spPr>
          <a:xfrm xmlns:a="http://schemas.openxmlformats.org/drawingml/2006/main">
            <a:off x="533400" y="6200775"/>
            <a:ext cx="10572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a:solidFill>
                  <a:srgbClr val="60707E"/>
                </a:solidFill>
                <a:latin typeface="Malgun Gothic"/>
                <a:ea typeface="Malgun Gothic"/>
                <a:cs typeface="Malgun Gothic"/>
              </a:defRPr>
            </a:pPr>
            <a:r>
              <a:rPr sz="750" b="0">
                <a:solidFill>
                  <a:srgbClr val="60707E"/>
                </a:solidFill>
                <a:latin typeface="Malgun Gothic"/>
                <a:ea typeface="Malgun Gothic"/>
                <a:cs typeface="Malgun Gothic"/>
              </a:rPr>
              <a:t>근거: app/streamlit_app.py · src/retention_strategy.py · 실제 앱 캡처</a:t>
            </a:r>
          </a:p>
        </p:txBody>
      </p:sp>
    </p:spTree>
    <p:extLst>
      <p:ext uri="{BB962C8B-B14F-4D97-AF65-F5344CB8AC3E}">
        <p14:creationId xmlns:p14="http://schemas.microsoft.com/office/powerpoint/2010/main" val="1244218099"/>
      </p:ext>
    </p:extLst>
  </p:cSld>
</p:sld>
</file>

<file path=ppt/slides/slide13.xml><?xml version="1.0" encoding="utf-8"?>
<p:sld xmlns:p="http://schemas.openxmlformats.org/presentationml/2006/main">
  <p:cSld>
    <p:bg>
      <p:bgPr>
        <a:solidFill xmlns:a="http://schemas.openxmlformats.org/drawingml/2006/main">
          <a:srgbClr val="17354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49F7059-402E-4FD9-9DDE-D9D681A163DC}"/>
              </a:ext>
            </a:extLst>
          </p:cNvPr>
          <p:cNvSpPr>
            <a:spLocks xmlns:a="http://schemas.openxmlformats.org/drawingml/2006/main" noGrp="1"/>
          </p:cNvSpPr>
          <p:nvPr/>
        </p:nvSpPr>
        <p:spPr>
          <a:xfrm xmlns:a="http://schemas.openxmlformats.org/drawingml/2006/main">
            <a:off x="533400" y="3619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F6A28F"/>
                </a:solidFill>
                <a:latin typeface="Malgun Gothic"/>
                <a:ea typeface="Malgun Gothic"/>
                <a:cs typeface="Malgun Gothic"/>
              </a:defRPr>
            </a:pPr>
            <a:r>
              <a:rPr sz="900" b="1">
                <a:solidFill>
                  <a:srgbClr val="F6A28F"/>
                </a:solidFill>
                <a:latin typeface="Malgun Gothic"/>
                <a:ea typeface="Malgun Gothic"/>
                <a:cs typeface="Malgun Gothic"/>
              </a:rPr>
              <a:t>NEXT DECISION</a:t>
            </a:r>
          </a:p>
        </p:txBody>
      </p:sp>
      <p:sp>
        <p:nvSpPr>
          <p:cNvPr id="2" name="">
            <a:extLst xmlns:a="http://schemas.openxmlformats.org/drawingml/2006/main">
              <a:ext uri="{FF2B5EF4-FFF2-40B4-BE49-F238E27FC236}">
                <a16:creationId xmlns:a16="http://schemas.microsoft.com/office/drawing/2014/main" id="{09838DC5-CF34-4166-97F3-31F8D6990799}"/>
              </a:ext>
            </a:extLst>
          </p:cNvPr>
          <p:cNvSpPr>
            <a:spLocks xmlns:a="http://schemas.openxmlformats.org/drawingml/2006/main" noGrp="1"/>
          </p:cNvSpPr>
          <p:nvPr/>
        </p:nvSpPr>
        <p:spPr>
          <a:xfrm xmlns:a="http://schemas.openxmlformats.org/drawingml/2006/main">
            <a:off x="533400" y="80962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현재는 의사결정 준비 단계이며 효과 입증은 다음 단계입니다</a:t>
            </a:r>
          </a:p>
        </p:txBody>
      </p:sp>
      <p:sp>
        <p:nvSpPr>
          <p:cNvPr id="3" name="">
            <a:extLst xmlns:a="http://schemas.openxmlformats.org/drawingml/2006/main">
              <a:ext uri="{FF2B5EF4-FFF2-40B4-BE49-F238E27FC236}">
                <a16:creationId xmlns:a16="http://schemas.microsoft.com/office/drawing/2014/main" id="{F94D1D48-B8D2-46D6-B147-483757BCE5B9}"/>
              </a:ext>
            </a:extLst>
          </p:cNvPr>
          <p:cNvSpPr>
            <a:spLocks xmlns:a="http://schemas.openxmlformats.org/drawingml/2006/main" noGrp="1"/>
          </p:cNvSpPr>
          <p:nvPr/>
        </p:nvSpPr>
        <p:spPr>
          <a:xfrm xmlns:a="http://schemas.openxmlformats.org/drawingml/2006/main">
            <a:off x="533400" y="1533525"/>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D9E5EC"/>
                </a:solidFill>
                <a:latin typeface="Malgun Gothic"/>
                <a:ea typeface="Malgun Gothic"/>
                <a:cs typeface="Malgun Gothic"/>
              </a:defRPr>
            </a:pPr>
            <a:r>
              <a:rPr sz="1350" b="0">
                <a:solidFill>
                  <a:srgbClr val="D9E5EC"/>
                </a:solidFill>
                <a:latin typeface="Malgun Gothic"/>
                <a:ea typeface="Malgun Gothic"/>
                <a:cs typeface="Malgun Gothic"/>
              </a:rPr>
              <a:t>실제 미래 라벨 Holdout과 행동 A/B 테스트가 있어야 이탈 감소와 ROI를 말할 수 있습니다.</a:t>
            </a:r>
          </a:p>
        </p:txBody>
      </p:sp>
      <p:sp>
        <p:nvSpPr>
          <p:cNvPr id="4" name="">
            <a:extLst xmlns:a="http://schemas.openxmlformats.org/drawingml/2006/main">
              <a:ext uri="{FF2B5EF4-FFF2-40B4-BE49-F238E27FC236}">
                <a16:creationId xmlns:a16="http://schemas.microsoft.com/office/drawing/2014/main" id="{CE8A1829-54FD-410D-B055-00B96AC3D15B}"/>
              </a:ext>
            </a:extLst>
          </p:cNvPr>
          <p:cNvSpPr>
            <a:spLocks xmlns:a="http://schemas.openxmlformats.org/drawingml/2006/main" noGrp="1"/>
          </p:cNvSpPr>
          <p:nvPr/>
        </p:nvSpPr>
        <p:spPr>
          <a:xfrm xmlns:a="http://schemas.openxmlformats.org/drawingml/2006/main">
            <a:off x="533400" y="2476500"/>
            <a:ext cx="2381250" cy="28575"/>
          </a:xfrm>
          <a:prstGeom xmlns:a="http://schemas.openxmlformats.org/drawingml/2006/main" prst="rect">
            <a:avLst/>
          </a:prstGeom>
          <a:solidFill xmlns:a="http://schemas.openxmlformats.org/drawingml/2006/main">
            <a:srgbClr val="6E8797"/>
          </a:solidFill>
          <a:ln xmlns:a="http://schemas.openxmlformats.org/drawingml/2006/main" w="0">
            <a:solidFill>
              <a:srgbClr val="6E8797"/>
            </a:solidFill>
            <a:prstDash val="solid"/>
          </a:ln>
        </p:spPr>
      </p:sp>
      <p:sp>
        <p:nvSpPr>
          <p:cNvPr id="5" name="">
            <a:extLst xmlns:a="http://schemas.openxmlformats.org/drawingml/2006/main">
              <a:ext uri="{FF2B5EF4-FFF2-40B4-BE49-F238E27FC236}">
                <a16:creationId xmlns:a16="http://schemas.microsoft.com/office/drawing/2014/main" id="{190F5C3B-4F2D-44CC-A087-10E6BA256922}"/>
              </a:ext>
            </a:extLst>
          </p:cNvPr>
          <p:cNvSpPr>
            <a:spLocks xmlns:a="http://schemas.openxmlformats.org/drawingml/2006/main" noGrp="1"/>
          </p:cNvSpPr>
          <p:nvPr/>
        </p:nvSpPr>
        <p:spPr>
          <a:xfrm xmlns:a="http://schemas.openxmlformats.org/drawingml/2006/main">
            <a:off x="533400" y="26670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F6A28F"/>
                </a:solidFill>
                <a:latin typeface="Malgun Gothic"/>
                <a:ea typeface="Malgun Gothic"/>
                <a:cs typeface="Malgun Gothic"/>
              </a:defRPr>
            </a:pPr>
            <a:r>
              <a:rPr sz="1200" b="1">
                <a:solidFill>
                  <a:srgbClr val="F6A28F"/>
                </a:solidFill>
                <a:latin typeface="Malgun Gothic"/>
                <a:ea typeface="Malgun Gothic"/>
                <a:cs typeface="Malgun Gothic"/>
              </a:rPr>
              <a:t>01</a:t>
            </a:r>
          </a:p>
        </p:txBody>
      </p:sp>
      <p:sp>
        <p:nvSpPr>
          <p:cNvPr id="6" name="">
            <a:extLst xmlns:a="http://schemas.openxmlformats.org/drawingml/2006/main">
              <a:ext uri="{FF2B5EF4-FFF2-40B4-BE49-F238E27FC236}">
                <a16:creationId xmlns:a16="http://schemas.microsoft.com/office/drawing/2014/main" id="{7645441E-D30A-495D-85C0-27160A5C1719}"/>
              </a:ext>
            </a:extLst>
          </p:cNvPr>
          <p:cNvSpPr>
            <a:spLocks xmlns:a="http://schemas.openxmlformats.org/drawingml/2006/main" noGrp="1"/>
          </p:cNvSpPr>
          <p:nvPr/>
        </p:nvSpPr>
        <p:spPr>
          <a:xfrm xmlns:a="http://schemas.openxmlformats.org/drawingml/2006/main">
            <a:off x="533400" y="31051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시간 기반 라벨</a:t>
            </a:r>
          </a:p>
        </p:txBody>
      </p:sp>
      <p:sp>
        <p:nvSpPr>
          <p:cNvPr id="7" name="">
            <a:extLst xmlns:a="http://schemas.openxmlformats.org/drawingml/2006/main">
              <a:ext uri="{FF2B5EF4-FFF2-40B4-BE49-F238E27FC236}">
                <a16:creationId xmlns:a16="http://schemas.microsoft.com/office/drawing/2014/main" id="{51DDC74E-1C05-4C28-8AF4-56C9728C6912}"/>
              </a:ext>
            </a:extLst>
          </p:cNvPr>
          <p:cNvSpPr>
            <a:spLocks xmlns:a="http://schemas.openxmlformats.org/drawingml/2006/main" noGrp="1"/>
          </p:cNvSpPr>
          <p:nvPr/>
        </p:nvSpPr>
        <p:spPr>
          <a:xfrm xmlns:a="http://schemas.openxmlformats.org/drawingml/2006/main">
            <a:off x="533400" y="3600450"/>
            <a:ext cx="228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a:solidFill>
                  <a:srgbClr val="D9E5EC"/>
                </a:solidFill>
                <a:latin typeface="Malgun Gothic"/>
                <a:ea typeface="Malgun Gothic"/>
                <a:cs typeface="Malgun Gothic"/>
              </a:defRPr>
            </a:pPr>
            <a:r>
              <a:rPr sz="1125" b="0">
                <a:solidFill>
                  <a:srgbClr val="D9E5EC"/>
                </a:solidFill>
                <a:latin typeface="Malgun Gothic"/>
                <a:ea typeface="Malgun Gothic"/>
                <a:cs typeface="Malgun Gothic"/>
              </a:rPr>
              <a:t>관찰 시점과 미래 이탈 시점을 분리</a:t>
            </a:r>
          </a:p>
        </p:txBody>
      </p:sp>
      <p:sp>
        <p:nvSpPr>
          <p:cNvPr id="8" name="">
            <a:extLst xmlns:a="http://schemas.openxmlformats.org/drawingml/2006/main">
              <a:ext uri="{FF2B5EF4-FFF2-40B4-BE49-F238E27FC236}">
                <a16:creationId xmlns:a16="http://schemas.microsoft.com/office/drawing/2014/main" id="{778731F4-E986-4837-9989-5FBFE4A7BE1D}"/>
              </a:ext>
            </a:extLst>
          </p:cNvPr>
          <p:cNvSpPr>
            <a:spLocks xmlns:a="http://schemas.openxmlformats.org/drawingml/2006/main" noGrp="1"/>
          </p:cNvSpPr>
          <p:nvPr/>
        </p:nvSpPr>
        <p:spPr>
          <a:xfrm xmlns:a="http://schemas.openxmlformats.org/drawingml/2006/main">
            <a:off x="3314700" y="2476500"/>
            <a:ext cx="2381250" cy="28575"/>
          </a:xfrm>
          <a:prstGeom xmlns:a="http://schemas.openxmlformats.org/drawingml/2006/main" prst="rect">
            <a:avLst/>
          </a:prstGeom>
          <a:solidFill xmlns:a="http://schemas.openxmlformats.org/drawingml/2006/main">
            <a:srgbClr val="6E8797"/>
          </a:solidFill>
          <a:ln xmlns:a="http://schemas.openxmlformats.org/drawingml/2006/main" w="0">
            <a:solidFill>
              <a:srgbClr val="6E8797"/>
            </a:solidFill>
            <a:prstDash val="solid"/>
          </a:ln>
        </p:spPr>
      </p:sp>
      <p:sp>
        <p:nvSpPr>
          <p:cNvPr id="9" name="">
            <a:extLst xmlns:a="http://schemas.openxmlformats.org/drawingml/2006/main">
              <a:ext uri="{FF2B5EF4-FFF2-40B4-BE49-F238E27FC236}">
                <a16:creationId xmlns:a16="http://schemas.microsoft.com/office/drawing/2014/main" id="{A5A70360-AFB7-47EB-A5DB-74F38C42A41E}"/>
              </a:ext>
            </a:extLst>
          </p:cNvPr>
          <p:cNvSpPr>
            <a:spLocks xmlns:a="http://schemas.openxmlformats.org/drawingml/2006/main" noGrp="1"/>
          </p:cNvSpPr>
          <p:nvPr/>
        </p:nvSpPr>
        <p:spPr>
          <a:xfrm xmlns:a="http://schemas.openxmlformats.org/drawingml/2006/main">
            <a:off x="3314700" y="26670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F6A28F"/>
                </a:solidFill>
                <a:latin typeface="Malgun Gothic"/>
                <a:ea typeface="Malgun Gothic"/>
                <a:cs typeface="Malgun Gothic"/>
              </a:defRPr>
            </a:pPr>
            <a:r>
              <a:rPr sz="1200" b="1">
                <a:solidFill>
                  <a:srgbClr val="F6A28F"/>
                </a:solidFill>
                <a:latin typeface="Malgun Gothic"/>
                <a:ea typeface="Malgun Gothic"/>
                <a:cs typeface="Malgun Gothic"/>
              </a:rPr>
              <a:t>02</a:t>
            </a:r>
          </a:p>
        </p:txBody>
      </p:sp>
      <p:sp>
        <p:nvSpPr>
          <p:cNvPr id="10" name="">
            <a:extLst xmlns:a="http://schemas.openxmlformats.org/drawingml/2006/main">
              <a:ext uri="{FF2B5EF4-FFF2-40B4-BE49-F238E27FC236}">
                <a16:creationId xmlns:a16="http://schemas.microsoft.com/office/drawing/2014/main" id="{A8DEC988-E150-42D5-BEBA-6E26A750730A}"/>
              </a:ext>
            </a:extLst>
          </p:cNvPr>
          <p:cNvSpPr>
            <a:spLocks xmlns:a="http://schemas.openxmlformats.org/drawingml/2006/main" noGrp="1"/>
          </p:cNvSpPr>
          <p:nvPr/>
        </p:nvSpPr>
        <p:spPr>
          <a:xfrm xmlns:a="http://schemas.openxmlformats.org/drawingml/2006/main">
            <a:off x="3314700" y="31051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외부 Holdout</a:t>
            </a:r>
          </a:p>
        </p:txBody>
      </p:sp>
      <p:sp>
        <p:nvSpPr>
          <p:cNvPr id="11" name="">
            <a:extLst xmlns:a="http://schemas.openxmlformats.org/drawingml/2006/main">
              <a:ext uri="{FF2B5EF4-FFF2-40B4-BE49-F238E27FC236}">
                <a16:creationId xmlns:a16="http://schemas.microsoft.com/office/drawing/2014/main" id="{02EF7FDA-B83D-40AC-A58D-D98AB1234C6F}"/>
              </a:ext>
            </a:extLst>
          </p:cNvPr>
          <p:cNvSpPr>
            <a:spLocks xmlns:a="http://schemas.openxmlformats.org/drawingml/2006/main" noGrp="1"/>
          </p:cNvSpPr>
          <p:nvPr/>
        </p:nvSpPr>
        <p:spPr>
          <a:xfrm xmlns:a="http://schemas.openxmlformats.org/drawingml/2006/main">
            <a:off x="3314700" y="3600450"/>
            <a:ext cx="228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a:solidFill>
                  <a:srgbClr val="D9E5EC"/>
                </a:solidFill>
                <a:latin typeface="Malgun Gothic"/>
                <a:ea typeface="Malgun Gothic"/>
                <a:cs typeface="Malgun Gothic"/>
              </a:defRPr>
            </a:pPr>
            <a:r>
              <a:rPr sz="1125" b="0">
                <a:solidFill>
                  <a:srgbClr val="D9E5EC"/>
                </a:solidFill>
                <a:latin typeface="Malgun Gothic"/>
                <a:ea typeface="Malgun Gothic"/>
                <a:cs typeface="Malgun Gothic"/>
              </a:rPr>
              <a:t>실제 신규 고객에서 일반화 확인</a:t>
            </a:r>
          </a:p>
        </p:txBody>
      </p:sp>
      <p:sp>
        <p:nvSpPr>
          <p:cNvPr id="12" name="">
            <a:extLst xmlns:a="http://schemas.openxmlformats.org/drawingml/2006/main">
              <a:ext uri="{FF2B5EF4-FFF2-40B4-BE49-F238E27FC236}">
                <a16:creationId xmlns:a16="http://schemas.microsoft.com/office/drawing/2014/main" id="{EEB5D847-E79A-4136-AE38-319C611589DB}"/>
              </a:ext>
            </a:extLst>
          </p:cNvPr>
          <p:cNvSpPr>
            <a:spLocks xmlns:a="http://schemas.openxmlformats.org/drawingml/2006/main" noGrp="1"/>
          </p:cNvSpPr>
          <p:nvPr/>
        </p:nvSpPr>
        <p:spPr>
          <a:xfrm xmlns:a="http://schemas.openxmlformats.org/drawingml/2006/main">
            <a:off x="6096000" y="2476500"/>
            <a:ext cx="2381250" cy="28575"/>
          </a:xfrm>
          <a:prstGeom xmlns:a="http://schemas.openxmlformats.org/drawingml/2006/main" prst="rect">
            <a:avLst/>
          </a:prstGeom>
          <a:solidFill xmlns:a="http://schemas.openxmlformats.org/drawingml/2006/main">
            <a:srgbClr val="6E8797"/>
          </a:solidFill>
          <a:ln xmlns:a="http://schemas.openxmlformats.org/drawingml/2006/main" w="0">
            <a:solidFill>
              <a:srgbClr val="6E8797"/>
            </a:solidFill>
            <a:prstDash val="solid"/>
          </a:ln>
        </p:spPr>
      </p:sp>
      <p:sp>
        <p:nvSpPr>
          <p:cNvPr id="13" name="">
            <a:extLst xmlns:a="http://schemas.openxmlformats.org/drawingml/2006/main">
              <a:ext uri="{FF2B5EF4-FFF2-40B4-BE49-F238E27FC236}">
                <a16:creationId xmlns:a16="http://schemas.microsoft.com/office/drawing/2014/main" id="{558ABA5A-0DDF-411B-9E37-1C63B2FBB3E0}"/>
              </a:ext>
            </a:extLst>
          </p:cNvPr>
          <p:cNvSpPr>
            <a:spLocks xmlns:a="http://schemas.openxmlformats.org/drawingml/2006/main" noGrp="1"/>
          </p:cNvSpPr>
          <p:nvPr/>
        </p:nvSpPr>
        <p:spPr>
          <a:xfrm xmlns:a="http://schemas.openxmlformats.org/drawingml/2006/main">
            <a:off x="6096000" y="26670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F6A28F"/>
                </a:solidFill>
                <a:latin typeface="Malgun Gothic"/>
                <a:ea typeface="Malgun Gothic"/>
                <a:cs typeface="Malgun Gothic"/>
              </a:defRPr>
            </a:pPr>
            <a:r>
              <a:rPr sz="1200" b="1">
                <a:solidFill>
                  <a:srgbClr val="F6A28F"/>
                </a:solidFill>
                <a:latin typeface="Malgun Gothic"/>
                <a:ea typeface="Malgun Gothic"/>
                <a:cs typeface="Malgun Gothic"/>
              </a:rPr>
              <a:t>03</a:t>
            </a:r>
          </a:p>
        </p:txBody>
      </p:sp>
      <p:sp>
        <p:nvSpPr>
          <p:cNvPr id="14" name="">
            <a:extLst xmlns:a="http://schemas.openxmlformats.org/drawingml/2006/main">
              <a:ext uri="{FF2B5EF4-FFF2-40B4-BE49-F238E27FC236}">
                <a16:creationId xmlns:a16="http://schemas.microsoft.com/office/drawing/2014/main" id="{B5451669-7F14-4B73-AA01-AD79E7CBD918}"/>
              </a:ext>
            </a:extLst>
          </p:cNvPr>
          <p:cNvSpPr>
            <a:spLocks xmlns:a="http://schemas.openxmlformats.org/drawingml/2006/main" noGrp="1"/>
          </p:cNvSpPr>
          <p:nvPr/>
        </p:nvSpPr>
        <p:spPr>
          <a:xfrm xmlns:a="http://schemas.openxmlformats.org/drawingml/2006/main">
            <a:off x="6096000" y="31051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운영 기준 승인</a:t>
            </a:r>
          </a:p>
        </p:txBody>
      </p:sp>
      <p:sp>
        <p:nvSpPr>
          <p:cNvPr id="15" name="">
            <a:extLst xmlns:a="http://schemas.openxmlformats.org/drawingml/2006/main">
              <a:ext uri="{FF2B5EF4-FFF2-40B4-BE49-F238E27FC236}">
                <a16:creationId xmlns:a16="http://schemas.microsoft.com/office/drawing/2014/main" id="{1D2FD411-73FC-49EF-B804-F1E090AFC9E8}"/>
              </a:ext>
            </a:extLst>
          </p:cNvPr>
          <p:cNvSpPr>
            <a:spLocks xmlns:a="http://schemas.openxmlformats.org/drawingml/2006/main" noGrp="1"/>
          </p:cNvSpPr>
          <p:nvPr/>
        </p:nvSpPr>
        <p:spPr>
          <a:xfrm xmlns:a="http://schemas.openxmlformats.org/drawingml/2006/main">
            <a:off x="6096000" y="3600450"/>
            <a:ext cx="228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a:solidFill>
                  <a:srgbClr val="D9E5EC"/>
                </a:solidFill>
                <a:latin typeface="Malgun Gothic"/>
                <a:ea typeface="Malgun Gothic"/>
                <a:cs typeface="Malgun Gothic"/>
              </a:defRPr>
            </a:pPr>
            <a:r>
              <a:rPr sz="1125" b="0">
                <a:solidFill>
                  <a:srgbClr val="D9E5EC"/>
                </a:solidFill>
                <a:latin typeface="Malgun Gothic"/>
                <a:ea typeface="Malgun Gothic"/>
                <a:cs typeface="Malgun Gothic"/>
              </a:rPr>
              <a:t>인력·비용으로 Threshold/Top-K 확정</a:t>
            </a:r>
          </a:p>
        </p:txBody>
      </p:sp>
      <p:sp>
        <p:nvSpPr>
          <p:cNvPr id="16" name="">
            <a:extLst xmlns:a="http://schemas.openxmlformats.org/drawingml/2006/main">
              <a:ext uri="{FF2B5EF4-FFF2-40B4-BE49-F238E27FC236}">
                <a16:creationId xmlns:a16="http://schemas.microsoft.com/office/drawing/2014/main" id="{96F2CF12-02BA-465C-80CE-9D22B2DFB2A6}"/>
              </a:ext>
            </a:extLst>
          </p:cNvPr>
          <p:cNvSpPr>
            <a:spLocks xmlns:a="http://schemas.openxmlformats.org/drawingml/2006/main" noGrp="1"/>
          </p:cNvSpPr>
          <p:nvPr/>
        </p:nvSpPr>
        <p:spPr>
          <a:xfrm xmlns:a="http://schemas.openxmlformats.org/drawingml/2006/main">
            <a:off x="8877300" y="2476500"/>
            <a:ext cx="2381250" cy="28575"/>
          </a:xfrm>
          <a:prstGeom xmlns:a="http://schemas.openxmlformats.org/drawingml/2006/main" prst="rect">
            <a:avLst/>
          </a:prstGeom>
          <a:solidFill xmlns:a="http://schemas.openxmlformats.org/drawingml/2006/main">
            <a:srgbClr val="E85E43"/>
          </a:solidFill>
          <a:ln xmlns:a="http://schemas.openxmlformats.org/drawingml/2006/main" w="0">
            <a:solidFill>
              <a:srgbClr val="E85E43"/>
            </a:solidFill>
            <a:prstDash val="solid"/>
          </a:ln>
        </p:spPr>
      </p:sp>
      <p:sp>
        <p:nvSpPr>
          <p:cNvPr id="17" name="">
            <a:extLst xmlns:a="http://schemas.openxmlformats.org/drawingml/2006/main">
              <a:ext uri="{FF2B5EF4-FFF2-40B4-BE49-F238E27FC236}">
                <a16:creationId xmlns:a16="http://schemas.microsoft.com/office/drawing/2014/main" id="{EE5FEC25-750F-4B90-BC1C-F38EDB0CF83D}"/>
              </a:ext>
            </a:extLst>
          </p:cNvPr>
          <p:cNvSpPr>
            <a:spLocks xmlns:a="http://schemas.openxmlformats.org/drawingml/2006/main" noGrp="1"/>
          </p:cNvSpPr>
          <p:nvPr/>
        </p:nvSpPr>
        <p:spPr>
          <a:xfrm xmlns:a="http://schemas.openxmlformats.org/drawingml/2006/main">
            <a:off x="8877300" y="26670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F6A28F"/>
                </a:solidFill>
                <a:latin typeface="Malgun Gothic"/>
                <a:ea typeface="Malgun Gothic"/>
                <a:cs typeface="Malgun Gothic"/>
              </a:defRPr>
            </a:pPr>
            <a:r>
              <a:rPr sz="1200" b="1">
                <a:solidFill>
                  <a:srgbClr val="F6A28F"/>
                </a:solidFill>
                <a:latin typeface="Malgun Gothic"/>
                <a:ea typeface="Malgun Gothic"/>
                <a:cs typeface="Malgun Gothic"/>
              </a:rPr>
              <a:t>04</a:t>
            </a:r>
          </a:p>
        </p:txBody>
      </p:sp>
      <p:sp>
        <p:nvSpPr>
          <p:cNvPr id="18" name="">
            <a:extLst xmlns:a="http://schemas.openxmlformats.org/drawingml/2006/main">
              <a:ext uri="{FF2B5EF4-FFF2-40B4-BE49-F238E27FC236}">
                <a16:creationId xmlns:a16="http://schemas.microsoft.com/office/drawing/2014/main" id="{4C35E43C-4F2B-40BA-8C56-7D8024276758}"/>
              </a:ext>
            </a:extLst>
          </p:cNvPr>
          <p:cNvSpPr>
            <a:spLocks xmlns:a="http://schemas.openxmlformats.org/drawingml/2006/main" noGrp="1"/>
          </p:cNvSpPr>
          <p:nvPr/>
        </p:nvSpPr>
        <p:spPr>
          <a:xfrm xmlns:a="http://schemas.openxmlformats.org/drawingml/2006/main">
            <a:off x="8877300" y="31051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A/B 테스트</a:t>
            </a:r>
          </a:p>
        </p:txBody>
      </p:sp>
      <p:sp>
        <p:nvSpPr>
          <p:cNvPr id="19" name="">
            <a:extLst xmlns:a="http://schemas.openxmlformats.org/drawingml/2006/main">
              <a:ext uri="{FF2B5EF4-FFF2-40B4-BE49-F238E27FC236}">
                <a16:creationId xmlns:a16="http://schemas.microsoft.com/office/drawing/2014/main" id="{F2382176-6BA9-4E25-BC72-9A455EE54B35}"/>
              </a:ext>
            </a:extLst>
          </p:cNvPr>
          <p:cNvSpPr>
            <a:spLocks xmlns:a="http://schemas.openxmlformats.org/drawingml/2006/main" noGrp="1"/>
          </p:cNvSpPr>
          <p:nvPr/>
        </p:nvSpPr>
        <p:spPr>
          <a:xfrm xmlns:a="http://schemas.openxmlformats.org/drawingml/2006/main">
            <a:off x="8877300" y="3600450"/>
            <a:ext cx="228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a:solidFill>
                  <a:srgbClr val="D9E5EC"/>
                </a:solidFill>
                <a:latin typeface="Malgun Gothic"/>
                <a:ea typeface="Malgun Gothic"/>
                <a:cs typeface="Malgun Gothic"/>
              </a:defRPr>
            </a:pPr>
            <a:r>
              <a:rPr sz="1125" b="0">
                <a:solidFill>
                  <a:srgbClr val="D9E5EC"/>
                </a:solidFill>
                <a:latin typeface="Malgun Gothic"/>
                <a:ea typeface="Malgun Gothic"/>
                <a:cs typeface="Malgun Gothic"/>
              </a:rPr>
              <a:t>행동별 uplift와 순효과 검증</a:t>
            </a:r>
          </a:p>
        </p:txBody>
      </p:sp>
      <p:sp>
        <p:nvSpPr>
          <p:cNvPr id="20" name="">
            <a:extLst xmlns:a="http://schemas.openxmlformats.org/drawingml/2006/main">
              <a:ext uri="{FF2B5EF4-FFF2-40B4-BE49-F238E27FC236}">
                <a16:creationId xmlns:a16="http://schemas.microsoft.com/office/drawing/2014/main" id="{FE584757-92D3-4EE3-A558-1AFBAB47515D}"/>
              </a:ext>
            </a:extLst>
          </p:cNvPr>
          <p:cNvSpPr>
            <a:spLocks xmlns:a="http://schemas.openxmlformats.org/drawingml/2006/main" noGrp="1"/>
          </p:cNvSpPr>
          <p:nvPr/>
        </p:nvSpPr>
        <p:spPr>
          <a:xfrm xmlns:a="http://schemas.openxmlformats.org/drawingml/2006/main">
            <a:off x="533400" y="4819650"/>
            <a:ext cx="11125200" cy="1123950"/>
          </a:xfrm>
          <a:prstGeom xmlns:a="http://schemas.openxmlformats.org/drawingml/2006/main" prst="roundRect">
            <a:avLst>
              <a:gd name="adj" fmla="val 6780"/>
            </a:avLst>
          </a:prstGeom>
          <a:solidFill xmlns:a="http://schemas.openxmlformats.org/drawingml/2006/main">
            <a:srgbClr val="21465F"/>
          </a:solidFill>
          <a:ln xmlns:a="http://schemas.openxmlformats.org/drawingml/2006/main" w="9525">
            <a:solidFill>
              <a:srgbClr val="21465F"/>
            </a:solidFill>
            <a:prstDash val="solid"/>
          </a:ln>
        </p:spPr>
      </p:sp>
      <p:sp>
        <p:nvSpPr>
          <p:cNvPr id="21" name="">
            <a:extLst xmlns:a="http://schemas.openxmlformats.org/drawingml/2006/main">
              <a:ext uri="{FF2B5EF4-FFF2-40B4-BE49-F238E27FC236}">
                <a16:creationId xmlns:a16="http://schemas.microsoft.com/office/drawing/2014/main" id="{1FE6E5D7-0E3C-4C05-A2FC-A507822B6D39}"/>
              </a:ext>
            </a:extLst>
          </p:cNvPr>
          <p:cNvSpPr>
            <a:spLocks xmlns:a="http://schemas.openxmlformats.org/drawingml/2006/main" noGrp="1"/>
          </p:cNvSpPr>
          <p:nvPr/>
        </p:nvSpPr>
        <p:spPr>
          <a:xfrm xmlns:a="http://schemas.openxmlformats.org/drawingml/2006/main">
            <a:off x="781050" y="5038725"/>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F6A28F"/>
                </a:solidFill>
                <a:latin typeface="Malgun Gothic"/>
                <a:ea typeface="Malgun Gothic"/>
                <a:cs typeface="Malgun Gothic"/>
              </a:defRPr>
            </a:pPr>
            <a:r>
              <a:rPr sz="1200" b="1">
                <a:solidFill>
                  <a:srgbClr val="F6A28F"/>
                </a:solidFill>
                <a:latin typeface="Malgun Gothic"/>
                <a:ea typeface="Malgun Gothic"/>
                <a:cs typeface="Malgun Gothic"/>
              </a:rPr>
              <a:t>결론</a:t>
            </a:r>
          </a:p>
        </p:txBody>
      </p:sp>
      <p:sp>
        <p:nvSpPr>
          <p:cNvPr id="22" name="">
            <a:extLst xmlns:a="http://schemas.openxmlformats.org/drawingml/2006/main">
              <a:ext uri="{FF2B5EF4-FFF2-40B4-BE49-F238E27FC236}">
                <a16:creationId xmlns:a16="http://schemas.microsoft.com/office/drawing/2014/main" id="{64D4A10F-B5B3-4434-A630-A0483C35BD51}"/>
              </a:ext>
            </a:extLst>
          </p:cNvPr>
          <p:cNvSpPr>
            <a:spLocks xmlns:a="http://schemas.openxmlformats.org/drawingml/2006/main" noGrp="1"/>
          </p:cNvSpPr>
          <p:nvPr/>
        </p:nvSpPr>
        <p:spPr>
          <a:xfrm xmlns:a="http://schemas.openxmlformats.org/drawingml/2006/main">
            <a:off x="781050" y="537210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현재 OOF 우선순위 검증 완료 · 실제 이탈 감소와 ROI는 미검증</a:t>
            </a:r>
          </a:p>
        </p:txBody>
      </p:sp>
      <p:sp>
        <p:nvSpPr>
          <p:cNvPr id="23" name="">
            <a:extLst xmlns:a="http://schemas.openxmlformats.org/drawingml/2006/main">
              <a:ext uri="{FF2B5EF4-FFF2-40B4-BE49-F238E27FC236}">
                <a16:creationId xmlns:a16="http://schemas.microsoft.com/office/drawing/2014/main" id="{B6B0B766-CBC2-4DBE-B871-856E1A27BA98}"/>
              </a:ext>
            </a:extLst>
          </p:cNvPr>
          <p:cNvSpPr>
            <a:spLocks xmlns:a="http://schemas.openxmlformats.org/drawingml/2006/main" noGrp="1"/>
          </p:cNvSpPr>
          <p:nvPr/>
        </p:nvSpPr>
        <p:spPr>
          <a:xfrm xmlns:a="http://schemas.openxmlformats.org/drawingml/2006/main">
            <a:off x="8858250" y="6286500"/>
            <a:ext cx="2800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AFC3D0"/>
                </a:solidFill>
                <a:latin typeface="Malgun Gothic"/>
                <a:ea typeface="Malgun Gothic"/>
                <a:cs typeface="Malgun Gothic"/>
              </a:defRPr>
            </a:pPr>
            <a:r>
              <a:rPr sz="825" b="1">
                <a:solidFill>
                  <a:srgbClr val="AFC3D0"/>
                </a:solidFill>
                <a:latin typeface="Malgun Gothic"/>
                <a:ea typeface="Malgun Gothic"/>
                <a:cs typeface="Malgun Gothic"/>
              </a:rPr>
              <a:t>다음 검증: 시간 Holdout · Calibration · 세그먼트 오류 · A/B 테스트</a:t>
            </a:r>
          </a:p>
        </p:txBody>
      </p:sp>
      <p:sp>
        <p:nvSpPr>
          <p:cNvPr id="24" name="">
            <a:extLst xmlns:a="http://schemas.openxmlformats.org/drawingml/2006/main">
              <a:ext uri="{FF2B5EF4-FFF2-40B4-BE49-F238E27FC236}">
                <a16:creationId xmlns:a16="http://schemas.microsoft.com/office/drawing/2014/main" id="{26A41C90-2C0C-49C0-AC60-D0C40C4DFDC5}"/>
              </a:ext>
            </a:extLst>
          </p:cNvPr>
          <p:cNvSpPr>
            <a:spLocks xmlns:a="http://schemas.openxmlformats.org/drawingml/2006/main" noGrp="1"/>
          </p:cNvSpPr>
          <p:nvPr/>
        </p:nvSpPr>
        <p:spPr>
          <a:xfrm xmlns:a="http://schemas.openxmlformats.org/drawingml/2006/main">
            <a:off x="11239500" y="361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AFC3D0"/>
                </a:solidFill>
                <a:latin typeface="Malgun Gothic"/>
                <a:ea typeface="Malgun Gothic"/>
                <a:cs typeface="Malgun Gothic"/>
              </a:defRPr>
            </a:pPr>
            <a:r>
              <a:rPr sz="825" b="1">
                <a:solidFill>
                  <a:srgbClr val="AFC3D0"/>
                </a:solidFill>
                <a:latin typeface="Malgun Gothic"/>
                <a:ea typeface="Malgun Gothic"/>
                <a:cs typeface="Malgun Gothic"/>
              </a:rPr>
              <a:t>13</a:t>
            </a:r>
          </a:p>
        </p:txBody>
      </p:sp>
    </p:spTree>
    <p:extLst>
      <p:ext uri="{BB962C8B-B14F-4D97-AF65-F5344CB8AC3E}">
        <p14:creationId xmlns:p14="http://schemas.microsoft.com/office/powerpoint/2010/main" val="664414103"/>
      </p:ext>
    </p:extLst>
  </p:cSld>
</p:sld>
</file>

<file path=ppt/slides/slide14.xml><?xml version="1.0" encoding="utf-8"?>
<p:sld xmlns:p="http://schemas.openxmlformats.org/presentationml/2006/main">
  <p:cSld>
    <p:bg>
      <p:bgPr>
        <a:solidFill xmlns:a="http://schemas.openxmlformats.org/drawingml/2006/main">
          <a:srgbClr val="17354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49F7059-402E-4FD9-9DDE-D9D681A163DC}"/>
              </a:ext>
            </a:extLst>
          </p:cNvPr>
          <p:cNvSpPr>
            <a:spLocks xmlns:a="http://schemas.openxmlformats.org/drawingml/2006/main" noGrp="1"/>
          </p:cNvSpPr>
          <p:nvPr/>
        </p:nvSpPr>
        <p:spPr>
          <a:xfrm xmlns:a="http://schemas.openxmlformats.org/drawingml/2006/main">
            <a:off x="533400" y="3619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a:solidFill>
                  <a:srgbClr val="F6A28F"/>
                </a:solidFill>
                <a:latin typeface="Malgun Gothic"/>
                <a:ea typeface="Malgun Gothic"/>
                <a:cs typeface="Malgun Gothic"/>
              </a:defRPr>
            </a:pPr>
            <a:r>
              <a:rPr sz="900" b="1">
                <a:solidFill>
                  <a:srgbClr val="F6A28F"/>
                </a:solidFill>
                <a:latin typeface="Malgun Gothic"/>
                <a:ea typeface="Malgun Gothic"/>
                <a:cs typeface="Malgun Gothic"/>
              </a:rPr>
              <a:t>PROJECT OUTCOME</a:t>
            </a:r>
          </a:p>
        </p:txBody>
      </p:sp>
      <p:sp>
        <p:nvSpPr>
          <p:cNvPr id="2" name="">
            <a:extLst xmlns:a="http://schemas.openxmlformats.org/drawingml/2006/main">
              <a:ext uri="{FF2B5EF4-FFF2-40B4-BE49-F238E27FC236}">
                <a16:creationId xmlns:a16="http://schemas.microsoft.com/office/drawing/2014/main" id="{09838DC5-CF34-4166-97F3-31F8D6990799}"/>
              </a:ext>
            </a:extLst>
          </p:cNvPr>
          <p:cNvSpPr>
            <a:spLocks xmlns:a="http://schemas.openxmlformats.org/drawingml/2006/main" noGrp="1"/>
          </p:cNvSpPr>
          <p:nvPr/>
        </p:nvSpPr>
        <p:spPr>
          <a:xfrm xmlns:a="http://schemas.openxmlformats.org/drawingml/2006/main">
            <a:off x="533400" y="80962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모델 점수를 실행 가능한 고객 검토 순서로 바꿨습니다</a:t>
            </a:r>
          </a:p>
        </p:txBody>
      </p:sp>
      <p:sp>
        <p:nvSpPr>
          <p:cNvPr id="3" name="">
            <a:extLst xmlns:a="http://schemas.openxmlformats.org/drawingml/2006/main">
              <a:ext uri="{FF2B5EF4-FFF2-40B4-BE49-F238E27FC236}">
                <a16:creationId xmlns:a16="http://schemas.microsoft.com/office/drawing/2014/main" id="{F94D1D48-B8D2-46D6-B147-483757BCE5B9}"/>
              </a:ext>
            </a:extLst>
          </p:cNvPr>
          <p:cNvSpPr>
            <a:spLocks xmlns:a="http://schemas.openxmlformats.org/drawingml/2006/main" noGrp="1"/>
          </p:cNvSpPr>
          <p:nvPr/>
        </p:nvSpPr>
        <p:spPr>
          <a:xfrm xmlns:a="http://schemas.openxmlformats.org/drawingml/2006/main">
            <a:off x="533400" y="1533525"/>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D9E5EC"/>
                </a:solidFill>
                <a:latin typeface="Malgun Gothic"/>
                <a:ea typeface="Malgun Gothic"/>
                <a:cs typeface="Malgun Gothic"/>
              </a:defRPr>
            </a:pPr>
            <a:r>
              <a:rPr sz="1350" b="0">
                <a:solidFill>
                  <a:srgbClr val="D9E5EC"/>
                </a:solidFill>
                <a:latin typeface="Malgun Gothic"/>
                <a:ea typeface="Malgun Gothic"/>
                <a:cs typeface="Malgun Gothic"/>
              </a:rPr>
              <a:t>프로젝트의 성과는 점수 하나가 아니라 인사이트·검증·운영·행동을 연결한 의사결정 구조입니다.</a:t>
            </a:r>
          </a:p>
        </p:txBody>
      </p:sp>
      <p:sp>
        <p:nvSpPr>
          <p:cNvPr id="4" name="">
            <a:extLst xmlns:a="http://schemas.openxmlformats.org/drawingml/2006/main">
              <a:ext uri="{FF2B5EF4-FFF2-40B4-BE49-F238E27FC236}">
                <a16:creationId xmlns:a16="http://schemas.microsoft.com/office/drawing/2014/main" id="{CE8A1829-54FD-410D-B055-00B96AC3D15B}"/>
              </a:ext>
            </a:extLst>
          </p:cNvPr>
          <p:cNvSpPr>
            <a:spLocks xmlns:a="http://schemas.openxmlformats.org/drawingml/2006/main" noGrp="1"/>
          </p:cNvSpPr>
          <p:nvPr/>
        </p:nvSpPr>
        <p:spPr>
          <a:xfrm xmlns:a="http://schemas.openxmlformats.org/drawingml/2006/main">
            <a:off x="533400" y="2476500"/>
            <a:ext cx="2381250" cy="28575"/>
          </a:xfrm>
          <a:prstGeom xmlns:a="http://schemas.openxmlformats.org/drawingml/2006/main" prst="rect">
            <a:avLst/>
          </a:prstGeom>
          <a:solidFill xmlns:a="http://schemas.openxmlformats.org/drawingml/2006/main">
            <a:srgbClr val="6E8797"/>
          </a:solidFill>
          <a:ln xmlns:a="http://schemas.openxmlformats.org/drawingml/2006/main" w="0">
            <a:solidFill>
              <a:srgbClr val="6E8797"/>
            </a:solidFill>
            <a:prstDash val="solid"/>
          </a:ln>
        </p:spPr>
      </p:sp>
      <p:sp>
        <p:nvSpPr>
          <p:cNvPr id="5" name="">
            <a:extLst xmlns:a="http://schemas.openxmlformats.org/drawingml/2006/main">
              <a:ext uri="{FF2B5EF4-FFF2-40B4-BE49-F238E27FC236}">
                <a16:creationId xmlns:a16="http://schemas.microsoft.com/office/drawing/2014/main" id="{190F5C3B-4F2D-44CC-A087-10E6BA256922}"/>
              </a:ext>
            </a:extLst>
          </p:cNvPr>
          <p:cNvSpPr>
            <a:spLocks xmlns:a="http://schemas.openxmlformats.org/drawingml/2006/main" noGrp="1"/>
          </p:cNvSpPr>
          <p:nvPr/>
        </p:nvSpPr>
        <p:spPr>
          <a:xfrm xmlns:a="http://schemas.openxmlformats.org/drawingml/2006/main">
            <a:off x="533400" y="26670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F6A28F"/>
                </a:solidFill>
                <a:latin typeface="Malgun Gothic"/>
                <a:ea typeface="Malgun Gothic"/>
                <a:cs typeface="Malgun Gothic"/>
              </a:defRPr>
            </a:pPr>
            <a:r>
              <a:rPr sz="1200" b="1">
                <a:solidFill>
                  <a:srgbClr val="F6A28F"/>
                </a:solidFill>
                <a:latin typeface="Malgun Gothic"/>
                <a:ea typeface="Malgun Gothic"/>
                <a:cs typeface="Malgun Gothic"/>
              </a:rPr>
              <a:t>01</a:t>
            </a:r>
          </a:p>
        </p:txBody>
      </p:sp>
      <p:sp>
        <p:nvSpPr>
          <p:cNvPr id="6" name="">
            <a:extLst xmlns:a="http://schemas.openxmlformats.org/drawingml/2006/main">
              <a:ext uri="{FF2B5EF4-FFF2-40B4-BE49-F238E27FC236}">
                <a16:creationId xmlns:a16="http://schemas.microsoft.com/office/drawing/2014/main" id="{7645441E-D30A-495D-85C0-27160A5C1719}"/>
              </a:ext>
            </a:extLst>
          </p:cNvPr>
          <p:cNvSpPr>
            <a:spLocks xmlns:a="http://schemas.openxmlformats.org/drawingml/2006/main" noGrp="1"/>
          </p:cNvSpPr>
          <p:nvPr/>
        </p:nvSpPr>
        <p:spPr>
          <a:xfrm xmlns:a="http://schemas.openxmlformats.org/drawingml/2006/main">
            <a:off x="533400" y="31051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고객 이해</a:t>
            </a:r>
          </a:p>
        </p:txBody>
      </p:sp>
      <p:sp>
        <p:nvSpPr>
          <p:cNvPr id="7" name="">
            <a:extLst xmlns:a="http://schemas.openxmlformats.org/drawingml/2006/main">
              <a:ext uri="{FF2B5EF4-FFF2-40B4-BE49-F238E27FC236}">
                <a16:creationId xmlns:a16="http://schemas.microsoft.com/office/drawing/2014/main" id="{51DDC74E-1C05-4C28-8AF4-56C9728C6912}"/>
              </a:ext>
            </a:extLst>
          </p:cNvPr>
          <p:cNvSpPr>
            <a:spLocks xmlns:a="http://schemas.openxmlformats.org/drawingml/2006/main" noGrp="1"/>
          </p:cNvSpPr>
          <p:nvPr/>
        </p:nvSpPr>
        <p:spPr>
          <a:xfrm xmlns:a="http://schemas.openxmlformats.org/drawingml/2006/main">
            <a:off x="533400" y="3600450"/>
            <a:ext cx="228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a:solidFill>
                  <a:srgbClr val="D9E5EC"/>
                </a:solidFill>
                <a:latin typeface="Malgun Gothic"/>
                <a:ea typeface="Malgun Gothic"/>
                <a:cs typeface="Malgun Gothic"/>
              </a:defRPr>
            </a:pPr>
            <a:r>
              <a:rPr sz="1125" b="0">
                <a:solidFill>
                  <a:srgbClr val="D9E5EC"/>
                </a:solidFill>
                <a:latin typeface="Malgun Gothic"/>
                <a:ea typeface="Malgun Gothic"/>
                <a:cs typeface="Malgun Gothic"/>
              </a:rPr>
              <a:t>낮은 청취·Free·높은 문의 신호</a:t>
            </a:r>
          </a:p>
        </p:txBody>
      </p:sp>
      <p:sp>
        <p:nvSpPr>
          <p:cNvPr id="8" name="">
            <a:extLst xmlns:a="http://schemas.openxmlformats.org/drawingml/2006/main">
              <a:ext uri="{FF2B5EF4-FFF2-40B4-BE49-F238E27FC236}">
                <a16:creationId xmlns:a16="http://schemas.microsoft.com/office/drawing/2014/main" id="{778731F4-E986-4837-9989-5FBFE4A7BE1D}"/>
              </a:ext>
            </a:extLst>
          </p:cNvPr>
          <p:cNvSpPr>
            <a:spLocks xmlns:a="http://schemas.openxmlformats.org/drawingml/2006/main" noGrp="1"/>
          </p:cNvSpPr>
          <p:nvPr/>
        </p:nvSpPr>
        <p:spPr>
          <a:xfrm xmlns:a="http://schemas.openxmlformats.org/drawingml/2006/main">
            <a:off x="3314700" y="2476500"/>
            <a:ext cx="2381250" cy="28575"/>
          </a:xfrm>
          <a:prstGeom xmlns:a="http://schemas.openxmlformats.org/drawingml/2006/main" prst="rect">
            <a:avLst/>
          </a:prstGeom>
          <a:solidFill xmlns:a="http://schemas.openxmlformats.org/drawingml/2006/main">
            <a:srgbClr val="6E8797"/>
          </a:solidFill>
          <a:ln xmlns:a="http://schemas.openxmlformats.org/drawingml/2006/main" w="0">
            <a:solidFill>
              <a:srgbClr val="6E8797"/>
            </a:solidFill>
            <a:prstDash val="solid"/>
          </a:ln>
        </p:spPr>
      </p:sp>
      <p:sp>
        <p:nvSpPr>
          <p:cNvPr id="9" name="">
            <a:extLst xmlns:a="http://schemas.openxmlformats.org/drawingml/2006/main">
              <a:ext uri="{FF2B5EF4-FFF2-40B4-BE49-F238E27FC236}">
                <a16:creationId xmlns:a16="http://schemas.microsoft.com/office/drawing/2014/main" id="{A5A70360-AFB7-47EB-A5DB-74F38C42A41E}"/>
              </a:ext>
            </a:extLst>
          </p:cNvPr>
          <p:cNvSpPr>
            <a:spLocks xmlns:a="http://schemas.openxmlformats.org/drawingml/2006/main" noGrp="1"/>
          </p:cNvSpPr>
          <p:nvPr/>
        </p:nvSpPr>
        <p:spPr>
          <a:xfrm xmlns:a="http://schemas.openxmlformats.org/drawingml/2006/main">
            <a:off x="3314700" y="26670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F6A28F"/>
                </a:solidFill>
                <a:latin typeface="Malgun Gothic"/>
                <a:ea typeface="Malgun Gothic"/>
                <a:cs typeface="Malgun Gothic"/>
              </a:defRPr>
            </a:pPr>
            <a:r>
              <a:rPr sz="1200" b="1">
                <a:solidFill>
                  <a:srgbClr val="F6A28F"/>
                </a:solidFill>
                <a:latin typeface="Malgun Gothic"/>
                <a:ea typeface="Malgun Gothic"/>
                <a:cs typeface="Malgun Gothic"/>
              </a:rPr>
              <a:t>02</a:t>
            </a:r>
          </a:p>
        </p:txBody>
      </p:sp>
      <p:sp>
        <p:nvSpPr>
          <p:cNvPr id="10" name="">
            <a:extLst xmlns:a="http://schemas.openxmlformats.org/drawingml/2006/main">
              <a:ext uri="{FF2B5EF4-FFF2-40B4-BE49-F238E27FC236}">
                <a16:creationId xmlns:a16="http://schemas.microsoft.com/office/drawing/2014/main" id="{A8DEC988-E150-42D5-BEBA-6E26A750730A}"/>
              </a:ext>
            </a:extLst>
          </p:cNvPr>
          <p:cNvSpPr>
            <a:spLocks xmlns:a="http://schemas.openxmlformats.org/drawingml/2006/main" noGrp="1"/>
          </p:cNvSpPr>
          <p:nvPr/>
        </p:nvSpPr>
        <p:spPr>
          <a:xfrm xmlns:a="http://schemas.openxmlformats.org/drawingml/2006/main">
            <a:off x="3314700" y="31051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공정한 검증</a:t>
            </a:r>
          </a:p>
        </p:txBody>
      </p:sp>
      <p:sp>
        <p:nvSpPr>
          <p:cNvPr id="11" name="">
            <a:extLst xmlns:a="http://schemas.openxmlformats.org/drawingml/2006/main">
              <a:ext uri="{FF2B5EF4-FFF2-40B4-BE49-F238E27FC236}">
                <a16:creationId xmlns:a16="http://schemas.microsoft.com/office/drawing/2014/main" id="{02EF7FDA-B83D-40AC-A58D-D98AB1234C6F}"/>
              </a:ext>
            </a:extLst>
          </p:cNvPr>
          <p:cNvSpPr>
            <a:spLocks xmlns:a="http://schemas.openxmlformats.org/drawingml/2006/main" noGrp="1"/>
          </p:cNvSpPr>
          <p:nvPr/>
        </p:nvSpPr>
        <p:spPr>
          <a:xfrm xmlns:a="http://schemas.openxmlformats.org/drawingml/2006/main">
            <a:off x="3314700" y="3600450"/>
            <a:ext cx="228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a:solidFill>
                  <a:srgbClr val="D9E5EC"/>
                </a:solidFill>
                <a:latin typeface="Malgun Gothic"/>
                <a:ea typeface="Malgun Gothic"/>
                <a:cs typeface="Malgun Gothic"/>
              </a:defRPr>
            </a:pPr>
            <a:r>
              <a:rPr sz="1125" b="0">
                <a:solidFill>
                  <a:srgbClr val="D9E5EC"/>
                </a:solidFill>
                <a:latin typeface="Malgun Gothic"/>
                <a:ea typeface="Malgun Gothic"/>
                <a:cs typeface="Malgun Gothic"/>
              </a:rPr>
              <a:t>고정 5-Fold OOF·8개 모델 비교</a:t>
            </a:r>
          </a:p>
        </p:txBody>
      </p:sp>
      <p:sp>
        <p:nvSpPr>
          <p:cNvPr id="12" name="">
            <a:extLst xmlns:a="http://schemas.openxmlformats.org/drawingml/2006/main">
              <a:ext uri="{FF2B5EF4-FFF2-40B4-BE49-F238E27FC236}">
                <a16:creationId xmlns:a16="http://schemas.microsoft.com/office/drawing/2014/main" id="{EEB5D847-E79A-4136-AE38-319C611589DB}"/>
              </a:ext>
            </a:extLst>
          </p:cNvPr>
          <p:cNvSpPr>
            <a:spLocks xmlns:a="http://schemas.openxmlformats.org/drawingml/2006/main" noGrp="1"/>
          </p:cNvSpPr>
          <p:nvPr/>
        </p:nvSpPr>
        <p:spPr>
          <a:xfrm xmlns:a="http://schemas.openxmlformats.org/drawingml/2006/main">
            <a:off x="6096000" y="2476500"/>
            <a:ext cx="2381250" cy="28575"/>
          </a:xfrm>
          <a:prstGeom xmlns:a="http://schemas.openxmlformats.org/drawingml/2006/main" prst="rect">
            <a:avLst/>
          </a:prstGeom>
          <a:solidFill xmlns:a="http://schemas.openxmlformats.org/drawingml/2006/main">
            <a:srgbClr val="6E8797"/>
          </a:solidFill>
          <a:ln xmlns:a="http://schemas.openxmlformats.org/drawingml/2006/main" w="0">
            <a:solidFill>
              <a:srgbClr val="6E8797"/>
            </a:solidFill>
            <a:prstDash val="solid"/>
          </a:ln>
        </p:spPr>
      </p:sp>
      <p:sp>
        <p:nvSpPr>
          <p:cNvPr id="13" name="">
            <a:extLst xmlns:a="http://schemas.openxmlformats.org/drawingml/2006/main">
              <a:ext uri="{FF2B5EF4-FFF2-40B4-BE49-F238E27FC236}">
                <a16:creationId xmlns:a16="http://schemas.microsoft.com/office/drawing/2014/main" id="{558ABA5A-0DDF-411B-9E37-1C63B2FBB3E0}"/>
              </a:ext>
            </a:extLst>
          </p:cNvPr>
          <p:cNvSpPr>
            <a:spLocks xmlns:a="http://schemas.openxmlformats.org/drawingml/2006/main" noGrp="1"/>
          </p:cNvSpPr>
          <p:nvPr/>
        </p:nvSpPr>
        <p:spPr>
          <a:xfrm xmlns:a="http://schemas.openxmlformats.org/drawingml/2006/main">
            <a:off x="6096000" y="26670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F6A28F"/>
                </a:solidFill>
                <a:latin typeface="Malgun Gothic"/>
                <a:ea typeface="Malgun Gothic"/>
                <a:cs typeface="Malgun Gothic"/>
              </a:defRPr>
            </a:pPr>
            <a:r>
              <a:rPr sz="1200" b="1">
                <a:solidFill>
                  <a:srgbClr val="F6A28F"/>
                </a:solidFill>
                <a:latin typeface="Malgun Gothic"/>
                <a:ea typeface="Malgun Gothic"/>
                <a:cs typeface="Malgun Gothic"/>
              </a:rPr>
              <a:t>03</a:t>
            </a:r>
          </a:p>
        </p:txBody>
      </p:sp>
      <p:sp>
        <p:nvSpPr>
          <p:cNvPr id="14" name="">
            <a:extLst xmlns:a="http://schemas.openxmlformats.org/drawingml/2006/main">
              <a:ext uri="{FF2B5EF4-FFF2-40B4-BE49-F238E27FC236}">
                <a16:creationId xmlns:a16="http://schemas.microsoft.com/office/drawing/2014/main" id="{B5451669-7F14-4B73-AA01-AD79E7CBD918}"/>
              </a:ext>
            </a:extLst>
          </p:cNvPr>
          <p:cNvSpPr>
            <a:spLocks xmlns:a="http://schemas.openxmlformats.org/drawingml/2006/main" noGrp="1"/>
          </p:cNvSpPr>
          <p:nvPr/>
        </p:nvSpPr>
        <p:spPr>
          <a:xfrm xmlns:a="http://schemas.openxmlformats.org/drawingml/2006/main">
            <a:off x="6096000" y="31051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운영 선택</a:t>
            </a:r>
          </a:p>
        </p:txBody>
      </p:sp>
      <p:sp>
        <p:nvSpPr>
          <p:cNvPr id="15" name="">
            <a:extLst xmlns:a="http://schemas.openxmlformats.org/drawingml/2006/main">
              <a:ext uri="{FF2B5EF4-FFF2-40B4-BE49-F238E27FC236}">
                <a16:creationId xmlns:a16="http://schemas.microsoft.com/office/drawing/2014/main" id="{1D2FD411-73FC-49EF-B804-F1E090AFC9E8}"/>
              </a:ext>
            </a:extLst>
          </p:cNvPr>
          <p:cNvSpPr>
            <a:spLocks xmlns:a="http://schemas.openxmlformats.org/drawingml/2006/main" noGrp="1"/>
          </p:cNvSpPr>
          <p:nvPr/>
        </p:nvSpPr>
        <p:spPr>
          <a:xfrm xmlns:a="http://schemas.openxmlformats.org/drawingml/2006/main">
            <a:off x="6096000" y="3600450"/>
            <a:ext cx="228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a:solidFill>
                  <a:srgbClr val="D9E5EC"/>
                </a:solidFill>
                <a:latin typeface="Malgun Gothic"/>
                <a:ea typeface="Malgun Gothic"/>
                <a:cs typeface="Malgun Gothic"/>
              </a:defRPr>
            </a:pPr>
            <a:r>
              <a:rPr sz="1125" b="0">
                <a:solidFill>
                  <a:srgbClr val="D9E5EC"/>
                </a:solidFill>
                <a:latin typeface="Malgun Gothic"/>
                <a:ea typeface="Malgun Gothic"/>
                <a:cs typeface="Malgun Gothic"/>
              </a:rPr>
              <a:t>Threshold·Top-K로 검토 범위 결정</a:t>
            </a:r>
          </a:p>
        </p:txBody>
      </p:sp>
      <p:sp>
        <p:nvSpPr>
          <p:cNvPr id="16" name="">
            <a:extLst xmlns:a="http://schemas.openxmlformats.org/drawingml/2006/main">
              <a:ext uri="{FF2B5EF4-FFF2-40B4-BE49-F238E27FC236}">
                <a16:creationId xmlns:a16="http://schemas.microsoft.com/office/drawing/2014/main" id="{96F2CF12-02BA-465C-80CE-9D22B2DFB2A6}"/>
              </a:ext>
            </a:extLst>
          </p:cNvPr>
          <p:cNvSpPr>
            <a:spLocks xmlns:a="http://schemas.openxmlformats.org/drawingml/2006/main" noGrp="1"/>
          </p:cNvSpPr>
          <p:nvPr/>
        </p:nvSpPr>
        <p:spPr>
          <a:xfrm xmlns:a="http://schemas.openxmlformats.org/drawingml/2006/main">
            <a:off x="8877300" y="2476500"/>
            <a:ext cx="2381250" cy="28575"/>
          </a:xfrm>
          <a:prstGeom xmlns:a="http://schemas.openxmlformats.org/drawingml/2006/main" prst="rect">
            <a:avLst/>
          </a:prstGeom>
          <a:solidFill xmlns:a="http://schemas.openxmlformats.org/drawingml/2006/main">
            <a:srgbClr val="E85E43"/>
          </a:solidFill>
          <a:ln xmlns:a="http://schemas.openxmlformats.org/drawingml/2006/main" w="0">
            <a:solidFill>
              <a:srgbClr val="E85E43"/>
            </a:solidFill>
            <a:prstDash val="solid"/>
          </a:ln>
        </p:spPr>
      </p:sp>
      <p:sp>
        <p:nvSpPr>
          <p:cNvPr id="17" name="">
            <a:extLst xmlns:a="http://schemas.openxmlformats.org/drawingml/2006/main">
              <a:ext uri="{FF2B5EF4-FFF2-40B4-BE49-F238E27FC236}">
                <a16:creationId xmlns:a16="http://schemas.microsoft.com/office/drawing/2014/main" id="{EE5FEC25-750F-4B90-BC1C-F38EDB0CF83D}"/>
              </a:ext>
            </a:extLst>
          </p:cNvPr>
          <p:cNvSpPr>
            <a:spLocks xmlns:a="http://schemas.openxmlformats.org/drawingml/2006/main" noGrp="1"/>
          </p:cNvSpPr>
          <p:nvPr/>
        </p:nvSpPr>
        <p:spPr>
          <a:xfrm xmlns:a="http://schemas.openxmlformats.org/drawingml/2006/main">
            <a:off x="8877300" y="26670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F6A28F"/>
                </a:solidFill>
                <a:latin typeface="Malgun Gothic"/>
                <a:ea typeface="Malgun Gothic"/>
                <a:cs typeface="Malgun Gothic"/>
              </a:defRPr>
            </a:pPr>
            <a:r>
              <a:rPr sz="1200" b="1">
                <a:solidFill>
                  <a:srgbClr val="F6A28F"/>
                </a:solidFill>
                <a:latin typeface="Malgun Gothic"/>
                <a:ea typeface="Malgun Gothic"/>
                <a:cs typeface="Malgun Gothic"/>
              </a:rPr>
              <a:t>04</a:t>
            </a:r>
          </a:p>
        </p:txBody>
      </p:sp>
      <p:sp>
        <p:nvSpPr>
          <p:cNvPr id="18" name="">
            <a:extLst xmlns:a="http://schemas.openxmlformats.org/drawingml/2006/main">
              <a:ext uri="{FF2B5EF4-FFF2-40B4-BE49-F238E27FC236}">
                <a16:creationId xmlns:a16="http://schemas.microsoft.com/office/drawing/2014/main" id="{4C35E43C-4F2B-40BA-8C56-7D8024276758}"/>
              </a:ext>
            </a:extLst>
          </p:cNvPr>
          <p:cNvSpPr>
            <a:spLocks xmlns:a="http://schemas.openxmlformats.org/drawingml/2006/main" noGrp="1"/>
          </p:cNvSpPr>
          <p:nvPr/>
        </p:nvSpPr>
        <p:spPr>
          <a:xfrm xmlns:a="http://schemas.openxmlformats.org/drawingml/2006/main">
            <a:off x="8877300" y="31051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행동 검토</a:t>
            </a:r>
          </a:p>
        </p:txBody>
      </p:sp>
      <p:sp>
        <p:nvSpPr>
          <p:cNvPr id="19" name="">
            <a:extLst xmlns:a="http://schemas.openxmlformats.org/drawingml/2006/main">
              <a:ext uri="{FF2B5EF4-FFF2-40B4-BE49-F238E27FC236}">
                <a16:creationId xmlns:a16="http://schemas.microsoft.com/office/drawing/2014/main" id="{F2382176-6BA9-4E25-BC72-9A455EE54B35}"/>
              </a:ext>
            </a:extLst>
          </p:cNvPr>
          <p:cNvSpPr>
            <a:spLocks xmlns:a="http://schemas.openxmlformats.org/drawingml/2006/main" noGrp="1"/>
          </p:cNvSpPr>
          <p:nvPr/>
        </p:nvSpPr>
        <p:spPr>
          <a:xfrm xmlns:a="http://schemas.openxmlformats.org/drawingml/2006/main">
            <a:off x="8877300" y="3600450"/>
            <a:ext cx="228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a:solidFill>
                  <a:srgbClr val="D9E5EC"/>
                </a:solidFill>
                <a:latin typeface="Malgun Gothic"/>
                <a:ea typeface="Malgun Gothic"/>
                <a:cs typeface="Malgun Gothic"/>
              </a:defRPr>
            </a:pPr>
            <a:r>
              <a:rPr sz="1125" b="0">
                <a:solidFill>
                  <a:srgbClr val="D9E5EC"/>
                </a:solidFill>
                <a:latin typeface="Malgun Gothic"/>
                <a:ea typeface="Malgun Gothic"/>
                <a:cs typeface="Malgun Gothic"/>
              </a:rPr>
              <a:t>투명한 규칙과 담당자 최종 선택</a:t>
            </a:r>
          </a:p>
        </p:txBody>
      </p:sp>
      <p:sp>
        <p:nvSpPr>
          <p:cNvPr id="20" name="">
            <a:extLst xmlns:a="http://schemas.openxmlformats.org/drawingml/2006/main">
              <a:ext uri="{FF2B5EF4-FFF2-40B4-BE49-F238E27FC236}">
                <a16:creationId xmlns:a16="http://schemas.microsoft.com/office/drawing/2014/main" id="{FE584757-92D3-4EE3-A558-1AFBAB47515D}"/>
              </a:ext>
            </a:extLst>
          </p:cNvPr>
          <p:cNvSpPr>
            <a:spLocks xmlns:a="http://schemas.openxmlformats.org/drawingml/2006/main" noGrp="1"/>
          </p:cNvSpPr>
          <p:nvPr/>
        </p:nvSpPr>
        <p:spPr>
          <a:xfrm xmlns:a="http://schemas.openxmlformats.org/drawingml/2006/main">
            <a:off x="533400" y="4819650"/>
            <a:ext cx="11125200" cy="1123950"/>
          </a:xfrm>
          <a:prstGeom xmlns:a="http://schemas.openxmlformats.org/drawingml/2006/main" prst="roundRect">
            <a:avLst>
              <a:gd name="adj" fmla="val 6780"/>
            </a:avLst>
          </a:prstGeom>
          <a:solidFill xmlns:a="http://schemas.openxmlformats.org/drawingml/2006/main">
            <a:srgbClr val="21465F"/>
          </a:solidFill>
          <a:ln xmlns:a="http://schemas.openxmlformats.org/drawingml/2006/main" w="9525">
            <a:solidFill>
              <a:srgbClr val="21465F"/>
            </a:solidFill>
            <a:prstDash val="solid"/>
          </a:ln>
        </p:spPr>
      </p:sp>
      <p:sp>
        <p:nvSpPr>
          <p:cNvPr id="21" name="">
            <a:extLst xmlns:a="http://schemas.openxmlformats.org/drawingml/2006/main">
              <a:ext uri="{FF2B5EF4-FFF2-40B4-BE49-F238E27FC236}">
                <a16:creationId xmlns:a16="http://schemas.microsoft.com/office/drawing/2014/main" id="{1FE6E5D7-0E3C-4C05-A2FC-A507822B6D39}"/>
              </a:ext>
            </a:extLst>
          </p:cNvPr>
          <p:cNvSpPr>
            <a:spLocks xmlns:a="http://schemas.openxmlformats.org/drawingml/2006/main" noGrp="1"/>
          </p:cNvSpPr>
          <p:nvPr/>
        </p:nvSpPr>
        <p:spPr>
          <a:xfrm xmlns:a="http://schemas.openxmlformats.org/drawingml/2006/main">
            <a:off x="781050" y="5038725"/>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F6A28F"/>
                </a:solidFill>
                <a:latin typeface="Malgun Gothic"/>
                <a:ea typeface="Malgun Gothic"/>
                <a:cs typeface="Malgun Gothic"/>
              </a:defRPr>
            </a:pPr>
            <a:r>
              <a:rPr sz="1200" b="1">
                <a:solidFill>
                  <a:srgbClr val="F6A28F"/>
                </a:solidFill>
                <a:latin typeface="Malgun Gothic"/>
                <a:ea typeface="Malgun Gothic"/>
                <a:cs typeface="Malgun Gothic"/>
              </a:rPr>
              <a:t>결론</a:t>
            </a:r>
          </a:p>
        </p:txBody>
      </p:sp>
      <p:sp>
        <p:nvSpPr>
          <p:cNvPr id="22" name="">
            <a:extLst xmlns:a="http://schemas.openxmlformats.org/drawingml/2006/main">
              <a:ext uri="{FF2B5EF4-FFF2-40B4-BE49-F238E27FC236}">
                <a16:creationId xmlns:a16="http://schemas.microsoft.com/office/drawing/2014/main" id="{64D4A10F-B5B3-4434-A630-A0483C35BD51}"/>
              </a:ext>
            </a:extLst>
          </p:cNvPr>
          <p:cNvSpPr>
            <a:spLocks xmlns:a="http://schemas.openxmlformats.org/drawingml/2006/main" noGrp="1"/>
          </p:cNvSpPr>
          <p:nvPr/>
        </p:nvSpPr>
        <p:spPr>
          <a:xfrm xmlns:a="http://schemas.openxmlformats.org/drawingml/2006/main">
            <a:off x="781050" y="537210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FFFFFF"/>
                </a:solidFill>
                <a:latin typeface="Malgun Gothic"/>
                <a:ea typeface="Malgun Gothic"/>
                <a:cs typeface="Malgun Gothic"/>
              </a:defRPr>
            </a:pPr>
            <a:r>
              <a:rPr sz="1800" b="1">
                <a:solidFill>
                  <a:srgbClr val="FFFFFF"/>
                </a:solidFill>
                <a:latin typeface="Malgun Gothic"/>
                <a:ea typeface="Malgun Gothic"/>
                <a:cs typeface="Malgun Gothic"/>
              </a:rPr>
              <a:t>인사이트 → 검증 → 운영 기준 → 행동 검토를 하나의 흐름으로 연결했습니다.</a:t>
            </a:r>
          </a:p>
        </p:txBody>
      </p:sp>
      <p:sp>
        <p:nvSpPr>
          <p:cNvPr id="23" name="">
            <a:extLst xmlns:a="http://schemas.openxmlformats.org/drawingml/2006/main">
              <a:ext uri="{FF2B5EF4-FFF2-40B4-BE49-F238E27FC236}">
                <a16:creationId xmlns:a16="http://schemas.microsoft.com/office/drawing/2014/main" id="{B6B0B766-CBC2-4DBE-B871-856E1A27BA98}"/>
              </a:ext>
            </a:extLst>
          </p:cNvPr>
          <p:cNvSpPr>
            <a:spLocks xmlns:a="http://schemas.openxmlformats.org/drawingml/2006/main" noGrp="1"/>
          </p:cNvSpPr>
          <p:nvPr/>
        </p:nvSpPr>
        <p:spPr>
          <a:xfrm xmlns:a="http://schemas.openxmlformats.org/drawingml/2006/main">
            <a:off x="8858250" y="6286500"/>
            <a:ext cx="2800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AFC3D0"/>
                </a:solidFill>
                <a:latin typeface="Malgun Gothic"/>
                <a:ea typeface="Malgun Gothic"/>
                <a:cs typeface="Malgun Gothic"/>
              </a:defRPr>
            </a:pPr>
            <a:r>
              <a:rPr sz="825" b="1">
                <a:solidFill>
                  <a:srgbClr val="AFC3D0"/>
                </a:solidFill>
                <a:latin typeface="Malgun Gothic"/>
                <a:ea typeface="Malgun Gothic"/>
                <a:cs typeface="Malgun Gothic"/>
              </a:rPr>
              <a:t>실제 효과는 미래 Holdout · A/B 테스트에서 검증</a:t>
            </a:r>
          </a:p>
        </p:txBody>
      </p:sp>
      <p:sp>
        <p:nvSpPr>
          <p:cNvPr id="24" name="">
            <a:extLst xmlns:a="http://schemas.openxmlformats.org/drawingml/2006/main">
              <a:ext uri="{FF2B5EF4-FFF2-40B4-BE49-F238E27FC236}">
                <a16:creationId xmlns:a16="http://schemas.microsoft.com/office/drawing/2014/main" id="{26A41C90-2C0C-49C0-AC60-D0C40C4DFDC5}"/>
              </a:ext>
            </a:extLst>
          </p:cNvPr>
          <p:cNvSpPr>
            <a:spLocks xmlns:a="http://schemas.openxmlformats.org/drawingml/2006/main" noGrp="1"/>
          </p:cNvSpPr>
          <p:nvPr/>
        </p:nvSpPr>
        <p:spPr>
          <a:xfrm xmlns:a="http://schemas.openxmlformats.org/drawingml/2006/main">
            <a:off x="11239500" y="361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a:solidFill>
                  <a:srgbClr val="AFC3D0"/>
                </a:solidFill>
                <a:latin typeface="Malgun Gothic"/>
                <a:ea typeface="Malgun Gothic"/>
                <a:cs typeface="Malgun Gothic"/>
              </a:defRPr>
            </a:pPr>
            <a:r>
              <a:rPr sz="825" b="1">
                <a:solidFill>
                  <a:srgbClr val="AFC3D0"/>
                </a:solidFill>
                <a:latin typeface="Malgun Gothic"/>
                <a:ea typeface="Malgun Gothic"/>
                <a:cs typeface="Malgun Gothic"/>
              </a:rPr>
              <a:t>14</a:t>
            </a:r>
          </a:p>
        </p:txBody>
      </p:sp>
    </p:spTree>
    <p:extLst>
      <p:ext uri="{BB962C8B-B14F-4D97-AF65-F5344CB8AC3E}">
        <p14:creationId xmlns:p14="http://schemas.microsoft.com/office/powerpoint/2010/main" val="6644141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2026-07-21T21:18:19.6100000Z</dcterms:created>
  <dcterms:modified xsi:type="dcterms:W3CDTF">2026-07-21T21:18:19.6100000Z</dcterms:modified>
</coreProperties>
</file>